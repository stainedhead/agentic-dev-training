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207008"/>
            <a:ext cx="6217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Spec-Driven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Development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&amp; PRDs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65760" y="32461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Writing requirements that agents can actually execute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822192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9776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75–90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Intermediate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0" y="685800"/>
            <a:ext cx="1965960" cy="777240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0" y="68580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Intent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0" y="112471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What we want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589520" y="149047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↓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58000" y="1764792"/>
            <a:ext cx="1965960" cy="777240"/>
          </a:xfrm>
          <a:prstGeom prst="rect">
            <a:avLst/>
          </a:prstGeom>
          <a:solidFill>
            <a:srgbClr val="3A7DC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858000" y="176479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0" y="220370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Approved by human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589520" y="256946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↓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858000" y="2843784"/>
            <a:ext cx="1965960" cy="777240"/>
          </a:xfrm>
          <a:prstGeom prst="rect">
            <a:avLst/>
          </a:prstGeom>
          <a:solidFill>
            <a:srgbClr val="4A7FA8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858000" y="284378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Spec Suite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0" y="328269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Agent-generated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589520" y="364845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↓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858000" y="3922776"/>
            <a:ext cx="1965960" cy="777240"/>
          </a:xfrm>
          <a:prstGeom prst="rect">
            <a:avLst/>
          </a:prstGeom>
          <a:solidFill>
            <a:srgbClr val="3A7E6E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858000" y="3922776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Code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0" y="436168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Agent executes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Distinguish Historical vs. Modern PRD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Understand how the PRD has evolved from a human alignment document to an agent-operationalisable artifact.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Write Agent-Operationalisable PRDs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Produce PRDs with numbered requirements, explicit non-goals, acceptance criteria, and surfaced open questions.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Understand the Automated Spec Suite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See how an approved PRD automatically generates SPEC.md, ARCHITECTURE.md, PLAN.md, TASKS.md, and schema docs.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Apply the PRD → Spec Pipeline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Walk the full pipeline: PRD → Spec → Plan → Tasks → Architecture → Code → PR, with the human as decision-maker at each stage.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THE HISTORICAL PRD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A human artifact written in isolation — useful for human teams, unusable by agents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514600" cy="402336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5" name="Text 3"/>
          <p:cNvSpPr/>
          <p:nvPr/>
        </p:nvSpPr>
        <p:spPr>
          <a:xfrm>
            <a:off x="429768" y="1143000"/>
            <a:ext cx="2386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8DB8"/>
                </a:solidFill>
              </a:rPr>
              <a:t>Dimension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926080" y="1143000"/>
            <a:ext cx="3017520" cy="402336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7" name="Text 5"/>
          <p:cNvSpPr/>
          <p:nvPr/>
        </p:nvSpPr>
        <p:spPr>
          <a:xfrm>
            <a:off x="3035808" y="1143000"/>
            <a:ext cx="2889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8DB8"/>
                </a:solidFill>
              </a:rPr>
              <a:t>The Reality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035040" y="1143000"/>
            <a:ext cx="2834640" cy="402336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9" name="Text 7"/>
          <p:cNvSpPr/>
          <p:nvPr/>
        </p:nvSpPr>
        <p:spPr>
          <a:xfrm>
            <a:off x="6144768" y="1143000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8DB8"/>
                </a:solidFill>
              </a:rPr>
              <a:t>Agent Impact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0040" y="1572768"/>
            <a:ext cx="2514600" cy="457200"/>
          </a:xfrm>
          <a:prstGeom prst="rect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926080" y="1572768"/>
            <a:ext cx="3017520" cy="457200"/>
          </a:xfrm>
          <a:prstGeom prst="rect">
            <a:avLst/>
          </a:prstGeom>
          <a:solidFill>
            <a:srgbClr val="253A52"/>
          </a:solidFill>
          <a:ln/>
        </p:spPr>
      </p:sp>
      <p:sp>
        <p:nvSpPr>
          <p:cNvPr id="12" name="Shape 10"/>
          <p:cNvSpPr/>
          <p:nvPr/>
        </p:nvSpPr>
        <p:spPr>
          <a:xfrm>
            <a:off x="6035040" y="1572768"/>
            <a:ext cx="2834640" cy="457200"/>
          </a:xfrm>
          <a:prstGeom prst="rect">
            <a:avLst/>
          </a:prstGeom>
          <a:solidFill>
            <a:srgbClr val="253A52"/>
          </a:solidFill>
          <a:ln/>
        </p:spPr>
      </p:sp>
      <p:sp>
        <p:nvSpPr>
          <p:cNvPr id="13" name="Text 11"/>
          <p:cNvSpPr/>
          <p:nvPr/>
        </p:nvSpPr>
        <p:spPr>
          <a:xfrm>
            <a:off x="429768" y="1572768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DB8"/>
                </a:solidFill>
              </a:rPr>
              <a:t>Authorship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035808" y="1572768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One or two people, from memory and stakeholder interviews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144768" y="1572768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No codebase knowledge baked in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2066544"/>
            <a:ext cx="2514600" cy="457200"/>
          </a:xfrm>
          <a:prstGeom prst="rect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926080" y="2066544"/>
            <a:ext cx="3017520" cy="45720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8" name="Shape 16"/>
          <p:cNvSpPr/>
          <p:nvPr/>
        </p:nvSpPr>
        <p:spPr>
          <a:xfrm>
            <a:off x="6035040" y="2066544"/>
            <a:ext cx="2834640" cy="45720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9" name="Text 17"/>
          <p:cNvSpPr/>
          <p:nvPr/>
        </p:nvSpPr>
        <p:spPr>
          <a:xfrm>
            <a:off x="429768" y="2066544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DB8"/>
                </a:solidFill>
              </a:rPr>
              <a:t>Codebase awareness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035808" y="2066544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None — written without reading the existing system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144768" y="2066544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Agent has no grounding; hallucinates conflicts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0040" y="2560320"/>
            <a:ext cx="2514600" cy="457200"/>
          </a:xfrm>
          <a:prstGeom prst="rect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926080" y="2560320"/>
            <a:ext cx="3017520" cy="457200"/>
          </a:xfrm>
          <a:prstGeom prst="rect">
            <a:avLst/>
          </a:prstGeom>
          <a:solidFill>
            <a:srgbClr val="253A52"/>
          </a:solidFill>
          <a:ln/>
        </p:spPr>
      </p:sp>
      <p:sp>
        <p:nvSpPr>
          <p:cNvPr id="24" name="Shape 22"/>
          <p:cNvSpPr/>
          <p:nvPr/>
        </p:nvSpPr>
        <p:spPr>
          <a:xfrm>
            <a:off x="6035040" y="2560320"/>
            <a:ext cx="2834640" cy="457200"/>
          </a:xfrm>
          <a:prstGeom prst="rect">
            <a:avLst/>
          </a:prstGeom>
          <a:solidFill>
            <a:srgbClr val="253A52"/>
          </a:solidFill>
          <a:ln/>
        </p:spPr>
      </p:sp>
      <p:sp>
        <p:nvSpPr>
          <p:cNvPr id="25" name="Text 23"/>
          <p:cNvSpPr/>
          <p:nvPr/>
        </p:nvSpPr>
        <p:spPr>
          <a:xfrm>
            <a:off x="429768" y="256032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DB8"/>
                </a:solidFill>
              </a:rPr>
              <a:t>Time to produce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035808" y="25603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Days to weeks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144768" y="2560320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Slow; stale before development begins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0040" y="3054096"/>
            <a:ext cx="2514600" cy="457200"/>
          </a:xfrm>
          <a:prstGeom prst="rect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926080" y="3054096"/>
            <a:ext cx="3017520" cy="45720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0" name="Shape 28"/>
          <p:cNvSpPr/>
          <p:nvPr/>
        </p:nvSpPr>
        <p:spPr>
          <a:xfrm>
            <a:off x="6035040" y="3054096"/>
            <a:ext cx="2834640" cy="45720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1" name="Text 29"/>
          <p:cNvSpPr/>
          <p:nvPr/>
        </p:nvSpPr>
        <p:spPr>
          <a:xfrm>
            <a:off x="429768" y="3054096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DB8"/>
                </a:solidFill>
              </a:rPr>
              <a:t>Review process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035808" y="3054096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Async comments, email chains, meetings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144768" y="3054096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Gaps pile up; unresolved by the time agent starts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0040" y="3547872"/>
            <a:ext cx="2514600" cy="457200"/>
          </a:xfrm>
          <a:prstGeom prst="rect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926080" y="3547872"/>
            <a:ext cx="3017520" cy="457200"/>
          </a:xfrm>
          <a:prstGeom prst="rect">
            <a:avLst/>
          </a:prstGeom>
          <a:solidFill>
            <a:srgbClr val="253A52"/>
          </a:solidFill>
          <a:ln/>
        </p:spPr>
      </p:sp>
      <p:sp>
        <p:nvSpPr>
          <p:cNvPr id="36" name="Shape 34"/>
          <p:cNvSpPr/>
          <p:nvPr/>
        </p:nvSpPr>
        <p:spPr>
          <a:xfrm>
            <a:off x="6035040" y="3547872"/>
            <a:ext cx="2834640" cy="457200"/>
          </a:xfrm>
          <a:prstGeom prst="rect">
            <a:avLst/>
          </a:prstGeom>
          <a:solidFill>
            <a:srgbClr val="253A52"/>
          </a:solidFill>
          <a:ln/>
        </p:spPr>
      </p:sp>
      <p:sp>
        <p:nvSpPr>
          <p:cNvPr id="37" name="Text 35"/>
          <p:cNvSpPr/>
          <p:nvPr/>
        </p:nvSpPr>
        <p:spPr>
          <a:xfrm>
            <a:off x="429768" y="3547872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DB8"/>
                </a:solidFill>
              </a:rPr>
              <a:t>Drift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035808" y="3547872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Begins drifting from reality the day dev starts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144768" y="3547872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Agent works from outdated truth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20040" y="4041648"/>
            <a:ext cx="2514600" cy="457200"/>
          </a:xfrm>
          <a:prstGeom prst="rect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2926080" y="4041648"/>
            <a:ext cx="3017520" cy="45720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42" name="Shape 40"/>
          <p:cNvSpPr/>
          <p:nvPr/>
        </p:nvSpPr>
        <p:spPr>
          <a:xfrm>
            <a:off x="6035040" y="4041648"/>
            <a:ext cx="2834640" cy="45720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43" name="Text 41"/>
          <p:cNvSpPr/>
          <p:nvPr/>
        </p:nvSpPr>
        <p:spPr>
          <a:xfrm>
            <a:off x="429768" y="4041648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DB8"/>
                </a:solidFill>
              </a:rPr>
              <a:t>Completeness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035808" y="4041648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Implicitly incomplete — gaps filled by developer Q&amp;A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144768" y="4041648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Agent cannot ask; decides silently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320040" y="4535424"/>
            <a:ext cx="2514600" cy="457200"/>
          </a:xfrm>
          <a:prstGeom prst="rect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2926080" y="4535424"/>
            <a:ext cx="3017520" cy="457200"/>
          </a:xfrm>
          <a:prstGeom prst="rect">
            <a:avLst/>
          </a:prstGeom>
          <a:solidFill>
            <a:srgbClr val="253A52"/>
          </a:solidFill>
          <a:ln/>
        </p:spPr>
      </p:sp>
      <p:sp>
        <p:nvSpPr>
          <p:cNvPr id="48" name="Shape 46"/>
          <p:cNvSpPr/>
          <p:nvPr/>
        </p:nvSpPr>
        <p:spPr>
          <a:xfrm>
            <a:off x="6035040" y="4535424"/>
            <a:ext cx="2834640" cy="457200"/>
          </a:xfrm>
          <a:prstGeom prst="rect">
            <a:avLst/>
          </a:prstGeom>
          <a:solidFill>
            <a:srgbClr val="253A52"/>
          </a:solidFill>
          <a:ln/>
        </p:spPr>
      </p:sp>
      <p:sp>
        <p:nvSpPr>
          <p:cNvPr id="49" name="Text 47"/>
          <p:cNvSpPr/>
          <p:nvPr/>
        </p:nvSpPr>
        <p:spPr>
          <a:xfrm>
            <a:off x="429768" y="4535424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DB8"/>
                </a:solidFill>
              </a:rPr>
              <a:t>Agent usability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035808" y="4535424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Low — ambiguous language, no machine-verifiable criteria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6144768" y="4535424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Agent interprets ambiguity incorrectly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20040" y="4892040"/>
            <a:ext cx="8503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The problem: agents cannot fill gaps from experience. An agent encountering ambiguity does not ask — it decides. And that decision may not be the one you wanted.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MODERN AGENTIC PRD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Written with an agent as collaborator and read by an agent as its primary instruction set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2514600" cy="402336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6" name="Text 4"/>
          <p:cNvSpPr/>
          <p:nvPr/>
        </p:nvSpPr>
        <p:spPr>
          <a:xfrm>
            <a:off x="429768" y="1143000"/>
            <a:ext cx="2386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</a:rPr>
              <a:t>Dimension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926080" y="1143000"/>
            <a:ext cx="3017520" cy="402336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8" name="Text 6"/>
          <p:cNvSpPr/>
          <p:nvPr/>
        </p:nvSpPr>
        <p:spPr>
          <a:xfrm>
            <a:off x="3035808" y="1143000"/>
            <a:ext cx="2889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</a:rPr>
              <a:t>The Reality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143000"/>
            <a:ext cx="2834640" cy="402336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0" name="Text 8"/>
          <p:cNvSpPr/>
          <p:nvPr/>
        </p:nvSpPr>
        <p:spPr>
          <a:xfrm>
            <a:off x="6144768" y="1143000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</a:rPr>
              <a:t>Agent Benefit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0040" y="1572768"/>
            <a:ext cx="2514600" cy="457200"/>
          </a:xfrm>
          <a:prstGeom prst="rect">
            <a:avLst/>
          </a:prstGeom>
          <a:solidFill>
            <a:srgbClr val="D0EDE5"/>
          </a:solidFill>
          <a:ln/>
        </p:spPr>
      </p:sp>
      <p:sp>
        <p:nvSpPr>
          <p:cNvPr id="12" name="Shape 10"/>
          <p:cNvSpPr/>
          <p:nvPr/>
        </p:nvSpPr>
        <p:spPr>
          <a:xfrm>
            <a:off x="2926080" y="1572768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6035040" y="1572768"/>
            <a:ext cx="28346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" y="1572768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Authorship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035808" y="1572768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Human intent + agent draft, expand, stress-test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144768" y="1572768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Codebase-grounded from the start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2066544"/>
            <a:ext cx="2514600" cy="457200"/>
          </a:xfrm>
          <a:prstGeom prst="rect">
            <a:avLst/>
          </a:prstGeom>
          <a:solidFill>
            <a:srgbClr val="D0EDE5"/>
          </a:solidFill>
          <a:ln/>
        </p:spPr>
      </p:sp>
      <p:sp>
        <p:nvSpPr>
          <p:cNvPr id="18" name="Shape 16"/>
          <p:cNvSpPr/>
          <p:nvPr/>
        </p:nvSpPr>
        <p:spPr>
          <a:xfrm>
            <a:off x="2926080" y="2066544"/>
            <a:ext cx="3017520" cy="45720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9" name="Shape 17"/>
          <p:cNvSpPr/>
          <p:nvPr/>
        </p:nvSpPr>
        <p:spPr>
          <a:xfrm>
            <a:off x="6035040" y="2066544"/>
            <a:ext cx="2834640" cy="45720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0" name="Text 18"/>
          <p:cNvSpPr/>
          <p:nvPr/>
        </p:nvSpPr>
        <p:spPr>
          <a:xfrm>
            <a:off x="429768" y="2066544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Codebase awareness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035808" y="2066544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High — agent reads code, ADRs, architecture docs first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144768" y="2066544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No hallucinated conflicts; real constraints surfaced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" y="2560320"/>
            <a:ext cx="2514600" cy="457200"/>
          </a:xfrm>
          <a:prstGeom prst="rect">
            <a:avLst/>
          </a:prstGeom>
          <a:solidFill>
            <a:srgbClr val="D0EDE5"/>
          </a:solidFill>
          <a:ln/>
        </p:spPr>
      </p:sp>
      <p:sp>
        <p:nvSpPr>
          <p:cNvPr id="24" name="Shape 22"/>
          <p:cNvSpPr/>
          <p:nvPr/>
        </p:nvSpPr>
        <p:spPr>
          <a:xfrm>
            <a:off x="2926080" y="256032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0" y="2560320"/>
            <a:ext cx="28346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29768" y="256032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Time to produce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035808" y="25603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Hours not days — agent handles prose; human handles decisions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144768" y="2560320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PRD is current, not stale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0040" y="3054096"/>
            <a:ext cx="2514600" cy="457200"/>
          </a:xfrm>
          <a:prstGeom prst="rect">
            <a:avLst/>
          </a:prstGeom>
          <a:solidFill>
            <a:srgbClr val="D0EDE5"/>
          </a:solidFill>
          <a:ln/>
        </p:spPr>
      </p:sp>
      <p:sp>
        <p:nvSpPr>
          <p:cNvPr id="30" name="Shape 28"/>
          <p:cNvSpPr/>
          <p:nvPr/>
        </p:nvSpPr>
        <p:spPr>
          <a:xfrm>
            <a:off x="2926080" y="3054096"/>
            <a:ext cx="3017520" cy="45720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1" name="Shape 29"/>
          <p:cNvSpPr/>
          <p:nvPr/>
        </p:nvSpPr>
        <p:spPr>
          <a:xfrm>
            <a:off x="6035040" y="3054096"/>
            <a:ext cx="2834640" cy="45720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2" name="Text 30"/>
          <p:cNvSpPr/>
          <p:nvPr/>
        </p:nvSpPr>
        <p:spPr>
          <a:xfrm>
            <a:off x="429768" y="3054096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Review process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035808" y="3054096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Agent finds gaps and contradictions before human review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144768" y="3054096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Human reviews decisions, not omissions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20040" y="3547872"/>
            <a:ext cx="2514600" cy="457200"/>
          </a:xfrm>
          <a:prstGeom prst="rect">
            <a:avLst/>
          </a:prstGeom>
          <a:solidFill>
            <a:srgbClr val="D0EDE5"/>
          </a:solidFill>
          <a:ln/>
        </p:spPr>
      </p:sp>
      <p:sp>
        <p:nvSpPr>
          <p:cNvPr id="36" name="Shape 34"/>
          <p:cNvSpPr/>
          <p:nvPr/>
        </p:nvSpPr>
        <p:spPr>
          <a:xfrm>
            <a:off x="2926080" y="3547872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6035040" y="3547872"/>
            <a:ext cx="28346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429768" y="3547872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Drift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035808" y="3547872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Minimal — agent can re-check PRD against code at any time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44768" y="3547872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Divergence is caught, not discovered in prod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320040" y="4041648"/>
            <a:ext cx="2514600" cy="457200"/>
          </a:xfrm>
          <a:prstGeom prst="rect">
            <a:avLst/>
          </a:prstGeom>
          <a:solidFill>
            <a:srgbClr val="D0EDE5"/>
          </a:solidFill>
          <a:ln/>
        </p:spPr>
      </p:sp>
      <p:sp>
        <p:nvSpPr>
          <p:cNvPr id="42" name="Shape 40"/>
          <p:cNvSpPr/>
          <p:nvPr/>
        </p:nvSpPr>
        <p:spPr>
          <a:xfrm>
            <a:off x="2926080" y="4041648"/>
            <a:ext cx="3017520" cy="45720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3" name="Shape 41"/>
          <p:cNvSpPr/>
          <p:nvPr/>
        </p:nvSpPr>
        <p:spPr>
          <a:xfrm>
            <a:off x="6035040" y="4041648"/>
            <a:ext cx="2834640" cy="45720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4" name="Text 42"/>
          <p:cNvSpPr/>
          <p:nvPr/>
        </p:nvSpPr>
        <p:spPr>
          <a:xfrm>
            <a:off x="429768" y="4041648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Completeness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035808" y="4041648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Structurally enforced — agent flags every undefined edge case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144768" y="4041648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Nothing left implicit; open questions resolved first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20040" y="4535424"/>
            <a:ext cx="2514600" cy="457200"/>
          </a:xfrm>
          <a:prstGeom prst="rect">
            <a:avLst/>
          </a:prstGeom>
          <a:solidFill>
            <a:srgbClr val="D0EDE5"/>
          </a:solidFill>
          <a:ln/>
        </p:spPr>
      </p:sp>
      <p:sp>
        <p:nvSpPr>
          <p:cNvPr id="48" name="Shape 46"/>
          <p:cNvSpPr/>
          <p:nvPr/>
        </p:nvSpPr>
        <p:spPr>
          <a:xfrm>
            <a:off x="2926080" y="4535424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Shape 47"/>
          <p:cNvSpPr/>
          <p:nvPr/>
        </p:nvSpPr>
        <p:spPr>
          <a:xfrm>
            <a:off x="6035040" y="4535424"/>
            <a:ext cx="28346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429768" y="4535424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Agent usability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3035808" y="4535424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High — numbered requirements, explicit non-goals, machine-readable AC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144768" y="4535424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Agent implements precisely what was approved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320040" y="4892040"/>
            <a:ext cx="8503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Not longer or more formal — more precise, more grounded, and continuously maintained.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HOW AN AGENT IMPROVES A PRD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The agent is a collaborator in authoring, not just a reader of the finished document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1591056" cy="36118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43000"/>
            <a:ext cx="1591056" cy="512064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43000"/>
            <a:ext cx="4023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40664" y="1143000"/>
            <a:ext cx="1115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Human writes intent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1480" y="1728216"/>
            <a:ext cx="140817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Rough draft or bullet points — what problem to solve, what it must do, what it must not do.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911096" y="251460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057400" y="1143000"/>
            <a:ext cx="1591056" cy="36118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57400" y="1143000"/>
            <a:ext cx="1591056" cy="51206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2" name="Text 10"/>
          <p:cNvSpPr/>
          <p:nvPr/>
        </p:nvSpPr>
        <p:spPr>
          <a:xfrm>
            <a:off x="2057400" y="1143000"/>
            <a:ext cx="4023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478024" y="1143000"/>
            <a:ext cx="1115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Agent reads codebase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148840" y="1728216"/>
            <a:ext cx="140817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Agent reads existing code, PRODUCT.md, ADRs, architecture docs before drafting anything.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48456" y="251460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794760" y="1143000"/>
            <a:ext cx="1591056" cy="36118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794760" y="1143000"/>
            <a:ext cx="1591056" cy="51206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8" name="Text 16"/>
          <p:cNvSpPr/>
          <p:nvPr/>
        </p:nvSpPr>
        <p:spPr>
          <a:xfrm>
            <a:off x="3794760" y="1143000"/>
            <a:ext cx="4023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215384" y="1143000"/>
            <a:ext cx="1115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Agent drafts full PRD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886200" y="1728216"/>
            <a:ext cx="140817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Agent generates all required sections with codebase context baked in — not isolated from reality.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385816" y="251460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532120" y="1143000"/>
            <a:ext cx="1591056" cy="36118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532120" y="1143000"/>
            <a:ext cx="1591056" cy="512064"/>
          </a:xfrm>
          <a:prstGeom prst="rect">
            <a:avLst/>
          </a:prstGeom>
          <a:solidFill>
            <a:srgbClr val="B87820"/>
          </a:solidFill>
          <a:ln/>
        </p:spPr>
      </p:sp>
      <p:sp>
        <p:nvSpPr>
          <p:cNvPr id="24" name="Text 22"/>
          <p:cNvSpPr/>
          <p:nvPr/>
        </p:nvSpPr>
        <p:spPr>
          <a:xfrm>
            <a:off x="5532120" y="1143000"/>
            <a:ext cx="4023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952744" y="1143000"/>
            <a:ext cx="1115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Agent reviews its own draft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623560" y="1728216"/>
            <a:ext cx="140817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“Requirement FR-4 conflicts with UserService contract.”  “Latency NFR is undefined.”  “This touches PII — no data handling requirement specified.”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123176" y="251460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269480" y="1143000"/>
            <a:ext cx="1591056" cy="36118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269480" y="1143000"/>
            <a:ext cx="1591056" cy="512064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0" name="Text 28"/>
          <p:cNvSpPr/>
          <p:nvPr/>
        </p:nvSpPr>
        <p:spPr>
          <a:xfrm>
            <a:off x="7269480" y="1143000"/>
            <a:ext cx="4023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7690104" y="1143000"/>
            <a:ext cx="1115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Human resolves flagged issues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360920" y="1728216"/>
            <a:ext cx="140817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Human reviews the agent’s critique and makes decisions. This is the highest-value human step in the pipeline.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0040" y="4864608"/>
            <a:ext cx="8503920" cy="256032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320040" y="4864608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PRD is approved — ready to generate the spec suite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MODERN PRD STRUCTURE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Explicit where the historical PRD could be vague — every section exists to eliminate agent guesswork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2468880" cy="36576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6" name="Shape 4"/>
          <p:cNvSpPr/>
          <p:nvPr/>
        </p:nvSpPr>
        <p:spPr>
          <a:xfrm>
            <a:off x="2880360" y="1170432"/>
            <a:ext cx="5943600" cy="36576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429768" y="1170432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Section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990088" y="1170432"/>
            <a:ext cx="5815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What it specifies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1572768"/>
            <a:ext cx="2468880" cy="34747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10" name="Shape 8"/>
          <p:cNvSpPr/>
          <p:nvPr/>
        </p:nvSpPr>
        <p:spPr>
          <a:xfrm>
            <a:off x="2880360" y="1572768"/>
            <a:ext cx="594360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429768" y="1572768"/>
            <a:ext cx="2340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3557"/>
                </a:solidFill>
              </a:rPr>
              <a:t>Problem statement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990088" y="1572768"/>
            <a:ext cx="5815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What is wrong or missing today? Concrete, not abstract.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" y="1956816"/>
            <a:ext cx="2468880" cy="347472"/>
          </a:xfrm>
          <a:prstGeom prst="rect">
            <a:avLst/>
          </a:prstGeom>
          <a:solidFill>
            <a:srgbClr val="C4D8EC"/>
          </a:solidFill>
          <a:ln/>
        </p:spPr>
      </p:sp>
      <p:sp>
        <p:nvSpPr>
          <p:cNvPr id="14" name="Shape 12"/>
          <p:cNvSpPr/>
          <p:nvPr/>
        </p:nvSpPr>
        <p:spPr>
          <a:xfrm>
            <a:off x="2880360" y="1956816"/>
            <a:ext cx="5943600" cy="34747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5" name="Text 13"/>
          <p:cNvSpPr/>
          <p:nvPr/>
        </p:nvSpPr>
        <p:spPr>
          <a:xfrm>
            <a:off x="429768" y="1956816"/>
            <a:ext cx="2340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3557"/>
                </a:solidFill>
              </a:rPr>
              <a:t>Goals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990088" y="1956816"/>
            <a:ext cx="5815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What does success look like? Measurable outcomes, not features.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2340864"/>
            <a:ext cx="246888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8" name="Shape 16"/>
          <p:cNvSpPr/>
          <p:nvPr/>
        </p:nvSpPr>
        <p:spPr>
          <a:xfrm>
            <a:off x="2880360" y="2340864"/>
            <a:ext cx="594360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29768" y="2340864"/>
            <a:ext cx="2340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Non-goals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990088" y="2340864"/>
            <a:ext cx="5815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Explicitly what is out of scope — tells the agent where to stop.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0040" y="2724912"/>
            <a:ext cx="2468880" cy="347472"/>
          </a:xfrm>
          <a:prstGeom prst="rect">
            <a:avLst/>
          </a:prstGeom>
          <a:solidFill>
            <a:srgbClr val="C4D8EC"/>
          </a:solidFill>
          <a:ln/>
        </p:spPr>
      </p:sp>
      <p:sp>
        <p:nvSpPr>
          <p:cNvPr id="22" name="Shape 20"/>
          <p:cNvSpPr/>
          <p:nvPr/>
        </p:nvSpPr>
        <p:spPr>
          <a:xfrm>
            <a:off x="2880360" y="2724912"/>
            <a:ext cx="5943600" cy="34747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3" name="Text 21"/>
          <p:cNvSpPr/>
          <p:nvPr/>
        </p:nvSpPr>
        <p:spPr>
          <a:xfrm>
            <a:off x="429768" y="2724912"/>
            <a:ext cx="2340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3557"/>
                </a:solidFill>
              </a:rPr>
              <a:t>Functional requirements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990088" y="2724912"/>
            <a:ext cx="5815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Numbered, testable statements: “The system SHALL…”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" y="3108960"/>
            <a:ext cx="2468880" cy="34747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26" name="Shape 24"/>
          <p:cNvSpPr/>
          <p:nvPr/>
        </p:nvSpPr>
        <p:spPr>
          <a:xfrm>
            <a:off x="2880360" y="3108960"/>
            <a:ext cx="594360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429768" y="3108960"/>
            <a:ext cx="2340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3557"/>
                </a:solidFill>
              </a:rPr>
              <a:t>Non-functional requirements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990088" y="3108960"/>
            <a:ext cx="5815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Latency, throughput, security, compliance, cost ceiling.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0040" y="3493008"/>
            <a:ext cx="2468880" cy="347472"/>
          </a:xfrm>
          <a:prstGeom prst="rect">
            <a:avLst/>
          </a:prstGeom>
          <a:solidFill>
            <a:srgbClr val="C4D8EC"/>
          </a:solidFill>
          <a:ln/>
        </p:spPr>
      </p:sp>
      <p:sp>
        <p:nvSpPr>
          <p:cNvPr id="30" name="Shape 28"/>
          <p:cNvSpPr/>
          <p:nvPr/>
        </p:nvSpPr>
        <p:spPr>
          <a:xfrm>
            <a:off x="2880360" y="3493008"/>
            <a:ext cx="5943600" cy="34747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1" name="Text 29"/>
          <p:cNvSpPr/>
          <p:nvPr/>
        </p:nvSpPr>
        <p:spPr>
          <a:xfrm>
            <a:off x="429768" y="3493008"/>
            <a:ext cx="2340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3557"/>
                </a:solidFill>
              </a:rPr>
              <a:t>Constraints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990088" y="3493008"/>
            <a:ext cx="5815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Existing systems the solution must integrate with or not break.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20040" y="3877056"/>
            <a:ext cx="2468880" cy="34747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4" name="Shape 32"/>
          <p:cNvSpPr/>
          <p:nvPr/>
        </p:nvSpPr>
        <p:spPr>
          <a:xfrm>
            <a:off x="2880360" y="3877056"/>
            <a:ext cx="594360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429768" y="3877056"/>
            <a:ext cx="2340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3557"/>
                </a:solidFill>
              </a:rPr>
              <a:t>Codebase context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990088" y="3877056"/>
            <a:ext cx="5815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Which existing modules, services, or schemas are affected.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0040" y="4261104"/>
            <a:ext cx="2468880" cy="347472"/>
          </a:xfrm>
          <a:prstGeom prst="rect">
            <a:avLst/>
          </a:prstGeom>
          <a:solidFill>
            <a:srgbClr val="C4D8EC"/>
          </a:solidFill>
          <a:ln/>
        </p:spPr>
      </p:sp>
      <p:sp>
        <p:nvSpPr>
          <p:cNvPr id="38" name="Shape 36"/>
          <p:cNvSpPr/>
          <p:nvPr/>
        </p:nvSpPr>
        <p:spPr>
          <a:xfrm>
            <a:off x="2880360" y="4261104"/>
            <a:ext cx="5943600" cy="34747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9" name="Text 37"/>
          <p:cNvSpPr/>
          <p:nvPr/>
        </p:nvSpPr>
        <p:spPr>
          <a:xfrm>
            <a:off x="429768" y="4261104"/>
            <a:ext cx="2340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3557"/>
                </a:solidFill>
              </a:rPr>
              <a:t>Acceptance criteria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2990088" y="4261104"/>
            <a:ext cx="5815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The machine-verifiable conditions that close this PRD.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320040" y="4645152"/>
            <a:ext cx="246888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2" name="Shape 40"/>
          <p:cNvSpPr/>
          <p:nvPr/>
        </p:nvSpPr>
        <p:spPr>
          <a:xfrm>
            <a:off x="2880360" y="4645152"/>
            <a:ext cx="594360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429768" y="4645152"/>
            <a:ext cx="2340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Open questions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2990088" y="4645152"/>
            <a:ext cx="5815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Explicit list of unresolved decisions — agent flags these before speccing.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320040" y="4873752"/>
            <a:ext cx="8503920" cy="219456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411480" y="4873752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3A7DC9"/>
                </a:solidFill>
              </a:rPr>
              <a:t>⚠  Non-goals and Open questions are the most important sections for agents. They define the boundary of autonomous decision-making.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PRD → SPEC SUITE PIPELINE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 approved PRD is the beginning of an automated pipeline — not the end of the documentation chain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017520" y="1188720"/>
            <a:ext cx="3108960" cy="658368"/>
          </a:xfrm>
          <a:prstGeom prst="rect">
            <a:avLst/>
          </a:prstGeom>
          <a:solidFill>
            <a:srgbClr val="1C3557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017520" y="1188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APPROVED PRD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017520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human intent + agent-verified, codebase-aware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291840" y="188366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↓ Agent generates: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2231136"/>
            <a:ext cx="1572768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231136"/>
            <a:ext cx="1572768" cy="38404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2231136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SPEC.md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" y="2651760"/>
            <a:ext cx="13898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D3D"/>
                </a:solidFill>
              </a:rPr>
              <a:t>How the system works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039112" y="2231136"/>
            <a:ext cx="1572768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39112" y="2231136"/>
            <a:ext cx="1572768" cy="38404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5" name="Text 13"/>
          <p:cNvSpPr/>
          <p:nvPr/>
        </p:nvSpPr>
        <p:spPr>
          <a:xfrm>
            <a:off x="2039112" y="2231136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ARCHITECTURE.md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30552" y="2651760"/>
            <a:ext cx="13898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D3D"/>
                </a:solidFill>
              </a:rPr>
              <a:t>Components &amp; integrations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758184" y="2231136"/>
            <a:ext cx="1572768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758184" y="2231136"/>
            <a:ext cx="1572768" cy="38404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9" name="Text 17"/>
          <p:cNvSpPr/>
          <p:nvPr/>
        </p:nvSpPr>
        <p:spPr>
          <a:xfrm>
            <a:off x="3758184" y="2231136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SCHEMA DOCS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849624" y="2651760"/>
            <a:ext cx="13898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D3D"/>
                </a:solidFill>
              </a:rPr>
              <a:t>Data models, API contracts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77256" y="2231136"/>
            <a:ext cx="1572768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77256" y="2231136"/>
            <a:ext cx="1572768" cy="38404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3" name="Text 21"/>
          <p:cNvSpPr/>
          <p:nvPr/>
        </p:nvSpPr>
        <p:spPr>
          <a:xfrm>
            <a:off x="5477256" y="2231136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PLAN.md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568696" y="2651760"/>
            <a:ext cx="13898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D3D"/>
                </a:solidFill>
              </a:rPr>
              <a:t>Ordered phases &amp; risks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196328" y="2231136"/>
            <a:ext cx="1572768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196328" y="2231136"/>
            <a:ext cx="1572768" cy="384048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7" name="Text 25"/>
          <p:cNvSpPr/>
          <p:nvPr/>
        </p:nvSpPr>
        <p:spPr>
          <a:xfrm>
            <a:off x="7196328" y="2231136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TASKS.md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287768" y="2651760"/>
            <a:ext cx="13898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D3D"/>
                </a:solidFill>
              </a:rPr>
              <a:t>Discrete agent work units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291840" y="34015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↓ Agent implements: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103120" y="3730752"/>
            <a:ext cx="237744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103120" y="3730752"/>
            <a:ext cx="2377440" cy="38404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2" name="Text 30"/>
          <p:cNvSpPr/>
          <p:nvPr/>
        </p:nvSpPr>
        <p:spPr>
          <a:xfrm>
            <a:off x="2103120" y="37307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194560" y="4151376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Tests written first (TDD), then implementation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846320" y="3730752"/>
            <a:ext cx="237744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846320" y="3730752"/>
            <a:ext cx="2377440" cy="38404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6" name="Text 34"/>
          <p:cNvSpPr/>
          <p:nvPr/>
        </p:nvSpPr>
        <p:spPr>
          <a:xfrm>
            <a:off x="4846320" y="37307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937760" y="4151376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Human reviews decision, not diff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480560" y="391363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A90A8"/>
                </a:solidFill>
              </a:rPr>
              <a:t>→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WHAT EACH ARTIFACT CONTAINS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Each file is agent-generated, human-reviewed — no artifact proceeds without approval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206240" cy="1170432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" y="1225296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SPEC.md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66344" y="1572768"/>
            <a:ext cx="4005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The technical translation of the PRD. How the system will be built: component design, API contracts, error handling, security model, test strategy.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09160" y="1170432"/>
            <a:ext cx="4206240" cy="1170432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170432"/>
            <a:ext cx="64008" cy="117043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1" name="Text 9"/>
          <p:cNvSpPr/>
          <p:nvPr/>
        </p:nvSpPr>
        <p:spPr>
          <a:xfrm>
            <a:off x="4855464" y="1225296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ARCHITECTURE.md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55464" y="1572768"/>
            <a:ext cx="4005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Which existing components are involved, how new components integrate, data flow, trust boundaries. Generated from PRD + agent reading of existing codebase.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" y="2468880"/>
            <a:ext cx="4206240" cy="1170432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2468880"/>
            <a:ext cx="64008" cy="1170432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5" name="Text 13"/>
          <p:cNvSpPr/>
          <p:nvPr/>
        </p:nvSpPr>
        <p:spPr>
          <a:xfrm>
            <a:off x="466344" y="2523744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Schema docs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6344" y="2871216"/>
            <a:ext cx="4005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Data models, database schemas, API request/response shapes, event payload definitions. Agent generates from functional requirements; human reviews for correctness.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709160" y="2468880"/>
            <a:ext cx="4206240" cy="1170432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2468880"/>
            <a:ext cx="64008" cy="1170432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19" name="Text 17"/>
          <p:cNvSpPr/>
          <p:nvPr/>
        </p:nvSpPr>
        <p:spPr>
          <a:xfrm>
            <a:off x="4855464" y="2523744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PLAN.md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55464" y="2871216"/>
            <a:ext cx="4005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The ordered approach: phases, sequencing rationale, dependencies between tasks, risks and mitigations. Allows the human to review strategy before a line of code is written.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468880" y="3767328"/>
            <a:ext cx="4206240" cy="1170432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468880" y="3767328"/>
            <a:ext cx="64008" cy="1170432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3" name="Text 21"/>
          <p:cNvSpPr/>
          <p:nvPr/>
        </p:nvSpPr>
        <p:spPr>
          <a:xfrm>
            <a:off x="2615184" y="38221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TASKS.md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615184" y="4169664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Discrete, agent-executable work units. Each task has: a description, acceptance criteria, files it will touch, and a definition of done. Tasks are small enough each produces a reviewable PR.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THE HUMAN’S ROLE IN THE PIPELINE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The pipeline is automated — but the human is not removed. The role shifts from writer to decision-maker.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1965960" cy="402336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5" name="Text 3"/>
          <p:cNvSpPr/>
          <p:nvPr/>
        </p:nvSpPr>
        <p:spPr>
          <a:xfrm>
            <a:off x="429768" y="1170432"/>
            <a:ext cx="1837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8DB8"/>
                </a:solidFill>
              </a:rPr>
              <a:t>Stage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377440" y="1170432"/>
            <a:ext cx="3154680" cy="40233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5"/>
          <p:cNvSpPr/>
          <p:nvPr/>
        </p:nvSpPr>
        <p:spPr>
          <a:xfrm>
            <a:off x="2487168" y="1170432"/>
            <a:ext cx="3026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</a:rPr>
              <a:t>Human does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23560" y="1170432"/>
            <a:ext cx="3200400" cy="402336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9" name="Text 7"/>
          <p:cNvSpPr/>
          <p:nvPr/>
        </p:nvSpPr>
        <p:spPr>
          <a:xfrm>
            <a:off x="5733288" y="1170432"/>
            <a:ext cx="3072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</a:rPr>
              <a:t>Agent does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0040" y="1600200"/>
            <a:ext cx="1965960" cy="512064"/>
          </a:xfrm>
          <a:prstGeom prst="rect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377440" y="1600200"/>
            <a:ext cx="3154680" cy="512064"/>
          </a:xfrm>
          <a:prstGeom prst="rect">
            <a:avLst/>
          </a:prstGeom>
          <a:solidFill>
            <a:srgbClr val="253A52"/>
          </a:solidFill>
          <a:ln/>
        </p:spPr>
      </p:sp>
      <p:sp>
        <p:nvSpPr>
          <p:cNvPr id="12" name="Shape 10"/>
          <p:cNvSpPr/>
          <p:nvPr/>
        </p:nvSpPr>
        <p:spPr>
          <a:xfrm>
            <a:off x="5623560" y="1600200"/>
            <a:ext cx="3200400" cy="512064"/>
          </a:xfrm>
          <a:prstGeom prst="rect">
            <a:avLst/>
          </a:prstGeom>
          <a:solidFill>
            <a:srgbClr val="253A52"/>
          </a:solidFill>
          <a:ln/>
        </p:spPr>
      </p:sp>
      <p:sp>
        <p:nvSpPr>
          <p:cNvPr id="13" name="Text 11"/>
          <p:cNvSpPr/>
          <p:nvPr/>
        </p:nvSpPr>
        <p:spPr>
          <a:xfrm>
            <a:off x="429768" y="1600200"/>
            <a:ext cx="1837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DB8"/>
                </a:solidFill>
              </a:rPr>
              <a:t>PRD draft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87168" y="1600200"/>
            <a:ext cx="30266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DC9"/>
                </a:solidFill>
              </a:rPr>
              <a:t>Provides intent, resolves open questions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733288" y="160020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Drafts content, reads codebase, flags gaps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2148840"/>
            <a:ext cx="1965960" cy="512064"/>
          </a:xfrm>
          <a:prstGeom prst="rect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377440" y="2148840"/>
            <a:ext cx="3154680" cy="512064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8" name="Shape 16"/>
          <p:cNvSpPr/>
          <p:nvPr/>
        </p:nvSpPr>
        <p:spPr>
          <a:xfrm>
            <a:off x="5623560" y="2148840"/>
            <a:ext cx="3200400" cy="512064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9" name="Text 17"/>
          <p:cNvSpPr/>
          <p:nvPr/>
        </p:nvSpPr>
        <p:spPr>
          <a:xfrm>
            <a:off x="429768" y="2148840"/>
            <a:ext cx="1837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DB8"/>
                </a:solidFill>
              </a:rPr>
              <a:t>PRD review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487168" y="2148840"/>
            <a:ext cx="30266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DC9"/>
                </a:solidFill>
              </a:rPr>
              <a:t>Approves intent and completeness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733288" y="214884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Checks for contradictions, missing edge cases, compliance gaps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0040" y="2697480"/>
            <a:ext cx="1965960" cy="512064"/>
          </a:xfrm>
          <a:prstGeom prst="rect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377440" y="2697480"/>
            <a:ext cx="3154680" cy="512064"/>
          </a:xfrm>
          <a:prstGeom prst="rect">
            <a:avLst/>
          </a:prstGeom>
          <a:solidFill>
            <a:srgbClr val="253A52"/>
          </a:solidFill>
          <a:ln/>
        </p:spPr>
      </p:sp>
      <p:sp>
        <p:nvSpPr>
          <p:cNvPr id="24" name="Shape 22"/>
          <p:cNvSpPr/>
          <p:nvPr/>
        </p:nvSpPr>
        <p:spPr>
          <a:xfrm>
            <a:off x="5623560" y="2697480"/>
            <a:ext cx="3200400" cy="512064"/>
          </a:xfrm>
          <a:prstGeom prst="rect">
            <a:avLst/>
          </a:prstGeom>
          <a:solidFill>
            <a:srgbClr val="253A52"/>
          </a:solidFill>
          <a:ln/>
        </p:spPr>
      </p:sp>
      <p:sp>
        <p:nvSpPr>
          <p:cNvPr id="25" name="Text 23"/>
          <p:cNvSpPr/>
          <p:nvPr/>
        </p:nvSpPr>
        <p:spPr>
          <a:xfrm>
            <a:off x="429768" y="2697480"/>
            <a:ext cx="1837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DB8"/>
                </a:solidFill>
              </a:rPr>
              <a:t>Spec generation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487168" y="2697480"/>
            <a:ext cx="30266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DC9"/>
                </a:solidFill>
              </a:rPr>
              <a:t>Reviews spec for domain correctness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733288" y="269748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Generates spec, architecture, schema docs from PRD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0040" y="3246120"/>
            <a:ext cx="1965960" cy="512064"/>
          </a:xfrm>
          <a:prstGeom prst="rect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377440" y="3246120"/>
            <a:ext cx="3154680" cy="512064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0" name="Shape 28"/>
          <p:cNvSpPr/>
          <p:nvPr/>
        </p:nvSpPr>
        <p:spPr>
          <a:xfrm>
            <a:off x="5623560" y="3246120"/>
            <a:ext cx="3200400" cy="512064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1" name="Text 29"/>
          <p:cNvSpPr/>
          <p:nvPr/>
        </p:nvSpPr>
        <p:spPr>
          <a:xfrm>
            <a:off x="429768" y="3246120"/>
            <a:ext cx="1837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DB8"/>
                </a:solidFill>
              </a:rPr>
              <a:t>Plan review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487168" y="3246120"/>
            <a:ext cx="30266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DC9"/>
                </a:solidFill>
              </a:rPr>
              <a:t>Approves sequencing and strategy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733288" y="324612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Generates plan and task breakdown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0040" y="3794760"/>
            <a:ext cx="1965960" cy="512064"/>
          </a:xfrm>
          <a:prstGeom prst="rect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377440" y="3794760"/>
            <a:ext cx="3154680" cy="512064"/>
          </a:xfrm>
          <a:prstGeom prst="rect">
            <a:avLst/>
          </a:prstGeom>
          <a:solidFill>
            <a:srgbClr val="253A52"/>
          </a:solidFill>
          <a:ln/>
        </p:spPr>
      </p:sp>
      <p:sp>
        <p:nvSpPr>
          <p:cNvPr id="36" name="Shape 34"/>
          <p:cNvSpPr/>
          <p:nvPr/>
        </p:nvSpPr>
        <p:spPr>
          <a:xfrm>
            <a:off x="5623560" y="3794760"/>
            <a:ext cx="3200400" cy="512064"/>
          </a:xfrm>
          <a:prstGeom prst="rect">
            <a:avLst/>
          </a:prstGeom>
          <a:solidFill>
            <a:srgbClr val="253A52"/>
          </a:solidFill>
          <a:ln/>
        </p:spPr>
      </p:sp>
      <p:sp>
        <p:nvSpPr>
          <p:cNvPr id="37" name="Text 35"/>
          <p:cNvSpPr/>
          <p:nvPr/>
        </p:nvSpPr>
        <p:spPr>
          <a:xfrm>
            <a:off x="429768" y="3794760"/>
            <a:ext cx="1837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DB8"/>
                </a:solidFill>
              </a:rPr>
              <a:t>Implementation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487168" y="3794760"/>
            <a:ext cx="30266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DC9"/>
                </a:solidFill>
              </a:rPr>
              <a:t>Reviews PRs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733288" y="379476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Implements tasks, writes tests, self-checks against AC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20040" y="4343400"/>
            <a:ext cx="1965960" cy="512064"/>
          </a:xfrm>
          <a:prstGeom prst="rect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2377440" y="4343400"/>
            <a:ext cx="3154680" cy="512064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42" name="Shape 40"/>
          <p:cNvSpPr/>
          <p:nvPr/>
        </p:nvSpPr>
        <p:spPr>
          <a:xfrm>
            <a:off x="5623560" y="4343400"/>
            <a:ext cx="3200400" cy="512064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43" name="Text 41"/>
          <p:cNvSpPr/>
          <p:nvPr/>
        </p:nvSpPr>
        <p:spPr>
          <a:xfrm>
            <a:off x="429768" y="4343400"/>
            <a:ext cx="1837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DB8"/>
                </a:solidFill>
              </a:rPr>
              <a:t>Merge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2487168" y="4343400"/>
            <a:ext cx="30266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DC9"/>
                </a:solidFill>
              </a:rPr>
              <a:t>Approves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5733288" y="434340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Opens PR with full context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320040" y="4892040"/>
            <a:ext cx="8503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The human never reviews a diff without first having approved the plan that produced it. By the time code appears, every significant decision has already been made and documented.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74980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ENTERPRISE CONSIDERATIONS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Regulated environments, corporate templates, and traceability requirements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8" name="Text 6"/>
          <p:cNvSpPr/>
          <p:nvPr/>
        </p:nvSpPr>
        <p:spPr>
          <a:xfrm>
            <a:off x="466344" y="1280160"/>
            <a:ext cx="3959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PRD as a compliance artifact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66344" y="1700784"/>
            <a:ext cx="39593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For regulated changes, the approved PRD (with its audit trail of agent-flagged issues and human resolutions) is evidence of due diligence before development. Store it with your change management records.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9744" y="1280160"/>
            <a:ext cx="3959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Centralised PRD templates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09744" y="1700784"/>
            <a:ext cx="39593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Maintain a corporate PRD template in your shared CLAUDE.md baseline. This ensures every agent-generated PRD covers compliance, security, and data handling requirements — not just functional ones.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" y="3108960"/>
            <a:ext cx="3959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Agent-authored specs need human review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6344" y="3529584"/>
            <a:ext cx="39593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Agents generate excellent specs but may confidently omit edge cases that a domain expert would catch. The spec review is not optional — it is the last human checkpoint before autonomous implementation begins.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0" name="Text 18"/>
          <p:cNvSpPr/>
          <p:nvPr/>
        </p:nvSpPr>
        <p:spPr>
          <a:xfrm>
            <a:off x="4809744" y="3108960"/>
            <a:ext cx="3959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Traceability for SOC 2 and beyond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809744" y="3529584"/>
            <a:ext cx="39593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Requirement (PRD) → Test → Code → Deployment must be traceable in your tooling. Tag each task in TASKS.md with its requirement ID. Tag PRs with the task ID. This satisfies SOC 2 and similar requirements without manual effort.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30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3557"/>
                </a:solidFill>
              </a:rPr>
              <a:t>Write a PRD That an Agent Can Actually Execute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20040" y="1389888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89888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389888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86968" y="1444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Write a rough PRD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990088" y="144475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86968" y="1792224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Pick a real feature your team is planning. Write 5–10 bullet points: what problem it solves, what it must do, what it must not do, and how you’ll know it’s done.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276856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276856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276856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6968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Agent review pass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990088" y="233172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6968" y="2679192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Open Claude Code. Paste your bullets and the relevant section of your codebase (or PRODUCT.md). Ask: “Review this as a PRD. What is ambiguous? What edge cases are missing? What open questions must be resolved before you could write a spec?” Record the gaps it finds.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163824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163824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163824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86968" y="321868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Resolve and formalise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990088" y="321868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86968" y="3566160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Address the gaps the agent flagged. Produce a one-page PRD using the required sections from Slide 6. Non-goals and Open questions sections are mandatory.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" y="4050792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4050792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4050792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86968" y="410565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Generate the spec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990088" y="410565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4453128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Ask the agent to generate a SPEC.md from your approved PRD. Review the output: does it faithfully translate your intent? What would you change? What did the agent get right that you hadn’t explicitly specified?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In the historical model, who resolved the gaps in the PRD? When? What did that cost?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What did the agent surface in the lab that you hadn’t noticed? Was it a real gap?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Which section of the modern PRD structure would your team find hardest to adopt? Why?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What would need to change in your workflow to make the agent review pass a mandatory step before any PRD is approved?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Historical PRD = human alignment doc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Modern PRD = agent instruction set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Agent reads codebase before drafting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Non-goals + Open questions are critical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Approved PRD generates the full spec suite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Human shifts from writer to decision-maker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PRD is a compliance artifact in regulated envs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DC9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05: Review Cycles, Human-in-the-Loop &amp; Agent-to-Agent  —  Human gates, evaluator patterns, agent as educator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4: Spec-Driven Development &amp; PRDs</dc:title>
  <dc:subject>PptxGenJS Presentation</dc:subject>
  <dc:creator>Enterprise Architect Training Series</dc:creator>
  <cp:lastModifiedBy>Enterprise Architect Training Series</cp:lastModifiedBy>
  <cp:revision>1</cp:revision>
  <dcterms:created xsi:type="dcterms:W3CDTF">2026-04-05T20:37:43Z</dcterms:created>
  <dcterms:modified xsi:type="dcterms:W3CDTF">2026-04-05T20:37:43Z</dcterms:modified>
</cp:coreProperties>
</file>