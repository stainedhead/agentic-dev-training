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926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8DB8"/>
                </a:solidFill>
              </a:rPr>
              <a:t>ENTERPRISE AGENTIC PRACTICES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207008"/>
            <a:ext cx="62179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Spec-Driven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Development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&amp; PRDs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65760" y="32461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8DB8"/>
                </a:solidFill>
              </a:rPr>
              <a:t>Writing requirements that agents can actually execute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3822192"/>
            <a:ext cx="320040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39776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Duration: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75–90 min 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  |  </a:t>
            </a:r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Level: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Intermediate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0" y="685800"/>
            <a:ext cx="1965960" cy="777240"/>
          </a:xfrm>
          <a:prstGeom prst="rect">
            <a:avLst/>
          </a:prstGeom>
          <a:solidFill>
            <a:srgbClr val="8096B0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58000" y="68580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Intent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0" y="112471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What we want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589520" y="149047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↓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858000" y="1764792"/>
            <a:ext cx="1965960" cy="777240"/>
          </a:xfrm>
          <a:prstGeom prst="rect">
            <a:avLst/>
          </a:prstGeom>
          <a:solidFill>
            <a:srgbClr val="3A7DC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858000" y="176479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Spec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858000" y="220370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Precise contract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589520" y="256946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↓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858000" y="2843784"/>
            <a:ext cx="1965960" cy="777240"/>
          </a:xfrm>
          <a:prstGeom prst="rect">
            <a:avLst/>
          </a:prstGeom>
          <a:solidFill>
            <a:srgbClr val="4A7FA8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858000" y="284378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Plan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0" y="3282696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How to build it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589520" y="364845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↓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858000" y="3922776"/>
            <a:ext cx="1965960" cy="777240"/>
          </a:xfrm>
          <a:prstGeom prst="rect">
            <a:avLst/>
          </a:prstGeom>
          <a:solidFill>
            <a:srgbClr val="3A7E6E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858000" y="3922776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Code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58000" y="436168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Agent executes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LEARNING OBJECTIVES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82296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By the end of this module you will be able to: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64008" cy="166420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3716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Distinguish PRD from Spec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Articulate why a Product Requirements Doc is not the same as an agent-executable specification, and when you need each.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6634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170432"/>
            <a:ext cx="64008" cy="1664208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3716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035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Apply the SDD Workflow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3035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Walk the full loop: Requirements → Plan → Tasks → Implementation → Verification, with agents at each step.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3200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20040" y="2999232"/>
            <a:ext cx="64008" cy="1664208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2004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601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Write Acceptance Criteria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9601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Define concrete, verifiable conditions that give agents a clear completion target and prevent scope creep.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6634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663440" y="2999232"/>
            <a:ext cx="64008" cy="1664208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20040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035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Design Review Cycles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3035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Build human review gates into the spec process so agents and humans stay aligned through implementation.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THE SPECIFICATION PROBLEM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20040" y="749808"/>
            <a:ext cx="8503920" cy="100584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02920" y="804672"/>
            <a:ext cx="8229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FFFFFF"/>
                </a:solidFill>
              </a:rPr>
              <a:t>“The specification becomes the source of truth and determines what gets built.”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i="1" dirty="0">
                <a:solidFill>
                  <a:srgbClr val="FFFFFF"/>
                </a:solidFill>
              </a:rPr>
              <a:t>— GitHub Engineering, September 2025  ·  90% of Fortune 100 companies have adopted agentic coding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320040" y="1901952"/>
            <a:ext cx="4206240" cy="301752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901952"/>
            <a:ext cx="4206240" cy="438912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901952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The Old World (PRD era)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450592"/>
            <a:ext cx="256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096B0"/>
                </a:solidFill>
              </a:rPr>
              <a:t>✕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2450592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PRD is a negotiated human-to-human alignment document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035808"/>
            <a:ext cx="256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096B0"/>
                </a:solidFill>
              </a:rPr>
              <a:t>✕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3035808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Engineers read it, interpret it, ask questions, push back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621024"/>
            <a:ext cx="256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096B0"/>
                </a:solidFill>
              </a:rPr>
              <a:t>✕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7240" y="3621024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Ambiguity is resolved in meetings and Slack threads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206240"/>
            <a:ext cx="256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096B0"/>
                </a:solidFill>
              </a:rPr>
              <a:t>✕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4206240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The PRD captures intent — humans translate intent to code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1901952"/>
            <a:ext cx="4206240" cy="301752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1901952"/>
            <a:ext cx="4206240" cy="43891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4709160" y="1901952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The New World (Agent era)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46320" y="2450592"/>
            <a:ext cx="256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7DC9"/>
                </a:solidFill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166360" y="2450592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Agents cannot ask clarifying questions mid-task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46320" y="3035808"/>
            <a:ext cx="256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7DC9"/>
                </a:solidFill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166360" y="3035808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Ambiguity is resolved by the agent — usually wrong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3621024"/>
            <a:ext cx="256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7DC9"/>
                </a:solidFill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166360" y="3621024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Omission is not scope reduction — agents infer from gaps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46320" y="4206240"/>
            <a:ext cx="256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7DC9"/>
                </a:solidFill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166360" y="4206240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Agents need a programming interface, not an alignment doc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20040" y="4846320"/>
            <a:ext cx="8503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Two-thirds of developers cite frustration with “AI solutions that are almost right, but not quite.” This is a specification problem, not a capability problem.  — Stack Overflow 2025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PRD vs. SPEC  —  THE CRITICAL DISTINCTION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2194560" cy="43891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82296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3557"/>
                </a:solidFill>
              </a:rPr>
              <a:t>Dimension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606040" y="822960"/>
            <a:ext cx="3108960" cy="438912"/>
          </a:xfrm>
          <a:prstGeom prst="rect">
            <a:avLst/>
          </a:prstGeom>
          <a:solidFill>
            <a:srgbClr val="D6E8FB"/>
          </a:solidFill>
          <a:ln/>
        </p:spPr>
      </p:sp>
      <p:sp>
        <p:nvSpPr>
          <p:cNvPr id="7" name="Text 5"/>
          <p:cNvSpPr/>
          <p:nvPr/>
        </p:nvSpPr>
        <p:spPr>
          <a:xfrm>
            <a:off x="2697480" y="82296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PRD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806440" y="822960"/>
            <a:ext cx="3017520" cy="438912"/>
          </a:xfrm>
          <a:prstGeom prst="rect">
            <a:avLst/>
          </a:prstGeom>
          <a:solidFill>
            <a:srgbClr val="D0EDE5"/>
          </a:solidFill>
          <a:ln/>
        </p:spPr>
      </p:sp>
      <p:sp>
        <p:nvSpPr>
          <p:cNvPr id="9" name="Text 7"/>
          <p:cNvSpPr/>
          <p:nvPr/>
        </p:nvSpPr>
        <p:spPr>
          <a:xfrm>
            <a:off x="5897880" y="82296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Specification (SDD)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316736"/>
            <a:ext cx="2194560" cy="475488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11" name="Shape 9"/>
          <p:cNvSpPr/>
          <p:nvPr/>
        </p:nvSpPr>
        <p:spPr>
          <a:xfrm>
            <a:off x="2606040" y="1316736"/>
            <a:ext cx="31089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5806440" y="1316736"/>
            <a:ext cx="301752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1792224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1316736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Purpose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697480" y="1316736"/>
            <a:ext cx="2980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Align stakeholders on goals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897880" y="1316736"/>
            <a:ext cx="2889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Give the agent an executable contract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0040" y="1824228"/>
            <a:ext cx="2194560" cy="475488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18" name="Shape 16"/>
          <p:cNvSpPr/>
          <p:nvPr/>
        </p:nvSpPr>
        <p:spPr>
          <a:xfrm>
            <a:off x="2606040" y="1824228"/>
            <a:ext cx="3108960" cy="475488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19" name="Shape 17"/>
          <p:cNvSpPr/>
          <p:nvPr/>
        </p:nvSpPr>
        <p:spPr>
          <a:xfrm>
            <a:off x="5806440" y="1824228"/>
            <a:ext cx="3017520" cy="475488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20" name="Shape 18"/>
          <p:cNvSpPr/>
          <p:nvPr/>
        </p:nvSpPr>
        <p:spPr>
          <a:xfrm>
            <a:off x="320040" y="2299716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1824228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Audience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97480" y="1824228"/>
            <a:ext cx="2980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Humans who interpret and push back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897880" y="1824228"/>
            <a:ext cx="2889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Agents that execute literally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20040" y="2331720"/>
            <a:ext cx="2194560" cy="475488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25" name="Shape 23"/>
          <p:cNvSpPr/>
          <p:nvPr/>
        </p:nvSpPr>
        <p:spPr>
          <a:xfrm>
            <a:off x="2606040" y="2331720"/>
            <a:ext cx="31089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5806440" y="2331720"/>
            <a:ext cx="301752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320040" y="2807208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1480" y="2331720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Ambiguity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697480" y="2331720"/>
            <a:ext cx="2980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Resolved in meetings/Slack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897880" y="2331720"/>
            <a:ext cx="2889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Must be eliminated upfront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320040" y="2839212"/>
            <a:ext cx="2194560" cy="475488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32" name="Shape 30"/>
          <p:cNvSpPr/>
          <p:nvPr/>
        </p:nvSpPr>
        <p:spPr>
          <a:xfrm>
            <a:off x="2606040" y="2839212"/>
            <a:ext cx="3108960" cy="475488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3" name="Shape 31"/>
          <p:cNvSpPr/>
          <p:nvPr/>
        </p:nvSpPr>
        <p:spPr>
          <a:xfrm>
            <a:off x="5806440" y="2839212"/>
            <a:ext cx="3017520" cy="475488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4" name="Shape 32"/>
          <p:cNvSpPr/>
          <p:nvPr/>
        </p:nvSpPr>
        <p:spPr>
          <a:xfrm>
            <a:off x="320040" y="3314700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1480" y="2839212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Format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697480" y="2839212"/>
            <a:ext cx="2980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Prose, user stories, mockups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897880" y="2839212"/>
            <a:ext cx="2889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I/O contracts, preconditions, invariants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320040" y="3346704"/>
            <a:ext cx="2194560" cy="475488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39" name="Shape 37"/>
          <p:cNvSpPr/>
          <p:nvPr/>
        </p:nvSpPr>
        <p:spPr>
          <a:xfrm>
            <a:off x="2606040" y="3346704"/>
            <a:ext cx="31089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5806440" y="3346704"/>
            <a:ext cx="301752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320040" y="3822192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1480" y="3346704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Non-goals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2697480" y="3346704"/>
            <a:ext cx="2980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Implied by omission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5897880" y="3346704"/>
            <a:ext cx="2889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Stated explicitly and positively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320040" y="3854196"/>
            <a:ext cx="2194560" cy="475488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46" name="Shape 44"/>
          <p:cNvSpPr/>
          <p:nvPr/>
        </p:nvSpPr>
        <p:spPr>
          <a:xfrm>
            <a:off x="2606040" y="3854196"/>
            <a:ext cx="3108960" cy="475488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47" name="Shape 45"/>
          <p:cNvSpPr/>
          <p:nvPr/>
        </p:nvSpPr>
        <p:spPr>
          <a:xfrm>
            <a:off x="5806440" y="3854196"/>
            <a:ext cx="3017520" cy="475488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48" name="Shape 46"/>
          <p:cNvSpPr/>
          <p:nvPr/>
        </p:nvSpPr>
        <p:spPr>
          <a:xfrm>
            <a:off x="320040" y="4329684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1480" y="3854196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Scope control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2697480" y="3854196"/>
            <a:ext cx="2980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Negotiated at standup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5897880" y="3854196"/>
            <a:ext cx="2889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Enforced by AC — agent stops at criteria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320040" y="4361688"/>
            <a:ext cx="2194560" cy="475488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53" name="Shape 51"/>
          <p:cNvSpPr/>
          <p:nvPr/>
        </p:nvSpPr>
        <p:spPr>
          <a:xfrm>
            <a:off x="2606040" y="4361688"/>
            <a:ext cx="31089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Shape 52"/>
          <p:cNvSpPr/>
          <p:nvPr/>
        </p:nvSpPr>
        <p:spPr>
          <a:xfrm>
            <a:off x="5806440" y="4361688"/>
            <a:ext cx="301752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Shape 53"/>
          <p:cNvSpPr/>
          <p:nvPr/>
        </p:nvSpPr>
        <p:spPr>
          <a:xfrm>
            <a:off x="320040" y="4837176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11480" y="4361688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Edge cases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2697480" y="4361688"/>
            <a:ext cx="2980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Handled ad-hoc by engineers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5897880" y="4361688"/>
            <a:ext cx="2889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Specified or agent invents the answer</a:t>
            </a:r>
            <a:endParaRPr lang="en-US" sz="1150" dirty="0"/>
          </a:p>
        </p:txBody>
      </p:sp>
      <p:sp>
        <p:nvSpPr>
          <p:cNvPr id="59" name="Text 57"/>
          <p:cNvSpPr/>
          <p:nvPr/>
        </p:nvSpPr>
        <p:spPr>
          <a:xfrm>
            <a:off x="320040" y="4873752"/>
            <a:ext cx="8503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In practice, blend both: PRD captures the ‘why’ (user-centric context), Spec defines the ‘what’ (precise external behaviour). Neither alone is enough.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SDD WORKFLOW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Separating planning from implementation is the single most impactful practice in agentic development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20116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88720"/>
            <a:ext cx="2011680" cy="64008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88720"/>
            <a:ext cx="47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11887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Requirements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requirements.md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18836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C3557"/>
                </a:solidFill>
              </a:rPr>
              <a:t>WHO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11480" y="20848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PM + Architect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1480" y="243230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C3557"/>
                </a:solidFill>
              </a:rPr>
              <a:t>WHAT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11480" y="263347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High-level goals, not implementation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1480" y="301752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User-centric: who benefits and why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" y="3401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Domain language, not tech terms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78561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Explicit non-goals stated positively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93192" y="4315968"/>
            <a:ext cx="1865376" cy="475488"/>
          </a:xfrm>
          <a:prstGeom prst="rect">
            <a:avLst/>
          </a:prstGeom>
          <a:solidFill>
            <a:srgbClr val="1C3557">
              <a:alpha val="12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448056" y="435254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C3557"/>
                </a:solidFill>
              </a:rPr>
              <a:t>requirements.md in repo root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331720" y="2606040"/>
            <a:ext cx="164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A90A8"/>
                </a:solidFill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2496312" y="1188720"/>
            <a:ext cx="20116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496312" y="1188720"/>
            <a:ext cx="2011680" cy="64008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1" name="Text 19"/>
          <p:cNvSpPr/>
          <p:nvPr/>
        </p:nvSpPr>
        <p:spPr>
          <a:xfrm>
            <a:off x="2496312" y="1188720"/>
            <a:ext cx="47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02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999232" y="11887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Planning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plan.md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587752" y="18836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4A7FA8"/>
                </a:solidFill>
              </a:rPr>
              <a:t>WHO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587752" y="20848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Agent + Human review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587752" y="243230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4A7FA8"/>
                </a:solidFill>
              </a:rPr>
              <a:t>WHAT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587752" y="263347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Agent reads requirements, thinks first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587752" y="301752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Proposes approach, dependencies, risks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587752" y="3401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Human reviews plan BEFORE any code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587752" y="378561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“Ask agent to think, not code” — JetBrains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569464" y="4315968"/>
            <a:ext cx="1865376" cy="475488"/>
          </a:xfrm>
          <a:prstGeom prst="rect">
            <a:avLst/>
          </a:prstGeom>
          <a:solidFill>
            <a:srgbClr val="4A7FA8">
              <a:alpha val="12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2624328" y="435254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4A7FA8"/>
                </a:solidFill>
              </a:rPr>
              <a:t>plan.md — agent-generated, human-approved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507992" y="2606040"/>
            <a:ext cx="164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A90A8"/>
                </a:solidFill>
              </a:rPr>
              <a:t>→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4672584" y="1188720"/>
            <a:ext cx="20116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672584" y="1188720"/>
            <a:ext cx="2011680" cy="6400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5" name="Text 33"/>
          <p:cNvSpPr/>
          <p:nvPr/>
        </p:nvSpPr>
        <p:spPr>
          <a:xfrm>
            <a:off x="4672584" y="1188720"/>
            <a:ext cx="47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03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5175504" y="11887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Tasks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tasks.md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764024" y="18836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DC9"/>
                </a:solidFill>
              </a:rPr>
              <a:t>WHO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764024" y="20848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Agent + Human verify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764024" y="243230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DC9"/>
                </a:solidFill>
              </a:rPr>
              <a:t>WHAT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764024" y="263347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Atomic, ordered implementation steps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764024" y="301752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Each task has clear entry/exit criteria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764024" y="3401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Sequenced to enable incremental review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764024" y="378561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Maps to tests and acceptance criteria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745736" y="4315968"/>
            <a:ext cx="1865376" cy="475488"/>
          </a:xfrm>
          <a:prstGeom prst="rect">
            <a:avLst/>
          </a:prstGeom>
          <a:solidFill>
            <a:srgbClr val="3A7DC9">
              <a:alpha val="12000"/>
            </a:srgbClr>
          </a:solidFill>
          <a:ln/>
        </p:spPr>
      </p:sp>
      <p:sp>
        <p:nvSpPr>
          <p:cNvPr id="45" name="Text 43"/>
          <p:cNvSpPr/>
          <p:nvPr/>
        </p:nvSpPr>
        <p:spPr>
          <a:xfrm>
            <a:off x="4800600" y="435254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A7DC9"/>
                </a:solidFill>
              </a:rPr>
              <a:t>tasks.md with checkboxes — agent tracks progress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684264" y="2606040"/>
            <a:ext cx="164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A90A8"/>
                </a:solidFill>
              </a:rPr>
              <a:t>→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6848856" y="1188720"/>
            <a:ext cx="20116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6848856" y="1188720"/>
            <a:ext cx="2011680" cy="64008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49" name="Text 47"/>
          <p:cNvSpPr/>
          <p:nvPr/>
        </p:nvSpPr>
        <p:spPr>
          <a:xfrm>
            <a:off x="6848856" y="1188720"/>
            <a:ext cx="47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04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7351776" y="11887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Implement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+ Verify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940296" y="18836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WHO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6940296" y="20848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Agent codes, Human reviews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6940296" y="243230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WHAT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6940296" y="263347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Agent executes one task at a time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6940296" y="301752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Verifiers run after each task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940296" y="3401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Human reviews diff at each milestone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940296" y="378561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Spec stays in context throughout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6922008" y="4315968"/>
            <a:ext cx="1865376" cy="475488"/>
          </a:xfrm>
          <a:prstGeom prst="rect">
            <a:avLst/>
          </a:prstGeom>
          <a:solidFill>
            <a:srgbClr val="3A7E6E">
              <a:alpha val="12000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6976872" y="435254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A7E6E"/>
                </a:solidFill>
              </a:rPr>
              <a:t>PR per milestone — agent opens, human merges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WRITING A SPEC AGENTS CAN EXECUTE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A specification defines external behaviour — not just what the business wants, but what the system does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160520" cy="38404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SPEC SECTION ANATOMY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" y="1664208"/>
            <a:ext cx="393192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1664208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Feature Name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920240" y="166420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Short, domain-oriented noun phrase. Not tech-bound.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9768" y="2121408"/>
            <a:ext cx="3931920" cy="40233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2121408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User Story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920240" y="212140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As a [user], I want [outcome] so that [reason].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" y="2578608"/>
            <a:ext cx="393192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578608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Preconditions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920240" y="257860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What must be true for this feature to activate.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29768" y="3035808"/>
            <a:ext cx="3931920" cy="40233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3035808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Input/Output Contract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920240" y="303580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Exact inputs, outputs, and transformations. No ambiguity.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9768" y="3493008"/>
            <a:ext cx="393192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3493008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Acceptance Criteria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920240" y="349300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Concrete, verifiable conditions. See slide 7.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29768" y="3950208"/>
            <a:ext cx="3931920" cy="40233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3950208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Non-Goals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920240" y="395020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What this feature explicitly does NOT do. Stated positively.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29768" y="4407408"/>
            <a:ext cx="393192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502920" y="4407408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Edge Cases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920240" y="440740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What happens in the 10 non-happy-path scenarios.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63440" y="1170432"/>
            <a:ext cx="416052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1170432"/>
            <a:ext cx="4160520" cy="38404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1" name="Text 29"/>
          <p:cNvSpPr/>
          <p:nvPr/>
        </p:nvSpPr>
        <p:spPr>
          <a:xfrm>
            <a:off x="4663440" y="117043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GOOD vs. BAD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773168" y="166420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096B0"/>
                </a:solidFill>
              </a:rPr>
              <a:t>Feature Description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773168" y="1901952"/>
            <a:ext cx="3931920" cy="365760"/>
          </a:xfrm>
          <a:prstGeom prst="rect">
            <a:avLst/>
          </a:prstGeom>
          <a:solidFill>
            <a:srgbClr val="F8E8E8"/>
          </a:solidFill>
          <a:ln/>
        </p:spPr>
      </p:sp>
      <p:sp>
        <p:nvSpPr>
          <p:cNvPr id="34" name="Text 32"/>
          <p:cNvSpPr/>
          <p:nvPr/>
        </p:nvSpPr>
        <p:spPr>
          <a:xfrm>
            <a:off x="4846320" y="1901952"/>
            <a:ext cx="3785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3040"/>
                </a:solidFill>
              </a:rPr>
              <a:t>✗  Users should be able to create boards.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773168" y="2286000"/>
            <a:ext cx="3931920" cy="402336"/>
          </a:xfrm>
          <a:prstGeom prst="rect">
            <a:avLst/>
          </a:prstGeom>
          <a:solidFill>
            <a:srgbClr val="E8F4EC"/>
          </a:solidFill>
          <a:ln/>
        </p:spPr>
      </p:sp>
      <p:sp>
        <p:nvSpPr>
          <p:cNvPr id="36" name="Text 34"/>
          <p:cNvSpPr/>
          <p:nvPr/>
        </p:nvSpPr>
        <p:spPr>
          <a:xfrm>
            <a:off x="4846320" y="2286000"/>
            <a:ext cx="3785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7E6E"/>
                </a:solidFill>
              </a:rPr>
              <a:t>✓  WHEN a user submits a board name (3–64 chars, unique per workspace), the system SHALL create a board and return its ID within 200ms.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773168" y="274320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096B0"/>
                </a:solidFill>
              </a:rPr>
              <a:t>Error Handling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773168" y="2980944"/>
            <a:ext cx="3931920" cy="365760"/>
          </a:xfrm>
          <a:prstGeom prst="rect">
            <a:avLst/>
          </a:prstGeom>
          <a:solidFill>
            <a:srgbClr val="F8E8E8"/>
          </a:solidFill>
          <a:ln/>
        </p:spPr>
      </p:sp>
      <p:sp>
        <p:nvSpPr>
          <p:cNvPr id="39" name="Text 37"/>
          <p:cNvSpPr/>
          <p:nvPr/>
        </p:nvSpPr>
        <p:spPr>
          <a:xfrm>
            <a:off x="4846320" y="2980944"/>
            <a:ext cx="3785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3040"/>
                </a:solidFill>
              </a:rPr>
              <a:t>✗  Handle errors gracefully.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773168" y="3364992"/>
            <a:ext cx="3931920" cy="402336"/>
          </a:xfrm>
          <a:prstGeom prst="rect">
            <a:avLst/>
          </a:prstGeom>
          <a:solidFill>
            <a:srgbClr val="E8F4EC"/>
          </a:solidFill>
          <a:ln/>
        </p:spPr>
      </p:sp>
      <p:sp>
        <p:nvSpPr>
          <p:cNvPr id="41" name="Text 39"/>
          <p:cNvSpPr/>
          <p:nvPr/>
        </p:nvSpPr>
        <p:spPr>
          <a:xfrm>
            <a:off x="4846320" y="3364992"/>
            <a:ext cx="3785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7E6E"/>
                </a:solidFill>
              </a:rPr>
              <a:t>✓  WHEN a board name already exists in the workspace, the system SHALL return HTTP 409 with error code BOARD_NAME_CONFLICT.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773168" y="382219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096B0"/>
                </a:solidFill>
              </a:rPr>
              <a:t>Non-Goals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773168" y="4059936"/>
            <a:ext cx="3931920" cy="365760"/>
          </a:xfrm>
          <a:prstGeom prst="rect">
            <a:avLst/>
          </a:prstGeom>
          <a:solidFill>
            <a:srgbClr val="F8E8E8"/>
          </a:solidFill>
          <a:ln/>
        </p:spPr>
      </p:sp>
      <p:sp>
        <p:nvSpPr>
          <p:cNvPr id="44" name="Text 42"/>
          <p:cNvSpPr/>
          <p:nvPr/>
        </p:nvSpPr>
        <p:spPr>
          <a:xfrm>
            <a:off x="4846320" y="4059936"/>
            <a:ext cx="3785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3040"/>
                </a:solidFill>
              </a:rPr>
              <a:t>✗  Don’t add authentication in this phase.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773168" y="4443984"/>
            <a:ext cx="3931920" cy="402336"/>
          </a:xfrm>
          <a:prstGeom prst="rect">
            <a:avLst/>
          </a:prstGeom>
          <a:solidFill>
            <a:srgbClr val="E8F4EC"/>
          </a:solidFill>
          <a:ln/>
        </p:spPr>
      </p:sp>
      <p:sp>
        <p:nvSpPr>
          <p:cNvPr id="46" name="Text 44"/>
          <p:cNvSpPr/>
          <p:nvPr/>
        </p:nvSpPr>
        <p:spPr>
          <a:xfrm>
            <a:off x="4846320" y="4443984"/>
            <a:ext cx="3785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7E6E"/>
                </a:solidFill>
              </a:rPr>
              <a:t>✓  Non-goal: This feature does not implement board-level permission controls. All workspace members can see all boards.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ACCEPTANCE CRITERIA  —  THE AGENT’S FINISH LINE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Without AC, “done” is whatever the agent decides it is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80467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20040" y="1170432"/>
            <a:ext cx="54864" cy="8046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6" name="Text 4"/>
          <p:cNvSpPr/>
          <p:nvPr/>
        </p:nvSpPr>
        <p:spPr>
          <a:xfrm>
            <a:off x="466344" y="12435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7DC9"/>
                </a:solidFill>
              </a:rPr>
              <a:t>Concrete completion target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66344" y="155448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Agent knows exactly when to stop. No more endless refinement or premature termination.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09160" y="1170432"/>
            <a:ext cx="4206240" cy="80467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709160" y="1170432"/>
            <a:ext cx="54864" cy="8046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0" name="Text 8"/>
          <p:cNvSpPr/>
          <p:nvPr/>
        </p:nvSpPr>
        <p:spPr>
          <a:xfrm>
            <a:off x="4855464" y="12435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7DC9"/>
                </a:solidFill>
              </a:rPr>
              <a:t>Prevents scope creep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855464" y="155448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Agent cannot add auth, logging, or tests you didn’t ask for if AC doesn’t mention them.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084832"/>
            <a:ext cx="4206240" cy="80467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084832"/>
            <a:ext cx="54864" cy="8046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" y="21579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7DC9"/>
                </a:solidFill>
              </a:rPr>
              <a:t>Generates test cases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66344" y="246888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Every AC becomes a test. If you write AC before implementation, tests write themselves.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2084832"/>
            <a:ext cx="4206240" cy="80467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4709160" y="2084832"/>
            <a:ext cx="54864" cy="8046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8" name="Text 16"/>
          <p:cNvSpPr/>
          <p:nvPr/>
        </p:nvSpPr>
        <p:spPr>
          <a:xfrm>
            <a:off x="4855464" y="21579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7DC9"/>
                </a:solidFill>
              </a:rPr>
              <a:t>Enables verification loops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855464" y="246888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The Verifier and Judge LLM check output against AC automatically before opening a PR.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3127248"/>
            <a:ext cx="8503920" cy="329184"/>
          </a:xfrm>
          <a:prstGeom prst="rect">
            <a:avLst/>
          </a:prstGeom>
          <a:solidFill>
            <a:srgbClr val="2E5073">
              <a:alpha val="9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320040" y="3127248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B8DB8"/>
                </a:solidFill>
              </a:rPr>
              <a:t>TWO AC FORMATS THAT WORK WELL WITH AGENTS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0040" y="3520440"/>
            <a:ext cx="4160520" cy="141732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354787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A8"/>
                </a:solidFill>
              </a:rPr>
              <a:t>Given / When / Then  (BDD style)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1480" y="3858768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Given: a board name that already exists in the workspace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When: a user submits a create board request with that name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Then: the API returns HTTP 409 with BOARD_NAME_CONFLICT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And: no new board is created in the database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663440" y="3520440"/>
            <a:ext cx="4160520" cy="141732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4754880" y="354787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A8"/>
                </a:solidFill>
              </a:rPr>
              <a:t>EARS notation  (system-level constraints)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754880" y="3858768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WHEN a user submits a board name,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SYSTEM SHALL create the board within 200ms.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WHEN the name contains &gt; 64 chars,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SYSTEM SHALL reject with HTTP 422.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20040" cy="74980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RESEARCH → PLAN → IMPLEMENT  ·  Dex Horthy, HumanLayer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“Ask agents to think before coding” — the single practice that most improves agent output quality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170432"/>
            <a:ext cx="26974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170432"/>
            <a:ext cx="2697480" cy="475488"/>
          </a:xfrm>
          <a:prstGeom prst="rect">
            <a:avLst/>
          </a:prstGeom>
          <a:solidFill>
            <a:srgbClr val="1C3557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261872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50392" y="117043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RESEARCH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29768" y="1719072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1.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67512" y="1719072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Agent reads requirements.md and any referenced docs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29768" y="2212848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2.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67512" y="2212848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Agent searches codebase for relevant patterns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29768" y="2706624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3.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67512" y="2706624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Agent identifies existing implementations to reuse or extend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29768" y="3200400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4.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67512" y="3200400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Agent flags knowledge gaps or ambiguous requirements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29768" y="3694176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5.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67512" y="3694176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Human reviews research summary before proceeding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11480" y="4297680"/>
            <a:ext cx="2514600" cy="530352"/>
          </a:xfrm>
          <a:prstGeom prst="rect">
            <a:avLst/>
          </a:prstGeom>
          <a:solidFill>
            <a:srgbClr val="1C3557">
              <a:alpha val="12000"/>
            </a:srgbClr>
          </a:solidFill>
          <a:ln/>
        </p:spPr>
      </p:sp>
      <p:sp>
        <p:nvSpPr>
          <p:cNvPr id="21" name="Text 18"/>
          <p:cNvSpPr/>
          <p:nvPr/>
        </p:nvSpPr>
        <p:spPr>
          <a:xfrm>
            <a:off x="466344" y="4334256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C3557"/>
                </a:solidFill>
              </a:rPr>
              <a:t>⚠ Don’t skip this phase. Agents that skip research hallucinate dependencies and ignore existing patterns.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017520" y="265176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A90A8"/>
                </a:solidFill>
              </a:rPr>
              <a:t>→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200400" y="1170432"/>
            <a:ext cx="26974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3200400" y="1170432"/>
            <a:ext cx="2697480" cy="475488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1261872"/>
            <a:ext cx="292608" cy="292608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3730752" y="117043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PLAN</a:t>
            </a:r>
            <a:endParaRPr lang="en-US" sz="1500" dirty="0"/>
          </a:p>
        </p:txBody>
      </p:sp>
      <p:sp>
        <p:nvSpPr>
          <p:cNvPr id="27" name="Text 23"/>
          <p:cNvSpPr/>
          <p:nvPr/>
        </p:nvSpPr>
        <p:spPr>
          <a:xfrm>
            <a:off x="3310128" y="1719072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A8"/>
                </a:solidFill>
              </a:rPr>
              <a:t>1.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3547872" y="1719072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Agent produces detailed plan.md — not code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3310128" y="2212848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A8"/>
                </a:solidFill>
              </a:rPr>
              <a:t>2.</a:t>
            </a:r>
            <a:endParaRPr lang="en-US" sz="1100" dirty="0"/>
          </a:p>
        </p:txBody>
      </p:sp>
      <p:sp>
        <p:nvSpPr>
          <p:cNvPr id="30" name="Text 26"/>
          <p:cNvSpPr/>
          <p:nvPr/>
        </p:nvSpPr>
        <p:spPr>
          <a:xfrm>
            <a:off x="3547872" y="2212848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Plan covers: approach, file changes, dependencies, risks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3310128" y="2706624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A8"/>
                </a:solidFill>
              </a:rPr>
              <a:t>3.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3547872" y="2706624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Human reviews plan and approves or redirects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3310128" y="3200400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A8"/>
                </a:solidFill>
              </a:rPr>
              <a:t>4.</a:t>
            </a:r>
            <a:endParaRPr lang="en-US" sz="1100" dirty="0"/>
          </a:p>
        </p:txBody>
      </p:sp>
      <p:sp>
        <p:nvSpPr>
          <p:cNvPr id="34" name="Text 30"/>
          <p:cNvSpPr/>
          <p:nvPr/>
        </p:nvSpPr>
        <p:spPr>
          <a:xfrm>
            <a:off x="3547872" y="3200400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“Enable Think More to force careful reasoning” — JetBrains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3310128" y="3694176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A8"/>
                </a:solidFill>
              </a:rPr>
              <a:t>5.</a:t>
            </a:r>
            <a:endParaRPr lang="en-US" sz="1100" dirty="0"/>
          </a:p>
        </p:txBody>
      </p:sp>
      <p:sp>
        <p:nvSpPr>
          <p:cNvPr id="36" name="Text 32"/>
          <p:cNvSpPr/>
          <p:nvPr/>
        </p:nvSpPr>
        <p:spPr>
          <a:xfrm>
            <a:off x="3547872" y="3694176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Approval gate: no implementation starts without plan sign-off</a:t>
            </a:r>
            <a:endParaRPr lang="en-US" sz="1050" dirty="0"/>
          </a:p>
        </p:txBody>
      </p:sp>
      <p:sp>
        <p:nvSpPr>
          <p:cNvPr id="37" name="Shape 33"/>
          <p:cNvSpPr/>
          <p:nvPr/>
        </p:nvSpPr>
        <p:spPr>
          <a:xfrm>
            <a:off x="3291840" y="4297680"/>
            <a:ext cx="2514600" cy="530352"/>
          </a:xfrm>
          <a:prstGeom prst="rect">
            <a:avLst/>
          </a:prstGeom>
          <a:solidFill>
            <a:srgbClr val="4A7FA8">
              <a:alpha val="12000"/>
            </a:srgbClr>
          </a:solidFill>
          <a:ln/>
        </p:spPr>
      </p:sp>
      <p:sp>
        <p:nvSpPr>
          <p:cNvPr id="38" name="Text 34"/>
          <p:cNvSpPr/>
          <p:nvPr/>
        </p:nvSpPr>
        <p:spPr>
          <a:xfrm>
            <a:off x="3346704" y="4334256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4A7FA8"/>
                </a:solidFill>
              </a:rPr>
              <a:t>⚠ The plan is a human-AI contract. Time spent here saves 10x in debugging later.</a:t>
            </a:r>
            <a:endParaRPr lang="en-US" sz="900" dirty="0"/>
          </a:p>
        </p:txBody>
      </p:sp>
      <p:sp>
        <p:nvSpPr>
          <p:cNvPr id="39" name="Text 35"/>
          <p:cNvSpPr/>
          <p:nvPr/>
        </p:nvSpPr>
        <p:spPr>
          <a:xfrm>
            <a:off x="5897880" y="265176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A90A8"/>
                </a:solidFill>
              </a:rPr>
              <a:t>→</a:t>
            </a:r>
            <a:endParaRPr lang="en-US" sz="1800" dirty="0"/>
          </a:p>
        </p:txBody>
      </p:sp>
      <p:sp>
        <p:nvSpPr>
          <p:cNvPr id="40" name="Shape 36"/>
          <p:cNvSpPr/>
          <p:nvPr/>
        </p:nvSpPr>
        <p:spPr>
          <a:xfrm>
            <a:off x="6080760" y="1170432"/>
            <a:ext cx="26974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1" name="Shape 37"/>
          <p:cNvSpPr/>
          <p:nvPr/>
        </p:nvSpPr>
        <p:spPr>
          <a:xfrm>
            <a:off x="6080760" y="1170432"/>
            <a:ext cx="2697480" cy="47548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4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261872"/>
            <a:ext cx="292608" cy="292608"/>
          </a:xfrm>
          <a:prstGeom prst="rect">
            <a:avLst/>
          </a:prstGeom>
        </p:spPr>
      </p:pic>
      <p:sp>
        <p:nvSpPr>
          <p:cNvPr id="43" name="Text 38"/>
          <p:cNvSpPr/>
          <p:nvPr/>
        </p:nvSpPr>
        <p:spPr>
          <a:xfrm>
            <a:off x="6611112" y="117043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IMPLEMENT</a:t>
            </a:r>
            <a:endParaRPr lang="en-US" sz="1500" dirty="0"/>
          </a:p>
        </p:txBody>
      </p:sp>
      <p:sp>
        <p:nvSpPr>
          <p:cNvPr id="44" name="Text 39"/>
          <p:cNvSpPr/>
          <p:nvPr/>
        </p:nvSpPr>
        <p:spPr>
          <a:xfrm>
            <a:off x="6190488" y="1719072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DC9"/>
                </a:solidFill>
              </a:rPr>
              <a:t>1.</a:t>
            </a:r>
            <a:endParaRPr lang="en-US" sz="1100" dirty="0"/>
          </a:p>
        </p:txBody>
      </p:sp>
      <p:sp>
        <p:nvSpPr>
          <p:cNvPr id="45" name="Text 40"/>
          <p:cNvSpPr/>
          <p:nvPr/>
        </p:nvSpPr>
        <p:spPr>
          <a:xfrm>
            <a:off x="6428232" y="1719072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Agent executes against the approved plan, task by task</a:t>
            </a:r>
            <a:endParaRPr lang="en-US" sz="1050" dirty="0"/>
          </a:p>
        </p:txBody>
      </p:sp>
      <p:sp>
        <p:nvSpPr>
          <p:cNvPr id="46" name="Text 41"/>
          <p:cNvSpPr/>
          <p:nvPr/>
        </p:nvSpPr>
        <p:spPr>
          <a:xfrm>
            <a:off x="6190488" y="2212848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DC9"/>
                </a:solidFill>
              </a:rPr>
              <a:t>2.</a:t>
            </a:r>
            <a:endParaRPr lang="en-US" sz="1100" dirty="0"/>
          </a:p>
        </p:txBody>
      </p:sp>
      <p:sp>
        <p:nvSpPr>
          <p:cNvPr id="47" name="Text 42"/>
          <p:cNvSpPr/>
          <p:nvPr/>
        </p:nvSpPr>
        <p:spPr>
          <a:xfrm>
            <a:off x="6428232" y="2212848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Verifiers run after each task (tests, lint, types)</a:t>
            </a:r>
            <a:endParaRPr lang="en-US" sz="1050" dirty="0"/>
          </a:p>
        </p:txBody>
      </p:sp>
      <p:sp>
        <p:nvSpPr>
          <p:cNvPr id="48" name="Text 43"/>
          <p:cNvSpPr/>
          <p:nvPr/>
        </p:nvSpPr>
        <p:spPr>
          <a:xfrm>
            <a:off x="6190488" y="2706624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DC9"/>
                </a:solidFill>
              </a:rPr>
              <a:t>3.</a:t>
            </a:r>
            <a:endParaRPr lang="en-US" sz="1100" dirty="0"/>
          </a:p>
        </p:txBody>
      </p:sp>
      <p:sp>
        <p:nvSpPr>
          <p:cNvPr id="49" name="Text 44"/>
          <p:cNvSpPr/>
          <p:nvPr/>
        </p:nvSpPr>
        <p:spPr>
          <a:xfrm>
            <a:off x="6428232" y="2706624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Agent self-corrects against failures before escalating</a:t>
            </a:r>
            <a:endParaRPr lang="en-US" sz="1050" dirty="0"/>
          </a:p>
        </p:txBody>
      </p:sp>
      <p:sp>
        <p:nvSpPr>
          <p:cNvPr id="50" name="Text 45"/>
          <p:cNvSpPr/>
          <p:nvPr/>
        </p:nvSpPr>
        <p:spPr>
          <a:xfrm>
            <a:off x="6190488" y="3200400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DC9"/>
                </a:solidFill>
              </a:rPr>
              <a:t>4.</a:t>
            </a:r>
            <a:endParaRPr lang="en-US" sz="1100" dirty="0"/>
          </a:p>
        </p:txBody>
      </p:sp>
      <p:sp>
        <p:nvSpPr>
          <p:cNvPr id="51" name="Text 46"/>
          <p:cNvSpPr/>
          <p:nvPr/>
        </p:nvSpPr>
        <p:spPr>
          <a:xfrm>
            <a:off x="6428232" y="3200400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Human reviews diff at each milestone checkpoint</a:t>
            </a:r>
            <a:endParaRPr lang="en-US" sz="1050" dirty="0"/>
          </a:p>
        </p:txBody>
      </p:sp>
      <p:sp>
        <p:nvSpPr>
          <p:cNvPr id="52" name="Text 47"/>
          <p:cNvSpPr/>
          <p:nvPr/>
        </p:nvSpPr>
        <p:spPr>
          <a:xfrm>
            <a:off x="6190488" y="3694176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DC9"/>
                </a:solidFill>
              </a:rPr>
              <a:t>5.</a:t>
            </a:r>
            <a:endParaRPr lang="en-US" sz="1100" dirty="0"/>
          </a:p>
        </p:txBody>
      </p:sp>
      <p:sp>
        <p:nvSpPr>
          <p:cNvPr id="53" name="Text 48"/>
          <p:cNvSpPr/>
          <p:nvPr/>
        </p:nvSpPr>
        <p:spPr>
          <a:xfrm>
            <a:off x="6428232" y="3694176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Spec and plan stay in context throughout — anchor agent</a:t>
            </a:r>
            <a:endParaRPr lang="en-US" sz="1050" dirty="0"/>
          </a:p>
        </p:txBody>
      </p:sp>
      <p:sp>
        <p:nvSpPr>
          <p:cNvPr id="54" name="Shape 49"/>
          <p:cNvSpPr/>
          <p:nvPr/>
        </p:nvSpPr>
        <p:spPr>
          <a:xfrm>
            <a:off x="6172200" y="4297680"/>
            <a:ext cx="2514600" cy="530352"/>
          </a:xfrm>
          <a:prstGeom prst="rect">
            <a:avLst/>
          </a:prstGeom>
          <a:solidFill>
            <a:srgbClr val="3A7DC9">
              <a:alpha val="12000"/>
            </a:srgbClr>
          </a:solidFill>
          <a:ln/>
        </p:spPr>
      </p:sp>
      <p:sp>
        <p:nvSpPr>
          <p:cNvPr id="55" name="Text 50"/>
          <p:cNvSpPr/>
          <p:nvPr/>
        </p:nvSpPr>
        <p:spPr>
          <a:xfrm>
            <a:off x="6227064" y="4334256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A7DC9"/>
                </a:solidFill>
              </a:rPr>
              <a:t>⚠ Implementation without a plan gate produces code that passes tests but fails the product.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REVIEW CYCLES  —  HUMAN GATES IN THE SDD LOOP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Every gate is a decision point: approve and continue, redirect, or stop. Design them upfront.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2633472"/>
            <a:ext cx="8138160" cy="0"/>
          </a:xfrm>
          <a:prstGeom prst="line">
            <a:avLst/>
          </a:prstGeom>
          <a:noFill/>
          <a:ln w="25400">
            <a:solidFill>
              <a:srgbClr val="D4E4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2700000">
            <a:off x="832104" y="2450592"/>
            <a:ext cx="365760" cy="36576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2816352"/>
            <a:ext cx="1874520" cy="21488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2816352"/>
            <a:ext cx="1874520" cy="45720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81635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Requirements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Review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332841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C3557"/>
                </a:solidFill>
              </a:rPr>
              <a:t>WHO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94360" y="3529584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PM + Architect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94360" y="382219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C3557"/>
                </a:solidFill>
              </a:rPr>
              <a:t>ASK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94360" y="4023360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Goals clear? Non-goals explicit? Domain language correct?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193852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1C3557"/>
                </a:solidFill>
              </a:rPr>
              <a:t>GATE 1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234440" y="2194560"/>
            <a:ext cx="0" cy="256032"/>
          </a:xfrm>
          <a:prstGeom prst="line">
            <a:avLst/>
          </a:prstGeom>
          <a:noFill/>
          <a:ln w="12700">
            <a:solidFill>
              <a:srgbClr val="1C355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2700000">
            <a:off x="2871216" y="2450592"/>
            <a:ext cx="365760" cy="36576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7" name="Shape 15"/>
          <p:cNvSpPr/>
          <p:nvPr/>
        </p:nvSpPr>
        <p:spPr>
          <a:xfrm>
            <a:off x="2542032" y="2816352"/>
            <a:ext cx="1874520" cy="21488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542032" y="2816352"/>
            <a:ext cx="1874520" cy="45720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2542032" y="281635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Plan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Approval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633472" y="332841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4A7FA8"/>
                </a:solidFill>
              </a:rPr>
              <a:t>WHO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2633472" y="3529584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Tech Lead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633472" y="382219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4A7FA8"/>
                </a:solidFill>
              </a:rPr>
              <a:t>ASK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633472" y="4023360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Approach sound? Dependencies identified? Risks called out?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542032" y="193852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4A7FA8"/>
                </a:solidFill>
              </a:rPr>
              <a:t>GATE 2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73552" y="2194560"/>
            <a:ext cx="0" cy="256032"/>
          </a:xfrm>
          <a:prstGeom prst="line">
            <a:avLst/>
          </a:prstGeom>
          <a:noFill/>
          <a:ln w="12700">
            <a:solidFill>
              <a:srgbClr val="4A7FA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2700000">
            <a:off x="4901184" y="2450592"/>
            <a:ext cx="365760" cy="36576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7" name="Shape 25"/>
          <p:cNvSpPr/>
          <p:nvPr/>
        </p:nvSpPr>
        <p:spPr>
          <a:xfrm>
            <a:off x="4572000" y="2816352"/>
            <a:ext cx="1874520" cy="21488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0" y="2816352"/>
            <a:ext cx="1874520" cy="4572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0" y="281635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Task List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Sign-off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663440" y="332841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DC9"/>
                </a:solidFill>
              </a:rPr>
              <a:t>WHO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663440" y="3529584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Developer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663440" y="382219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DC9"/>
                </a:solidFill>
              </a:rPr>
              <a:t>ASK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663440" y="4023360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Tasks atomic? Sequence correct? AC mapped to tasks?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0" y="193852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3A7DC9"/>
                </a:solidFill>
              </a:rPr>
              <a:t>GATE 3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303520" y="2194560"/>
            <a:ext cx="0" cy="256032"/>
          </a:xfrm>
          <a:prstGeom prst="line">
            <a:avLst/>
          </a:prstGeom>
          <a:noFill/>
          <a:ln w="12700">
            <a:solidFill>
              <a:srgbClr val="3A7DC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rot="2700000">
            <a:off x="6931152" y="2450592"/>
            <a:ext cx="365760" cy="36576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37" name="Shape 35"/>
          <p:cNvSpPr/>
          <p:nvPr/>
        </p:nvSpPr>
        <p:spPr>
          <a:xfrm>
            <a:off x="6601968" y="2816352"/>
            <a:ext cx="1874520" cy="21488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601968" y="2816352"/>
            <a:ext cx="1874520" cy="45720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39" name="Text 37"/>
          <p:cNvSpPr/>
          <p:nvPr/>
        </p:nvSpPr>
        <p:spPr>
          <a:xfrm>
            <a:off x="6601968" y="281635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PR Review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(per task)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693408" y="332841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WHO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693408" y="3529584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Peer review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693408" y="382219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ASK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693408" y="4023360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Diff matches plan? Tests pass? No scope creep?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601968" y="193852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3A7E6E"/>
                </a:solidFill>
              </a:rPr>
              <a:t>GATE 4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333488" y="2194560"/>
            <a:ext cx="0" cy="256032"/>
          </a:xfrm>
          <a:prstGeom prst="line">
            <a:avLst/>
          </a:prstGeom>
          <a:noFill/>
          <a:ln w="12700">
            <a:solidFill>
              <a:srgbClr val="3A7E6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0040" y="4873752"/>
            <a:ext cx="8503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Gate outcome: ✓ Approve  ↺ Redirect (agent revises)  ✗ Stop (scope change needed, go back to requirements)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SDD ANTI-PATTERNS  —  WHAT BREAKS THE LOOP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</a:rPr>
              <a:t>84% of devs use AI tools. Two-thirds are frustrated. The cause is almost always a spec failure.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16052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411480" cy="1170432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170432"/>
            <a:ext cx="411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225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Vague prompts as specs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153619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A0A8"/>
                </a:solidFill>
              </a:rPr>
              <a:t>⚠ Agent invents answers to every unstated requirement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22960" y="190195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✓ Write requirements.md before touching the agent. If you can’t spec it, you can’t build it.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0040" y="2450592"/>
            <a:ext cx="416052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2450592"/>
            <a:ext cx="411480" cy="1170432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" y="2450592"/>
            <a:ext cx="411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250545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Missing non-goals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281635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A0A8"/>
                </a:solidFill>
              </a:rPr>
              <a:t>⚠ Agent adds auth, DB migrations, or entire subsystems you didn’t want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22960" y="31821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✓ State every non-goal explicitly and positively. Agents cannot infer scope from omission.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" y="3730752"/>
            <a:ext cx="416052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3730752"/>
            <a:ext cx="411480" cy="1170432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320040" y="3730752"/>
            <a:ext cx="411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378561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No acceptance criteria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409651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A0A8"/>
                </a:solidFill>
              </a:rPr>
              <a:t>⚠ “Done” is whatever the agent decides. Tasks never truly close.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2960" y="446227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✓ Every feature needs verifiable AC before the agent starts. No AC = no finish line.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663440" y="1170432"/>
            <a:ext cx="416052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1170432"/>
            <a:ext cx="411480" cy="1170432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4663440" y="1170432"/>
            <a:ext cx="411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166360" y="1225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Skipping the plan gate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166360" y="153619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A0A8"/>
                </a:solidFill>
              </a:rPr>
              <a:t>⚠ Agent codes in the wrong direction for hours before you notice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166360" y="190195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✓ Require plan.md approval before implementation. 5 min review saves 2 hours of rework.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663440" y="2450592"/>
            <a:ext cx="416052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663440" y="2450592"/>
            <a:ext cx="411480" cy="1170432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4663440" y="2450592"/>
            <a:ext cx="411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66360" y="250545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Spec not in context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166360" y="281635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A0A8"/>
                </a:solidFill>
              </a:rPr>
              <a:t>⚠ Agent drifts from requirements as context window fills with code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166360" y="31821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✓ Keep SPEC.md in context throughout. Reference it in CLAUDE.md so agent always reloads it.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663440" y="3730752"/>
            <a:ext cx="416052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663440" y="3730752"/>
            <a:ext cx="411480" cy="1170432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4663440" y="3730752"/>
            <a:ext cx="411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66360" y="378561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300+ instruction specs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166360" y="409651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A0A8"/>
                </a:solidFill>
              </a:rPr>
              <a:t>⚠ Agent performance degrades; critical requirements get ignored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166360" y="446227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✓ Keep each phase spec to 30–50 requirements. Phase your work — spec what you’re building now.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LAB EXERCISE  ·  35 MINUTES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3557"/>
                </a:solidFill>
              </a:rPr>
              <a:t>Write a Spec for a Real Feature Your Team Needs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20040" y="1389888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389888"/>
            <a:ext cx="475488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38988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86968" y="144475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Pick a feature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990088" y="144475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86968" y="173736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Choose a real feature your team will build in the next sprint. It should be well-understood at the business level but not yet designed technically. Write the user story.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121408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121408"/>
            <a:ext cx="475488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12140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86968" y="217627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Write requirements.md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990088" y="21762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86968" y="246888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Write 8–12 requirements using domain language. For each, ask: is this implementation-free? Would a non-technical stakeholder understand it? Include 3 explicit non-goals.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2852928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852928"/>
            <a:ext cx="475488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285292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86968" y="290779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Write acceptance criteria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990088" y="290779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(10 min)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86968" y="320040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Write AC for your top 3 requirements using Given/When/Then. Each AC must be machine-verifiable. Swap with a neighbour: can they write a test from your AC without asking questions?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20040" y="3584448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3584448"/>
            <a:ext cx="475488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358444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86968" y="363931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Run the research phase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2990088" y="363931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393192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Open Claude Code. Ask it to READ your requirements.md and produce a research summary ONLY — no code. What does it identify as ambiguous? What existing code does it find relevant?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0040" y="4315968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0040" y="4315968"/>
            <a:ext cx="475488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1" name="Text 29"/>
          <p:cNvSpPr/>
          <p:nvPr/>
        </p:nvSpPr>
        <p:spPr>
          <a:xfrm>
            <a:off x="320040" y="431596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5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886968" y="437083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Review + debrief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2990088" y="437083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6968" y="466344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What did the agent flag that you hadn’t considered? What did it miss? What would have gone wrong if it had gone straight to implementation without the research phase?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DISCUSSION + MODULE SUMMARY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502920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solidFill>
            <a:srgbClr val="5B8DB8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DISCUSSION QUESTIONS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Q1.  Think of a recent bug or rework. Was it caused by a spec failure, an implementation failure, or both?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Q2.  Which of the 4 SDD phases is your team currently skipping entirely? What’s the cost?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Q3.  What would have to be true about your team’s process to make plan approval a hard gate before implementation?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Q4.  Andrew Ng: “Managers are proposing 2x as many PMs as engineers.” Do you agree this is where the world is going?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532120" y="749808"/>
            <a:ext cx="329184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KEY TAKEAWAYS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280160"/>
            <a:ext cx="3063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PRD aligns humans. Spec executes agents.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SDD: Requirements → Plan → Tasks → Code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Research before planning. Plan before coding.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AC = agent’s finish line. No AC = no done.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Non-goals must be stated, not implied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Human gates at every phase transition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Spec in context throughout — anchor the agent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solidFill>
            <a:srgbClr val="3A7DC9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NEXT  ·  Module 05: Automated Testing, TDD &amp; CI/CD  —  Verifier loops, feedback cycles, agent-driven testing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4: Spec-Driven Development &amp; PRDs</dc:title>
  <dc:subject>PptxGenJS Presentation</dc:subject>
  <dc:creator>Enterprise Architect Training Series</dc:creator>
  <cp:lastModifiedBy>Enterprise Architect Training Series</cp:lastModifiedBy>
  <cp:revision>1</cp:revision>
  <dcterms:created xsi:type="dcterms:W3CDTF">2026-04-05T18:24:10Z</dcterms:created>
  <dcterms:modified xsi:type="dcterms:W3CDTF">2026-04-05T18:24:10Z</dcterms:modified>
</cp:coreProperties>
</file>