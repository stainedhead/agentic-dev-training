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MODULE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Chat vs. Agents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8DB8"/>
                </a:solidFill>
              </a:rPr>
              <a:t>From reactive responses to autonomous action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640080"/>
            <a:ext cx="2560320" cy="2560320"/>
          </a:xfrm>
          <a:prstGeom prst="ellipse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1371600"/>
            <a:ext cx="2560320" cy="2560320"/>
          </a:xfrm>
          <a:prstGeom prst="ellipse">
            <a:avLst/>
          </a:prstGeom>
          <a:solidFill>
            <a:srgbClr val="4A7FA8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0" y="1645920"/>
            <a:ext cx="2560320" cy="2560320"/>
          </a:xfrm>
          <a:prstGeom prst="ellipse">
            <a:avLst/>
          </a:prstGeom>
          <a:solidFill>
            <a:srgbClr val="3A7DC9">
              <a:alpha val="35000"/>
            </a:srgbClr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234440"/>
            <a:ext cx="640080" cy="6400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LEARNING OBJECTIVES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53619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2471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0881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Understand the Chat Paradigm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49047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Define reactive AI, prompt-response cycles, and why chat has limits for enterprise work.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96012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960120"/>
            <a:ext cx="64008" cy="153619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12471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10881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Define Agentic AI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03520" y="149047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Articulate what makes an AI system an agent: autonomy, tools, memory, and feedback loops.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265176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651760"/>
            <a:ext cx="64008" cy="153619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816352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277977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the Autonomy Spectrum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60120" y="31821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Apply the three-tier model to classify agent deployments by risk and human oversight.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2651760"/>
            <a:ext cx="4160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63440" y="2651760"/>
            <a:ext cx="64008" cy="153619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81635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277977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Adopt the Supervisor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03520" y="31821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Describe the engineer's new role as intent-setter and reviewer rather than code author.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0040" y="4297680"/>
            <a:ext cx="85039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20040" y="4297680"/>
            <a:ext cx="64008" cy="62179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441655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41832" y="4389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Coding Agents Across the SDLC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41832" y="4626864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Show where coding agents add value beyond code generation — at every phase from ideation to ops.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320040" y="8412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CHAT PARADIGM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90A8"/>
                </a:solidFill>
              </a:rPr>
              <a:t>How most developers first encounter AI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Responds only when prompted. Waits for human input at every step.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Stateless (by default)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Each message is largely independent. No persistent memory across sessions.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Single-turn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One prompt → one response. The human orchestrates the workflow.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93192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Human-driven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The human decides every next step. AI is a smart autocomplete.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12080" y="841248"/>
            <a:ext cx="3657600" cy="41148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LLM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298448"/>
            <a:ext cx="548640" cy="0"/>
          </a:xfrm>
          <a:prstGeom prst="line">
            <a:avLst/>
          </a:prstGeom>
          <a:noFill/>
          <a:ln w="25400">
            <a:solidFill>
              <a:srgbClr val="1C3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097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3557"/>
                </a:solidFill>
              </a:rPr>
              <a:t>prompt →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66560" y="1572768"/>
            <a:ext cx="548640" cy="0"/>
          </a:xfrm>
          <a:prstGeom prst="line">
            <a:avLst/>
          </a:prstGeom>
          <a:noFill/>
          <a:ln w="25400">
            <a:solidFill>
              <a:srgbClr val="4A7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← response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216712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0" y="236829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303580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23697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390448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66560" y="410565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49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Human orchestrates every step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AGENT PARADIGM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AI that acts, not just responds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94360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2331720"/>
            <a:ext cx="109728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Autonomous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Takes sequences of actions without human approval at each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87168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600200"/>
            <a:ext cx="594360" cy="594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44368" y="2331720"/>
            <a:ext cx="1097280" cy="3657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8"/>
          <p:cNvSpPr/>
          <p:nvPr/>
        </p:nvSpPr>
        <p:spPr>
          <a:xfrm>
            <a:off x="2578608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Tool-Enabled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578608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Executes code, reads files, calls APIs, searches the web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600200"/>
            <a:ext cx="594360" cy="594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111496" y="2331720"/>
            <a:ext cx="1097280" cy="3657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7" name="Text 12"/>
          <p:cNvSpPr/>
          <p:nvPr/>
        </p:nvSpPr>
        <p:spPr>
          <a:xfrm>
            <a:off x="4745736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Memory-Aware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745736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Maintains context across steps; reads and writes its own notes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21424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600200"/>
            <a:ext cx="594360" cy="594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278624" y="2331720"/>
            <a:ext cx="1097280" cy="3657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16"/>
          <p:cNvSpPr/>
          <p:nvPr/>
        </p:nvSpPr>
        <p:spPr>
          <a:xfrm>
            <a:off x="6912864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Self-Verifying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912864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Checks its own output, self-corrects, loops until task is done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20040" y="4736592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8DB8"/>
                </a:solidFill>
              </a:rPr>
              <a:t>Agents combine these four properties to complete multi-step tasks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CHAT vs. AGENTS  —  SIDE BY SIDE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194560" cy="45720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Shape 3"/>
          <p:cNvSpPr/>
          <p:nvPr/>
        </p:nvSpPr>
        <p:spPr>
          <a:xfrm>
            <a:off x="2606040" y="749808"/>
            <a:ext cx="2990088" cy="457200"/>
          </a:xfrm>
          <a:prstGeom prst="rect">
            <a:avLst/>
          </a:prstGeom>
          <a:solidFill>
            <a:srgbClr val="DCE9F5"/>
          </a:solidFill>
          <a:ln/>
        </p:spPr>
      </p:sp>
      <p:sp>
        <p:nvSpPr>
          <p:cNvPr id="6" name="Shape 4"/>
          <p:cNvSpPr/>
          <p:nvPr/>
        </p:nvSpPr>
        <p:spPr>
          <a:xfrm>
            <a:off x="5687568" y="749808"/>
            <a:ext cx="3136392" cy="457200"/>
          </a:xfrm>
          <a:prstGeom prst="rect">
            <a:avLst/>
          </a:prstGeom>
          <a:solidFill>
            <a:srgbClr val="D8E8F3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74980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DIMENSION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15768" y="7498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CHAT INTERFACE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97296" y="74980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7FA8"/>
                </a:solidFill>
              </a:rPr>
              <a:t>AGENTIC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261872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87568" y="1261872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647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261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Control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15768" y="126187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decides every 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97296" y="126187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decides steps autonomously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77850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778508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7568" y="1778508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8142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785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Memory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15768" y="177850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Stateless — each turn fresh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97296" y="177850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Persistent across steps &amp; sessions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295144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295144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7568" y="2295144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79806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229514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 Use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2295144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None — text output only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97296" y="229514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Code, files, APIs, bash, search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11780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11780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87568" y="2811780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8117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5768" y="281178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notices, re-prompts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97296" y="28117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self-detects and self-corrects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28416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3328416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3133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33284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Task Length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15768" y="3328416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Single exchange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797296" y="3328416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Hours-long multi-step workflows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4505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45052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3845052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4797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8450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Oversight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15768" y="384505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Always human-in-the-loop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797296" y="384505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HITL at defined checkpoints only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687568" y="4361688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646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9768" y="43616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715768" y="436168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Text response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797296" y="43616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PRs, reports, deployed changes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AGENT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fundamental execution pattern — used by Claude Code, Spotify's Honk, and every production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Gather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Read files, search docs, inspect codebase, retrieve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96312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9631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Take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87752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code, call API, run bash command, update file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72584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72584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Verify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Work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64024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tests, check linter, evaluate output against spec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11112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25" name="Text 23"/>
          <p:cNvSpPr/>
          <p:nvPr/>
        </p:nvSpPr>
        <p:spPr>
          <a:xfrm>
            <a:off x="6592824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48856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48856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Repeat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or Done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40296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Loop back if needed; stop when acceptance criteria met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7FA8"/>
                </a:solidFill>
              </a:rPr>
              <a:t>← — — — — — — Loops until task complete or human checkpoint — — — — — —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CHOOSING THE RIGHT MODE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Use the simplest mode that works — match autonomy to the task and risk level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8503920" cy="320040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TASK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0" y="1005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RECOMMENDED MODE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748272" y="1005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8DB8"/>
                </a:solidFill>
              </a:rPr>
              <a:t>TOOL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1325880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325880"/>
            <a:ext cx="45720" cy="32918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32588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Look up a syntax question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32588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</a:rPr>
              <a:t>None — use search / docs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48272" y="132588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673352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73352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167335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Explain a function or decision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167335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48272" y="167335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Copilot Chat / Claude chat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020824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020824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020824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Inline code completion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2020824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48272" y="2020824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GitHub Copilot inline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2368296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368296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" y="236829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Explore a design option or ideation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0" y="2368296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48272" y="2368296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chat + codebase context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2715768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2715768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" y="271576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PRD for gaps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114800" y="2715768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48272" y="271576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063240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063240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" y="306324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design proposal against the codebase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14800" y="306324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48272" y="306324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3410712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3410712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" y="341071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a PR against a spec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14800" y="341071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341071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3758184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20040" y="3758184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5" name="Text 43"/>
          <p:cNvSpPr/>
          <p:nvPr/>
        </p:nvSpPr>
        <p:spPr>
          <a:xfrm>
            <a:off x="438912" y="3758184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Review docs for accuracy against code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114800" y="3758184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48272" y="3758184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20040" y="4105656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20040" y="4105656"/>
            <a:ext cx="45720" cy="329184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0" name="Text 48"/>
          <p:cNvSpPr/>
          <p:nvPr/>
        </p:nvSpPr>
        <p:spPr>
          <a:xfrm>
            <a:off x="438912" y="410565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Write a new feature end-to-end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14800" y="4105656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Supervised agent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748272" y="4105656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" y="4453128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53128"/>
            <a:ext cx="45720" cy="32918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55" name="Text 53"/>
          <p:cNvSpPr/>
          <p:nvPr/>
        </p:nvSpPr>
        <p:spPr>
          <a:xfrm>
            <a:off x="438912" y="445312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Onboard a developer to a codebase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114800" y="4453128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Augmented chat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748272" y="4453128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/ Copilot Chat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320040" y="4800600"/>
            <a:ext cx="8503920" cy="329184"/>
          </a:xfrm>
          <a:prstGeom prst="rect">
            <a:avLst/>
          </a:prstGeom>
          <a:solidFill>
            <a:srgbClr val="2E5073">
              <a:alpha val="6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20040" y="4800600"/>
            <a:ext cx="45720" cy="329184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0" name="Text 58"/>
          <p:cNvSpPr/>
          <p:nvPr/>
        </p:nvSpPr>
        <p:spPr>
          <a:xfrm>
            <a:off x="438912" y="4800600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Nightly hygiene (deps, coverage, lint)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114800" y="4800600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Supervised agent with review gate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748272" y="480060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scheduled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20040" y="5148072"/>
            <a:ext cx="8503920" cy="329184"/>
          </a:xfrm>
          <a:prstGeom prst="rect">
            <a:avLst/>
          </a:prstGeom>
          <a:solidFill>
            <a:srgbClr val="1E3D5A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320040" y="5148072"/>
            <a:ext cx="45720" cy="32918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5" name="Text 63"/>
          <p:cNvSpPr/>
          <p:nvPr/>
        </p:nvSpPr>
        <p:spPr>
          <a:xfrm>
            <a:off x="438912" y="5148072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Fully autonomous merge without review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114800" y="5148072"/>
            <a:ext cx="2542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Do not do this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748272" y="5148072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—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20040" y="502920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Enterprise default: Supervised Agent. Full autonomy only for low-stakes, reversible actions in sandboxed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INDUSTRY SIGNAL  ·  SPOTIFY  ·  2025–2026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8503920" cy="13716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0467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B8DB8"/>
                </a:solidFill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932688"/>
            <a:ext cx="7680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D3D"/>
                </a:solidFill>
              </a:rPr>
              <a:t>When I speak to my most senior engineers — the best developers we have — they say they have not written a single line of code since December. They only generate code and supervise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Daniel Ek / Alex Söderström, Spotify Co-CEO  ·  Q4 2025 Earnings Call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578608"/>
            <a:ext cx="2697480" cy="1828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~50%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of all Spotify PRs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automated by agents since mid-2024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578608"/>
            <a:ext cx="2697480" cy="1828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1,500+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agent-generated PRs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merged across their codebase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2697480" cy="1828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50+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shipped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in 2025, accelerated by Honk agents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PROGRAM SCOPE  ·  TWO KINDS OF AGENT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The word "agent" covers two very different things — conflating them causes confusion throughout the SDLC.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397764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3977640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CODING AGENTS  ·  OUR FOCUS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810512"/>
            <a:ext cx="3611880" cy="105156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810512"/>
            <a:ext cx="54864" cy="10515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8836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Claude Code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Anthropic's CLI agent. Full filesystem + shell access. Reads your codebase, writes code, runs tests, commits and pushes.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3611880" cy="105156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2980944"/>
            <a:ext cx="54864" cy="10515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05409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GitHub Copilot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IDE-integrated. Inline suggestions + Copilot Chat. Agentic mode in Copilot Workspace. Supervised by default.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" y="4407408"/>
            <a:ext cx="3822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A7DC9"/>
                </a:solidFill>
              </a:rPr>
              <a:t>Both sit at the supervised agent point — multi-step actions, developer in the loop.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70832" y="265176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90A8"/>
                </a:solidFill>
              </a:rPr>
              <a:t>vs.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97764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188720"/>
            <a:ext cx="3977640" cy="53035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188720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PRODUCTION AGENTS  ·  OUT OF SCOPE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10912" y="1810512"/>
            <a:ext cx="3639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AI systems that operate as runtime components of your product or platform — customer-facing bots, autonomous workflow automations, orchestration services.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10912" y="2542032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Examples: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4920" y="2816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AWS Bedrock / Amazon Agent 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4920" y="3136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Azure AI Foundry agents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492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· Custom LLM orchestration services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10912" y="3840480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Different concerns: runtime reliability, cost at scale, customer data, blast radius in live environments.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4407408"/>
            <a:ext cx="3977640" cy="34747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4074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</a:rPr>
              <a:t>Refer to the Enterprise AI Platform practice for guidance.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CODING AGENTS ACROSS THE FULL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Coding agents add value at every phase — not just code generation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8503920" cy="347472"/>
          </a:xfrm>
          <a:prstGeom prst="rect">
            <a:avLst/>
          </a:prstGeom>
          <a:solidFill>
            <a:srgbClr val="2E5073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10241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SDLC 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51760" y="1024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CODING AGENT 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285232" y="10241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8DB8"/>
                </a:solidFill>
              </a:rPr>
              <a:t>EXAMPLE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371600"/>
            <a:ext cx="54864" cy="4297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371600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Ideation &amp; Planning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51760" y="1371600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Research options, assess feasibility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85232" y="1371600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"Which caching approach has least impact on SessionService?"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1819656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19656"/>
            <a:ext cx="54864" cy="4297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19656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PRD &amp; Requirements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1819656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Draft reqs, flag gaps &amp; conflicts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85232" y="1819656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"Review this PRD — what edge cases are missing?"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67712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267712"/>
            <a:ext cx="54864" cy="4297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67712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Design &amp;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2267712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Review design against codebase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85232" y="2267712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"Where does this caching layer break the current data flow?"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2715768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715768"/>
            <a:ext cx="54864" cy="42976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15768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8DB8"/>
                </a:solidFill>
              </a:rPr>
              <a:t>Specification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2715768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Generate SPEC, PLAN, TASKS docs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285232" y="2715768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"Generate a full spec suite from this PRD."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163824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163824"/>
            <a:ext cx="54864" cy="4297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63824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Implementation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51760" y="3163824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Write code, fix tests, refactor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285232" y="3163824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"Implement task 3 from TASKS.md. Write tests first."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3611880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611880"/>
            <a:ext cx="54864" cy="4297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Code Review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51760" y="3611880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Review PR against spec &amp; standards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85232" y="3611880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"Flag any requirement in SPEC.md not satisfied by this PR."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4059936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20040" y="4059936"/>
            <a:ext cx="54864" cy="4297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9936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Design Review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651760" y="4059936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Read proposal + codebase, find issues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285232" y="4059936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"What does this architecture break in the current system?"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507992"/>
            <a:ext cx="8503920" cy="429768"/>
          </a:xfrm>
          <a:prstGeom prst="rect">
            <a:avLst/>
          </a:prstGeom>
          <a:solidFill>
            <a:srgbClr val="1E3D5A">
              <a:alpha val="6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20040" y="4507992"/>
            <a:ext cx="54864" cy="42976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07992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8DB8"/>
                </a:solidFill>
              </a:rPr>
              <a:t>Documentation &amp; Education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51760" y="4507992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Update docs, explain codebase to team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285232" y="4507992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"Compare API docs to implementation — what's out of date?"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0040" y="4956048"/>
            <a:ext cx="8503920" cy="429768"/>
          </a:xfrm>
          <a:prstGeom prst="rect">
            <a:avLst/>
          </a:prstGeom>
          <a:solidFill>
            <a:srgbClr val="2E5073">
              <a:alpha val="6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20040" y="4956048"/>
            <a:ext cx="54864" cy="4297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4956048"/>
            <a:ext cx="212140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</a:rPr>
              <a:t>Operations &amp; Hygiene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2651760" y="4956048"/>
            <a:ext cx="25420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Dep updates, security scans, debt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285232" y="4956048"/>
            <a:ext cx="3429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0A8"/>
                </a:solidFill>
              </a:rPr>
              <a:t>Nightly run: scan deps, open low-risk update PRs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20040" y="49560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Most teams start with implementation only. The highest-value gains are often at ideation, design review, and operations — where quality problems are cheapest to fix.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Map Scenarios to the Spectrum  ·  Audit Your Own Team's SDLC Coverage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8503920" cy="34747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29844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 1  ·  Map to the Spectrum  (12 min)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719072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17190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 developer asks Copilot Chat to explain why the AuthService uses a refresh token pattern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121408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1214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reviews a proposed database schema in a Jira ticket against the existing data model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523744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 developer runs claude "implement task 4 from TASKS.md, write tests, open a PR" in their terminal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9808" y="292608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triggers nightly: scan for dependency vulnerabilities, open PRs for Tier-1 updates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328416"/>
            <a:ext cx="347472" cy="3474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3328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33284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Claude Code walks a new team member through the payment flow — files to read, design rationale, constraints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376732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4A7FA8"/>
                </a:solidFill>
              </a:rPr>
              <a:t>For each: Where on the spectrum? Which tool fits best? Where is the human?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407822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 2  ·  Audit Your Team's SDLC Coverage  (13 min)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" y="448056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Look at the SDLC phase table (slide 10). For each row: Is your team using a coding agent here? If not — what would it take? If yes — how supervised? Share your map with a peer: where are the biggest gaps?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502920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Where on the autonomy spectrum are your team's current AI tools?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Look at the SDLC phase table. Which phase beyond code generation could deliver the biggest value for your team?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need to be true about a task's spec before you'd trust an agent with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does your organization's risk culture affect where you set your HITL gates?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822960"/>
            <a:ext cx="329184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Chat = reactive. Agents = autonomous.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loop: gather → act → verify → repeat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Coding agents vs. production agents — know the scope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Coding agents add value at every SDLC phase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Match mode to risk — supervised is the enterprise default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Your role shifts: intent + oversight, not typing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02: Core Agentic Concepts &amp; Terms  —  Tools, Memory, Orchestrators, MCP, and the Agent SDK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Chat vs. Agents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2026-04-05T20:37:42Z</dcterms:created>
  <dcterms:modified xsi:type="dcterms:W3CDTF">2026-04-05T20:37:42Z</dcterms:modified>
</cp:coreProperties>
</file>