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772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MODULE 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Chat vs. Agents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B8DB8"/>
                </a:solidFill>
              </a:rPr>
              <a:t>From reactive responses to autonomous action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34290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640080"/>
            <a:ext cx="2560320" cy="2560320"/>
          </a:xfrm>
          <a:prstGeom prst="ellipse">
            <a:avLst/>
          </a:prstGeom>
          <a:solidFill>
            <a:srgbClr val="2E5073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1371600"/>
            <a:ext cx="2560320" cy="2560320"/>
          </a:xfrm>
          <a:prstGeom prst="ellipse">
            <a:avLst/>
          </a:prstGeom>
          <a:solidFill>
            <a:srgbClr val="4A7FA8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5852160" y="1645920"/>
            <a:ext cx="2560320" cy="2560320"/>
          </a:xfrm>
          <a:prstGeom prst="ellipse">
            <a:avLst/>
          </a:prstGeom>
          <a:solidFill>
            <a:srgbClr val="3A7DC9">
              <a:alpha val="35000"/>
            </a:srgbClr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234440"/>
            <a:ext cx="640080" cy="640080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8745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LEARNING OBJECTIVES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64008" cy="1691640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14300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Understand the Chat Paradigm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reactive AI, prompt-response cycles, and why chat has limits for enterprise work.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96012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960120"/>
            <a:ext cx="64008" cy="1691640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1430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11064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Define Agentic AI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03520" y="156362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what makes an AI system an agent: autonomy, tools, memory, and feedback loops.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3200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0040" y="2880360"/>
            <a:ext cx="64008" cy="1691640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06324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Map the Autonomy Spectrum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601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IBM's three-tier model to classify agent deployments by risk and human oversight.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663440" y="2880360"/>
            <a:ext cx="416052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63440" y="2880360"/>
            <a:ext cx="64008" cy="1691640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06324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03520" y="30266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3D"/>
                </a:solidFill>
              </a:rPr>
              <a:t>Adopt the Supervisor Mindset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03520" y="3483864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the engineer's new role as intent-setter and reviewer rather than code author.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320040" y="84124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CHAT PARADIGM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A90A8"/>
                </a:solidFill>
              </a:rPr>
              <a:t>How most developers first encounter AI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325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0352" y="16002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Responds only when prompted. Waits for human input at every step.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19456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Stateless (by default)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468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Each message is largely independent. No persistent memory across sessions.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63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Single-turn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3337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One prompt → one response. The human orchestrates the workflow.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931920"/>
            <a:ext cx="54864" cy="59436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Human-driven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4206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The human decides every next step. AI is a smart autocomplete.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12080" y="841248"/>
            <a:ext cx="3657600" cy="41148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Human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10972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LLM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1298448"/>
            <a:ext cx="548640" cy="0"/>
          </a:xfrm>
          <a:prstGeom prst="line">
            <a:avLst/>
          </a:prstGeom>
          <a:noFill/>
          <a:ln w="25400">
            <a:solidFill>
              <a:srgbClr val="1C35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1097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3557"/>
                </a:solidFill>
              </a:rPr>
              <a:t>prompt →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66560" y="1572768"/>
            <a:ext cx="548640" cy="0"/>
          </a:xfrm>
          <a:prstGeom prst="line">
            <a:avLst/>
          </a:prstGeom>
          <a:noFill/>
          <a:ln w="25400">
            <a:solidFill>
              <a:srgbClr val="4A7F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← response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19659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216712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0" y="236829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28346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303580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66560" y="323697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solidFill>
            <a:srgbClr val="1C3557">
              <a:alpha val="85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Human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solidFill>
            <a:srgbClr val="5B8DB8">
              <a:alpha val="7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3557"/>
                </a:solidFill>
              </a:rPr>
              <a:t>LLM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66560" y="3904488"/>
            <a:ext cx="548640" cy="0"/>
          </a:xfrm>
          <a:prstGeom prst="line">
            <a:avLst/>
          </a:prstGeom>
          <a:noFill/>
          <a:ln w="19050">
            <a:solidFill>
              <a:srgbClr val="1C355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66560" y="4105656"/>
            <a:ext cx="54864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949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Human orchestrates every step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AGENT PARADIGM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AI that acts, not just responds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00200"/>
            <a:ext cx="594360" cy="594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2331720"/>
            <a:ext cx="109728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4"/>
          <p:cNvSpPr/>
          <p:nvPr/>
        </p:nvSpPr>
        <p:spPr>
          <a:xfrm>
            <a:off x="41148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Autonomous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Takes sequences of actions without human approval at each step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87168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600200"/>
            <a:ext cx="594360" cy="5943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44368" y="2331720"/>
            <a:ext cx="1097280" cy="3657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8"/>
          <p:cNvSpPr/>
          <p:nvPr/>
        </p:nvSpPr>
        <p:spPr>
          <a:xfrm>
            <a:off x="2578608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Tool-Enabled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578608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Executes code, reads files, calls APIs, searches the web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096" y="1600200"/>
            <a:ext cx="594360" cy="59436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111496" y="2331720"/>
            <a:ext cx="1097280" cy="3657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7" name="Text 12"/>
          <p:cNvSpPr/>
          <p:nvPr/>
        </p:nvSpPr>
        <p:spPr>
          <a:xfrm>
            <a:off x="4745736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Memory-Aware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745736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Maintains context across steps; reads and writes its own notes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21424" y="1325880"/>
            <a:ext cx="2011680" cy="329184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600200"/>
            <a:ext cx="594360" cy="59436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278624" y="2331720"/>
            <a:ext cx="1097280" cy="3657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16"/>
          <p:cNvSpPr/>
          <p:nvPr/>
        </p:nvSpPr>
        <p:spPr>
          <a:xfrm>
            <a:off x="6912864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Self-Verifying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912864" y="2953512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Checks its own output, self-corrects, loops until task is done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20040" y="4736592"/>
            <a:ext cx="8503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8DB8"/>
                </a:solidFill>
              </a:rPr>
              <a:t>Agents combine these four properties to complete multi-step tasks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CHAT vs. AGENTS  —  SIDE BY SIDE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2194560" cy="45720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Shape 3"/>
          <p:cNvSpPr/>
          <p:nvPr/>
        </p:nvSpPr>
        <p:spPr>
          <a:xfrm>
            <a:off x="2606040" y="749808"/>
            <a:ext cx="2990088" cy="457200"/>
          </a:xfrm>
          <a:prstGeom prst="rect">
            <a:avLst/>
          </a:prstGeom>
          <a:solidFill>
            <a:srgbClr val="DCE9F5"/>
          </a:solidFill>
          <a:ln/>
        </p:spPr>
      </p:sp>
      <p:sp>
        <p:nvSpPr>
          <p:cNvPr id="6" name="Shape 4"/>
          <p:cNvSpPr/>
          <p:nvPr/>
        </p:nvSpPr>
        <p:spPr>
          <a:xfrm>
            <a:off x="5687568" y="749808"/>
            <a:ext cx="3136392" cy="457200"/>
          </a:xfrm>
          <a:prstGeom prst="rect">
            <a:avLst/>
          </a:prstGeom>
          <a:solidFill>
            <a:srgbClr val="D8E8F3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74980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DIMENSION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15768" y="7498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CHAT INTERFACE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97296" y="749808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7FA8"/>
                </a:solidFill>
              </a:rPr>
              <a:t>AGENTIC SYSTEM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26187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261872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87568" y="1261872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647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261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Control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15768" y="126187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decides every step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97296" y="126187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decides steps autonomously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77850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778508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687568" y="1778508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8142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785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Memory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15768" y="177850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Stateless — each turn fresh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97296" y="177850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Persistent across steps &amp; sessions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295144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295144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87568" y="2295144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79806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9768" y="229514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 Use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15768" y="2295144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None — text output only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797296" y="2295144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Code, files, APIs, bash, search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11780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11780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87568" y="2811780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8117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15768" y="281178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 notices, re-prompts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797296" y="281178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 self-detects and self-corrects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28416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28416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687568" y="3328416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3133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9768" y="332841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Task Length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715768" y="3328416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Single exchange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797296" y="3328416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Hours-long multi-step workflows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45052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45052"/>
            <a:ext cx="2990088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687568" y="3845052"/>
            <a:ext cx="3136392" cy="502920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4797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8450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Oversight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15768" y="3845052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Always human-in-the-loop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797296" y="3845052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HITL at defined checkpoints only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5029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2990088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687568" y="4361688"/>
            <a:ext cx="313639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646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9768" y="43616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Output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715768" y="4361688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Text response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797296" y="4361688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PRs, reports, deployed changes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AGENT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fundamental execution pattern — used by Claude Code, Spotify's Honk, and every production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Gather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Context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Read files, search docs, inspect codebase, retrieve memory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58568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496312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96312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Take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4A7FA8"/>
                </a:solidFill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87752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code, call API, run bash command, update file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34840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72584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672584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672584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Verify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DC9"/>
                </a:solidFill>
              </a:rPr>
              <a:t>Work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64024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tests, check linter, evaluate output against spec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11112" y="2029968"/>
            <a:ext cx="219456" cy="73152"/>
          </a:xfrm>
          <a:prstGeom prst="rect">
            <a:avLst/>
          </a:prstGeom>
          <a:solidFill>
            <a:srgbClr val="7A90A8"/>
          </a:solidFill>
          <a:ln/>
        </p:spPr>
      </p:sp>
      <p:sp>
        <p:nvSpPr>
          <p:cNvPr id="25" name="Text 23"/>
          <p:cNvSpPr/>
          <p:nvPr/>
        </p:nvSpPr>
        <p:spPr>
          <a:xfrm>
            <a:off x="6592824" y="187452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A90A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848856" y="1371600"/>
            <a:ext cx="1920240" cy="32004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848856" y="1371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48856" y="21488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Repeat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A7E6E"/>
                </a:solidFill>
              </a:rPr>
              <a:t>or Done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40296" y="2880360"/>
            <a:ext cx="1737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Loop back if needed; stop when acceptance criteria met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754880"/>
            <a:ext cx="7589520" cy="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7FA8"/>
                </a:solidFill>
              </a:rPr>
              <a:t>← — — — — — — Loops until task complete or human checkpoint — — — — — —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AUTONOMY SPECTRUM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Not all agents are equal — match autonomy to risk  (IBM three-tier model)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1  ·  Fully Automated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Low-risk, reversible tasks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EXAMPLES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Log analysis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Test environment 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Dependency version bumps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Doc generation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OVERSIGHT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Minimal — humans review reports, not every 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2  ·  Supervised Execution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Medium-risk, recoverable tasks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EXAMPLES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3756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Feature PRs for review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Data pipeline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API integrations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Content generation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OVERSIGHT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3756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approves before merge/deploy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1325880"/>
            <a:ext cx="2697480" cy="352044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4" name="Text 22"/>
          <p:cNvSpPr/>
          <p:nvPr/>
        </p:nvSpPr>
        <p:spPr>
          <a:xfrm>
            <a:off x="6080760" y="13258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TIER 3  ·  Human-Directed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19659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WHEN TO USE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17920" y="222199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High-risk, irreversible tasks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217920" y="267919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EXAMPLES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0" y="2935224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Production DB writes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Financial transactions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Security config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· External communications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402336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096B0"/>
                </a:solidFill>
              </a:rPr>
              <a:t>OVERSIGHT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17920" y="42519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4E4F0"/>
                </a:solidFill>
              </a:rPr>
              <a:t>Human decides; agent surfaces options only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956048"/>
            <a:ext cx="8503920" cy="0"/>
          </a:xfrm>
          <a:prstGeom prst="line">
            <a:avLst/>
          </a:prstGeom>
          <a:noFill/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8DB8"/>
                </a:solidFill>
              </a:rPr>
              <a:t>← More human control                                                              More agent autonomy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INDUSTRY SIGNAL  ·  SPOTIFY  ·  2025–2026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8503920" cy="137160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0467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5B8DB8"/>
                </a:solidFill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932688"/>
            <a:ext cx="76809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D3D"/>
                </a:solidFill>
              </a:rPr>
              <a:t>When I speak to my most senior engineers — the best developers we have — they say they have not written a single line of code since December. They only generate code and supervise it.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— Daniel Ek / Alex Söderström, Spotify Co-CEO  ·  Q4 2025 Earnings Call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578608"/>
            <a:ext cx="2697480" cy="1828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~50%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of all Spotify PRs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automated by agents since mid-2024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578608"/>
            <a:ext cx="2697480" cy="1828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1,500+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agent-generated PRs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0040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merged across their codebase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80760" y="2578608"/>
            <a:ext cx="2697480" cy="1828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269748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50+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336499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features shipped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80760" y="3712464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in 2025, accelerated by Honk agents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ROLE SHIFT FOR ENTERPRISE DEVELOPERS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solidFill>
            <a:srgbClr val="B8CADA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D3D"/>
                </a:solidFill>
              </a:rPr>
              <a:t>BEFORE  ·  Chat Era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Write every line of code manually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Debug syntax and boilerplate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Context-switch between tasks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Orchestrate your own workflow step-by-step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✗  Review your own output before committing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2468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A7DC9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892040" y="868680"/>
            <a:ext cx="393192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8686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AFTER  ·  Agent Era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14264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Define intent: spec, acceptance criteria, DoD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74920" y="199339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Review and approve agent-generated diffs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25603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Design agent architecture and tool boundaries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7492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Set oversight gates and HITL checkpoints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74920" y="36941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Evaluate quality at the system level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KEY TERMS  ·  MODULE 1 REFERENCE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2004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6634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6634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AI that autonomously plans and executes multi-step tasks using tools and memory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Tool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— bash command, file read/write, API call, web search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HITL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design gate requiring human approval before irreversible action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4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Gather Context → Take Action → Verify Work → Repeat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822960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09160" y="822960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877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Subagent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55464" y="120700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for parallel or specialized work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1810512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709160" y="181051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5" name="Text 23"/>
          <p:cNvSpPr/>
          <p:nvPr/>
        </p:nvSpPr>
        <p:spPr>
          <a:xfrm>
            <a:off x="4855464" y="186537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55464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coordinates subagents, assigns subtasks, and merges results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2798064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709160" y="2798064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855464" y="28529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Supervised Dev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55464" y="318211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Spotify's model: engineers set intent and review output; agents write the code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3785616"/>
            <a:ext cx="4206240" cy="86868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709160" y="3785616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855464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55464" y="416966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standard for agent-to-tool and agent-to-service integration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3557"/>
                </a:solidFill>
              </a:rPr>
              <a:t>Map Your Current Tools to the Autonomy Spectrum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46304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6304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96112" y="15179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Inventory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93392" y="151790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84708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List 5–8 development tasks you performed last week. Be specific (e.g., 'added null check to payment handler', 'reviewed PR #2341').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3172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" y="238658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Classify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93392" y="23865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71576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Place each task on the autonomy spectrum: Tier 1 (fully automate), Tier 2 (supervised), or Tier 3 (human-directed). Justify your reasoning.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20040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20040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6112" y="32552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Identify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93392" y="325526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35844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Tier 1 and 2 tasks: what context (files, specs, rules) would an agent need to complete them reliably?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69080"/>
            <a:ext cx="8503920" cy="7772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69080"/>
            <a:ext cx="475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" y="41239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Share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993392" y="41239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(3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445312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Share one surprising classification with the group. Where did your intuition and your classification disagree?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5603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502920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22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Where on the autonomy spectrum are your team's current AI tools?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What's one task in your domain that's clearly Tier 1? What makes it safe to automate?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need to be true about a task's spec before you'd trust an agent with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does your organization's risk culture affect where you set your HITL gates?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822960"/>
            <a:ext cx="3291840" cy="3383280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822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389888"/>
            <a:ext cx="3063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Chat = reactive. Agents = autonomous.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loop: gather → act → verify → repeat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Match autonomy level to risk — use the spectrum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Your role shifts: intent + oversight, not typing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Spotify's senior engineers now supervise, not code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02: Core Agentic Concepts &amp; Terms  —  Tools, Memory, Orchestrators, MCP, and the Agent SDK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1: Chat vs. Agents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2026-04-05T20:07:00Z</dcterms:created>
  <dcterms:modified xsi:type="dcterms:W3CDTF">2026-04-05T20:07:00Z</dcterms:modified>
</cp:coreProperties>
</file>