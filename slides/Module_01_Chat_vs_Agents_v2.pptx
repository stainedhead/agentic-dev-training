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MODULE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Chat vs. Agents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B8DB8"/>
                </a:solidFill>
              </a:rPr>
              <a:t>From reactive responses to autonomous action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640080"/>
            <a:ext cx="2560320" cy="2560320"/>
          </a:xfrm>
          <a:prstGeom prst="ellipse">
            <a:avLst/>
          </a:prstGeom>
          <a:solidFill>
            <a:srgbClr val="2E5073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0" y="1371600"/>
            <a:ext cx="2560320" cy="2560320"/>
          </a:xfrm>
          <a:prstGeom prst="ellipse">
            <a:avLst/>
          </a:prstGeom>
          <a:solidFill>
            <a:srgbClr val="4A7FA8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1645920"/>
            <a:ext cx="2560320" cy="2560320"/>
          </a:xfrm>
          <a:prstGeom prst="ellipse">
            <a:avLst/>
          </a:prstGeom>
          <a:solidFill>
            <a:srgbClr val="3A7DC9">
              <a:alpha val="35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640080" cy="64008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8745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LEARNING 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691640"/>
          </a:xfrm>
          <a:prstGeom prst="rect">
            <a:avLst/>
          </a:prstGeom>
          <a:solidFill>
            <a:srgbClr val="1C35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143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064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</a:rPr>
              <a:t>Understand the Chat Paradigm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56362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Define reactive AI, prompt-response cycles, and why chat has limits for enterprise 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960120"/>
            <a:ext cx="64008" cy="1691640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430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0642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</a:rPr>
              <a:t>Define Agentic 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156362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Articulate what makes an AI system an agent: autonomy, tools, memory, and feedback loops.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8803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80360"/>
            <a:ext cx="64008" cy="1691640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632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</a:rPr>
              <a:t>Map the Autonomy Spectrum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60120" y="348386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Apply IBM's three-tier model to classify agent deployments by risk and human oversight.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88036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880360"/>
            <a:ext cx="64008" cy="1691640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06324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</a:rPr>
              <a:t>Adopt the Supervisor Mindset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03520" y="348386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Describe the engineer's new role as intent-setter and reviewer rather than code author.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20040" y="8412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CHAT PARADIGM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90A8"/>
                </a:solidFill>
              </a:rPr>
              <a:t>How most developers first encounter AI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4864" cy="59436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Reactive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Responds only when prompted. Waits for human input at every step.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4864" cy="59436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Stateless (by default)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Each message is largely independent. No persistent memory across sessions.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54864" cy="59436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Single-turn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One prompt → one response. The human orchestrates the workflow.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54864" cy="59436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Human-driven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The human decides every next step. AI is a smart autocomplete.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12080" y="841248"/>
            <a:ext cx="3657600" cy="41148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097280"/>
            <a:ext cx="1280160" cy="64008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097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1097280"/>
            <a:ext cx="1280160" cy="64008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097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LLM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1298448"/>
            <a:ext cx="548640" cy="0"/>
          </a:xfrm>
          <a:prstGeom prst="line">
            <a:avLst/>
          </a:prstGeom>
          <a:noFill/>
          <a:ln w="25400">
            <a:solidFill>
              <a:srgbClr val="1C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3557"/>
                </a:solidFill>
              </a:rPr>
              <a:t>prompt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1572768"/>
            <a:ext cx="548640" cy="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FA8"/>
                </a:solidFill>
              </a:rPr>
              <a:t>← response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1965960"/>
            <a:ext cx="1280160" cy="548640"/>
          </a:xfrm>
          <a:prstGeom prst="rect">
            <a:avLst/>
          </a:prstGeom>
          <a:solidFill>
            <a:srgbClr val="1C3557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Human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965960"/>
            <a:ext cx="1280160" cy="548640"/>
          </a:xfrm>
          <a:prstGeom prst="rect">
            <a:avLst/>
          </a:prstGeom>
          <a:solidFill>
            <a:srgbClr val="5B8DB8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LLM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2167128"/>
            <a:ext cx="548640" cy="0"/>
          </a:xfrm>
          <a:prstGeom prst="line">
            <a:avLst/>
          </a:prstGeom>
          <a:noFill/>
          <a:ln w="19050">
            <a:solidFill>
              <a:srgbClr val="1C35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2368296"/>
            <a:ext cx="548640" cy="0"/>
          </a:xfrm>
          <a:prstGeom prst="line">
            <a:avLst/>
          </a:prstGeom>
          <a:noFill/>
          <a:ln w="19050">
            <a:solidFill>
              <a:srgbClr val="4A7F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2834640"/>
            <a:ext cx="1280160" cy="548640"/>
          </a:xfrm>
          <a:prstGeom prst="rect">
            <a:avLst/>
          </a:prstGeom>
          <a:solidFill>
            <a:srgbClr val="1C3557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Human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2834640"/>
            <a:ext cx="1280160" cy="548640"/>
          </a:xfrm>
          <a:prstGeom prst="rect">
            <a:avLst/>
          </a:prstGeom>
          <a:solidFill>
            <a:srgbClr val="5B8DB8">
              <a:alpha val="7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LLM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3035808"/>
            <a:ext cx="548640" cy="0"/>
          </a:xfrm>
          <a:prstGeom prst="line">
            <a:avLst/>
          </a:prstGeom>
          <a:noFill/>
          <a:ln w="19050">
            <a:solidFill>
              <a:srgbClr val="1C35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236976"/>
            <a:ext cx="548640" cy="0"/>
          </a:xfrm>
          <a:prstGeom prst="line">
            <a:avLst/>
          </a:prstGeom>
          <a:noFill/>
          <a:ln w="19050">
            <a:solidFill>
              <a:srgbClr val="4A7F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3703320"/>
            <a:ext cx="1280160" cy="548640"/>
          </a:xfrm>
          <a:prstGeom prst="rect">
            <a:avLst/>
          </a:prstGeom>
          <a:solidFill>
            <a:srgbClr val="1C3557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Human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0" y="3703320"/>
            <a:ext cx="1280160" cy="548640"/>
          </a:xfrm>
          <a:prstGeom prst="rect">
            <a:avLst/>
          </a:prstGeom>
          <a:solidFill>
            <a:srgbClr val="5B8DB8">
              <a:alpha val="7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7"/>
                </a:solidFill>
              </a:rPr>
              <a:t>LLM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3904488"/>
            <a:ext cx="548640" cy="0"/>
          </a:xfrm>
          <a:prstGeom prst="line">
            <a:avLst/>
          </a:prstGeom>
          <a:noFill/>
          <a:ln w="19050">
            <a:solidFill>
              <a:srgbClr val="1C35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0" y="4105656"/>
            <a:ext cx="548640" cy="0"/>
          </a:xfrm>
          <a:prstGeom prst="line">
            <a:avLst/>
          </a:prstGeom>
          <a:noFill/>
          <a:ln w="19050">
            <a:solidFill>
              <a:srgbClr val="4A7F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Human orchestrates every step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AGENT PARADIGM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AI that acts, not just responds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011680" cy="329184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331720"/>
            <a:ext cx="109728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Autonomous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95351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Takes sequences of actions without human approval at each step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87168" y="1325880"/>
            <a:ext cx="2011680" cy="329184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600200"/>
            <a:ext cx="594360" cy="594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44368" y="2331720"/>
            <a:ext cx="1097280" cy="3657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2" name="Text 8"/>
          <p:cNvSpPr/>
          <p:nvPr/>
        </p:nvSpPr>
        <p:spPr>
          <a:xfrm>
            <a:off x="2578608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Tool-Enabled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78608" y="295351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Executes code, reads files, calls APIs, searches the web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54296" y="1325880"/>
            <a:ext cx="2011680" cy="329184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600200"/>
            <a:ext cx="594360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111496" y="2331720"/>
            <a:ext cx="1097280" cy="36576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7" name="Text 12"/>
          <p:cNvSpPr/>
          <p:nvPr/>
        </p:nvSpPr>
        <p:spPr>
          <a:xfrm>
            <a:off x="4745736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Memory-Aware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45736" y="295351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Maintains context across steps; reads and writes its own notes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21424" y="1325880"/>
            <a:ext cx="2011680" cy="3291840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600200"/>
            <a:ext cx="594360" cy="5943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278624" y="2331720"/>
            <a:ext cx="1097280" cy="36576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2" name="Text 16"/>
          <p:cNvSpPr/>
          <p:nvPr/>
        </p:nvSpPr>
        <p:spPr>
          <a:xfrm>
            <a:off x="6912864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Self-Verifying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12864" y="2953512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Checks its own output, self-corrects, loops until task is done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20040" y="473659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8DB8"/>
                </a:solidFill>
              </a:rPr>
              <a:t>Agents combine these four properties to complete multi-step tasks independently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CHAT vs. AGENTS  —  SIDE BY SIDE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194560" cy="45720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749808"/>
            <a:ext cx="2990088" cy="457200"/>
          </a:xfrm>
          <a:prstGeom prst="rect">
            <a:avLst/>
          </a:prstGeom>
          <a:solidFill>
            <a:srgbClr val="DCE9F5"/>
          </a:solidFill>
          <a:ln/>
        </p:spPr>
      </p:sp>
      <p:sp>
        <p:nvSpPr>
          <p:cNvPr id="6" name="Shape 4"/>
          <p:cNvSpPr/>
          <p:nvPr/>
        </p:nvSpPr>
        <p:spPr>
          <a:xfrm>
            <a:off x="5687568" y="749808"/>
            <a:ext cx="3136392" cy="457200"/>
          </a:xfrm>
          <a:prstGeom prst="rect">
            <a:avLst/>
          </a:prstGeom>
          <a:solidFill>
            <a:srgbClr val="D8E8F3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74980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3557"/>
                </a:solidFill>
              </a:rPr>
              <a:t>DIMENSION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15768" y="74980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3557"/>
                </a:solidFill>
              </a:rPr>
              <a:t>CHAT INTERFACE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97296" y="74980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7FA8"/>
                </a:solidFill>
              </a:rPr>
              <a:t>AGENTIC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261872"/>
            <a:ext cx="299008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87568" y="1261872"/>
            <a:ext cx="313639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764792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261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15768" y="1261872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Human decides every step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97296" y="126187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Agent decides steps autonomously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1778508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1778508"/>
            <a:ext cx="2990088" cy="5029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687568" y="1778508"/>
            <a:ext cx="3136392" cy="5029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281428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17785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Memory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15768" y="1778508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Stateless — each turn fresh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97296" y="177850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Persistent across steps &amp; sessions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2295144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25" name="Shape 23"/>
          <p:cNvSpPr/>
          <p:nvPr/>
        </p:nvSpPr>
        <p:spPr>
          <a:xfrm>
            <a:off x="2606040" y="2295144"/>
            <a:ext cx="299008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2295144"/>
            <a:ext cx="313639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798064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2951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Tool Use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15768" y="2295144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None — text output only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97296" y="2295144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Code, files, APIs, bash, search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2811780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2" name="Shape 30"/>
          <p:cNvSpPr/>
          <p:nvPr/>
        </p:nvSpPr>
        <p:spPr>
          <a:xfrm>
            <a:off x="2606040" y="2811780"/>
            <a:ext cx="2990088" cy="5029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5687568" y="2811780"/>
            <a:ext cx="3136392" cy="5029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314700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28117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15768" y="281178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Human notices, re-prompts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97296" y="28117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Agent self-detects and self-corrects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3328416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9" name="Shape 37"/>
          <p:cNvSpPr/>
          <p:nvPr/>
        </p:nvSpPr>
        <p:spPr>
          <a:xfrm>
            <a:off x="2606040" y="3328416"/>
            <a:ext cx="299008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687568" y="3328416"/>
            <a:ext cx="313639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3831336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33284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Task Length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15768" y="3328416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Single exchange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797296" y="332841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Hours-long multi-step workflows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0040" y="3845052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3845052"/>
            <a:ext cx="2990088" cy="5029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7" name="Shape 45"/>
          <p:cNvSpPr/>
          <p:nvPr/>
        </p:nvSpPr>
        <p:spPr>
          <a:xfrm>
            <a:off x="5687568" y="3845052"/>
            <a:ext cx="3136392" cy="5029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" y="4347972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38450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Oversight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15768" y="3845052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Always human-in-the-loop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797296" y="38450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HITL at defined checkpoints only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20040" y="4361688"/>
            <a:ext cx="2194560" cy="502920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606040" y="4361688"/>
            <a:ext cx="299008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5687568" y="4361688"/>
            <a:ext cx="313639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320040" y="4864608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43616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Output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15768" y="4361688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Text response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797296" y="4361688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PRs, reports, deployed changes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AGENT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The fundamental execution pattern — used by Claude Code, Spotify's Honk, and every production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20240" cy="32004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20240" cy="6858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3557"/>
                </a:solidFill>
              </a:rPr>
              <a:t>Gather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3557"/>
                </a:solidFill>
              </a:rPr>
              <a:t>Context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Read files, search docs, inspect codebase, retrieve memory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58568" y="2029968"/>
            <a:ext cx="219456" cy="73152"/>
          </a:xfrm>
          <a:prstGeom prst="rect">
            <a:avLst/>
          </a:prstGeom>
          <a:solidFill>
            <a:srgbClr val="7A90A8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874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96312" y="1371600"/>
            <a:ext cx="1920240" cy="32004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371600"/>
            <a:ext cx="1920240" cy="68580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96312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FA8"/>
                </a:solidFill>
              </a:rPr>
              <a:t>Take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A7FA8"/>
                </a:solidFill>
              </a:rPr>
              <a:t>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87752" y="288036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Write code, call API, run bash command, update 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029968"/>
            <a:ext cx="219456" cy="73152"/>
          </a:xfrm>
          <a:prstGeom prst="rect">
            <a:avLst/>
          </a:prstGeom>
          <a:solidFill>
            <a:srgbClr val="7A90A8"/>
          </a:solidFill>
          <a:ln/>
        </p:spPr>
      </p:sp>
      <p:sp>
        <p:nvSpPr>
          <p:cNvPr id="18" name="Text 16"/>
          <p:cNvSpPr/>
          <p:nvPr/>
        </p:nvSpPr>
        <p:spPr>
          <a:xfrm>
            <a:off x="4416552" y="1874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72584" y="1371600"/>
            <a:ext cx="1920240" cy="32004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371600"/>
            <a:ext cx="1920240" cy="6858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1" name="Text 19"/>
          <p:cNvSpPr/>
          <p:nvPr/>
        </p:nvSpPr>
        <p:spPr>
          <a:xfrm>
            <a:off x="4672584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72584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C9"/>
                </a:solidFill>
              </a:rPr>
              <a:t>Verify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A7DC9"/>
                </a:solidFill>
              </a:rPr>
              <a:t>Work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64024" y="288036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Run tests, check linter, evaluate output against spec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11112" y="2029968"/>
            <a:ext cx="219456" cy="73152"/>
          </a:xfrm>
          <a:prstGeom prst="rect">
            <a:avLst/>
          </a:prstGeom>
          <a:solidFill>
            <a:srgbClr val="7A90A8"/>
          </a:solidFill>
          <a:ln/>
        </p:spPr>
      </p:sp>
      <p:sp>
        <p:nvSpPr>
          <p:cNvPr id="25" name="Text 23"/>
          <p:cNvSpPr/>
          <p:nvPr/>
        </p:nvSpPr>
        <p:spPr>
          <a:xfrm>
            <a:off x="6592824" y="18745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A8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48856" y="1371600"/>
            <a:ext cx="1920240" cy="32004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1371600"/>
            <a:ext cx="1920240" cy="68580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8" name="Text 26"/>
          <p:cNvSpPr/>
          <p:nvPr/>
        </p:nvSpPr>
        <p:spPr>
          <a:xfrm>
            <a:off x="6848856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48856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E6E"/>
                </a:solidFill>
              </a:rPr>
              <a:t>Repeat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A7E6E"/>
                </a:solidFill>
              </a:rPr>
              <a:t>or Done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40296" y="2880360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Loop back if needed; stop when acceptance criteria met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7589520" cy="0"/>
          </a:xfrm>
          <a:prstGeom prst="line">
            <a:avLst/>
          </a:prstGeom>
          <a:noFill/>
          <a:ln w="19050">
            <a:solidFill>
              <a:srgbClr val="4A7FA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7FA8"/>
                </a:solidFill>
              </a:rPr>
              <a:t>← — — — — — — Loops until task complete or human checkpoint — — — — — — →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AUTONOMY SPECTRUM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Not all agents are equal — match autonomy to risk  (IBM three-tier model)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97480" cy="3520440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697480" cy="54864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1  ·  Fully Automated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E6E"/>
                </a:solidFill>
              </a:rPr>
              <a:t>WHEN TO USE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Low-risk, reversible tasks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E6E"/>
                </a:solidFill>
              </a:rPr>
              <a:t>EXAMPLES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93522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Log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Test environment 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Dependency version bumps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Doc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E6E"/>
                </a:solidFill>
              </a:rPr>
              <a:t>OVERSIGHT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4F0"/>
                </a:solidFill>
              </a:rPr>
              <a:t>Minimal — humans review reports, not every 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3520440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2697480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2  ·  Supervised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DC9"/>
                </a:solidFill>
              </a:rPr>
              <a:t>WHEN TO USE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221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Medium-risk, recoverable tasks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2679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DC9"/>
                </a:solidFill>
              </a:rPr>
              <a:t>EXAMPLES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93522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Feature PRs for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Data pipeline changes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API 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Content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4023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DC9"/>
                </a:solidFill>
              </a:rPr>
              <a:t>OVERSIGHT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4F0"/>
                </a:solidFill>
              </a:rPr>
              <a:t>Human approves before merge/deploy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1325880"/>
            <a:ext cx="2697480" cy="3520440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325880"/>
            <a:ext cx="2697480" cy="54864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325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3  ·  Human-Directed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96B0"/>
                </a:solidFill>
              </a:rPr>
              <a:t>WHEN TO 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2221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High-risk, irreversible tasks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17920" y="2679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96B0"/>
                </a:solidFill>
              </a:rPr>
              <a:t>EXAMPLES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935224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Production DB writes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Financial transactions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Security config changes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External communications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023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96B0"/>
                </a:solidFill>
              </a:rPr>
              <a:t>OVERSIGHT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4251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E4F0"/>
                </a:solidFill>
              </a:rPr>
              <a:t>Human decides; agent surfaces options only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956048"/>
            <a:ext cx="8503920" cy="0"/>
          </a:xfrm>
          <a:prstGeom prst="line">
            <a:avLst/>
          </a:prstGeom>
          <a:noFill/>
          <a:ln w="12700">
            <a:solidFill>
              <a:srgbClr val="5B8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8DB8"/>
                </a:solidFill>
              </a:rPr>
              <a:t>← More human control                                                              More agent autonomy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INDUSTRY SIGNAL  ·  SPOTIFY  ·  2025–2026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13716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0467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B8DB8"/>
                </a:solidFill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D3D"/>
                </a:solidFill>
              </a:rPr>
              <a:t>When I speak to my most senior engineers — the best developers we have — they say they have not written a single line of code since December. They only generate code and supervise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— Daniel Ek / Alex Söderström, Spotify Co-CEO  ·  Q4 2025 Earnings Call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697480" cy="1828800"/>
          </a:xfrm>
          <a:prstGeom prst="rect">
            <a:avLst/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697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~50%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of all Spotify PRs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71246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automated by agents since mid-2024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78608"/>
            <a:ext cx="2697480" cy="1828800"/>
          </a:xfrm>
          <a:prstGeom prst="rect">
            <a:avLst/>
          </a:prstGeom>
          <a:solidFill>
            <a:srgbClr val="4A7FA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697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1,500+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0040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agent-generated PRs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71246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merged across their codebase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578608"/>
            <a:ext cx="2697480" cy="1828800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26974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33649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 shipped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71246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E4F0"/>
                </a:solidFill>
              </a:rPr>
              <a:t>in 2025, accelerated by Honk agents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ROLE SHIFT FOR ENTERPRISE DEVELOPERS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3931920" cy="502920"/>
          </a:xfrm>
          <a:prstGeom prst="rect">
            <a:avLst/>
          </a:prstGeom>
          <a:solidFill>
            <a:srgbClr val="B8CAD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BEFORE  ·  Chat Era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✗  Write every line of code manually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✗  Debug syntax and boilerplate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✗  Context-switch between tasks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✗  Orchestrate your own workflow step-by-step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941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✗  Review your own output before committing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7DC9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92040" y="86868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868680"/>
            <a:ext cx="3931920" cy="50292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868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  ·  Agent Era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14264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Define intent: spec, acceptance criteria, DoD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19933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Review and approve agent-generated diffs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Design agent architecture and tool boundaries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31272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Set oversight gates and HITL checkpoints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74920" y="36941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✓  Evaluate quality at the system level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KEY TERMS  ·  MODULE 1 REFERENCE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466344" y="877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Agent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" y="12070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AI that autonomously plans and executes multi-step tasks using tools and memory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810512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Tool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" y="2194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callable function — bash command, file read/write, API call, web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798064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798064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852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HITL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" y="31821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Human-in-the-Loop: a design gate requiring human approval before irreversible action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785616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785616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Agent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" y="4169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Gather Context → Take Action → Verify Work → Repeat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822960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877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Subagent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55464" y="12070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child agent spawned by an orchestrator for parallel or specialized work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810512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1810512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5" name="Text 23"/>
          <p:cNvSpPr/>
          <p:nvPr/>
        </p:nvSpPr>
        <p:spPr>
          <a:xfrm>
            <a:off x="4855464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5464" y="2194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 lead agent that coordinates subagents, assigns subtasks, and merges results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798064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2798064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2852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Supervised Dev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55464" y="31821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Spotify's model: engineers set intent and review output; agents write the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785616"/>
            <a:ext cx="4206240" cy="868680"/>
          </a:xfrm>
          <a:prstGeom prst="rect">
            <a:avLst/>
          </a:prstGeom>
          <a:solidFill>
            <a:srgbClr val="2E5073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09160" y="3785616"/>
            <a:ext cx="54864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3" name="Text 31"/>
          <p:cNvSpPr/>
          <p:nvPr/>
        </p:nvSpPr>
        <p:spPr>
          <a:xfrm>
            <a:off x="4855464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C9"/>
                </a:solidFill>
              </a:rPr>
              <a:t>MCP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55464" y="4169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Model Context Protocol — standard for agent-to-tool and agent-to-service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20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557"/>
                </a:solidFill>
              </a:rPr>
              <a:t>Map Your Current Tools to the Autonomy Spectrum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475488" cy="7772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15179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Inventory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93392" y="15179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84708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List 5–8 development tasks you performed last week. Be specific (e.g., 'added null check to payment handler', 'reviewed PR #2341').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31720"/>
            <a:ext cx="475488" cy="7772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3317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2386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Classify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2386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71576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Place each task on the autonomy spectrum: Tier 1 (fully automate), Tier 2 (supervised), or Tier 3 (human-directed). Justify your reasoning.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8503920" cy="7772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00400"/>
            <a:ext cx="475488" cy="7772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2004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6112" y="32552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Identify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93392" y="32552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5844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For your Tier 1 and 2 tasks: what context (files, specs, rules) would an agent need to complete them reliably?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69080"/>
            <a:ext cx="475488" cy="7772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6908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" y="4123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A8"/>
                </a:solidFill>
              </a:rPr>
              <a:t>Share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93392" y="41239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(3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445312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Share one surprising classification with the group. Where did your intuition and your classification disagree?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029200" cy="3383280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029200" cy="457200"/>
          </a:xfrm>
          <a:prstGeom prst="rect">
            <a:avLst/>
          </a:prstGeom>
          <a:solidFill>
            <a:srgbClr val="5B8DB8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Where on the autonomy spectrum are your team's current AI tools?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What's one task in your domain that's clearly Tier 1? What makes it safe to automate?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What would need to be true about a task's spec before you'd trust an agent with it?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How does your organization's risk culture affect where you set your HITL gates?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822960"/>
            <a:ext cx="3291840" cy="3383280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822960"/>
            <a:ext cx="3291840" cy="457200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822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389888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Chat = reactive. Agents = autonomous.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Agents loop: gather → act → verify → repeat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Match autonomy level to risk — use the spectrum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Your role shifts: intent + oversight, not typing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Spotify's senior engineers now supervise, not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02: Core Agentic Concepts &amp; Terms  —  Tools, Memory, Orchestrators, MCP, and the Agent SDK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Chat vs. Agents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2026-04-05T18:24:09Z</dcterms:created>
  <dcterms:modified xsi:type="dcterms:W3CDTF">2026-04-05T18:24:09Z</dcterms:modified>
</cp:coreProperties>
</file>