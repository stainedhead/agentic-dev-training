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3200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772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MODULE 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32588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</a:rPr>
              <a:t>Chat vs. Agents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B8DB8"/>
                </a:solidFill>
              </a:rPr>
              <a:t>From reactive responses to autonomous action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3429000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657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60–90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Foundation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640080"/>
            <a:ext cx="2560320" cy="2560320"/>
          </a:xfrm>
          <a:prstGeom prst="ellipse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6949440" y="1371600"/>
            <a:ext cx="2560320" cy="2560320"/>
          </a:xfrm>
          <a:prstGeom prst="ellipse">
            <a:avLst/>
          </a:prstGeom>
          <a:solidFill>
            <a:srgbClr val="4A7FA8">
              <a:alpha val="5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852160" y="1645920"/>
            <a:ext cx="2560320" cy="2560320"/>
          </a:xfrm>
          <a:prstGeom prst="ellipse">
            <a:avLst/>
          </a:prstGeom>
          <a:solidFill>
            <a:srgbClr val="3A7DC9">
              <a:alpha val="35000"/>
            </a:srgbClr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234440"/>
            <a:ext cx="640080" cy="640080"/>
          </a:xfrm>
          <a:prstGeom prst="rect">
            <a:avLst/>
          </a:prstGeom>
        </p:spPr>
      </p:pic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874520"/>
            <a:ext cx="6400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LEARNING OBJECTIVES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41605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60120"/>
            <a:ext cx="64008" cy="1691640"/>
          </a:xfrm>
          <a:prstGeom prst="rect">
            <a:avLst/>
          </a:prstGeom>
          <a:solidFill>
            <a:srgbClr val="1C355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143000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10642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D3D"/>
                </a:solidFill>
              </a:rPr>
              <a:t>Understand the Chat Paradigm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60120" y="1563624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Define reactive AI, prompt-response cycles, and why chat has limits for enterprise work.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663440" y="960120"/>
            <a:ext cx="41605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63440" y="960120"/>
            <a:ext cx="64008" cy="1691640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143000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03520" y="110642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D3D"/>
                </a:solidFill>
              </a:rPr>
              <a:t>Define Agentic AI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303520" y="1563624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Articulate what makes an AI system an agent: autonomy, tools, memory, and feedback loops.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320040" y="2880360"/>
            <a:ext cx="41605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20040" y="2880360"/>
            <a:ext cx="64008" cy="1691640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063240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302666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D3D"/>
                </a:solidFill>
              </a:rPr>
              <a:t>Map the Autonomy Spectrum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960120" y="3483864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Apply IBM's three-tier model to classify agent deployments by risk and human oversight.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663440" y="2880360"/>
            <a:ext cx="41605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663440" y="2880360"/>
            <a:ext cx="64008" cy="1691640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063240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303520" y="302666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D3D"/>
                </a:solidFill>
              </a:rPr>
              <a:t>Adopt the Supervisor Mindset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5303520" y="3483864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Describe the engineer's new role as intent-setter and reviewer rather than code author.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320040" y="84124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CHAT PARADIGM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A90A8"/>
                </a:solidFill>
              </a:rPr>
              <a:t>How most developers first encounter AI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54864" cy="59436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1325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Reactive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30352" y="16002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Responds only when prompted. Waits for human input at every step.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2194560"/>
            <a:ext cx="54864" cy="59436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9" name="Text 7"/>
          <p:cNvSpPr/>
          <p:nvPr/>
        </p:nvSpPr>
        <p:spPr>
          <a:xfrm>
            <a:off x="530352" y="2194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Stateless (by default)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0352" y="24688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Each message is largely independent. No persistent memory across sessions.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54864" cy="59436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30632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Single-turn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3337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One prompt → one response. The human orchestrates the workflow.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3931920"/>
            <a:ext cx="54864" cy="59436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15" name="Text 13"/>
          <p:cNvSpPr/>
          <p:nvPr/>
        </p:nvSpPr>
        <p:spPr>
          <a:xfrm>
            <a:off x="530352" y="39319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Human-driven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0352" y="4206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The human decides every next step. AI is a smart autocomplete.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212080" y="841248"/>
            <a:ext cx="3657600" cy="41148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0" y="1097280"/>
            <a:ext cx="1280160" cy="64008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0" y="10972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Human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0" y="1097280"/>
            <a:ext cx="1280160" cy="64008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0" y="10972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LLM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66560" y="1298448"/>
            <a:ext cx="548640" cy="0"/>
          </a:xfrm>
          <a:prstGeom prst="line">
            <a:avLst/>
          </a:prstGeom>
          <a:noFill/>
          <a:ln w="25400">
            <a:solidFill>
              <a:srgbClr val="1C355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29400" y="1097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3557"/>
                </a:solidFill>
              </a:rPr>
              <a:t>prompt →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766560" y="1572768"/>
            <a:ext cx="548640" cy="0"/>
          </a:xfrm>
          <a:prstGeom prst="line">
            <a:avLst/>
          </a:prstGeom>
          <a:noFill/>
          <a:ln w="25400">
            <a:solidFill>
              <a:srgbClr val="4A7FA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29400" y="15727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7FA8"/>
                </a:solidFill>
              </a:rPr>
              <a:t>← response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0" y="1965960"/>
            <a:ext cx="1280160" cy="548640"/>
          </a:xfrm>
          <a:prstGeom prst="rect">
            <a:avLst/>
          </a:prstGeom>
          <a:solidFill>
            <a:srgbClr val="1C3557">
              <a:alpha val="8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0" y="1965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Human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15200" y="1965960"/>
            <a:ext cx="1280160" cy="548640"/>
          </a:xfrm>
          <a:prstGeom prst="rect">
            <a:avLst/>
          </a:prstGeom>
          <a:solidFill>
            <a:srgbClr val="5B8DB8">
              <a:alpha val="7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0" y="1965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3557"/>
                </a:solidFill>
              </a:rPr>
              <a:t>LLM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766560" y="2167128"/>
            <a:ext cx="548640" cy="0"/>
          </a:xfrm>
          <a:prstGeom prst="line">
            <a:avLst/>
          </a:prstGeom>
          <a:noFill/>
          <a:ln w="19050">
            <a:solidFill>
              <a:srgbClr val="1C355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0" y="2368296"/>
            <a:ext cx="548640" cy="0"/>
          </a:xfrm>
          <a:prstGeom prst="line">
            <a:avLst/>
          </a:prstGeom>
          <a:noFill/>
          <a:ln w="19050">
            <a:solidFill>
              <a:srgbClr val="4A7FA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0" y="2834640"/>
            <a:ext cx="1280160" cy="548640"/>
          </a:xfrm>
          <a:prstGeom prst="rect">
            <a:avLst/>
          </a:prstGeom>
          <a:solidFill>
            <a:srgbClr val="1C3557">
              <a:alpha val="85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5486400" y="28346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Human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315200" y="2834640"/>
            <a:ext cx="1280160" cy="548640"/>
          </a:xfrm>
          <a:prstGeom prst="rect">
            <a:avLst/>
          </a:prstGeom>
          <a:solidFill>
            <a:srgbClr val="5B8DB8">
              <a:alpha val="75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0" y="28346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3557"/>
                </a:solidFill>
              </a:rPr>
              <a:t>LLM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766560" y="3035808"/>
            <a:ext cx="548640" cy="0"/>
          </a:xfrm>
          <a:prstGeom prst="line">
            <a:avLst/>
          </a:prstGeom>
          <a:noFill/>
          <a:ln w="19050">
            <a:solidFill>
              <a:srgbClr val="1C355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766560" y="3236976"/>
            <a:ext cx="548640" cy="0"/>
          </a:xfrm>
          <a:prstGeom prst="line">
            <a:avLst/>
          </a:prstGeom>
          <a:noFill/>
          <a:ln w="19050">
            <a:solidFill>
              <a:srgbClr val="4A7FA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0" y="3703320"/>
            <a:ext cx="1280160" cy="548640"/>
          </a:xfrm>
          <a:prstGeom prst="rect">
            <a:avLst/>
          </a:prstGeom>
          <a:solidFill>
            <a:srgbClr val="1C3557">
              <a:alpha val="85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5486400" y="3703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Human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315200" y="3703320"/>
            <a:ext cx="1280160" cy="548640"/>
          </a:xfrm>
          <a:prstGeom prst="rect">
            <a:avLst/>
          </a:prstGeom>
          <a:solidFill>
            <a:srgbClr val="5B8DB8">
              <a:alpha val="75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7315200" y="3703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3557"/>
                </a:solidFill>
              </a:rPr>
              <a:t>LLM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766560" y="3904488"/>
            <a:ext cx="548640" cy="0"/>
          </a:xfrm>
          <a:prstGeom prst="line">
            <a:avLst/>
          </a:prstGeom>
          <a:noFill/>
          <a:ln w="19050">
            <a:solidFill>
              <a:srgbClr val="1C355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766560" y="4105656"/>
            <a:ext cx="548640" cy="0"/>
          </a:xfrm>
          <a:prstGeom prst="line">
            <a:avLst/>
          </a:prstGeom>
          <a:noFill/>
          <a:ln w="19050">
            <a:solidFill>
              <a:srgbClr val="4A7FA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9496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Human orchestrates every step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THE AGENT PARADIGM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</a:rPr>
              <a:t>AI that acts, not just responds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1325880"/>
            <a:ext cx="2011680" cy="3291840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600200"/>
            <a:ext cx="594360" cy="594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7240" y="2331720"/>
            <a:ext cx="109728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4"/>
          <p:cNvSpPr/>
          <p:nvPr/>
        </p:nvSpPr>
        <p:spPr>
          <a:xfrm>
            <a:off x="411480" y="2468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Autonomous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11480" y="2953512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Takes sequences of actions without human approval at each step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87168" y="1325880"/>
            <a:ext cx="2011680" cy="3291840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1600200"/>
            <a:ext cx="594360" cy="5943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944368" y="2331720"/>
            <a:ext cx="1097280" cy="36576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2" name="Text 8"/>
          <p:cNvSpPr/>
          <p:nvPr/>
        </p:nvSpPr>
        <p:spPr>
          <a:xfrm>
            <a:off x="2578608" y="2468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Tool-Enabled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2578608" y="2953512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Executes code, reads files, calls APIs, searches the web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654296" y="1325880"/>
            <a:ext cx="2011680" cy="3291840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0096" y="1600200"/>
            <a:ext cx="594360" cy="59436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111496" y="2331720"/>
            <a:ext cx="1097280" cy="36576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17" name="Text 12"/>
          <p:cNvSpPr/>
          <p:nvPr/>
        </p:nvSpPr>
        <p:spPr>
          <a:xfrm>
            <a:off x="4745736" y="2468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Memory-Aware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4745736" y="2953512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Maintains context across steps; reads and writes its own notes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821424" y="1325880"/>
            <a:ext cx="2011680" cy="3291840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4" y="1600200"/>
            <a:ext cx="594360" cy="59436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7278624" y="2331720"/>
            <a:ext cx="1097280" cy="36576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2" name="Text 16"/>
          <p:cNvSpPr/>
          <p:nvPr/>
        </p:nvSpPr>
        <p:spPr>
          <a:xfrm>
            <a:off x="6912864" y="2468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Self-Verifying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6912864" y="2953512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Checks its own output, self-corrects, loops until task is done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320040" y="4736592"/>
            <a:ext cx="8503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8DB8"/>
                </a:solidFill>
              </a:rPr>
              <a:t>Agents combine these four properties to complete multi-step tasks independently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CHAT vs. AGENTS  —  SIDE BY SIDE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2194560" cy="45720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5" name="Shape 3"/>
          <p:cNvSpPr/>
          <p:nvPr/>
        </p:nvSpPr>
        <p:spPr>
          <a:xfrm>
            <a:off x="2606040" y="749808"/>
            <a:ext cx="2990088" cy="457200"/>
          </a:xfrm>
          <a:prstGeom prst="rect">
            <a:avLst/>
          </a:prstGeom>
          <a:solidFill>
            <a:srgbClr val="DCE9F5"/>
          </a:solidFill>
          <a:ln/>
        </p:spPr>
      </p:sp>
      <p:sp>
        <p:nvSpPr>
          <p:cNvPr id="6" name="Shape 4"/>
          <p:cNvSpPr/>
          <p:nvPr/>
        </p:nvSpPr>
        <p:spPr>
          <a:xfrm>
            <a:off x="5687568" y="749808"/>
            <a:ext cx="3136392" cy="457200"/>
          </a:xfrm>
          <a:prstGeom prst="rect">
            <a:avLst/>
          </a:prstGeom>
          <a:solidFill>
            <a:srgbClr val="D8E8F3"/>
          </a:solidFill>
          <a:ln/>
        </p:spPr>
      </p:sp>
      <p:sp>
        <p:nvSpPr>
          <p:cNvPr id="7" name="Text 5"/>
          <p:cNvSpPr/>
          <p:nvPr/>
        </p:nvSpPr>
        <p:spPr>
          <a:xfrm>
            <a:off x="429768" y="749808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3557"/>
                </a:solidFill>
              </a:rPr>
              <a:t>DIMENSION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15768" y="749808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3557"/>
                </a:solidFill>
              </a:rPr>
              <a:t>CHAT INTERFACE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97296" y="749808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7FA8"/>
                </a:solidFill>
              </a:rPr>
              <a:t>AGENTIC SYSTEM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" y="1261872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11" name="Shape 9"/>
          <p:cNvSpPr/>
          <p:nvPr/>
        </p:nvSpPr>
        <p:spPr>
          <a:xfrm>
            <a:off x="2606040" y="1261872"/>
            <a:ext cx="2990088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5687568" y="1261872"/>
            <a:ext cx="313639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1764792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" y="126187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Control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15768" y="1261872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Human decides every step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797296" y="1261872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Agent decides steps autonomously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1778508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18" name="Shape 16"/>
          <p:cNvSpPr/>
          <p:nvPr/>
        </p:nvSpPr>
        <p:spPr>
          <a:xfrm>
            <a:off x="2606040" y="1778508"/>
            <a:ext cx="2990088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9" name="Shape 17"/>
          <p:cNvSpPr/>
          <p:nvPr/>
        </p:nvSpPr>
        <p:spPr>
          <a:xfrm>
            <a:off x="5687568" y="1778508"/>
            <a:ext cx="3136392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0" name="Shape 18"/>
          <p:cNvSpPr/>
          <p:nvPr/>
        </p:nvSpPr>
        <p:spPr>
          <a:xfrm>
            <a:off x="320040" y="2281428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" y="177850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Memory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15768" y="1778508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Stateless — each turn fresh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797296" y="1778508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Persistent across steps &amp; sessions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20040" y="2295144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25" name="Shape 23"/>
          <p:cNvSpPr/>
          <p:nvPr/>
        </p:nvSpPr>
        <p:spPr>
          <a:xfrm>
            <a:off x="2606040" y="2295144"/>
            <a:ext cx="2990088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5687568" y="2295144"/>
            <a:ext cx="313639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320040" y="2798064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9768" y="229514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Tool Use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715768" y="2295144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None — text output only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797296" y="2295144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Code, files, APIs, bash, search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20040" y="2811780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2" name="Shape 30"/>
          <p:cNvSpPr/>
          <p:nvPr/>
        </p:nvSpPr>
        <p:spPr>
          <a:xfrm>
            <a:off x="2606040" y="2811780"/>
            <a:ext cx="2990088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3" name="Shape 31"/>
          <p:cNvSpPr/>
          <p:nvPr/>
        </p:nvSpPr>
        <p:spPr>
          <a:xfrm>
            <a:off x="5687568" y="2811780"/>
            <a:ext cx="3136392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4" name="Shape 32"/>
          <p:cNvSpPr/>
          <p:nvPr/>
        </p:nvSpPr>
        <p:spPr>
          <a:xfrm>
            <a:off x="320040" y="3314700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9768" y="28117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Error Handling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715768" y="2811780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Human notices, re-prompts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797296" y="281178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Agent self-detects and self-corrects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320040" y="3328416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9" name="Shape 37"/>
          <p:cNvSpPr/>
          <p:nvPr/>
        </p:nvSpPr>
        <p:spPr>
          <a:xfrm>
            <a:off x="2606040" y="3328416"/>
            <a:ext cx="2990088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5687568" y="3328416"/>
            <a:ext cx="313639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320040" y="3831336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9768" y="332841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Task Length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715768" y="3328416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Single exchange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5797296" y="3328416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Hours-long multi-step workflows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320040" y="3845052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46" name="Shape 44"/>
          <p:cNvSpPr/>
          <p:nvPr/>
        </p:nvSpPr>
        <p:spPr>
          <a:xfrm>
            <a:off x="2606040" y="3845052"/>
            <a:ext cx="2990088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7" name="Shape 45"/>
          <p:cNvSpPr/>
          <p:nvPr/>
        </p:nvSpPr>
        <p:spPr>
          <a:xfrm>
            <a:off x="5687568" y="3845052"/>
            <a:ext cx="3136392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8" name="Shape 46"/>
          <p:cNvSpPr/>
          <p:nvPr/>
        </p:nvSpPr>
        <p:spPr>
          <a:xfrm>
            <a:off x="320040" y="4347972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29768" y="384505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Oversight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2715768" y="3845052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Always human-in-the-loop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5797296" y="3845052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HITL at defined checkpoints only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320040" y="4361688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53" name="Shape 51"/>
          <p:cNvSpPr/>
          <p:nvPr/>
        </p:nvSpPr>
        <p:spPr>
          <a:xfrm>
            <a:off x="2606040" y="4361688"/>
            <a:ext cx="2990088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Shape 52"/>
          <p:cNvSpPr/>
          <p:nvPr/>
        </p:nvSpPr>
        <p:spPr>
          <a:xfrm>
            <a:off x="5687568" y="4361688"/>
            <a:ext cx="313639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Shape 53"/>
          <p:cNvSpPr/>
          <p:nvPr/>
        </p:nvSpPr>
        <p:spPr>
          <a:xfrm>
            <a:off x="320040" y="4864608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29768" y="436168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Output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2715768" y="4361688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Text response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5797296" y="4361688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PRs, reports, deployed changes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AGENT LOOP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4124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 fundamental execution pattern — used by Claude Code, Spotify's Honk, and every production agent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371600"/>
            <a:ext cx="1920240" cy="32004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71600"/>
            <a:ext cx="1920240" cy="68580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716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2148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3557"/>
                </a:solidFill>
              </a:rPr>
              <a:t>Gather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C3557"/>
                </a:solidFill>
              </a:rPr>
              <a:t>Context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11480" y="2880360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Read files, search docs, inspect codebase, retrieve memory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58568" y="2029968"/>
            <a:ext cx="219456" cy="73152"/>
          </a:xfrm>
          <a:prstGeom prst="rect">
            <a:avLst/>
          </a:prstGeom>
          <a:solidFill>
            <a:srgbClr val="7A90A8"/>
          </a:solidFill>
          <a:ln/>
        </p:spPr>
      </p:sp>
      <p:sp>
        <p:nvSpPr>
          <p:cNvPr id="11" name="Text 9"/>
          <p:cNvSpPr/>
          <p:nvPr/>
        </p:nvSpPr>
        <p:spPr>
          <a:xfrm>
            <a:off x="2240280" y="187452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90A8"/>
                </a:solidFill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496312" y="1371600"/>
            <a:ext cx="1920240" cy="32004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96312" y="1371600"/>
            <a:ext cx="1920240" cy="68580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4" name="Text 12"/>
          <p:cNvSpPr/>
          <p:nvPr/>
        </p:nvSpPr>
        <p:spPr>
          <a:xfrm>
            <a:off x="2496312" y="13716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2496312" y="2148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7FA8"/>
                </a:solidFill>
              </a:rPr>
              <a:t>Take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4A7FA8"/>
                </a:solidFill>
              </a:rPr>
              <a:t>Action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587752" y="2880360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Write code, call API, run bash command, update file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434840" y="2029968"/>
            <a:ext cx="219456" cy="73152"/>
          </a:xfrm>
          <a:prstGeom prst="rect">
            <a:avLst/>
          </a:prstGeom>
          <a:solidFill>
            <a:srgbClr val="7A90A8"/>
          </a:solidFill>
          <a:ln/>
        </p:spPr>
      </p:sp>
      <p:sp>
        <p:nvSpPr>
          <p:cNvPr id="18" name="Text 16"/>
          <p:cNvSpPr/>
          <p:nvPr/>
        </p:nvSpPr>
        <p:spPr>
          <a:xfrm>
            <a:off x="4416552" y="187452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90A8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672584" y="1371600"/>
            <a:ext cx="1920240" cy="32004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72584" y="1371600"/>
            <a:ext cx="1920240" cy="6858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1" name="Text 19"/>
          <p:cNvSpPr/>
          <p:nvPr/>
        </p:nvSpPr>
        <p:spPr>
          <a:xfrm>
            <a:off x="4672584" y="13716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03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4672584" y="2148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7DC9"/>
                </a:solidFill>
              </a:rPr>
              <a:t>Verify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3A7DC9"/>
                </a:solidFill>
              </a:rPr>
              <a:t>Work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764024" y="2880360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Run tests, check linter, evaluate output against spec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611112" y="2029968"/>
            <a:ext cx="219456" cy="73152"/>
          </a:xfrm>
          <a:prstGeom prst="rect">
            <a:avLst/>
          </a:prstGeom>
          <a:solidFill>
            <a:srgbClr val="7A90A8"/>
          </a:solidFill>
          <a:ln/>
        </p:spPr>
      </p:sp>
      <p:sp>
        <p:nvSpPr>
          <p:cNvPr id="25" name="Text 23"/>
          <p:cNvSpPr/>
          <p:nvPr/>
        </p:nvSpPr>
        <p:spPr>
          <a:xfrm>
            <a:off x="6592824" y="187452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90A8"/>
                </a:solidFill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848856" y="1371600"/>
            <a:ext cx="1920240" cy="32004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848856" y="1371600"/>
            <a:ext cx="1920240" cy="68580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8" name="Text 26"/>
          <p:cNvSpPr/>
          <p:nvPr/>
        </p:nvSpPr>
        <p:spPr>
          <a:xfrm>
            <a:off x="6848856" y="13716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04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6848856" y="2148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7E6E"/>
                </a:solidFill>
              </a:rPr>
              <a:t>Repeat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3A7E6E"/>
                </a:solidFill>
              </a:rPr>
              <a:t>or Done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940296" y="2880360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Loop back if needed; stop when acceptance criteria met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" y="4754880"/>
            <a:ext cx="7589520" cy="0"/>
          </a:xfrm>
          <a:prstGeom prst="line">
            <a:avLst/>
          </a:prstGeom>
          <a:noFill/>
          <a:ln w="19050">
            <a:solidFill>
              <a:srgbClr val="4A7FA8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20040" y="475488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4A7FA8"/>
                </a:solidFill>
              </a:rPr>
              <a:t>← — — — — — — Loops until task complete or human checkpoint — — — — — — →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THE AUTONOMY SPECTRUM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71323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Not all agents are equal — match autonomy to risk  (IBM three-tier model)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325880"/>
            <a:ext cx="2697480" cy="3520440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325880"/>
            <a:ext cx="2697480" cy="54864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3258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TIER 1  ·  Fully Automated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E6E"/>
                </a:solidFill>
              </a:rPr>
              <a:t>WHEN TO USE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Low-risk, reversible tasks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67919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E6E"/>
                </a:solidFill>
              </a:rPr>
              <a:t>EXAMPLES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935224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Log analysis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Test environment ops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Dependency version bumps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Doc generation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402336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E6E"/>
                </a:solidFill>
              </a:rPr>
              <a:t>OVERSIGHT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4E4F0"/>
                </a:solidFill>
              </a:rPr>
              <a:t>Minimal — humans review reports, not every action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0" y="1325880"/>
            <a:ext cx="2697480" cy="3520440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0" y="1325880"/>
            <a:ext cx="2697480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0" y="13258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TIER 2  ·  Supervised Execution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37560" y="196596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DC9"/>
                </a:solidFill>
              </a:rPr>
              <a:t>WHEN TO USE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37560" y="222199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Medium-risk, recoverable tasks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337560" y="267919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DC9"/>
                </a:solidFill>
              </a:rPr>
              <a:t>EXAMPLES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337560" y="2935224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Feature PRs for review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Data pipeline changes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API integrations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Content generation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37560" y="402336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DC9"/>
                </a:solidFill>
              </a:rPr>
              <a:t>OVERSIGHT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37560" y="42519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4E4F0"/>
                </a:solidFill>
              </a:rPr>
              <a:t>Human approves before merge/deploy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080760" y="1325880"/>
            <a:ext cx="2697480" cy="3520440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080760" y="1325880"/>
            <a:ext cx="2697480" cy="54864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4" name="Text 22"/>
          <p:cNvSpPr/>
          <p:nvPr/>
        </p:nvSpPr>
        <p:spPr>
          <a:xfrm>
            <a:off x="6080760" y="13258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TIER 3  ·  Human-Directed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196596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096B0"/>
                </a:solidFill>
              </a:rPr>
              <a:t>WHEN TO USE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217920" y="222199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High-risk, irreversible tasks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217920" y="267919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096B0"/>
                </a:solidFill>
              </a:rPr>
              <a:t>EXAMPLES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0" y="2935224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Production DB writes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Financial transactions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Security config changes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External communications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17920" y="402336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096B0"/>
                </a:solidFill>
              </a:rPr>
              <a:t>OVERSIGHT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17920" y="42519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4E4F0"/>
                </a:solidFill>
              </a:rPr>
              <a:t>Human decides; agent surfaces options only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" y="4956048"/>
            <a:ext cx="8503920" cy="0"/>
          </a:xfrm>
          <a:prstGeom prst="line">
            <a:avLst/>
          </a:prstGeom>
          <a:noFill/>
          <a:ln w="12700">
            <a:solidFill>
              <a:srgbClr val="5B8DB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0040" y="48280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8DB8"/>
                </a:solidFill>
              </a:rPr>
              <a:t>← More human control                                                              More agent autonomy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INDUSTRY SIGNAL  ·  SPOTIFY  ·  2025–2026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8503920" cy="13716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804672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5B8DB8"/>
                </a:solidFill>
              </a:rPr>
              <a:t>“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731520" y="932688"/>
            <a:ext cx="76809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D3D"/>
                </a:solidFill>
              </a:rPr>
              <a:t>When I speak to my most senior engineers — the best developers we have — they say they have not written a single line of code since December. They only generate code and supervise it.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17627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— Daniel Ek / Alex Söderström, Spotify Co-CEO  ·  Q4 2025 Earnings Call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2578608"/>
            <a:ext cx="2697480" cy="1828800"/>
          </a:xfrm>
          <a:prstGeom prst="rect">
            <a:avLst/>
          </a:prstGeom>
          <a:solidFill>
            <a:srgbClr val="1C3557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0040" y="269748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~50%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20040" y="33649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of all Spotify PRs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" y="3712464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4E4F0"/>
                </a:solidFill>
              </a:rPr>
              <a:t>automated by agents since mid-2024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0" y="2578608"/>
            <a:ext cx="2697480" cy="1828800"/>
          </a:xfrm>
          <a:prstGeom prst="rect">
            <a:avLst/>
          </a:prstGeom>
          <a:solidFill>
            <a:srgbClr val="4A7FA8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200400" y="269748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1,500+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3200400" y="33649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agent-generated PRs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00400" y="3712464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4E4F0"/>
                </a:solidFill>
              </a:rPr>
              <a:t>merged across their codebase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80760" y="2578608"/>
            <a:ext cx="2697480" cy="1828800"/>
          </a:xfrm>
          <a:prstGeom prst="rect">
            <a:avLst/>
          </a:prstGeom>
          <a:solidFill>
            <a:srgbClr val="3A7DC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080760" y="269748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50+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080760" y="33649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features shipped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080760" y="3712464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4E4F0"/>
                </a:solidFill>
              </a:rPr>
              <a:t>in 2025, accelerated by Honk agents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ROLE SHIFT FOR ENTERPRISE DEVELOPERS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393192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68680"/>
            <a:ext cx="3931920" cy="502920"/>
          </a:xfrm>
          <a:prstGeom prst="rect">
            <a:avLst/>
          </a:prstGeom>
          <a:solidFill>
            <a:srgbClr val="B8CADA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8686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D3D"/>
                </a:solidFill>
              </a:rPr>
              <a:t>BEFORE  ·  Chat Era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42646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✗  Write every line of code manually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02920" y="199339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✗  Debug syntax and boilerplate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25603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✗  Context-switch between tasks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✗  Orchestrate your own workflow step-by-step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02920" y="369417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✗  Review your own output before committing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343400" y="24688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A7DC9"/>
                </a:solidFill>
              </a:rPr>
              <a:t>→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892040" y="868680"/>
            <a:ext cx="393192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92040" y="868680"/>
            <a:ext cx="3931920" cy="5029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5" name="Text 13"/>
          <p:cNvSpPr/>
          <p:nvPr/>
        </p:nvSpPr>
        <p:spPr>
          <a:xfrm>
            <a:off x="4892040" y="8686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AFTER  ·  Agent Era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74920" y="142646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Define intent: spec, acceptance criteria, DoD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074920" y="199339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Review and approve agent-generated diffs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74920" y="25603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Design agent architecture and tool boundaries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074920" y="312724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Set oversight gates and HITL checkpoints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74920" y="369417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Evaluate quality at the system level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KEY TERMS  ·  MODULE 1 REFERENCE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20040" y="822960"/>
            <a:ext cx="4206240" cy="86868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822960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466344" y="8778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Agent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66344" y="1207008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AI that autonomously plans and executes multi-step tasks using tools and memory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0040" y="1810512"/>
            <a:ext cx="4206240" cy="86868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320040" y="1810512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" y="186537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Tool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6344" y="219456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 callable function — bash command, file read/write, API call, web search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798064"/>
            <a:ext cx="4206240" cy="86868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320040" y="2798064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" y="285292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HITL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6344" y="3182112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Human-in-the-Loop: a design gate requiring human approval before irreversible action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3785616"/>
            <a:ext cx="4206240" cy="86868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20040" y="3785616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7" name="Text 15"/>
          <p:cNvSpPr/>
          <p:nvPr/>
        </p:nvSpPr>
        <p:spPr>
          <a:xfrm>
            <a:off x="466344" y="38404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Agent Loop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6344" y="4169664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Gather Context → Take Action → Verify Work → Repeat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09160" y="822960"/>
            <a:ext cx="4206240" cy="86868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709160" y="822960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1" name="Text 19"/>
          <p:cNvSpPr/>
          <p:nvPr/>
        </p:nvSpPr>
        <p:spPr>
          <a:xfrm>
            <a:off x="4855464" y="8778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Subagent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55464" y="1207008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 child agent spawned by an orchestrator for parallel or specialized work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09160" y="1810512"/>
            <a:ext cx="4206240" cy="86868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709160" y="1810512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5" name="Text 23"/>
          <p:cNvSpPr/>
          <p:nvPr/>
        </p:nvSpPr>
        <p:spPr>
          <a:xfrm>
            <a:off x="4855464" y="186537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Orchestrator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55464" y="219456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 lead agent that coordinates subagents, assigns subtasks, and merges results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09160" y="2798064"/>
            <a:ext cx="4206240" cy="86868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709160" y="2798064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9" name="Text 27"/>
          <p:cNvSpPr/>
          <p:nvPr/>
        </p:nvSpPr>
        <p:spPr>
          <a:xfrm>
            <a:off x="4855464" y="285292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Supervised Dev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55464" y="3182112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Spotify's model: engineers set intent and review output; agents write the code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3785616"/>
            <a:ext cx="4206240" cy="86868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709160" y="3785616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3" name="Text 31"/>
          <p:cNvSpPr/>
          <p:nvPr/>
        </p:nvSpPr>
        <p:spPr>
          <a:xfrm>
            <a:off x="4855464" y="38404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MCP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855464" y="4169664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Model Context Protocol — standard for agent-to-tool and agent-to-service integration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20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9611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3557"/>
                </a:solidFill>
              </a:rPr>
              <a:t>Map Your Current Tools to the Autonomy Spectrum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463040"/>
            <a:ext cx="8503920" cy="7772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463040"/>
            <a:ext cx="475488" cy="77724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463040"/>
            <a:ext cx="475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96112" y="15179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Inventory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993392" y="151790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96112" y="1847088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List 5–8 development tasks you performed last week. Be specific (e.g., 'added null check to payment handler', 'reviewed PR #2341').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2331720"/>
            <a:ext cx="8503920" cy="7772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331720"/>
            <a:ext cx="475488" cy="77724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331720"/>
            <a:ext cx="475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96112" y="23865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Classify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993392" y="238658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96112" y="2715768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Place each task on the autonomy spectrum: Tier 1 (fully automate), Tier 2 (supervised), or Tier 3 (human-directed). Justify your reasoning.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200400"/>
            <a:ext cx="8503920" cy="7772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200400"/>
            <a:ext cx="475488" cy="77724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200400"/>
            <a:ext cx="475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96112" y="32552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Identify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993392" y="325526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6112" y="3584448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For your Tier 1 and 2 tasks: what context (files, specs, rules) would an agent need to complete them reliably?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069080"/>
            <a:ext cx="8503920" cy="7772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069080"/>
            <a:ext cx="475488" cy="77724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4069080"/>
            <a:ext cx="475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96112" y="412394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Share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993392" y="412394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(3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96112" y="4453128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Share one surprising classification with the group. Where did your intuition and your classification disagree?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560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5029200" cy="3383280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22960"/>
            <a:ext cx="5029200" cy="457200"/>
          </a:xfrm>
          <a:prstGeom prst="rect">
            <a:avLst/>
          </a:prstGeom>
          <a:solidFill>
            <a:srgbClr val="5B8DB8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822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389888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Where on the autonomy spectrum are your team's current AI tools?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What's one task in your domain that's clearly Tier 1? What makes it safe to automate?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What would need to be true about a task's spec before you'd trust an agent with it?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How does your organization's risk culture affect where you set your HITL gates?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822960"/>
            <a:ext cx="3291840" cy="3383280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822960"/>
            <a:ext cx="3291840" cy="457200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8229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389888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Chat = reactive. Agents = autonomous.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Agents loop: gather → act → verify → repeat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Match autonomy level to risk — use the spectrum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Your role shifts: intent + oversight, not typing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Spotify's senior engineers now supervise, not code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94360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02: Core Agentic Concepts &amp; Terms  —  Tools, Memory, Orchestrators, MCP, and the Agent SDK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1: Chat vs. Agents</dc:title>
  <dc:subject>PptxGenJS Presentation</dc:subject>
  <dc:creator>Enterprise Architect Training Series</dc:creator>
  <cp:lastModifiedBy>Enterprise Architect Training Series</cp:lastModifiedBy>
  <cp:revision>1</cp:revision>
  <dcterms:created xsi:type="dcterms:W3CDTF">2026-04-05T19:46:32Z</dcterms:created>
  <dcterms:modified xsi:type="dcterms:W3CDTF">2026-04-05T19:46:32Z</dcterms:modified>
</cp:coreProperties>
</file>