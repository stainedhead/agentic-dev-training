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8DB8"/>
                </a:solidFill>
              </a:rPr>
              <a:t>ENTERPRISE AGENTIC PRACTICES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Context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Engineering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309067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8DB8"/>
                </a:solidFill>
              </a:rPr>
              <a:t>Optimising every token in the agent's context window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657600"/>
            <a:ext cx="3200400" cy="3657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840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Duration: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75–90 min 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Level: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Intermediate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594360"/>
            <a:ext cx="2240280" cy="4297680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685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B8DB8"/>
                </a:solidFill>
              </a:rPr>
              <a:t>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200" kern="0" dirty="0">
                <a:solidFill>
                  <a:srgbClr val="5B8DB8"/>
                </a:solidFill>
              </a:rPr>
              <a:t>WINDOW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93408" y="1280160"/>
            <a:ext cx="2020824" cy="438912"/>
          </a:xfrm>
          <a:prstGeom prst="rect">
            <a:avLst/>
          </a:prstGeom>
          <a:solidFill>
            <a:srgbClr val="3A7DC9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93408" y="1280160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System Prompt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93408" y="1755648"/>
            <a:ext cx="2020824" cy="347472"/>
          </a:xfrm>
          <a:prstGeom prst="rect">
            <a:avLst/>
          </a:prstGeom>
          <a:solidFill>
            <a:srgbClr val="4A7FA8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693408" y="175564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CLAUDE.md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93408" y="2139696"/>
            <a:ext cx="2020824" cy="347472"/>
          </a:xfrm>
          <a:prstGeom prst="rect">
            <a:avLst/>
          </a:prstGeom>
          <a:solidFill>
            <a:srgbClr val="3A7E6E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93408" y="2139696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Skills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93408" y="2523744"/>
            <a:ext cx="2020824" cy="347472"/>
          </a:xfrm>
          <a:prstGeom prst="rect">
            <a:avLst/>
          </a:prstGeom>
          <a:solidFill>
            <a:srgbClr val="4A7FA8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93408" y="2523744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Spec / PRD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93408" y="2907792"/>
            <a:ext cx="2020824" cy="438912"/>
          </a:xfrm>
          <a:prstGeom prst="rect">
            <a:avLst/>
          </a:prstGeom>
          <a:solidFill>
            <a:srgbClr val="8096B0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693408" y="2907792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Tool Results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93408" y="3383280"/>
            <a:ext cx="2020824" cy="530352"/>
          </a:xfrm>
          <a:prstGeom prst="rect">
            <a:avLst/>
          </a:prstGeom>
          <a:solidFill>
            <a:srgbClr val="2E5073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93408" y="3383280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Conversation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93408" y="3950208"/>
            <a:ext cx="2020824" cy="310896"/>
          </a:xfrm>
          <a:prstGeom prst="rect">
            <a:avLst/>
          </a:prstGeom>
          <a:solidFill>
            <a:srgbClr val="3A7DC9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693408" y="3950208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User Message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LEARNING 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By the end of this module you will be able to: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664208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Write a CLAUDE.md that works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Apply the &lt;300-line rule, progressive disclosure pattern, and universal-rules principle to craft effective agent instruction files.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70432"/>
            <a:ext cx="64008" cy="1664208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716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Build and use Agent Skills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035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Structure SKILL.md folders, write trigger descriptions, and deploy skills for on-demand specialist knowledge injection.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999232"/>
            <a:ext cx="64008" cy="1664208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Choose the right context strategy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01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Select the appropriate pattern — naive injection, just-in-time retrieval, agentic memory, or compaction — for each scenario.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634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999232"/>
            <a:ext cx="64008" cy="1664208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2004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Use product docs as context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035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Embed PRDs, specs, ADRs, and DoD as persistent agent context so agents build what was actually intended.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WHAT IS CONTEXT ENGINEERING?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123444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86868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“Prompt engineering optimises human–LLM interaction.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Context engineering optimises agent–LLM interaction.”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7556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— Thoughtworks,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4160520" cy="1298448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148840"/>
            <a:ext cx="54864" cy="1298448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3500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2258568"/>
            <a:ext cx="3465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7DC9"/>
                </a:solidFill>
              </a:rPr>
              <a:t>The Core Discipline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86968" y="2642616"/>
            <a:ext cx="3465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Context engineering is the art and science of deciding what goes into the agent’s context window, when, and in what form — to maximise useful work per token.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2148840"/>
            <a:ext cx="4160520" cy="1298448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2148840"/>
            <a:ext cx="54864" cy="1298448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3500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2258568"/>
            <a:ext cx="3465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Why It’s Different from Prompting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230368" y="2642616"/>
            <a:ext cx="3465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Agents run for hundreds of tool calls across long tasks. A single prompt doesn’t cut it. Context must be curated, compacted, and refreshed dynamically.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" y="3566160"/>
            <a:ext cx="4160520" cy="1298448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3566160"/>
            <a:ext cx="54864" cy="1298448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376732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6968" y="3675888"/>
            <a:ext cx="3465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7E6E"/>
                </a:solidFill>
              </a:rPr>
              <a:t>The Central Constraint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86968" y="4059936"/>
            <a:ext cx="3465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All LLMs have a finite context window. Everything the agent can “see” must fit. Poor context engineering fills that window with noise instead of signal.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3566160"/>
            <a:ext cx="4160520" cy="1298448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3566160"/>
            <a:ext cx="54864" cy="1298448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376732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30368" y="3675888"/>
            <a:ext cx="3465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96B0"/>
                </a:solidFill>
              </a:rPr>
              <a:t>Folder = Context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059936"/>
            <a:ext cx="3465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Anthropic: “The folder and file structure of an agent becomes a form of context engineering.” How you organise your project IS how you communicate intent to the agent.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CLAUDE.md  —  THE AGENT’S STANDING ORDERS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90A8"/>
                </a:solidFill>
              </a:rPr>
              <a:t>The persistent instruction file loaded into every Claude Code session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480560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8686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435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Keep it under 300 lines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" y="157276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Shorter is better. HumanLayer's production CLAUDE.md is under 60 lines. Claude’s system prompt already consumes ~50 instructions before yours.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4480560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48840"/>
            <a:ext cx="54864" cy="86868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2037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Universal rules only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488" y="253288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Only content that applies to every session belongs here. Task-specific rules go in separate referenced files. Irrelevant content actively degrades performance.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4480560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108960"/>
            <a:ext cx="54864" cy="86868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1638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Progressive disclosure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" y="349300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Reference `agent_docs/building_the_project.md`, `agent_docs/code_conventions.md` etc. Claude reads them on-demand, not upfront.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069080"/>
            <a:ext cx="4480560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4069080"/>
            <a:ext cx="54864" cy="868680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41239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LLMs are in-context learners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5488" y="445312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If your code follows a consistent style, the agent will follow it without being told. Show don’t tell — examples outperform rules.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1170432"/>
            <a:ext cx="3794760" cy="37033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1170432"/>
            <a:ext cx="3794760" cy="38404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17043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RECOMMENDED STRUCTURE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38928" y="1664208"/>
            <a:ext cx="3566160" cy="29260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16642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≤ 60 lines, universal rules only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38928" y="1993392"/>
            <a:ext cx="3566160" cy="292608"/>
          </a:xfrm>
          <a:prstGeom prst="rect">
            <a:avLst/>
          </a:prstGeom>
          <a:solidFill>
            <a:srgbClr val="4A7FA8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1993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agent_docs/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1993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Task-specific detail (loaded on-demand)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38928" y="2322576"/>
            <a:ext cx="3566160" cy="292608"/>
          </a:xfrm>
          <a:prstGeom prst="rect">
            <a:avLst/>
          </a:prstGeom>
          <a:solidFill>
            <a:srgbClr val="4A7FA8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2322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building_the_project.md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23225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How to build, test, run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38928" y="2651760"/>
            <a:ext cx="3566160" cy="292608"/>
          </a:xfrm>
          <a:prstGeom prst="rect">
            <a:avLst/>
          </a:prstGeom>
          <a:solidFill>
            <a:srgbClr val="4A7FA8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2651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code_conventions.md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2651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Style, patterns, naming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38928" y="2980944"/>
            <a:ext cx="3566160" cy="292608"/>
          </a:xfrm>
          <a:prstGeom prst="rect">
            <a:avLst/>
          </a:prstGeom>
          <a:solidFill>
            <a:srgbClr val="4A7FA8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0" y="29809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service_architecture.md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75120" y="29809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System design, dependencies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38928" y="3310128"/>
            <a:ext cx="3566160" cy="292608"/>
          </a:xfrm>
          <a:prstGeom prst="rect">
            <a:avLst/>
          </a:prstGeom>
          <a:solidFill>
            <a:srgbClr val="4A7FA8">
              <a:alpha val="1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33101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database_schema.md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75120" y="3310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Data models and relationships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138928" y="3639312"/>
            <a:ext cx="3566160" cy="292608"/>
          </a:xfrm>
          <a:prstGeom prst="rect">
            <a:avLst/>
          </a:prstGeom>
          <a:solidFill>
            <a:srgbClr val="3A7E6E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3639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SPEC.md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75120" y="3639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Product requirements (see Module 4)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138928" y="3968496"/>
            <a:ext cx="3566160" cy="292608"/>
          </a:xfrm>
          <a:prstGeom prst="rect">
            <a:avLst/>
          </a:prstGeom>
          <a:solidFill>
            <a:srgbClr val="8096B0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3968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NOTES.md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75120" y="39684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Agent working memory (auto-managed)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AGENT SKILLS  —  ON-DEMAND SPECIALIST KNOWLEDGE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90A8"/>
                </a:solidFill>
              </a:rPr>
              <a:t>Skills are folders of instructions, scripts, and resources that agents load dynamically  —  Anthropic, Jan 2026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023360" cy="384048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CLAUDE.md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093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Universal context — loaded every session, every task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70832" y="14173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90A8"/>
                </a:solidFill>
              </a:rPr>
              <a:t>vs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00600" y="1170432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70432"/>
            <a:ext cx="4023360" cy="38404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70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Skills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093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Domain-specific context — loaded on-demand when relevant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402336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40280"/>
            <a:ext cx="4023360" cy="3657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SKILL FOLDER ANATOMY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" y="2715768"/>
            <a:ext cx="3794760" cy="301752"/>
          </a:xfrm>
          <a:prstGeom prst="rect">
            <a:avLst/>
          </a:prstGeom>
          <a:solidFill>
            <a:srgbClr val="3A7DC9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1576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D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my-skill/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48840" y="271576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Self-contained folder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" y="3063240"/>
            <a:ext cx="3794760" cy="301752"/>
          </a:xfrm>
          <a:prstGeom prst="rect">
            <a:avLst/>
          </a:prstGeom>
          <a:solidFill>
            <a:srgbClr val="3A7DC9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0632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D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SKILL.md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48840" y="306324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YAML frontmatter + instructions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" y="3410712"/>
            <a:ext cx="3794760" cy="301752"/>
          </a:xfrm>
          <a:prstGeom prst="rect">
            <a:avLst/>
          </a:prstGeom>
          <a:solidFill>
            <a:srgbClr val="4A7FA8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41071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scripts/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48840" y="3410712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Executable tools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" y="3758184"/>
            <a:ext cx="3794760" cy="301752"/>
          </a:xfrm>
          <a:prstGeom prst="rect">
            <a:avLst/>
          </a:prstGeom>
          <a:solidFill>
            <a:srgbClr val="3A7E6E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75818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reference/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48840" y="3758184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Supporting docs, examples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9768" y="3931920"/>
            <a:ext cx="3794760" cy="804672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39684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</a:rPr>
              <a:t>SKILL.md frontmatter: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1208" y="417880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pdf-processor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Use PROACTIVELY when user asks about PDFs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2240280"/>
            <a:ext cx="402336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240280"/>
            <a:ext cx="4023360" cy="3657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SKILL USE CASES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2715768"/>
            <a:ext cx="3840480" cy="585216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27614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General capability gaps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83480" y="3008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PDF, Excel, PowerPoint creation — things Claude can’t do well out of the box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92040" y="3374136"/>
            <a:ext cx="3840480" cy="585216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34198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Org / team workflows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983480" y="3666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Brand style guidelines, PR conventions, deployment runbooks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92040" y="4032504"/>
            <a:ext cx="3840480" cy="585216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40782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Domain expertise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983480" y="4325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Your microservice patterns, data model, API conventions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92040" y="4690872"/>
            <a:ext cx="3840480" cy="585216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5" name="Text 43"/>
          <p:cNvSpPr/>
          <p:nvPr/>
        </p:nvSpPr>
        <p:spPr>
          <a:xfrm>
            <a:off x="4983480" y="4736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Tool interaction patterns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983480" y="49834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How to use your internal tools, custom MCP servers, CLI tools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FOUR CONTEXT STRATEGIES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Choose the right pattern for the right situation — most production agents combine all four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011680" cy="37673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011680" cy="530352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8872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3816" y="118872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Naive Injection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C3557"/>
                </a:solidFill>
              </a:rPr>
              <a:t>WHEN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9842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Small, universally relevant content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C3557"/>
                </a:solidFill>
              </a:rPr>
              <a:t>HOW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Drop files into context upfront (CLAUDE.md, Skills). Claude reads everything before starting.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E6E"/>
                </a:solidFill>
              </a:rPr>
              <a:t>✓ Simple, reliable, immediate availability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6027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6B0"/>
                </a:solidFill>
              </a:rPr>
              <a:t>⚠ Fills context window fast with potentially irrelevant content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" y="3986784"/>
            <a:ext cx="1865376" cy="804672"/>
          </a:xfrm>
          <a:prstGeom prst="rect">
            <a:avLst/>
          </a:prstGeom>
          <a:solidFill>
            <a:srgbClr val="1C3557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23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557"/>
                </a:solidFill>
              </a:rPr>
              <a:t>e.g.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CLAUDE.md, coding conventions, project overview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96312" y="1188720"/>
            <a:ext cx="2011680" cy="37673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96312" y="1188720"/>
            <a:ext cx="2011680" cy="53035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0" name="Text 18"/>
          <p:cNvSpPr/>
          <p:nvPr/>
        </p:nvSpPr>
        <p:spPr>
          <a:xfrm>
            <a:off x="2496312" y="118872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990088" y="118872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Just-in-Time Retrieval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87752" y="1783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DC9"/>
                </a:solidFill>
              </a:rPr>
              <a:t>WHEN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87752" y="19842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Large codebases, long-running tasks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87752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DC9"/>
                </a:solidFill>
              </a:rPr>
              <a:t>HOW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87752" y="25786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Agent uses grep/glob/bash to load files dynamically at runtime when needed — lightweight identifiers held in context.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87752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E6E"/>
                </a:solidFill>
              </a:rPr>
              <a:t>✓ Precise, efficient, scales to massive repos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87752" y="36027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6B0"/>
                </a:solidFill>
              </a:rPr>
              <a:t>⚠ Requires agent discipline; slightly slower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9464" y="3986784"/>
            <a:ext cx="1865376" cy="804672"/>
          </a:xfrm>
          <a:prstGeom prst="rect">
            <a:avLst/>
          </a:prstGeom>
          <a:solidFill>
            <a:srgbClr val="3A7DC9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633472" y="4023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7DC9"/>
                </a:solidFill>
              </a:rPr>
              <a:t>e.g.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33472" y="4206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Claude Code’s codebase navigation, targeted file reads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72584" y="1188720"/>
            <a:ext cx="2011680" cy="37673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72584" y="1188720"/>
            <a:ext cx="2011680" cy="530352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3" name="Text 31"/>
          <p:cNvSpPr/>
          <p:nvPr/>
        </p:nvSpPr>
        <p:spPr>
          <a:xfrm>
            <a:off x="4672584" y="118872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166360" y="118872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Agentic Memory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64024" y="1783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E6E"/>
                </a:solidFill>
              </a:rPr>
              <a:t>WHEN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64024" y="19842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Multi-step tasks crossing context limits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64024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E6E"/>
                </a:solidFill>
              </a:rPr>
              <a:t>HOW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64024" y="25786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Agent regularly writes NOTES.md / TODO.md / MEMORY.md, reads them back as needed to persist state.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64024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E6E"/>
                </a:solidFill>
              </a:rPr>
              <a:t>✓ Unlimited effective memory, transparent and auditable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64024" y="36027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6B0"/>
                </a:solidFill>
              </a:rPr>
              <a:t>⚠ Requires discipline; notes must be maintained accurately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45736" y="3986784"/>
            <a:ext cx="1865376" cy="804672"/>
          </a:xfrm>
          <a:prstGeom prst="rect">
            <a:avLst/>
          </a:prstGeom>
          <a:solidFill>
            <a:srgbClr val="3A7E6E">
              <a:alpha val="1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09744" y="4023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7E6E"/>
                </a:solidFill>
              </a:rPr>
              <a:t>e.g.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9744" y="4206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NOTES.md, Claude Code to-do lists, Pokémon-playing Claude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48856" y="1188720"/>
            <a:ext cx="2011680" cy="37673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48856" y="1188720"/>
            <a:ext cx="2011680" cy="530352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46" name="Text 44"/>
          <p:cNvSpPr/>
          <p:nvPr/>
        </p:nvSpPr>
        <p:spPr>
          <a:xfrm>
            <a:off x="6848856" y="118872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342632" y="118872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Compaction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40296" y="1783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96B0"/>
                </a:solidFill>
              </a:rPr>
              <a:t>WHEN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940296" y="19842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Context window approaching limit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40296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96B0"/>
                </a:solidFill>
              </a:rPr>
              <a:t>HOW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40296" y="25786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Summarise conversation into a fresh context window — preserve decisions, bugs, implementation details; discard redundant tool outputs.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40296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E6E"/>
                </a:solidFill>
              </a:rPr>
              <a:t>✓ Enables indefinite continuation of long agent runs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40296" y="36027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6B0"/>
                </a:solidFill>
              </a:rPr>
              <a:t>⚠ Aggressive compaction loses subtle but critical context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22008" y="3986784"/>
            <a:ext cx="1865376" cy="804672"/>
          </a:xfrm>
          <a:prstGeom prst="rect">
            <a:avLst/>
          </a:prstGeom>
          <a:solidFill>
            <a:srgbClr val="8096B0">
              <a:alpha val="12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986016" y="4023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96B0"/>
                </a:solidFill>
              </a:rPr>
              <a:t>e.g.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86016" y="4206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Claude Code auto-compaction, tool result clearing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COMPACTION  —  DEEP DIVE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How agents survive tasks longer than their context window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23444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502920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Conversation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Approaching limit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60020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90A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33472" y="1188720"/>
            <a:ext cx="1920240" cy="123444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33472" y="1188720"/>
            <a:ext cx="1920240" cy="50292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1" name="Text 9"/>
          <p:cNvSpPr/>
          <p:nvPr/>
        </p:nvSpPr>
        <p:spPr>
          <a:xfrm>
            <a:off x="2633472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Summarise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History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24912" y="1755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Model compresses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53712" y="160020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90A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09744" y="1188720"/>
            <a:ext cx="1920240" cy="123444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9744" y="1188720"/>
            <a:ext cx="1920240" cy="50292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6" name="Text 14"/>
          <p:cNvSpPr/>
          <p:nvPr/>
        </p:nvSpPr>
        <p:spPr>
          <a:xfrm>
            <a:off x="4809744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Fresh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01184" y="1755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Summary + last 5 files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9984" y="160020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90A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986016" y="1188720"/>
            <a:ext cx="1920240" cy="123444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86016" y="1188720"/>
            <a:ext cx="1920240" cy="50292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1" name="Text 19"/>
          <p:cNvSpPr/>
          <p:nvPr/>
        </p:nvSpPr>
        <p:spPr>
          <a:xfrm>
            <a:off x="6986016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Continue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Task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77456" y="1755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Agent carries 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578608"/>
            <a:ext cx="4160520" cy="237744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2578608"/>
            <a:ext cx="4160520" cy="365760"/>
          </a:xfrm>
          <a:prstGeom prst="rect">
            <a:avLst/>
          </a:prstGeom>
          <a:solidFill>
            <a:srgbClr val="3A7E6E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5786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WHAT TO KEEP  (maximise recall)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2999232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Architectural decisions made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Unresolved bugs and blockers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Implementation choices and reasoning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Current task state and next steps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Critical file paths and variable names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Last 5 files accessed (always preserved)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578608"/>
            <a:ext cx="4160520" cy="237744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2578608"/>
            <a:ext cx="4160520" cy="365760"/>
          </a:xfrm>
          <a:prstGeom prst="rect">
            <a:avLst/>
          </a:prstGeom>
          <a:solidFill>
            <a:srgbClr val="8096B0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5786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 WHAT TO DISCARD  (improve precision)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2999232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Raw tool call outputs from early in history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Repeated search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Intermediate reasoning chains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Redundant file reads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• Superseded plans or approaches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4846320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Lightest-touch compaction: tool result clearing — raw results from early history rarely need to be re-read. Available now in Claude API as a native feature.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PRODUCT DOCUMENTATION AS CONTEXT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90A8"/>
                </a:solidFill>
              </a:rPr>
              <a:t>The agent builds what it can see. If your intent isn’t in context, it will guess.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737360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533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280160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SPEC.md / PRD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41832" y="1664208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Product requirements as a persistent file in the repo. The agent reads it at the start of every session.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41832" y="2048256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Commit SPEC.md to git. The agent can query history with git blame to understand when requirements changed.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17043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170432"/>
            <a:ext cx="64008" cy="1737360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5331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5232" y="1280160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Definition of Done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285232" y="1664208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Explicit, verifiable acceptance criteria for every feature — written before coding starts.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285232" y="2048256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Embed DoD directly in SPEC.md. Agent uses it to write tests, verify output, and know when to stop.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0040" y="304495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044952"/>
            <a:ext cx="64008" cy="1737360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2783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1832" y="3154680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E6E"/>
                </a:solidFill>
              </a:rPr>
              <a:t>Architecture Decision Records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41832" y="3538728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Persistent records of architectural choices and their reasoning. Spotify captures these from Slack threads via agents.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941832" y="3922776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Maintain an `adr/` folder. Reference in CLAUDE.md so agents load relevant ADRs just-in-time.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63440" y="304495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3044952"/>
            <a:ext cx="64008" cy="1737360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22783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85232" y="3154680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96B0"/>
                </a:solidFill>
              </a:rPr>
              <a:t>API Contracts &amp; Schemas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285232" y="3538728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OpenAPI specs, database schemas, type definitions — the machine-readable contracts your system depends on.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285232" y="3922776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Use MCP servers like Context7 for real-time documentation. Or reference static schema files via just-in-time retrieval.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CONTEXT ANTI-PATTERNS  —  WHAT BREAKS AGENTS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These are the most common causes of unreliable, hallucinating, or scope-creeping agents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" cy="1188720"/>
          </a:xfrm>
          <a:prstGeom prst="rect">
            <a:avLst/>
          </a:prstGeom>
          <a:solidFill>
            <a:srgbClr val="E8505B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2252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Bloated CLAUDE.md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 ignores instructions it deems irrelevant — including the ones you care about most.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1938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Keep to &lt;300 lines of universally applicable rules. Move task-specific content to agent_docs/.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45059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450592"/>
            <a:ext cx="411480" cy="1188720"/>
          </a:xfrm>
          <a:prstGeom prst="rect">
            <a:avLst/>
          </a:prstGeom>
          <a:solidFill>
            <a:srgbClr val="E8505B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450592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5054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No Definition of Done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834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 marks tasks complete prematurely or keeps going past what you wanted.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3218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Add explicit acceptance criteria per feature. Without them, the agent decides when it’s done.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73075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30752"/>
            <a:ext cx="411480" cy="1188720"/>
          </a:xfrm>
          <a:prstGeom prst="rect">
            <a:avLst/>
          </a:prstGeom>
          <a:solidFill>
            <a:srgbClr val="E8505B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730752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7856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Stale context in long tasks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114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Performance degrades quadratically. Later tool calls contradict earlier ones.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4498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Implement compaction or use tool result clearing. Never let context grow unbounded.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17043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170432"/>
            <a:ext cx="411480" cy="1188720"/>
          </a:xfrm>
          <a:prstGeom prst="rect">
            <a:avLst/>
          </a:prstGeom>
          <a:solidFill>
            <a:srgbClr val="E8505B">
              <a:alpha val="9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170432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12252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No spec in context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1554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 builds the technically correct thing rather than the product thing.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66360" y="1938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Commit SPEC.md to the repo. Reference it in CLAUDE.md so it’s always available.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45059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450592"/>
            <a:ext cx="411480" cy="1188720"/>
          </a:xfrm>
          <a:prstGeom prst="rect">
            <a:avLst/>
          </a:prstGeom>
          <a:solidFill>
            <a:srgbClr val="E8505B">
              <a:alpha val="9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2450592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66360" y="25054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Vague non-goals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2834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 adds auth, logging, tests, or features you explicitly didn’t want.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66360" y="3218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State non-goals explicitly. Agents cannot infer scope from omission — only from explicit instruction.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373075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730752"/>
            <a:ext cx="411480" cy="1188720"/>
          </a:xfrm>
          <a:prstGeom prst="rect">
            <a:avLst/>
          </a:prstGeom>
          <a:solidFill>
            <a:srgbClr val="E8505B">
              <a:alpha val="9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730752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66360" y="37856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Mixing concerns in context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66360" y="4114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 confuses requirements and implementation, producing inconsistent output.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66360" y="4498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Separate business specs from technical specs. Keep each context source focused and purposeful.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CONTEXT ENGINEERING CHECKLIST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Apply this before every agent deployment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206240" cy="173736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4206240" cy="384048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704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CLAUDE.md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" y="1627632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6276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DC9"/>
                </a:solidFill>
              </a:rPr>
              <a:t>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" y="1627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Under 300 lines?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1938528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19385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DC9"/>
                </a:solidFill>
              </a:rPr>
              <a:t>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952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Only universal rules (no task-specific content)?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2249424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22494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DC9"/>
                </a:solidFill>
              </a:rPr>
              <a:t>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" y="22494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References agent_docs/ for detail?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" y="2560320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256032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DC9"/>
                </a:solidFill>
              </a:rPr>
              <a:t>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" y="2560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Has a linter/formatter stop hook?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170432"/>
            <a:ext cx="4206240" cy="173736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170432"/>
            <a:ext cx="4206240" cy="384048"/>
          </a:xfrm>
          <a:prstGeom prst="rect">
            <a:avLst/>
          </a:prstGeom>
          <a:solidFill>
            <a:srgbClr val="4A7FA8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1704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Spec &amp; DoD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18888" y="1627632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16276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FA8"/>
                </a:solidFill>
              </a:rPr>
              <a:t>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48072" y="1627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SPEC.md committed to repo?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18888" y="1938528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19385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FA8"/>
                </a:solidFill>
              </a:rPr>
              <a:t>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48072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Acceptance criteria explicit for each feature?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18888" y="2249424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18888" y="22494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FA8"/>
                </a:solidFill>
              </a:rPr>
              <a:t>□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48072" y="22494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Non-goals stated positively?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18888" y="2560320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256032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FA8"/>
                </a:solidFill>
              </a:rPr>
              <a:t>□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48072" y="2560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ADRs in adr/ folder?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044952"/>
            <a:ext cx="4206240" cy="173736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044952"/>
            <a:ext cx="4206240" cy="384048"/>
          </a:xfrm>
          <a:prstGeom prst="rect">
            <a:avLst/>
          </a:prstGeom>
          <a:solidFill>
            <a:srgbClr val="3A7E6E">
              <a:alpha val="9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30449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Context Strategy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9768" y="3502152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29768" y="35021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E6E"/>
                </a:solidFill>
              </a:rPr>
              <a:t>□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952" y="3502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Identified which of 4 strategies applies?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9768" y="3813048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29768" y="38130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E6E"/>
                </a:solidFill>
              </a:rPr>
              <a:t>□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8952" y="3813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NOTES.md pattern for multi-step tasks?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9768" y="4123944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29768" y="41239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E6E"/>
                </a:solidFill>
              </a:rPr>
              <a:t>□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58952" y="4123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Compaction threshold defined?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9768" y="4434840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29768" y="44348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E6E"/>
                </a:solidFill>
              </a:rPr>
              <a:t>□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58952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Tool result clearing enabled?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09160" y="3044952"/>
            <a:ext cx="4206240" cy="173736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3044952"/>
            <a:ext cx="4206240" cy="384048"/>
          </a:xfrm>
          <a:prstGeom prst="rect">
            <a:avLst/>
          </a:prstGeom>
          <a:solidFill>
            <a:srgbClr val="8096B0">
              <a:alpha val="9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709160" y="30449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Skills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18888" y="3502152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818888" y="35021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6B0"/>
                </a:solidFill>
              </a:rPr>
              <a:t>□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148072" y="3502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Skills created for domain knowledge?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818888" y="3813048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818888" y="38130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6B0"/>
                </a:solidFill>
              </a:rPr>
              <a:t>□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148072" y="3813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Trigger descriptions precise?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818888" y="4123944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818888" y="41239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6B0"/>
                </a:solidFill>
              </a:rPr>
              <a:t>□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148072" y="4123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SKILL.md under 200 lines?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818888" y="4434840"/>
            <a:ext cx="256032" cy="237744"/>
          </a:xfrm>
          <a:prstGeom prst="rect">
            <a:avLst/>
          </a:prstGeom>
          <a:solidFill>
            <a:srgbClr val="2E5073">
              <a:alpha val="9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4818888" y="44348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6B0"/>
                </a:solidFill>
              </a:rPr>
              <a:t>□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148072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Tested that Claude triggers correctly?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LAB EXERCISE  ·  30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3557"/>
                </a:solidFill>
              </a:rPr>
              <a:t>Write a CLAUDE.md and Skill for Your Team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502920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17320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4721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Audit your current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4721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819656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If you already have a CLAUDE.md or .cursorrules, open it. How many lines? What percentage is universally applicable? What’s task-specific? What’s missing entirely?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04288"/>
            <a:ext cx="502920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304288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23591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Write your CLAUDE.md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23591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(10 min)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706624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Draft a 40–60-line CLAUDE.md for your team. Include: project overview, non-negotiable rules, reference to agent_docs/. No task-specific content. Swap with a neighbour for critique.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91256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91256"/>
            <a:ext cx="502920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191256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3246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Design a Skill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32461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(8 min)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59359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Identify one domain knowledge gap (deployment process, data model, API conventions). Write the YAML frontmatter and first 20 lines of a SKILL.md that addresses it. Focus the trigger description carefully.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078224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078224"/>
            <a:ext cx="502920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078224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4400" y="41330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Context strategy mapping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08960" y="41330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48056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For the agent workflow you designed in Module 2’s lab: map each piece of context to one of the 4 strategies. Which content is naive injection? Which is JIT? Where would compaction trigger?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DISCUSSION + MODULE SUMMARY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502920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solidFill>
            <a:srgbClr val="5B8DB8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DISCUSSION QUESTIONS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Q1.  What’s the worst case of bloated context you’ve seen cause an agent to fail or hallucinate?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Q2.  What piece of your team’s domain knowledge would make the highest-impact Skill to create?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Q3.  Where in your current workflow does a missing Definition of Done cause the most rework?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Q4.  Which of the 4 context strategies is your team currently NOT using? What’s the cost?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32120" y="749808"/>
            <a:ext cx="329184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2801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Context engineering = agent engineering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CLAUDE.md: &lt;300 lines, universal rules only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Skills: on-demand specialist knowledge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4 strategies: inject, JIT, memory, compact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Spec, DoD, ADRs belong in context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No DoD = agent decides when it’s done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Anti-patterns are predictable — avoid them early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solidFill>
            <a:srgbClr val="3A7DC9">
              <a:alpha val="8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NEXT  ·  Module 04: Spec-Driven Development &amp; PRDs  —  Writing requirements agents can actually execute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Context Engineering</dc:title>
  <dc:subject>PptxGenJS Presentation</dc:subject>
  <dc:creator>Enterprise Architect Training Series</dc:creator>
  <cp:lastModifiedBy>Enterprise Architect Training Series</cp:lastModifiedBy>
  <cp:revision>1</cp:revision>
  <dcterms:created xsi:type="dcterms:W3CDTF">2026-04-05T18:24:10Z</dcterms:created>
  <dcterms:modified xsi:type="dcterms:W3CDTF">2026-04-05T18:24:10Z</dcterms:modified>
</cp:coreProperties>
</file>