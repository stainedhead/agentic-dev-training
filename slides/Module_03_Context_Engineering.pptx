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Context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Engineering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365760" y="3090672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Optimising every token in the agent's context window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6576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8404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75–90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Intermediate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0" y="594360"/>
            <a:ext cx="2240280" cy="429768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0" y="685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8DB8"/>
                </a:solidFill>
              </a:rPr>
              <a:t>CONTEXT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8DB8"/>
                </a:solidFill>
              </a:rPr>
              <a:t>WINDOW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93408" y="1280160"/>
            <a:ext cx="2020824" cy="438912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693408" y="1280160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System Prompt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693408" y="1755648"/>
            <a:ext cx="2020824" cy="347472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693408" y="1755648"/>
            <a:ext cx="2020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CLAUDE.md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693408" y="2139696"/>
            <a:ext cx="2020824" cy="347472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693408" y="2139696"/>
            <a:ext cx="2020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Skills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693408" y="2523744"/>
            <a:ext cx="2020824" cy="347472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6693408" y="2523744"/>
            <a:ext cx="2020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Spec / PRD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693408" y="2907792"/>
            <a:ext cx="2020824" cy="438912"/>
          </a:xfrm>
          <a:prstGeom prst="rect">
            <a:avLst/>
          </a:prstGeom>
          <a:solidFill>
            <a:srgbClr val="8096B0">
              <a:alpha val="8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693408" y="2907792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Tool Results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693408" y="3383280"/>
            <a:ext cx="2020824" cy="530352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6693408" y="3383280"/>
            <a:ext cx="2020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Conversation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693408" y="3950208"/>
            <a:ext cx="2020824" cy="310896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6693408" y="3950208"/>
            <a:ext cx="2020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User Message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Write a CLAUDE.md that works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Apply the &lt;300-line rule, progressive disclosure pattern, and universal-rules principle to craft effective agent instruction files.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Build and use Agent Skills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Structure SKILL.md folders, write trigger descriptions, and deploy skills for on-demand specialist knowledge injection.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Choose the right context strategy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Select the appropriate pattern — naive injection, just-in-time retrieval, agentic memory, or compaction — for each scenario.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Use product docs as context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Embed PRDs, specs, ADRs, and DoD as persistent agent context so agents build what was actually intended.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WHAT IS CONTEXT ENGINEERING?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20040" y="749808"/>
            <a:ext cx="8503920" cy="12344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868680"/>
            <a:ext cx="7955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“Prompt engineering optimises human–LLM interaction.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Context engineering optimises agent–LLM interaction.”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1755648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— Thoughtworks, 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0040" y="2148840"/>
            <a:ext cx="4160520" cy="129844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2148840"/>
            <a:ext cx="54864" cy="129844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" y="23500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86968" y="2258568"/>
            <a:ext cx="3465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7DC9"/>
                </a:solidFill>
              </a:rPr>
              <a:t>The Core Discipline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86968" y="2642616"/>
            <a:ext cx="3465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Context engineering is the art and science of deciding what goes into the agent’s context window, when, and in what form — to maximise useful work per token.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63440" y="2148840"/>
            <a:ext cx="4160520" cy="129844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63440" y="2148840"/>
            <a:ext cx="54864" cy="129844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35000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30368" y="2258568"/>
            <a:ext cx="3465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Why It’s Different from Prompting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5230368" y="2642616"/>
            <a:ext cx="3465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Agents run for hundreds of tool calls across long tasks. A single prompt doesn’t cut it. Context must be curated, compacted, and refreshed dynamically.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20040" y="3566160"/>
            <a:ext cx="4160520" cy="129844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20040" y="3566160"/>
            <a:ext cx="54864" cy="129844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" y="3767328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6968" y="3675888"/>
            <a:ext cx="3465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7E6E"/>
                </a:solidFill>
              </a:rPr>
              <a:t>The Central Constraint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886968" y="4059936"/>
            <a:ext cx="3465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All LLMs have a finite context window. Everything the agent can “see” must fit. Poor context engineering fills that window with noise instead of signal.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663440" y="3566160"/>
            <a:ext cx="4160520" cy="129844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663440" y="3566160"/>
            <a:ext cx="54864" cy="129844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744" y="376732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230368" y="3675888"/>
            <a:ext cx="3465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096B0"/>
                </a:solidFill>
              </a:rPr>
              <a:t>Folder = Context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230368" y="4059936"/>
            <a:ext cx="3465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Anthropic: “The folder and file structure of an agent becomes a form of context engineering.” How you organise your project IS how you communicate intent to the agent.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CLAUDE.md  —  THE AGENT’S STANDING ORDERS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The persistent instruction file loaded into every Claude Code session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4480560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24358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Keep it under 300 lines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75488" y="15727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Shorter is better. HumanLayer's production CLAUDE.md is under 60 lines. Claude’s system prompt already consumes ~50 instructions before yours.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148840"/>
            <a:ext cx="4480560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148840"/>
            <a:ext cx="54864" cy="8686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" y="22037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Universal rules only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75488" y="253288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Only content that applies to every session belongs here. Task-specific rules go in separate referenced files. Irrelevant content actively degrades performance.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3108960"/>
            <a:ext cx="4480560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3108960"/>
            <a:ext cx="54864" cy="8686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" y="31638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Progressive disclosure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5488" y="349300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Reference `agent_docs/building_the_project.md`, `agent_docs/code_conventions.md` etc. Claude reads them on-demand, not upfront.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4069080"/>
            <a:ext cx="4480560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4069080"/>
            <a:ext cx="54864" cy="86868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" y="412394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LLMs are in-context learners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75488" y="445312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If your code follows a consistent style, the agent will follow it without being told. Show don’t tell — examples outperform rules.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0" y="1170432"/>
            <a:ext cx="3794760" cy="37033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029200" y="1170432"/>
            <a:ext cx="379476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117043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RECOMMENDED STRUCTURE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138928" y="1664208"/>
            <a:ext cx="3566160" cy="2926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5" name="Text 23"/>
          <p:cNvSpPr/>
          <p:nvPr/>
        </p:nvSpPr>
        <p:spPr>
          <a:xfrm>
            <a:off x="5212080" y="16642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0" y="166420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≤ 60 lines, universal rules only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138928" y="1993392"/>
            <a:ext cx="3566160" cy="292608"/>
          </a:xfrm>
          <a:prstGeom prst="rect">
            <a:avLst/>
          </a:prstGeom>
          <a:solidFill>
            <a:srgbClr val="4A7FA8">
              <a:alpha val="15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5212080" y="199339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agent_docs/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5120" y="19933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Task-specific detail (loaded on-demand)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138928" y="2322576"/>
            <a:ext cx="3566160" cy="292608"/>
          </a:xfrm>
          <a:prstGeom prst="rect">
            <a:avLst/>
          </a:prstGeom>
          <a:solidFill>
            <a:srgbClr val="4A7FA8">
              <a:alpha val="15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212080" y="23225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building_the_project.md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75120" y="232257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How to build, test, run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138928" y="2651760"/>
            <a:ext cx="3566160" cy="292608"/>
          </a:xfrm>
          <a:prstGeom prst="rect">
            <a:avLst/>
          </a:prstGeom>
          <a:solidFill>
            <a:srgbClr val="4A7FA8">
              <a:alpha val="15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5212080" y="2651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code_conventions.md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75120" y="26517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Style, patterns, naming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138928" y="2980944"/>
            <a:ext cx="3566160" cy="292608"/>
          </a:xfrm>
          <a:prstGeom prst="rect">
            <a:avLst/>
          </a:prstGeom>
          <a:solidFill>
            <a:srgbClr val="4A7FA8">
              <a:alpha val="15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5212080" y="29809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service_architecture.md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75120" y="29809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System design, dependencies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138928" y="3310128"/>
            <a:ext cx="3566160" cy="292608"/>
          </a:xfrm>
          <a:prstGeom prst="rect">
            <a:avLst/>
          </a:prstGeom>
          <a:solidFill>
            <a:srgbClr val="4A7FA8">
              <a:alpha val="15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5212080" y="33101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database_schema.md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675120" y="331012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Data models and relationships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138928" y="3639312"/>
            <a:ext cx="3566160" cy="292608"/>
          </a:xfrm>
          <a:prstGeom prst="rect">
            <a:avLst/>
          </a:prstGeom>
          <a:solidFill>
            <a:srgbClr val="3A7E6E">
              <a:alpha val="15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5212080" y="36393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SPEC.md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75120" y="363931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Product requirements (see Module 4)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138928" y="3968496"/>
            <a:ext cx="3566160" cy="292608"/>
          </a:xfrm>
          <a:prstGeom prst="rect">
            <a:avLst/>
          </a:prstGeom>
          <a:solidFill>
            <a:srgbClr val="8096B0">
              <a:alpha val="15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5212080" y="3968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6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NOTES.md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675120" y="396849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Agent working memory (auto-managed)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AGENT SKILLS  —  ON-DEMAND SPECIALIST KNOWLEDGE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Skills are folders of instructions, scripts, and resources that agents load dynamically  —  Anthropic, Jan 2026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023360" cy="38404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CLAUDE.md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609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Universal context — loaded every session, every task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370832" y="141732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90A8"/>
                </a:solidFill>
              </a:rPr>
              <a:t>vs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800600" y="1170432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1170432"/>
            <a:ext cx="4023360" cy="38404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Skills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92040" y="1609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Domain-specific context — loaded on-demand when relevant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2240280"/>
            <a:ext cx="4023360" cy="2697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240280"/>
            <a:ext cx="402336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" y="2240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SKILL FOLDER ANATOMY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9768" y="2715768"/>
            <a:ext cx="3794760" cy="301752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715768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my-skill/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148840" y="2715768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Self-contained folder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29768" y="3063240"/>
            <a:ext cx="3794760" cy="301752"/>
          </a:xfrm>
          <a:prstGeom prst="rect">
            <a:avLst/>
          </a:prstGeom>
          <a:solidFill>
            <a:srgbClr val="3A7DC9">
              <a:alpha val="1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06324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SKILL.md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148840" y="3063240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YAML frontmatter + instructions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29768" y="3410712"/>
            <a:ext cx="3794760" cy="301752"/>
          </a:xfrm>
          <a:prstGeom prst="rect">
            <a:avLst/>
          </a:prstGeom>
          <a:solidFill>
            <a:srgbClr val="4A7FA8">
              <a:alpha val="1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410712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scripts/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148840" y="3410712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Executable tools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9768" y="3758184"/>
            <a:ext cx="3794760" cy="301752"/>
          </a:xfrm>
          <a:prstGeom prst="rect">
            <a:avLst/>
          </a:prstGeom>
          <a:solidFill>
            <a:srgbClr val="3A7E6E">
              <a:alpha val="1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375818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reference/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148840" y="3758184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Supporting docs, examples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9768" y="3931920"/>
            <a:ext cx="3794760" cy="80467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0" name="Text 28"/>
          <p:cNvSpPr/>
          <p:nvPr/>
        </p:nvSpPr>
        <p:spPr>
          <a:xfrm>
            <a:off x="521208" y="396849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3557"/>
                </a:solidFill>
              </a:rPr>
              <a:t>SKILL.md frontmatter: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21208" y="4178808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D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pdf-processor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D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Use PROACTIVELY when user asks about PDFs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00600" y="2240280"/>
            <a:ext cx="4023360" cy="2697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00600" y="2240280"/>
            <a:ext cx="402336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4" name="Text 32"/>
          <p:cNvSpPr/>
          <p:nvPr/>
        </p:nvSpPr>
        <p:spPr>
          <a:xfrm>
            <a:off x="4800600" y="2240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SKILL USE CASES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92040" y="2715768"/>
            <a:ext cx="384048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6" name="Text 34"/>
          <p:cNvSpPr/>
          <p:nvPr/>
        </p:nvSpPr>
        <p:spPr>
          <a:xfrm>
            <a:off x="4983480" y="27614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General capability gaps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983480" y="3008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PDF, Excel, PowerPoint creation — things Claude can’t do well out of the box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892040" y="3374136"/>
            <a:ext cx="384048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9" name="Text 37"/>
          <p:cNvSpPr/>
          <p:nvPr/>
        </p:nvSpPr>
        <p:spPr>
          <a:xfrm>
            <a:off x="4983480" y="34198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Org / team workflows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983480" y="366674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Brand style guidelines, PR conventions, deployment runbooks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892040" y="4032504"/>
            <a:ext cx="384048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2" name="Text 40"/>
          <p:cNvSpPr/>
          <p:nvPr/>
        </p:nvSpPr>
        <p:spPr>
          <a:xfrm>
            <a:off x="4983480" y="40782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Domain expertise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983480" y="43251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Your microservice patterns, data model, API conventions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892040" y="4690872"/>
            <a:ext cx="384048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5" name="Text 43"/>
          <p:cNvSpPr/>
          <p:nvPr/>
        </p:nvSpPr>
        <p:spPr>
          <a:xfrm>
            <a:off x="4983480" y="4736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Tool interaction patterns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4983480" y="49834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How to use your internal tools, custom MCP servers, CLI tools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FOUR CONTEXT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Choose the right pattern for the right situation — most production agents combine all four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2011680" cy="37673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2011680" cy="53035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8872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13816" y="118872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Naive Injection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WHEN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11480" y="19842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Small, universally relevant content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377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HOW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11480" y="257860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Drop files into context upfront (CLAUDE.md, Skills). Claude reads everything before starting.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32735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Simple, reliable, immediate availability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36027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6B0"/>
                </a:solidFill>
              </a:rPr>
              <a:t>⚠ Fills context window fast with potentially irrelevant content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3192" y="3986784"/>
            <a:ext cx="1865376" cy="804672"/>
          </a:xfrm>
          <a:prstGeom prst="rect">
            <a:avLst/>
          </a:prstGeom>
          <a:solidFill>
            <a:srgbClr val="1C3557">
              <a:alpha val="1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023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3557"/>
                </a:solidFill>
              </a:rPr>
              <a:t>e.g.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4206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CLAUDE.md, coding conventions, project overview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496312" y="1188720"/>
            <a:ext cx="2011680" cy="37673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496312" y="1188720"/>
            <a:ext cx="2011680" cy="5303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0" name="Text 18"/>
          <p:cNvSpPr/>
          <p:nvPr/>
        </p:nvSpPr>
        <p:spPr>
          <a:xfrm>
            <a:off x="2496312" y="118872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02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990088" y="118872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Just-in-Time Retrieval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87752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WHEN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587752" y="19842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Large codebases, long-running tasks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587752" y="2377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HOW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587752" y="257860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Agent uses grep/glob/bash to load files dynamically at runtime when needed — lightweight identifiers held in context.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587752" y="32735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Precise, efficient, scales to massive repos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587752" y="36027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6B0"/>
                </a:solidFill>
              </a:rPr>
              <a:t>⚠ Requires agent discipline; slightly slower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69464" y="3986784"/>
            <a:ext cx="1865376" cy="804672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2633472" y="4023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A7DC9"/>
                </a:solidFill>
              </a:rPr>
              <a:t>e.g.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33472" y="4206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Code’s codebase navigation, targeted file reads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72584" y="1188720"/>
            <a:ext cx="2011680" cy="37673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72584" y="1188720"/>
            <a:ext cx="2011680" cy="53035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3" name="Text 31"/>
          <p:cNvSpPr/>
          <p:nvPr/>
        </p:nvSpPr>
        <p:spPr>
          <a:xfrm>
            <a:off x="4672584" y="118872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5166360" y="118872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Agentic Memory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764024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WHEN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764024" y="19842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Multi-step tasks crossing context limits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64024" y="2377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HOW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764024" y="257860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Agent regularly writes NOTES.md / TODO.md / MEMORY.md, reads them back as needed to persist state.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764024" y="32735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Unlimited effective memory, transparent and auditable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764024" y="36027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6B0"/>
                </a:solidFill>
              </a:rPr>
              <a:t>⚠ Requires discipline; notes must be maintained accurately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45736" y="3986784"/>
            <a:ext cx="1865376" cy="804672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4809744" y="4023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A7E6E"/>
                </a:solidFill>
              </a:rPr>
              <a:t>e.g.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809744" y="4206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NOTES.md, Claude Code to-do lists, Pokémon-playing Claude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848856" y="1188720"/>
            <a:ext cx="2011680" cy="37673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848856" y="1188720"/>
            <a:ext cx="2011680" cy="53035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46" name="Text 44"/>
          <p:cNvSpPr/>
          <p:nvPr/>
        </p:nvSpPr>
        <p:spPr>
          <a:xfrm>
            <a:off x="6848856" y="118872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04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7342632" y="118872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Compaction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40296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WHEN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940296" y="19842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Context window approaching limit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940296" y="2377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HOW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940296" y="257860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Summarise conversation into a fresh context window — preserve decisions, bugs, implementation details; discard redundant tool outputs.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940296" y="32735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Enables indefinite continuation of long agent runs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940296" y="36027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6B0"/>
                </a:solidFill>
              </a:rPr>
              <a:t>⚠ Aggressive compaction loses subtle but critical context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922008" y="3986784"/>
            <a:ext cx="1865376" cy="804672"/>
          </a:xfrm>
          <a:prstGeom prst="rect">
            <a:avLst/>
          </a:prstGeom>
          <a:solidFill>
            <a:srgbClr val="8096B0">
              <a:alpha val="12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6986016" y="4023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096B0"/>
                </a:solidFill>
              </a:rPr>
              <a:t>e.g.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986016" y="4206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 auto-compaction, tool result clearing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COMPACTION  —  DEEP DIVE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How agents survive tasks longer than their context window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20240" cy="123444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1920240" cy="50292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Long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Conversation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556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Approaching limit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77440" y="1600200"/>
            <a:ext cx="256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33472" y="1188720"/>
            <a:ext cx="1920240" cy="123444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33472" y="1188720"/>
            <a:ext cx="1920240" cy="5029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1" name="Text 9"/>
          <p:cNvSpPr/>
          <p:nvPr/>
        </p:nvSpPr>
        <p:spPr>
          <a:xfrm>
            <a:off x="2633472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Summarise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History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24912" y="17556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Model compresses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53712" y="1600200"/>
            <a:ext cx="256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809744" y="1188720"/>
            <a:ext cx="1920240" cy="123444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09744" y="1188720"/>
            <a:ext cx="1920240" cy="5029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6" name="Text 14"/>
          <p:cNvSpPr/>
          <p:nvPr/>
        </p:nvSpPr>
        <p:spPr>
          <a:xfrm>
            <a:off x="4809744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Fresh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Context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01184" y="17556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Summary + last 5 files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29984" y="1600200"/>
            <a:ext cx="256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986016" y="1188720"/>
            <a:ext cx="1920240" cy="123444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86016" y="1188720"/>
            <a:ext cx="1920240" cy="50292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1" name="Text 19"/>
          <p:cNvSpPr/>
          <p:nvPr/>
        </p:nvSpPr>
        <p:spPr>
          <a:xfrm>
            <a:off x="6986016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Continue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77456" y="17556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 carries 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2578608"/>
            <a:ext cx="4160520" cy="23774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2578608"/>
            <a:ext cx="4160520" cy="365760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257860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✓  WHAT TO KEEP  (maximise recall)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2999232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Architectural decisions made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Unresolved bugs and blockers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Implementation choices and reasoning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Current task state and next steps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Critical file paths and variable names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Last 5 files accessed (always preserved)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2578608"/>
            <a:ext cx="4160520" cy="23774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63440" y="2578608"/>
            <a:ext cx="4160520" cy="365760"/>
          </a:xfrm>
          <a:prstGeom prst="rect">
            <a:avLst/>
          </a:prstGeom>
          <a:solidFill>
            <a:srgbClr val="8096B0">
              <a:alpha val="8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257860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✗  WHAT TO DISCARD  (improve precision)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54880" y="2999232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Raw tool call outputs from early in history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Repeated search results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Intermediate reasoning chains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Redundant file reads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Superseded plans or approaches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0040" y="4846320"/>
            <a:ext cx="8503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Lightest-touch compaction: tool result clearing — raw results from early history rarely need to be re-read. Available now in Claude API as a native feature.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PRODUCT DOCUMENTATION AS CONTEXT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The agent builds what it can see. If your intent isn’t in context, it will guess.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737360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53312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280160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SPEC.md / PRD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41832" y="1664208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Product requirements as a persistent file in the repo. The agent reads it at the start of every session.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941832" y="2048256"/>
            <a:ext cx="3410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Commit SPEC.md to git. The agent can query history with git blame to understand when requirements changed.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663440" y="117043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63440" y="1170432"/>
            <a:ext cx="64008" cy="1737360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53312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85232" y="1280160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Definition of Done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285232" y="1664208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Explicit, verifiable acceptance criteria for every feature — written before coding starts.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285232" y="2048256"/>
            <a:ext cx="3410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Embed DoD directly in SPEC.md. Agent uses it to write tests, verify output, and know when to stop.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320040" y="304495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20040" y="3044952"/>
            <a:ext cx="64008" cy="1737360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27832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41832" y="3154680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Architecture Decision Records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941832" y="3538728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Persistent records of architectural choices and their reasoning. Spotify captures these from Slack threads via agents.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941832" y="3922776"/>
            <a:ext cx="3410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Maintain an `adr/` folder. Reference in CLAUDE.md so agents load relevant ADRs just-in-time.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663440" y="304495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663440" y="3044952"/>
            <a:ext cx="64008" cy="1737360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27832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285232" y="3154680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96B0"/>
                </a:solidFill>
              </a:rPr>
              <a:t>API Contracts &amp; Schemas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285232" y="3538728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OpenAPI specs, database schemas, type definitions — the machine-readable contracts your system depends on.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5285232" y="3922776"/>
            <a:ext cx="3410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Use MCP servers like Context7 for real-time documentation. Or reference static schema files via just-in-time retrieval.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CONTEXT ANTI-PATTERNS  —  WHAT BREAKS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These are the most common causes of unreliable, hallucinating, or scope-creeping agents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solidFill>
            <a:srgbClr val="E8505B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22529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Bloated CLAUDE.md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ignores instructions it deems irrelevant — including the ones you care about most.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Keep to &lt;300 lines of universally applicable rules. Move task-specific content to agent_docs/.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5059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50592"/>
            <a:ext cx="411480" cy="1188720"/>
          </a:xfrm>
          <a:prstGeom prst="rect">
            <a:avLst/>
          </a:prstGeom>
          <a:solidFill>
            <a:srgbClr val="E8505B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5059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2505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Definition of Done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28346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marks tasks complete prematurely or keeps going past what you wanted.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32186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Add explicit acceptance criteria per feature. Without them, the agent decides when it’s done.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3075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30752"/>
            <a:ext cx="411480" cy="1188720"/>
          </a:xfrm>
          <a:prstGeom prst="rect">
            <a:avLst/>
          </a:prstGeom>
          <a:solidFill>
            <a:srgbClr val="E8505B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3075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7856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Stale context in long tasks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1148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Performance degrades quadratically. Later tool calls contradict earlier ones.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449884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Implement compaction or use tool result clearing. Never let context grow unbounded.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solidFill>
            <a:srgbClr val="E8505B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122529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spec in context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663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builds the technically correct thing rather than the product thing.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663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Commit SPEC.md to the repo. Reference it in CLAUDE.md so it’s always available.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5059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50592"/>
            <a:ext cx="411480" cy="1188720"/>
          </a:xfrm>
          <a:prstGeom prst="rect">
            <a:avLst/>
          </a:prstGeom>
          <a:solidFill>
            <a:srgbClr val="E8505B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5059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66360" y="2505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Vague non-goals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66360" y="28346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adds auth, logging, tests, or features you explicitly didn’t want.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66360" y="32186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State non-goals explicitly. Agents cannot infer scope from omission — only from explicit instruction.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3075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30752"/>
            <a:ext cx="411480" cy="1188720"/>
          </a:xfrm>
          <a:prstGeom prst="rect">
            <a:avLst/>
          </a:prstGeom>
          <a:solidFill>
            <a:srgbClr val="E8505B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3075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66360" y="37856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Mixing concerns in context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166360" y="41148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confuses requirements and implementation, producing inconsistent output.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66360" y="449884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Separate business specs from technical specs. Keep each context source focused and purposeful.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CONTEXT ENGINEERING CHECKLIST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Apply this before every agent deployment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7373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CLAUDE.md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" y="1627632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29768" y="162763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8952" y="1627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Under 300 lines?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" y="1938528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193852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58952" y="19385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Only universal rules (no task-specific content)?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" y="2249424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" y="2249424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8952" y="22494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References agent_docs/ for detail?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" y="2560320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" y="256032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58952" y="2560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Has a linter/formatter stop hook?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1170432"/>
            <a:ext cx="4206240" cy="17373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Spec &amp; DoD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18888" y="1627632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818888" y="162763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48072" y="1627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SPEC.md committed to repo?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18888" y="1938528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818888" y="193852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48072" y="19385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Acceptance criteria explicit for each feature?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18888" y="2249424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818888" y="2249424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48072" y="22494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Non-goals stated positively?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18888" y="2560320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818888" y="256032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48072" y="2560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ADRs in adr/ folder?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3044952"/>
            <a:ext cx="4206240" cy="17373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0040" y="3044952"/>
            <a:ext cx="4206240" cy="38404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320040" y="30449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Context Strategy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29768" y="3502152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429768" y="350215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58952" y="3502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Identified which of 4 strategies applies?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29768" y="3813048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29768" y="381304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58952" y="3813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NOTES.md pattern for multi-step tasks?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29768" y="4123944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429768" y="4123944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58952" y="41239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Compaction threshold defined?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29768" y="4434840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429768" y="443484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58952" y="4434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Tool result clearing enabled?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709160" y="3044952"/>
            <a:ext cx="4206240" cy="17373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709160" y="3044952"/>
            <a:ext cx="4206240" cy="384048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4709160" y="30449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Skills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818888" y="3502152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4818888" y="350215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148072" y="3502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Skills created for domain knowledge?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4818888" y="3813048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4818888" y="381304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148072" y="3813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Trigger descriptions precise?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818888" y="4123944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4818888" y="4123944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148072" y="41239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SKILL.md under 200 lines?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818888" y="4434840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4818888" y="443484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148072" y="4434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Tested that Claude triggers correctly?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Write a CLAUDE.md and Skill for Your Team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417320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417320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417320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147218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Audit your current context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08960" y="147218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1819656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If you already have a CLAUDE.md or .cursorrules, open it. How many lines? What percentage is universally applicable? What’s task-specific? What’s missing entirely?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3042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304288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304288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14400" y="23591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Write your CLAUDE.md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235915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(10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2706624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Draft a 40–60-line CLAUDE.md for your team. Include: project overview, non-negotiable rules, reference to agent_docs/. No task-specific content. Swap with a neighbour for critique.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912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91256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91256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4400" y="32461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Design a Skill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08960" y="32461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3593592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Identify one domain knowledge gap (deployment process, data model, API conventions). Write the YAML frontmatter and first 20 lines of a SKILL.md that addresses it. Focus the trigger description carefully.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782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78224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78224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14400" y="41330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Context strategy mapping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108960" y="413308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400" y="4480560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For the agent workflow you designed in Module 2’s lab: map each piece of context to one of the 4 strategies. Which content is naive injection? Which is JIT? Where would compaction trigger?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What’s the worst case of bloated context you’ve seen cause an agent to fail or hallucinate?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What piece of your team’s domain knowledge would make the highest-impact Skill to create?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Where in your current workflow does a missing Definition of Done cause the most rework?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Which of the 4 context strategies is your team currently NOT using? What’s the cost?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Context engineering = agent engineering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CLAUDE.md: &lt;300 lines, universal rules only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Skills: on-demand specialist knowledge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4 strategies: inject, JIT, memory, compact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Spec, DoD, ADRs belong in context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No DoD = agent decides when it’s done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Anti-patterns are predictable — avoid them early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04: Spec-Driven Development &amp; PRDs  —  Writing requirements agents can actually execute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3: Context Engineering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2026-04-05T20:07:00Z</dcterms:created>
  <dcterms:modified xsi:type="dcterms:W3CDTF">2026-04-05T20:07:00Z</dcterms:modified>
</cp:coreProperties>
</file>