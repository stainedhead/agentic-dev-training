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DC9"/>
          </a:solidFill>
          <a:ln/>
        </p:spPr>
      </p:sp>
      <p:sp>
        <p:nvSpPr>
          <p:cNvPr id="3" name="Text 1"/>
          <p:cNvSpPr/>
          <p:nvPr/>
        </p:nvSpPr>
        <p:spPr>
          <a:xfrm>
            <a:off x="365760" y="292608"/>
            <a:ext cx="8412480" cy="320040"/>
          </a:xfrm>
          <a:prstGeom prst="rect">
            <a:avLst/>
          </a:prstGeom>
          <a:noFill/>
          <a:ln/>
        </p:spPr>
        <p:txBody>
          <a:bodyPr wrap="square" lIns="0" tIns="0" rIns="0" bIns="0" rtlCol="0" anchor="ctr"/>
          <a:lstStyle/>
          <a:p>
            <a:pPr indent="0" marL="0">
              <a:buNone/>
            </a:pPr>
            <a:r>
              <a:rPr lang="en-US" sz="1000" b="1" spc="400" kern="0" dirty="0">
                <a:solidFill>
                  <a:srgbClr val="5B8DB8"/>
                </a:solidFill>
              </a:rPr>
              <a:t>ENTERPRISE AGENTIC PRACTICES</a:t>
            </a:r>
            <a:endParaRPr lang="en-US" sz="1000" dirty="0"/>
          </a:p>
        </p:txBody>
      </p:sp>
      <p:sp>
        <p:nvSpPr>
          <p:cNvPr id="4" name="Shape 2"/>
          <p:cNvSpPr/>
          <p:nvPr/>
        </p:nvSpPr>
        <p:spPr>
          <a:xfrm>
            <a:off x="365760" y="749808"/>
            <a:ext cx="1371600" cy="347472"/>
          </a:xfrm>
          <a:prstGeom prst="rect">
            <a:avLst/>
          </a:prstGeom>
          <a:solidFill>
            <a:srgbClr val="3A7DC9"/>
          </a:solidFill>
          <a:ln/>
        </p:spPr>
      </p:sp>
      <p:sp>
        <p:nvSpPr>
          <p:cNvPr id="5" name="Text 3"/>
          <p:cNvSpPr/>
          <p:nvPr/>
        </p:nvSpPr>
        <p:spPr>
          <a:xfrm>
            <a:off x="365760" y="74980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MODULE 11</a:t>
            </a:r>
            <a:endParaRPr lang="en-US" sz="1100" dirty="0"/>
          </a:p>
        </p:txBody>
      </p:sp>
      <p:sp>
        <p:nvSpPr>
          <p:cNvPr id="6" name="Text 4"/>
          <p:cNvSpPr/>
          <p:nvPr/>
        </p:nvSpPr>
        <p:spPr>
          <a:xfrm>
            <a:off x="365760" y="1234440"/>
            <a:ext cx="6400800" cy="1600200"/>
          </a:xfrm>
          <a:prstGeom prst="rect">
            <a:avLst/>
          </a:prstGeom>
          <a:noFill/>
          <a:ln/>
        </p:spPr>
        <p:txBody>
          <a:bodyPr wrap="square" lIns="0" tIns="0" rIns="0" bIns="0" rtlCol="0" anchor="ctr"/>
          <a:lstStyle/>
          <a:p>
            <a:pPr indent="0" marL="0">
              <a:buNone/>
            </a:pPr>
            <a:r>
              <a:rPr lang="en-US" sz="5000" b="1" dirty="0">
                <a:solidFill>
                  <a:srgbClr val="FFFFFF"/>
                </a:solidFill>
              </a:rPr>
              <a:t>Product-First</a:t>
            </a:r>
            <a:endParaRPr lang="en-US" sz="5000" dirty="0"/>
          </a:p>
          <a:p>
            <a:pPr indent="0" marL="0">
              <a:buNone/>
            </a:pPr>
            <a:r>
              <a:rPr lang="en-US" sz="5000" b="1" dirty="0">
                <a:solidFill>
                  <a:srgbClr val="FFFFFF"/>
                </a:solidFill>
              </a:rPr>
              <a:t>Engineering</a:t>
            </a:r>
            <a:endParaRPr lang="en-US" sz="5000" dirty="0"/>
          </a:p>
        </p:txBody>
      </p:sp>
      <p:sp>
        <p:nvSpPr>
          <p:cNvPr id="7" name="Text 5"/>
          <p:cNvSpPr/>
          <p:nvPr/>
        </p:nvSpPr>
        <p:spPr>
          <a:xfrm>
            <a:off x="365760" y="2907792"/>
            <a:ext cx="6583680" cy="566928"/>
          </a:xfrm>
          <a:prstGeom prst="rect">
            <a:avLst/>
          </a:prstGeom>
          <a:noFill/>
          <a:ln/>
        </p:spPr>
        <p:txBody>
          <a:bodyPr wrap="square" lIns="0" tIns="0" rIns="0" bIns="0" rtlCol="0" anchor="ctr"/>
          <a:lstStyle/>
          <a:p>
            <a:pPr indent="0" marL="0">
              <a:buNone/>
            </a:pPr>
            <a:r>
              <a:rPr lang="en-US" sz="1700" i="1" dirty="0">
                <a:solidFill>
                  <a:srgbClr val="5B8DB8"/>
                </a:solidFill>
              </a:rPr>
              <a:t>Developers as product people — building long-lived systems that grow with the business</a:t>
            </a:r>
            <a:endParaRPr lang="en-US" sz="1700" dirty="0"/>
          </a:p>
        </p:txBody>
      </p:sp>
      <p:sp>
        <p:nvSpPr>
          <p:cNvPr id="8" name="Shape 6"/>
          <p:cNvSpPr/>
          <p:nvPr/>
        </p:nvSpPr>
        <p:spPr>
          <a:xfrm>
            <a:off x="365760" y="3584448"/>
            <a:ext cx="3200400" cy="36576"/>
          </a:xfrm>
          <a:prstGeom prst="rect">
            <a:avLst/>
          </a:prstGeom>
          <a:solidFill>
            <a:srgbClr val="3A7DC9"/>
          </a:solidFill>
          <a:ln/>
        </p:spPr>
      </p:sp>
      <p:sp>
        <p:nvSpPr>
          <p:cNvPr id="9" name="Text 7"/>
          <p:cNvSpPr/>
          <p:nvPr/>
        </p:nvSpPr>
        <p:spPr>
          <a:xfrm>
            <a:off x="365760" y="3749040"/>
            <a:ext cx="4572000" cy="347472"/>
          </a:xfrm>
          <a:prstGeom prst="rect">
            <a:avLst/>
          </a:prstGeom>
          <a:noFill/>
          <a:ln/>
        </p:spPr>
        <p:txBody>
          <a:bodyPr wrap="square" lIns="0" tIns="0" rIns="0" bIns="0" rtlCol="0" anchor="ctr"/>
          <a:lstStyle/>
          <a:p>
            <a:pPr indent="0" marL="0">
              <a:buNone/>
            </a:pPr>
            <a:r>
              <a:rPr lang="en-US" sz="1300" b="1" dirty="0">
                <a:solidFill>
                  <a:srgbClr val="7A90A8"/>
                </a:solidFill>
              </a:rPr>
              <a:t>Duration: </a:t>
            </a:r>
            <a:pPr indent="0" marL="0">
              <a:buNone/>
            </a:pPr>
            <a:r>
              <a:rPr lang="en-US" sz="1300" dirty="0">
                <a:solidFill>
                  <a:srgbClr val="7A90A8"/>
                </a:solidFill>
              </a:rPr>
              <a:t>75 min  </a:t>
            </a:r>
            <a:pPr indent="0" marL="0">
              <a:buNone/>
            </a:pPr>
            <a:r>
              <a:rPr lang="en-US" sz="1300" dirty="0">
                <a:solidFill>
                  <a:srgbClr val="7A90A8"/>
                </a:solidFill>
              </a:rPr>
              <a:t>  |  Level: </a:t>
            </a:r>
            <a:pPr indent="0" marL="0">
              <a:buNone/>
            </a:pPr>
            <a:r>
              <a:rPr lang="en-US" sz="1300" b="1" dirty="0">
                <a:solidFill>
                  <a:srgbClr val="7A90A8"/>
                </a:solidFill>
              </a:rPr>
              <a:t>All Levels</a:t>
            </a:r>
            <a:endParaRPr lang="en-US" sz="1300" dirty="0"/>
          </a:p>
        </p:txBody>
      </p:sp>
      <p:sp>
        <p:nvSpPr>
          <p:cNvPr id="10" name="Shape 8"/>
          <p:cNvSpPr/>
          <p:nvPr/>
        </p:nvSpPr>
        <p:spPr>
          <a:xfrm>
            <a:off x="6400800" y="1330452"/>
            <a:ext cx="2834640" cy="2551176"/>
          </a:xfrm>
          <a:prstGeom prst="ellipse">
            <a:avLst/>
          </a:prstGeom>
          <a:solidFill>
            <a:srgbClr val="8096B0">
              <a:alpha val="30000"/>
            </a:srgbClr>
          </a:solidFill>
          <a:ln/>
        </p:spPr>
      </p:sp>
      <p:sp>
        <p:nvSpPr>
          <p:cNvPr id="11" name="Shape 9"/>
          <p:cNvSpPr/>
          <p:nvPr/>
        </p:nvSpPr>
        <p:spPr>
          <a:xfrm>
            <a:off x="6766560" y="1659636"/>
            <a:ext cx="2103120" cy="1892808"/>
          </a:xfrm>
          <a:prstGeom prst="ellipse">
            <a:avLst/>
          </a:prstGeom>
          <a:solidFill>
            <a:srgbClr val="4A7FA8">
              <a:alpha val="45000"/>
            </a:srgbClr>
          </a:solidFill>
          <a:ln/>
        </p:spPr>
      </p:sp>
      <p:sp>
        <p:nvSpPr>
          <p:cNvPr id="12" name="Shape 10"/>
          <p:cNvSpPr/>
          <p:nvPr/>
        </p:nvSpPr>
        <p:spPr>
          <a:xfrm>
            <a:off x="7104888" y="1964131"/>
            <a:ext cx="1426464" cy="1283818"/>
          </a:xfrm>
          <a:prstGeom prst="ellipse">
            <a:avLst/>
          </a:prstGeom>
          <a:solidFill>
            <a:srgbClr val="3A7DC9">
              <a:alpha val="60000"/>
            </a:srgbClr>
          </a:solidFill>
          <a:ln/>
        </p:spPr>
      </p:sp>
      <p:sp>
        <p:nvSpPr>
          <p:cNvPr id="13" name="Shape 11"/>
          <p:cNvSpPr/>
          <p:nvPr/>
        </p:nvSpPr>
        <p:spPr>
          <a:xfrm>
            <a:off x="7434072" y="2260397"/>
            <a:ext cx="768096" cy="691286"/>
          </a:xfrm>
          <a:prstGeom prst="ellipse">
            <a:avLst/>
          </a:prstGeom>
          <a:solidFill>
            <a:srgbClr val="3A7E6E">
              <a:alpha val="80000"/>
            </a:srgbClr>
          </a:solidFill>
          <a:ln/>
        </p:spPr>
      </p:sp>
      <p:sp>
        <p:nvSpPr>
          <p:cNvPr id="14" name="Shape 12"/>
          <p:cNvSpPr/>
          <p:nvPr/>
        </p:nvSpPr>
        <p:spPr>
          <a:xfrm>
            <a:off x="7562088" y="2404872"/>
            <a:ext cx="512064" cy="402336"/>
          </a:xfrm>
          <a:prstGeom prst="ellipse">
            <a:avLst/>
          </a:prstGeom>
          <a:solidFill>
            <a:srgbClr val="3A7DC9"/>
          </a:solidFill>
          <a:ln/>
        </p:spPr>
      </p:sp>
      <p:sp>
        <p:nvSpPr>
          <p:cNvPr id="15" name="Text 13"/>
          <p:cNvSpPr/>
          <p:nvPr/>
        </p:nvSpPr>
        <p:spPr>
          <a:xfrm>
            <a:off x="7315200" y="2862072"/>
            <a:ext cx="1005840" cy="256032"/>
          </a:xfrm>
          <a:prstGeom prst="rect">
            <a:avLst/>
          </a:prstGeom>
          <a:noFill/>
          <a:ln/>
        </p:spPr>
        <p:txBody>
          <a:bodyPr wrap="square" lIns="0" tIns="0" rIns="0" bIns="0" rtlCol="0" anchor="ctr"/>
          <a:lstStyle/>
          <a:p>
            <a:pPr algn="ctr" indent="0" marL="0">
              <a:buNone/>
            </a:pPr>
            <a:r>
              <a:rPr lang="en-US" sz="1000" b="1" dirty="0">
                <a:solidFill>
                  <a:srgbClr val="5B8DB8"/>
                </a:solidFill>
              </a:rPr>
              <a:t>Product</a:t>
            </a:r>
            <a:endParaRPr lang="en-US" sz="1000" dirty="0"/>
          </a:p>
        </p:txBody>
      </p:sp>
      <p:sp>
        <p:nvSpPr>
          <p:cNvPr id="16" name="Text 14"/>
          <p:cNvSpPr/>
          <p:nvPr/>
        </p:nvSpPr>
        <p:spPr>
          <a:xfrm>
            <a:off x="8595360" y="1828800"/>
            <a:ext cx="1097280" cy="237744"/>
          </a:xfrm>
          <a:prstGeom prst="rect">
            <a:avLst/>
          </a:prstGeom>
          <a:noFill/>
          <a:ln/>
        </p:spPr>
        <p:txBody>
          <a:bodyPr wrap="square" lIns="0" tIns="0" rIns="0" bIns="0" rtlCol="0" anchor="ctr"/>
          <a:lstStyle/>
          <a:p>
            <a:pPr indent="0" marL="0">
              <a:buNone/>
            </a:pPr>
            <a:r>
              <a:rPr lang="en-US" sz="900" dirty="0">
                <a:solidFill>
                  <a:srgbClr val="D4E4F0"/>
                </a:solidFill>
              </a:rPr>
              <a:t>Understand</a:t>
            </a:r>
            <a:endParaRPr lang="en-US" sz="900" dirty="0"/>
          </a:p>
        </p:txBody>
      </p:sp>
      <p:sp>
        <p:nvSpPr>
          <p:cNvPr id="17" name="Text 15"/>
          <p:cNvSpPr/>
          <p:nvPr/>
        </p:nvSpPr>
        <p:spPr>
          <a:xfrm>
            <a:off x="8385048" y="2258568"/>
            <a:ext cx="822960" cy="237744"/>
          </a:xfrm>
          <a:prstGeom prst="rect">
            <a:avLst/>
          </a:prstGeom>
          <a:noFill/>
          <a:ln/>
        </p:spPr>
        <p:txBody>
          <a:bodyPr wrap="square" lIns="0" tIns="0" rIns="0" bIns="0" rtlCol="0" anchor="ctr"/>
          <a:lstStyle/>
          <a:p>
            <a:pPr indent="0" marL="0">
              <a:buNone/>
            </a:pPr>
            <a:r>
              <a:rPr lang="en-US" sz="900" dirty="0">
                <a:solidFill>
                  <a:srgbClr val="D4E4F0"/>
                </a:solidFill>
              </a:rPr>
              <a:t>Guide</a:t>
            </a:r>
            <a:endParaRPr lang="en-US" sz="900" dirty="0"/>
          </a:p>
        </p:txBody>
      </p:sp>
      <p:sp>
        <p:nvSpPr>
          <p:cNvPr id="18" name="Text 16"/>
          <p:cNvSpPr/>
          <p:nvPr/>
        </p:nvSpPr>
        <p:spPr>
          <a:xfrm>
            <a:off x="8202168" y="2624328"/>
            <a:ext cx="731520" cy="237744"/>
          </a:xfrm>
          <a:prstGeom prst="rect">
            <a:avLst/>
          </a:prstGeom>
          <a:noFill/>
          <a:ln/>
        </p:spPr>
        <p:txBody>
          <a:bodyPr wrap="square" lIns="0" tIns="0" rIns="0" bIns="0" rtlCol="0" anchor="ctr"/>
          <a:lstStyle/>
          <a:p>
            <a:pPr indent="0" marL="0">
              <a:buNone/>
            </a:pPr>
            <a:r>
              <a:rPr lang="en-US" sz="900" dirty="0">
                <a:solidFill>
                  <a:srgbClr val="D4E4F0"/>
                </a:solidFill>
              </a:rPr>
              <a:t>Grow</a:t>
            </a:r>
            <a:endParaRPr lang="en-US" sz="900" dirty="0"/>
          </a:p>
        </p:txBody>
      </p:sp>
      <p:sp>
        <p:nvSpPr>
          <p:cNvPr id="19" name="Text 17"/>
          <p:cNvSpPr/>
          <p:nvPr/>
        </p:nvSpPr>
        <p:spPr>
          <a:xfrm>
            <a:off x="8019288" y="2990088"/>
            <a:ext cx="822960" cy="237744"/>
          </a:xfrm>
          <a:prstGeom prst="rect">
            <a:avLst/>
          </a:prstGeom>
          <a:noFill/>
          <a:ln/>
        </p:spPr>
        <p:txBody>
          <a:bodyPr wrap="square" lIns="0" tIns="0" rIns="0" bIns="0" rtlCol="0" anchor="ctr"/>
          <a:lstStyle/>
          <a:p>
            <a:pPr indent="0" marL="0">
              <a:buNone/>
            </a:pPr>
            <a:r>
              <a:rPr lang="en-US" sz="900" dirty="0">
                <a:solidFill>
                  <a:srgbClr val="D4E4F0"/>
                </a:solidFill>
              </a:rPr>
              <a:t>Evolve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LEARNING OBJECTIVES</a:t>
            </a:r>
            <a:endParaRPr lang="en-US" sz="1300" dirty="0"/>
          </a:p>
        </p:txBody>
      </p:sp>
      <p:sp>
        <p:nvSpPr>
          <p:cNvPr id="4" name="Text 2"/>
          <p:cNvSpPr/>
          <p:nvPr/>
        </p:nvSpPr>
        <p:spPr>
          <a:xfrm>
            <a:off x="320040" y="822960"/>
            <a:ext cx="8503920" cy="256032"/>
          </a:xfrm>
          <a:prstGeom prst="rect">
            <a:avLst/>
          </a:prstGeom>
          <a:noFill/>
          <a:ln/>
        </p:spPr>
        <p:txBody>
          <a:bodyPr wrap="square" lIns="0" tIns="0" rIns="0" bIns="0" rtlCol="0" anchor="ctr"/>
          <a:lstStyle/>
          <a:p>
            <a:pPr indent="0" marL="0">
              <a:buNone/>
            </a:pPr>
            <a:r>
              <a:rPr lang="en-US" sz="1100" i="1" dirty="0">
                <a:solidFill>
                  <a:srgbClr val="7A90A8"/>
                </a:solidFill>
              </a:rPr>
              <a:t>By the end of this module you will be able to:</a:t>
            </a:r>
            <a:endParaRPr lang="en-US" sz="1100" dirty="0"/>
          </a:p>
        </p:txBody>
      </p:sp>
      <p:sp>
        <p:nvSpPr>
          <p:cNvPr id="5" name="Shape 3"/>
          <p:cNvSpPr/>
          <p:nvPr/>
        </p:nvSpPr>
        <p:spPr>
          <a:xfrm>
            <a:off x="3200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64008" cy="1664208"/>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84632" y="1371600"/>
            <a:ext cx="365760" cy="365760"/>
          </a:xfrm>
          <a:prstGeom prst="rect">
            <a:avLst/>
          </a:prstGeom>
        </p:spPr>
      </p:pic>
      <p:sp>
        <p:nvSpPr>
          <p:cNvPr id="8" name="Text 5"/>
          <p:cNvSpPr/>
          <p:nvPr/>
        </p:nvSpPr>
        <p:spPr>
          <a:xfrm>
            <a:off x="9601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Shift from Project to Product Thinking</a:t>
            </a:r>
            <a:endParaRPr lang="en-US" sz="1300" dirty="0"/>
          </a:p>
        </p:txBody>
      </p:sp>
      <p:sp>
        <p:nvSpPr>
          <p:cNvPr id="9" name="Text 6"/>
          <p:cNvSpPr/>
          <p:nvPr/>
        </p:nvSpPr>
        <p:spPr>
          <a:xfrm>
            <a:off x="9601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Articulate why treating software as a long-lived product — not a series of projects — changes every decision about architecture, quality, and team structure.</a:t>
            </a:r>
            <a:endParaRPr lang="en-US" sz="1150" dirty="0"/>
          </a:p>
        </p:txBody>
      </p:sp>
      <p:sp>
        <p:nvSpPr>
          <p:cNvPr id="10" name="Shape 7"/>
          <p:cNvSpPr/>
          <p:nvPr/>
        </p:nvSpPr>
        <p:spPr>
          <a:xfrm>
            <a:off x="46634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8"/>
          <p:cNvSpPr/>
          <p:nvPr/>
        </p:nvSpPr>
        <p:spPr>
          <a:xfrm>
            <a:off x="4663440" y="1170432"/>
            <a:ext cx="64008" cy="1664208"/>
          </a:xfrm>
          <a:prstGeom prst="rect">
            <a:avLst/>
          </a:prstGeom>
          <a:solidFill>
            <a:srgbClr val="4A7FA8"/>
          </a:solidFill>
          <a:ln/>
        </p:spPr>
      </p:sp>
      <p:pic>
        <p:nvPicPr>
          <p:cNvPr id="12" name="Image 1" descr="preencoded.png">    </p:cNvPr>
          <p:cNvPicPr>
            <a:picLocks noChangeAspect="1"/>
          </p:cNvPicPr>
          <p:nvPr/>
        </p:nvPicPr>
        <p:blipFill>
          <a:blip r:embed="rId2"/>
          <a:stretch>
            <a:fillRect/>
          </a:stretch>
        </p:blipFill>
        <p:spPr>
          <a:xfrm>
            <a:off x="4828032" y="1371600"/>
            <a:ext cx="365760" cy="365760"/>
          </a:xfrm>
          <a:prstGeom prst="rect">
            <a:avLst/>
          </a:prstGeom>
        </p:spPr>
      </p:pic>
      <p:sp>
        <p:nvSpPr>
          <p:cNvPr id="13" name="Text 9"/>
          <p:cNvSpPr/>
          <p:nvPr/>
        </p:nvSpPr>
        <p:spPr>
          <a:xfrm>
            <a:off x="53035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Build Deep Product Understanding</a:t>
            </a:r>
            <a:endParaRPr lang="en-US" sz="1300" dirty="0"/>
          </a:p>
        </p:txBody>
      </p:sp>
      <p:sp>
        <p:nvSpPr>
          <p:cNvPr id="14" name="Text 10"/>
          <p:cNvSpPr/>
          <p:nvPr/>
        </p:nvSpPr>
        <p:spPr>
          <a:xfrm>
            <a:off x="53035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Develop and maintain team-wide shared context: the users, the business goals, the codebase, the constraints, and the architectural decisions that shaped it.</a:t>
            </a:r>
            <a:endParaRPr lang="en-US" sz="1150" dirty="0"/>
          </a:p>
        </p:txBody>
      </p:sp>
      <p:sp>
        <p:nvSpPr>
          <p:cNvPr id="15" name="Shape 11"/>
          <p:cNvSpPr/>
          <p:nvPr/>
        </p:nvSpPr>
        <p:spPr>
          <a:xfrm>
            <a:off x="3200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2"/>
          <p:cNvSpPr/>
          <p:nvPr/>
        </p:nvSpPr>
        <p:spPr>
          <a:xfrm>
            <a:off x="320040" y="2999232"/>
            <a:ext cx="64008" cy="1664208"/>
          </a:xfrm>
          <a:prstGeom prst="rect">
            <a:avLst/>
          </a:prstGeom>
          <a:solidFill>
            <a:srgbClr val="3A7E6E"/>
          </a:solidFill>
          <a:ln/>
        </p:spPr>
      </p:sp>
      <p:pic>
        <p:nvPicPr>
          <p:cNvPr id="17" name="Image 2" descr="preencoded.png">    </p:cNvPr>
          <p:cNvPicPr>
            <a:picLocks noChangeAspect="1"/>
          </p:cNvPicPr>
          <p:nvPr/>
        </p:nvPicPr>
        <p:blipFill>
          <a:blip r:embed="rId3"/>
          <a:stretch>
            <a:fillRect/>
          </a:stretch>
        </p:blipFill>
        <p:spPr>
          <a:xfrm>
            <a:off x="484632" y="3200400"/>
            <a:ext cx="365760" cy="365760"/>
          </a:xfrm>
          <a:prstGeom prst="rect">
            <a:avLst/>
          </a:prstGeom>
        </p:spPr>
      </p:pic>
      <p:sp>
        <p:nvSpPr>
          <p:cNvPr id="18" name="Text 13"/>
          <p:cNvSpPr/>
          <p:nvPr/>
        </p:nvSpPr>
        <p:spPr>
          <a:xfrm>
            <a:off x="9601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Align the Team as Product People</a:t>
            </a:r>
            <a:endParaRPr lang="en-US" sz="1300" dirty="0"/>
          </a:p>
        </p:txBody>
      </p:sp>
      <p:sp>
        <p:nvSpPr>
          <p:cNvPr id="19" name="Text 14"/>
          <p:cNvSpPr/>
          <p:nvPr/>
        </p:nvSpPr>
        <p:spPr>
          <a:xfrm>
            <a:off x="9601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Move the whole team — developers, architects, PMs — to a shared understanding where everyone can guide the product, not just implement tickets.</a:t>
            </a:r>
            <a:endParaRPr lang="en-US" sz="1150" dirty="0"/>
          </a:p>
        </p:txBody>
      </p:sp>
      <p:sp>
        <p:nvSpPr>
          <p:cNvPr id="20" name="Shape 15"/>
          <p:cNvSpPr/>
          <p:nvPr/>
        </p:nvSpPr>
        <p:spPr>
          <a:xfrm>
            <a:off x="46634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1" name="Shape 16"/>
          <p:cNvSpPr/>
          <p:nvPr/>
        </p:nvSpPr>
        <p:spPr>
          <a:xfrm>
            <a:off x="4663440" y="2999232"/>
            <a:ext cx="64008" cy="1664208"/>
          </a:xfrm>
          <a:prstGeom prst="rect">
            <a:avLst/>
          </a:prstGeom>
          <a:solidFill>
            <a:srgbClr val="8096B0"/>
          </a:solidFill>
          <a:ln/>
        </p:spPr>
      </p:sp>
      <p:pic>
        <p:nvPicPr>
          <p:cNvPr id="22" name="Image 3" descr="preencoded.png">    </p:cNvPr>
          <p:cNvPicPr>
            <a:picLocks noChangeAspect="1"/>
          </p:cNvPicPr>
          <p:nvPr/>
        </p:nvPicPr>
        <p:blipFill>
          <a:blip r:embed="rId4"/>
          <a:stretch>
            <a:fillRect/>
          </a:stretch>
        </p:blipFill>
        <p:spPr>
          <a:xfrm>
            <a:off x="4828032" y="3200400"/>
            <a:ext cx="365760" cy="365760"/>
          </a:xfrm>
          <a:prstGeom prst="rect">
            <a:avLst/>
          </a:prstGeom>
        </p:spPr>
      </p:pic>
      <p:sp>
        <p:nvSpPr>
          <p:cNvPr id="23" name="Text 17"/>
          <p:cNvSpPr/>
          <p:nvPr/>
        </p:nvSpPr>
        <p:spPr>
          <a:xfrm>
            <a:off x="53035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Build Hygiene &amp; Continuous Improvement</a:t>
            </a:r>
            <a:endParaRPr lang="en-US" sz="1300" dirty="0"/>
          </a:p>
        </p:txBody>
      </p:sp>
      <p:sp>
        <p:nvSpPr>
          <p:cNvPr id="24" name="Text 18"/>
          <p:cNvSpPr/>
          <p:nvPr/>
        </p:nvSpPr>
        <p:spPr>
          <a:xfrm>
            <a:off x="53035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Establish the rituals, practices, and agent workflows that keep a long-lived product healthy, evolvable, and aligned with changing business needs.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THE PROJECT-TO-PRODUCT SHIFT</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500" i="1" dirty="0">
                <a:solidFill>
                  <a:srgbClr val="FFFFFF"/>
                </a:solidFill>
              </a:rPr>
              <a:t>This is the most important mental model change in the programme. Everything else depends on it.</a:t>
            </a:r>
            <a:endParaRPr lang="en-US" sz="1500" dirty="0"/>
          </a:p>
        </p:txBody>
      </p:sp>
      <p:sp>
        <p:nvSpPr>
          <p:cNvPr id="4" name="Shape 2"/>
          <p:cNvSpPr/>
          <p:nvPr/>
        </p:nvSpPr>
        <p:spPr>
          <a:xfrm>
            <a:off x="320040" y="1078992"/>
            <a:ext cx="2212848" cy="457200"/>
          </a:xfrm>
          <a:prstGeom prst="rect">
            <a:avLst/>
          </a:prstGeom>
          <a:solidFill>
            <a:srgbClr val="D4E4F0"/>
          </a:solidFill>
          <a:ln/>
        </p:spPr>
      </p:sp>
      <p:sp>
        <p:nvSpPr>
          <p:cNvPr id="5" name="Shape 3"/>
          <p:cNvSpPr/>
          <p:nvPr/>
        </p:nvSpPr>
        <p:spPr>
          <a:xfrm>
            <a:off x="320040" y="1536192"/>
            <a:ext cx="2212848" cy="0"/>
          </a:xfrm>
          <a:prstGeom prst="line">
            <a:avLst/>
          </a:prstGeom>
          <a:noFill/>
          <a:ln w="6350">
            <a:solidFill>
              <a:srgbClr val="C8D5E3"/>
            </a:solidFill>
            <a:prstDash val="solid"/>
          </a:ln>
        </p:spPr>
      </p:sp>
      <p:sp>
        <p:nvSpPr>
          <p:cNvPr id="6" name="Text 4"/>
          <p:cNvSpPr/>
          <p:nvPr/>
        </p:nvSpPr>
        <p:spPr>
          <a:xfrm>
            <a:off x="411480" y="1078992"/>
            <a:ext cx="2084832" cy="457200"/>
          </a:xfrm>
          <a:prstGeom prst="rect">
            <a:avLst/>
          </a:prstGeom>
          <a:noFill/>
          <a:ln/>
        </p:spPr>
        <p:txBody>
          <a:bodyPr wrap="square" lIns="0" tIns="0" rIns="0" bIns="0" rtlCol="0" anchor="ctr"/>
          <a:lstStyle/>
          <a:p>
            <a:pPr indent="0" marL="0">
              <a:buNone/>
            </a:pPr>
            <a:r>
              <a:rPr lang="en-US" sz="1100" b="1" spc="150" kern="0" dirty="0">
                <a:solidFill>
                  <a:srgbClr val="1C3557"/>
                </a:solidFill>
              </a:rPr>
              <a:t>Dimension</a:t>
            </a:r>
            <a:endParaRPr lang="en-US" sz="1100" dirty="0"/>
          </a:p>
        </p:txBody>
      </p:sp>
      <p:sp>
        <p:nvSpPr>
          <p:cNvPr id="7" name="Shape 5"/>
          <p:cNvSpPr/>
          <p:nvPr/>
        </p:nvSpPr>
        <p:spPr>
          <a:xfrm>
            <a:off x="2633472" y="1078992"/>
            <a:ext cx="3108960" cy="457200"/>
          </a:xfrm>
          <a:prstGeom prst="rect">
            <a:avLst/>
          </a:prstGeom>
          <a:solidFill>
            <a:srgbClr val="2E5073"/>
          </a:solidFill>
          <a:ln/>
        </p:spPr>
      </p:sp>
      <p:sp>
        <p:nvSpPr>
          <p:cNvPr id="8" name="Shape 6"/>
          <p:cNvSpPr/>
          <p:nvPr/>
        </p:nvSpPr>
        <p:spPr>
          <a:xfrm>
            <a:off x="2633472" y="1536192"/>
            <a:ext cx="3108960" cy="0"/>
          </a:xfrm>
          <a:prstGeom prst="line">
            <a:avLst/>
          </a:prstGeom>
          <a:noFill/>
          <a:ln w="6350">
            <a:solidFill>
              <a:srgbClr val="C8D5E3"/>
            </a:solidFill>
            <a:prstDash val="solid"/>
          </a:ln>
        </p:spPr>
      </p:sp>
      <p:sp>
        <p:nvSpPr>
          <p:cNvPr id="9" name="Text 7"/>
          <p:cNvSpPr/>
          <p:nvPr/>
        </p:nvSpPr>
        <p:spPr>
          <a:xfrm>
            <a:off x="2724912" y="1078992"/>
            <a:ext cx="2980944" cy="457200"/>
          </a:xfrm>
          <a:prstGeom prst="rect">
            <a:avLst/>
          </a:prstGeom>
          <a:noFill/>
          <a:ln/>
        </p:spPr>
        <p:txBody>
          <a:bodyPr wrap="square" lIns="0" tIns="0" rIns="0" bIns="0" rtlCol="0" anchor="ctr"/>
          <a:lstStyle/>
          <a:p>
            <a:pPr indent="0" marL="0">
              <a:buNone/>
            </a:pPr>
            <a:r>
              <a:rPr lang="en-US" sz="1100" b="1" spc="150" kern="0" dirty="0">
                <a:solidFill>
                  <a:srgbClr val="FFFFFF"/>
                </a:solidFill>
              </a:rPr>
              <a:t>Project Mindset</a:t>
            </a:r>
            <a:endParaRPr lang="en-US" sz="1100" dirty="0"/>
          </a:p>
        </p:txBody>
      </p:sp>
      <p:sp>
        <p:nvSpPr>
          <p:cNvPr id="10" name="Shape 8"/>
          <p:cNvSpPr/>
          <p:nvPr/>
        </p:nvSpPr>
        <p:spPr>
          <a:xfrm>
            <a:off x="5833872" y="1078992"/>
            <a:ext cx="2990088" cy="457200"/>
          </a:xfrm>
          <a:prstGeom prst="rect">
            <a:avLst/>
          </a:prstGeom>
          <a:solidFill>
            <a:srgbClr val="4A7FA8"/>
          </a:solidFill>
          <a:ln/>
        </p:spPr>
      </p:sp>
      <p:sp>
        <p:nvSpPr>
          <p:cNvPr id="11" name="Shape 9"/>
          <p:cNvSpPr/>
          <p:nvPr/>
        </p:nvSpPr>
        <p:spPr>
          <a:xfrm>
            <a:off x="5833872" y="1536192"/>
            <a:ext cx="2990088" cy="0"/>
          </a:xfrm>
          <a:prstGeom prst="line">
            <a:avLst/>
          </a:prstGeom>
          <a:noFill/>
          <a:ln w="6350">
            <a:solidFill>
              <a:srgbClr val="C8D5E3"/>
            </a:solidFill>
            <a:prstDash val="solid"/>
          </a:ln>
        </p:spPr>
      </p:sp>
      <p:sp>
        <p:nvSpPr>
          <p:cNvPr id="12" name="Text 10"/>
          <p:cNvSpPr/>
          <p:nvPr/>
        </p:nvSpPr>
        <p:spPr>
          <a:xfrm>
            <a:off x="5925312" y="1078992"/>
            <a:ext cx="2862072" cy="457200"/>
          </a:xfrm>
          <a:prstGeom prst="rect">
            <a:avLst/>
          </a:prstGeom>
          <a:noFill/>
          <a:ln/>
        </p:spPr>
        <p:txBody>
          <a:bodyPr wrap="square" lIns="0" tIns="0" rIns="0" bIns="0" rtlCol="0" anchor="ctr"/>
          <a:lstStyle/>
          <a:p>
            <a:pPr indent="0" marL="0">
              <a:buNone/>
            </a:pPr>
            <a:r>
              <a:rPr lang="en-US" sz="1100" b="1" spc="150" kern="0" dirty="0">
                <a:solidFill>
                  <a:srgbClr val="FFFFFF"/>
                </a:solidFill>
              </a:rPr>
              <a:t>Product Mindset</a:t>
            </a:r>
            <a:endParaRPr lang="en-US" sz="1100" dirty="0"/>
          </a:p>
        </p:txBody>
      </p:sp>
      <p:sp>
        <p:nvSpPr>
          <p:cNvPr id="13" name="Shape 11"/>
          <p:cNvSpPr/>
          <p:nvPr/>
        </p:nvSpPr>
        <p:spPr>
          <a:xfrm>
            <a:off x="320040" y="1572768"/>
            <a:ext cx="2212848" cy="457200"/>
          </a:xfrm>
          <a:prstGeom prst="rect">
            <a:avLst/>
          </a:prstGeom>
          <a:solidFill>
            <a:srgbClr val="D4E4F0"/>
          </a:solidFill>
          <a:ln/>
        </p:spPr>
      </p:sp>
      <p:sp>
        <p:nvSpPr>
          <p:cNvPr id="14" name="Shape 12"/>
          <p:cNvSpPr/>
          <p:nvPr/>
        </p:nvSpPr>
        <p:spPr>
          <a:xfrm>
            <a:off x="320040" y="2029968"/>
            <a:ext cx="2212848" cy="0"/>
          </a:xfrm>
          <a:prstGeom prst="line">
            <a:avLst/>
          </a:prstGeom>
          <a:noFill/>
          <a:ln w="6350">
            <a:solidFill>
              <a:srgbClr val="C8D5E3"/>
            </a:solidFill>
            <a:prstDash val="solid"/>
          </a:ln>
        </p:spPr>
      </p:sp>
      <p:sp>
        <p:nvSpPr>
          <p:cNvPr id="15" name="Text 13"/>
          <p:cNvSpPr/>
          <p:nvPr/>
        </p:nvSpPr>
        <p:spPr>
          <a:xfrm>
            <a:off x="411480" y="1572768"/>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Time horizon</a:t>
            </a:r>
            <a:endParaRPr lang="en-US" sz="1050" dirty="0"/>
          </a:p>
        </p:txBody>
      </p:sp>
      <p:sp>
        <p:nvSpPr>
          <p:cNvPr id="16" name="Shape 14"/>
          <p:cNvSpPr/>
          <p:nvPr/>
        </p:nvSpPr>
        <p:spPr>
          <a:xfrm>
            <a:off x="2633472" y="1572768"/>
            <a:ext cx="3108960" cy="457200"/>
          </a:xfrm>
          <a:prstGeom prst="rect">
            <a:avLst/>
          </a:prstGeom>
          <a:solidFill>
            <a:srgbClr val="EAF0F6"/>
          </a:solidFill>
          <a:ln/>
        </p:spPr>
      </p:sp>
      <p:sp>
        <p:nvSpPr>
          <p:cNvPr id="17" name="Shape 15"/>
          <p:cNvSpPr/>
          <p:nvPr/>
        </p:nvSpPr>
        <p:spPr>
          <a:xfrm>
            <a:off x="2633472" y="2029968"/>
            <a:ext cx="3108960" cy="0"/>
          </a:xfrm>
          <a:prstGeom prst="line">
            <a:avLst/>
          </a:prstGeom>
          <a:noFill/>
          <a:ln w="6350">
            <a:solidFill>
              <a:srgbClr val="C8D5E3"/>
            </a:solidFill>
            <a:prstDash val="solid"/>
          </a:ln>
        </p:spPr>
      </p:sp>
      <p:sp>
        <p:nvSpPr>
          <p:cNvPr id="18" name="Text 16"/>
          <p:cNvSpPr/>
          <p:nvPr/>
        </p:nvSpPr>
        <p:spPr>
          <a:xfrm>
            <a:off x="2724912" y="1572768"/>
            <a:ext cx="2980944" cy="457200"/>
          </a:xfrm>
          <a:prstGeom prst="rect">
            <a:avLst/>
          </a:prstGeom>
          <a:noFill/>
          <a:ln/>
        </p:spPr>
        <p:txBody>
          <a:bodyPr wrap="square" lIns="0" tIns="0" rIns="0" bIns="0" rtlCol="0" anchor="ctr"/>
          <a:lstStyle/>
          <a:p>
            <a:pPr indent="0" marL="0">
              <a:buNone/>
            </a:pPr>
            <a:r>
              <a:rPr lang="en-US" sz="1050" dirty="0">
                <a:solidFill>
                  <a:srgbClr val="7A90A8"/>
                </a:solidFill>
              </a:rPr>
              <a:t>Bounded: start date, end date, go-live</a:t>
            </a:r>
            <a:endParaRPr lang="en-US" sz="1050" dirty="0"/>
          </a:p>
        </p:txBody>
      </p:sp>
      <p:sp>
        <p:nvSpPr>
          <p:cNvPr id="19" name="Shape 17"/>
          <p:cNvSpPr/>
          <p:nvPr/>
        </p:nvSpPr>
        <p:spPr>
          <a:xfrm>
            <a:off x="5833872" y="1572768"/>
            <a:ext cx="2990088" cy="457200"/>
          </a:xfrm>
          <a:prstGeom prst="rect">
            <a:avLst/>
          </a:prstGeom>
          <a:solidFill>
            <a:srgbClr val="EAF0F6"/>
          </a:solidFill>
          <a:ln/>
        </p:spPr>
      </p:sp>
      <p:sp>
        <p:nvSpPr>
          <p:cNvPr id="20" name="Shape 18"/>
          <p:cNvSpPr/>
          <p:nvPr/>
        </p:nvSpPr>
        <p:spPr>
          <a:xfrm>
            <a:off x="5833872" y="2029968"/>
            <a:ext cx="2990088" cy="0"/>
          </a:xfrm>
          <a:prstGeom prst="line">
            <a:avLst/>
          </a:prstGeom>
          <a:noFill/>
          <a:ln w="6350">
            <a:solidFill>
              <a:srgbClr val="C8D5E3"/>
            </a:solidFill>
            <a:prstDash val="solid"/>
          </a:ln>
        </p:spPr>
      </p:sp>
      <p:sp>
        <p:nvSpPr>
          <p:cNvPr id="21" name="Text 19"/>
          <p:cNvSpPr/>
          <p:nvPr/>
        </p:nvSpPr>
        <p:spPr>
          <a:xfrm>
            <a:off x="5925312" y="1572768"/>
            <a:ext cx="2862072" cy="457200"/>
          </a:xfrm>
          <a:prstGeom prst="rect">
            <a:avLst/>
          </a:prstGeom>
          <a:noFill/>
          <a:ln/>
        </p:spPr>
        <p:txBody>
          <a:bodyPr wrap="square" lIns="0" tIns="0" rIns="0" bIns="0" rtlCol="0" anchor="ctr"/>
          <a:lstStyle/>
          <a:p>
            <a:pPr indent="0" marL="0">
              <a:buNone/>
            </a:pPr>
            <a:r>
              <a:rPr lang="en-US" sz="1050" dirty="0">
                <a:solidFill>
                  <a:srgbClr val="1E2D3D"/>
                </a:solidFill>
              </a:rPr>
              <a:t>Unbounded: evolves as long as the business needs it</a:t>
            </a:r>
            <a:endParaRPr lang="en-US" sz="1050" dirty="0"/>
          </a:p>
        </p:txBody>
      </p:sp>
      <p:sp>
        <p:nvSpPr>
          <p:cNvPr id="22" name="Shape 20"/>
          <p:cNvSpPr/>
          <p:nvPr/>
        </p:nvSpPr>
        <p:spPr>
          <a:xfrm>
            <a:off x="320040" y="2066544"/>
            <a:ext cx="2212848" cy="457200"/>
          </a:xfrm>
          <a:prstGeom prst="rect">
            <a:avLst/>
          </a:prstGeom>
          <a:solidFill>
            <a:srgbClr val="D4E4F0"/>
          </a:solidFill>
          <a:ln/>
        </p:spPr>
      </p:sp>
      <p:sp>
        <p:nvSpPr>
          <p:cNvPr id="23" name="Shape 21"/>
          <p:cNvSpPr/>
          <p:nvPr/>
        </p:nvSpPr>
        <p:spPr>
          <a:xfrm>
            <a:off x="320040" y="2523744"/>
            <a:ext cx="2212848" cy="0"/>
          </a:xfrm>
          <a:prstGeom prst="line">
            <a:avLst/>
          </a:prstGeom>
          <a:noFill/>
          <a:ln w="6350">
            <a:solidFill>
              <a:srgbClr val="C8D5E3"/>
            </a:solidFill>
            <a:prstDash val="solid"/>
          </a:ln>
        </p:spPr>
      </p:sp>
      <p:sp>
        <p:nvSpPr>
          <p:cNvPr id="24" name="Text 22"/>
          <p:cNvSpPr/>
          <p:nvPr/>
        </p:nvSpPr>
        <p:spPr>
          <a:xfrm>
            <a:off x="411480" y="2066544"/>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Success definition</a:t>
            </a:r>
            <a:endParaRPr lang="en-US" sz="1050" dirty="0"/>
          </a:p>
        </p:txBody>
      </p:sp>
      <p:sp>
        <p:nvSpPr>
          <p:cNvPr id="25" name="Shape 23"/>
          <p:cNvSpPr/>
          <p:nvPr/>
        </p:nvSpPr>
        <p:spPr>
          <a:xfrm>
            <a:off x="2633472" y="2066544"/>
            <a:ext cx="3108960" cy="457200"/>
          </a:xfrm>
          <a:prstGeom prst="rect">
            <a:avLst/>
          </a:prstGeom>
          <a:solidFill>
            <a:srgbClr val="FFFFFF"/>
          </a:solidFill>
          <a:ln/>
        </p:spPr>
      </p:sp>
      <p:sp>
        <p:nvSpPr>
          <p:cNvPr id="26" name="Shape 24"/>
          <p:cNvSpPr/>
          <p:nvPr/>
        </p:nvSpPr>
        <p:spPr>
          <a:xfrm>
            <a:off x="2633472" y="2523744"/>
            <a:ext cx="3108960" cy="0"/>
          </a:xfrm>
          <a:prstGeom prst="line">
            <a:avLst/>
          </a:prstGeom>
          <a:noFill/>
          <a:ln w="6350">
            <a:solidFill>
              <a:srgbClr val="C8D5E3"/>
            </a:solidFill>
            <a:prstDash val="solid"/>
          </a:ln>
        </p:spPr>
      </p:sp>
      <p:sp>
        <p:nvSpPr>
          <p:cNvPr id="27" name="Text 25"/>
          <p:cNvSpPr/>
          <p:nvPr/>
        </p:nvSpPr>
        <p:spPr>
          <a:xfrm>
            <a:off x="2724912" y="2066544"/>
            <a:ext cx="2980944" cy="457200"/>
          </a:xfrm>
          <a:prstGeom prst="rect">
            <a:avLst/>
          </a:prstGeom>
          <a:noFill/>
          <a:ln/>
        </p:spPr>
        <p:txBody>
          <a:bodyPr wrap="square" lIns="0" tIns="0" rIns="0" bIns="0" rtlCol="0" anchor="ctr"/>
          <a:lstStyle/>
          <a:p>
            <a:pPr indent="0" marL="0">
              <a:buNone/>
            </a:pPr>
            <a:r>
              <a:rPr lang="en-US" sz="1050" dirty="0">
                <a:solidFill>
                  <a:srgbClr val="7A90A8"/>
                </a:solidFill>
              </a:rPr>
              <a:t>Delivered on time and budget</a:t>
            </a:r>
            <a:endParaRPr lang="en-US" sz="1050" dirty="0"/>
          </a:p>
        </p:txBody>
      </p:sp>
      <p:sp>
        <p:nvSpPr>
          <p:cNvPr id="28" name="Shape 26"/>
          <p:cNvSpPr/>
          <p:nvPr/>
        </p:nvSpPr>
        <p:spPr>
          <a:xfrm>
            <a:off x="5833872" y="2066544"/>
            <a:ext cx="2990088" cy="457200"/>
          </a:xfrm>
          <a:prstGeom prst="rect">
            <a:avLst/>
          </a:prstGeom>
          <a:solidFill>
            <a:srgbClr val="FFFFFF"/>
          </a:solidFill>
          <a:ln/>
        </p:spPr>
      </p:sp>
      <p:sp>
        <p:nvSpPr>
          <p:cNvPr id="29" name="Shape 27"/>
          <p:cNvSpPr/>
          <p:nvPr/>
        </p:nvSpPr>
        <p:spPr>
          <a:xfrm>
            <a:off x="5833872" y="2523744"/>
            <a:ext cx="2990088" cy="0"/>
          </a:xfrm>
          <a:prstGeom prst="line">
            <a:avLst/>
          </a:prstGeom>
          <a:noFill/>
          <a:ln w="6350">
            <a:solidFill>
              <a:srgbClr val="C8D5E3"/>
            </a:solidFill>
            <a:prstDash val="solid"/>
          </a:ln>
        </p:spPr>
      </p:sp>
      <p:sp>
        <p:nvSpPr>
          <p:cNvPr id="30" name="Text 28"/>
          <p:cNvSpPr/>
          <p:nvPr/>
        </p:nvSpPr>
        <p:spPr>
          <a:xfrm>
            <a:off x="5925312" y="2066544"/>
            <a:ext cx="2862072" cy="457200"/>
          </a:xfrm>
          <a:prstGeom prst="rect">
            <a:avLst/>
          </a:prstGeom>
          <a:noFill/>
          <a:ln/>
        </p:spPr>
        <p:txBody>
          <a:bodyPr wrap="square" lIns="0" tIns="0" rIns="0" bIns="0" rtlCol="0" anchor="ctr"/>
          <a:lstStyle/>
          <a:p>
            <a:pPr indent="0" marL="0">
              <a:buNone/>
            </a:pPr>
            <a:r>
              <a:rPr lang="en-US" sz="1050" dirty="0">
                <a:solidFill>
                  <a:srgbClr val="1E2D3D"/>
                </a:solidFill>
              </a:rPr>
              <a:t>Users succeed. Business goals met. Codebase is healthy.</a:t>
            </a:r>
            <a:endParaRPr lang="en-US" sz="1050" dirty="0"/>
          </a:p>
        </p:txBody>
      </p:sp>
      <p:sp>
        <p:nvSpPr>
          <p:cNvPr id="31" name="Shape 29"/>
          <p:cNvSpPr/>
          <p:nvPr/>
        </p:nvSpPr>
        <p:spPr>
          <a:xfrm>
            <a:off x="320040" y="2560320"/>
            <a:ext cx="2212848" cy="457200"/>
          </a:xfrm>
          <a:prstGeom prst="rect">
            <a:avLst/>
          </a:prstGeom>
          <a:solidFill>
            <a:srgbClr val="D4E4F0"/>
          </a:solidFill>
          <a:ln/>
        </p:spPr>
      </p:sp>
      <p:sp>
        <p:nvSpPr>
          <p:cNvPr id="32" name="Shape 30"/>
          <p:cNvSpPr/>
          <p:nvPr/>
        </p:nvSpPr>
        <p:spPr>
          <a:xfrm>
            <a:off x="320040" y="3017520"/>
            <a:ext cx="2212848" cy="0"/>
          </a:xfrm>
          <a:prstGeom prst="line">
            <a:avLst/>
          </a:prstGeom>
          <a:noFill/>
          <a:ln w="6350">
            <a:solidFill>
              <a:srgbClr val="C8D5E3"/>
            </a:solidFill>
            <a:prstDash val="solid"/>
          </a:ln>
        </p:spPr>
      </p:sp>
      <p:sp>
        <p:nvSpPr>
          <p:cNvPr id="33" name="Text 31"/>
          <p:cNvSpPr/>
          <p:nvPr/>
        </p:nvSpPr>
        <p:spPr>
          <a:xfrm>
            <a:off x="411480" y="2560320"/>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Team relationship</a:t>
            </a:r>
            <a:endParaRPr lang="en-US" sz="1050" dirty="0"/>
          </a:p>
        </p:txBody>
      </p:sp>
      <p:sp>
        <p:nvSpPr>
          <p:cNvPr id="34" name="Shape 32"/>
          <p:cNvSpPr/>
          <p:nvPr/>
        </p:nvSpPr>
        <p:spPr>
          <a:xfrm>
            <a:off x="2633472" y="2560320"/>
            <a:ext cx="3108960" cy="457200"/>
          </a:xfrm>
          <a:prstGeom prst="rect">
            <a:avLst/>
          </a:prstGeom>
          <a:solidFill>
            <a:srgbClr val="EAF0F6"/>
          </a:solidFill>
          <a:ln/>
        </p:spPr>
      </p:sp>
      <p:sp>
        <p:nvSpPr>
          <p:cNvPr id="35" name="Shape 33"/>
          <p:cNvSpPr/>
          <p:nvPr/>
        </p:nvSpPr>
        <p:spPr>
          <a:xfrm>
            <a:off x="2633472" y="3017520"/>
            <a:ext cx="3108960" cy="0"/>
          </a:xfrm>
          <a:prstGeom prst="line">
            <a:avLst/>
          </a:prstGeom>
          <a:noFill/>
          <a:ln w="6350">
            <a:solidFill>
              <a:srgbClr val="C8D5E3"/>
            </a:solidFill>
            <a:prstDash val="solid"/>
          </a:ln>
        </p:spPr>
      </p:sp>
      <p:sp>
        <p:nvSpPr>
          <p:cNvPr id="36" name="Text 34"/>
          <p:cNvSpPr/>
          <p:nvPr/>
        </p:nvSpPr>
        <p:spPr>
          <a:xfrm>
            <a:off x="2724912" y="2560320"/>
            <a:ext cx="2980944" cy="457200"/>
          </a:xfrm>
          <a:prstGeom prst="rect">
            <a:avLst/>
          </a:prstGeom>
          <a:noFill/>
          <a:ln/>
        </p:spPr>
        <p:txBody>
          <a:bodyPr wrap="square" lIns="0" tIns="0" rIns="0" bIns="0" rtlCol="0" anchor="ctr"/>
          <a:lstStyle/>
          <a:p>
            <a:pPr indent="0" marL="0">
              <a:buNone/>
            </a:pPr>
            <a:r>
              <a:rPr lang="en-US" sz="1050" dirty="0">
                <a:solidFill>
                  <a:srgbClr val="7A90A8"/>
                </a:solidFill>
              </a:rPr>
              <a:t>Temporary: assembled, then disbanded</a:t>
            </a:r>
            <a:endParaRPr lang="en-US" sz="1050" dirty="0"/>
          </a:p>
        </p:txBody>
      </p:sp>
      <p:sp>
        <p:nvSpPr>
          <p:cNvPr id="37" name="Shape 35"/>
          <p:cNvSpPr/>
          <p:nvPr/>
        </p:nvSpPr>
        <p:spPr>
          <a:xfrm>
            <a:off x="5833872" y="2560320"/>
            <a:ext cx="2990088" cy="457200"/>
          </a:xfrm>
          <a:prstGeom prst="rect">
            <a:avLst/>
          </a:prstGeom>
          <a:solidFill>
            <a:srgbClr val="EAF0F6"/>
          </a:solidFill>
          <a:ln/>
        </p:spPr>
      </p:sp>
      <p:sp>
        <p:nvSpPr>
          <p:cNvPr id="38" name="Shape 36"/>
          <p:cNvSpPr/>
          <p:nvPr/>
        </p:nvSpPr>
        <p:spPr>
          <a:xfrm>
            <a:off x="5833872" y="3017520"/>
            <a:ext cx="2990088" cy="0"/>
          </a:xfrm>
          <a:prstGeom prst="line">
            <a:avLst/>
          </a:prstGeom>
          <a:noFill/>
          <a:ln w="6350">
            <a:solidFill>
              <a:srgbClr val="C8D5E3"/>
            </a:solidFill>
            <a:prstDash val="solid"/>
          </a:ln>
        </p:spPr>
      </p:sp>
      <p:sp>
        <p:nvSpPr>
          <p:cNvPr id="39" name="Text 37"/>
          <p:cNvSpPr/>
          <p:nvPr/>
        </p:nvSpPr>
        <p:spPr>
          <a:xfrm>
            <a:off x="5925312" y="2560320"/>
            <a:ext cx="2862072" cy="457200"/>
          </a:xfrm>
          <a:prstGeom prst="rect">
            <a:avLst/>
          </a:prstGeom>
          <a:noFill/>
          <a:ln/>
        </p:spPr>
        <p:txBody>
          <a:bodyPr wrap="square" lIns="0" tIns="0" rIns="0" bIns="0" rtlCol="0" anchor="ctr"/>
          <a:lstStyle/>
          <a:p>
            <a:pPr indent="0" marL="0">
              <a:buNone/>
            </a:pPr>
            <a:r>
              <a:rPr lang="en-US" sz="1050" dirty="0">
                <a:solidFill>
                  <a:srgbClr val="1E2D3D"/>
                </a:solidFill>
              </a:rPr>
              <a:t>Permanent: team owns the product through its lifecycle</a:t>
            </a:r>
            <a:endParaRPr lang="en-US" sz="1050" dirty="0"/>
          </a:p>
        </p:txBody>
      </p:sp>
      <p:sp>
        <p:nvSpPr>
          <p:cNvPr id="40" name="Shape 38"/>
          <p:cNvSpPr/>
          <p:nvPr/>
        </p:nvSpPr>
        <p:spPr>
          <a:xfrm>
            <a:off x="320040" y="3054096"/>
            <a:ext cx="2212848" cy="457200"/>
          </a:xfrm>
          <a:prstGeom prst="rect">
            <a:avLst/>
          </a:prstGeom>
          <a:solidFill>
            <a:srgbClr val="D4E4F0"/>
          </a:solidFill>
          <a:ln/>
        </p:spPr>
      </p:sp>
      <p:sp>
        <p:nvSpPr>
          <p:cNvPr id="41" name="Shape 39"/>
          <p:cNvSpPr/>
          <p:nvPr/>
        </p:nvSpPr>
        <p:spPr>
          <a:xfrm>
            <a:off x="320040" y="3511296"/>
            <a:ext cx="2212848" cy="0"/>
          </a:xfrm>
          <a:prstGeom prst="line">
            <a:avLst/>
          </a:prstGeom>
          <a:noFill/>
          <a:ln w="6350">
            <a:solidFill>
              <a:srgbClr val="C8D5E3"/>
            </a:solidFill>
            <a:prstDash val="solid"/>
          </a:ln>
        </p:spPr>
      </p:sp>
      <p:sp>
        <p:nvSpPr>
          <p:cNvPr id="42" name="Text 40"/>
          <p:cNvSpPr/>
          <p:nvPr/>
        </p:nvSpPr>
        <p:spPr>
          <a:xfrm>
            <a:off x="411480" y="3054096"/>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Context</a:t>
            </a:r>
            <a:endParaRPr lang="en-US" sz="1050" dirty="0"/>
          </a:p>
        </p:txBody>
      </p:sp>
      <p:sp>
        <p:nvSpPr>
          <p:cNvPr id="43" name="Shape 41"/>
          <p:cNvSpPr/>
          <p:nvPr/>
        </p:nvSpPr>
        <p:spPr>
          <a:xfrm>
            <a:off x="2633472" y="3054096"/>
            <a:ext cx="3108960" cy="457200"/>
          </a:xfrm>
          <a:prstGeom prst="rect">
            <a:avLst/>
          </a:prstGeom>
          <a:solidFill>
            <a:srgbClr val="FFFFFF"/>
          </a:solidFill>
          <a:ln/>
        </p:spPr>
      </p:sp>
      <p:sp>
        <p:nvSpPr>
          <p:cNvPr id="44" name="Shape 42"/>
          <p:cNvSpPr/>
          <p:nvPr/>
        </p:nvSpPr>
        <p:spPr>
          <a:xfrm>
            <a:off x="2633472" y="3511296"/>
            <a:ext cx="3108960" cy="0"/>
          </a:xfrm>
          <a:prstGeom prst="line">
            <a:avLst/>
          </a:prstGeom>
          <a:noFill/>
          <a:ln w="6350">
            <a:solidFill>
              <a:srgbClr val="C8D5E3"/>
            </a:solidFill>
            <a:prstDash val="solid"/>
          </a:ln>
        </p:spPr>
      </p:sp>
      <p:sp>
        <p:nvSpPr>
          <p:cNvPr id="45" name="Text 43"/>
          <p:cNvSpPr/>
          <p:nvPr/>
        </p:nvSpPr>
        <p:spPr>
          <a:xfrm>
            <a:off x="2724912" y="3054096"/>
            <a:ext cx="2980944" cy="457200"/>
          </a:xfrm>
          <a:prstGeom prst="rect">
            <a:avLst/>
          </a:prstGeom>
          <a:noFill/>
          <a:ln/>
        </p:spPr>
        <p:txBody>
          <a:bodyPr wrap="square" lIns="0" tIns="0" rIns="0" bIns="0" rtlCol="0" anchor="ctr"/>
          <a:lstStyle/>
          <a:p>
            <a:pPr indent="0" marL="0">
              <a:buNone/>
            </a:pPr>
            <a:r>
              <a:rPr lang="en-US" sz="1050" dirty="0">
                <a:solidFill>
                  <a:srgbClr val="7A90A8"/>
                </a:solidFill>
              </a:rPr>
              <a:t>Rebuilt each time. Tribal knowledge lost</a:t>
            </a:r>
            <a:endParaRPr lang="en-US" sz="1050" dirty="0"/>
          </a:p>
        </p:txBody>
      </p:sp>
      <p:sp>
        <p:nvSpPr>
          <p:cNvPr id="46" name="Shape 44"/>
          <p:cNvSpPr/>
          <p:nvPr/>
        </p:nvSpPr>
        <p:spPr>
          <a:xfrm>
            <a:off x="5833872" y="3054096"/>
            <a:ext cx="2990088" cy="457200"/>
          </a:xfrm>
          <a:prstGeom prst="rect">
            <a:avLst/>
          </a:prstGeom>
          <a:solidFill>
            <a:srgbClr val="FFFFFF"/>
          </a:solidFill>
          <a:ln/>
        </p:spPr>
      </p:sp>
      <p:sp>
        <p:nvSpPr>
          <p:cNvPr id="47" name="Shape 45"/>
          <p:cNvSpPr/>
          <p:nvPr/>
        </p:nvSpPr>
        <p:spPr>
          <a:xfrm>
            <a:off x="5833872" y="3511296"/>
            <a:ext cx="2990088" cy="0"/>
          </a:xfrm>
          <a:prstGeom prst="line">
            <a:avLst/>
          </a:prstGeom>
          <a:noFill/>
          <a:ln w="6350">
            <a:solidFill>
              <a:srgbClr val="C8D5E3"/>
            </a:solidFill>
            <a:prstDash val="solid"/>
          </a:ln>
        </p:spPr>
      </p:sp>
      <p:sp>
        <p:nvSpPr>
          <p:cNvPr id="48" name="Text 46"/>
          <p:cNvSpPr/>
          <p:nvPr/>
        </p:nvSpPr>
        <p:spPr>
          <a:xfrm>
            <a:off x="5925312" y="3054096"/>
            <a:ext cx="2862072" cy="457200"/>
          </a:xfrm>
          <a:prstGeom prst="rect">
            <a:avLst/>
          </a:prstGeom>
          <a:noFill/>
          <a:ln/>
        </p:spPr>
        <p:txBody>
          <a:bodyPr wrap="square" lIns="0" tIns="0" rIns="0" bIns="0" rtlCol="0" anchor="ctr"/>
          <a:lstStyle/>
          <a:p>
            <a:pPr indent="0" marL="0">
              <a:buNone/>
            </a:pPr>
            <a:r>
              <a:rPr lang="en-US" sz="1050" dirty="0">
                <a:solidFill>
                  <a:srgbClr val="1E2D3D"/>
                </a:solidFill>
              </a:rPr>
              <a:t>Accumulated, documented, shared, and agent-accessible</a:t>
            </a:r>
            <a:endParaRPr lang="en-US" sz="1050" dirty="0"/>
          </a:p>
        </p:txBody>
      </p:sp>
      <p:sp>
        <p:nvSpPr>
          <p:cNvPr id="49" name="Shape 47"/>
          <p:cNvSpPr/>
          <p:nvPr/>
        </p:nvSpPr>
        <p:spPr>
          <a:xfrm>
            <a:off x="320040" y="3547872"/>
            <a:ext cx="2212848" cy="457200"/>
          </a:xfrm>
          <a:prstGeom prst="rect">
            <a:avLst/>
          </a:prstGeom>
          <a:solidFill>
            <a:srgbClr val="D4E4F0"/>
          </a:solidFill>
          <a:ln/>
        </p:spPr>
      </p:sp>
      <p:sp>
        <p:nvSpPr>
          <p:cNvPr id="50" name="Shape 48"/>
          <p:cNvSpPr/>
          <p:nvPr/>
        </p:nvSpPr>
        <p:spPr>
          <a:xfrm>
            <a:off x="320040" y="4005072"/>
            <a:ext cx="2212848" cy="0"/>
          </a:xfrm>
          <a:prstGeom prst="line">
            <a:avLst/>
          </a:prstGeom>
          <a:noFill/>
          <a:ln w="6350">
            <a:solidFill>
              <a:srgbClr val="C8D5E3"/>
            </a:solidFill>
            <a:prstDash val="solid"/>
          </a:ln>
        </p:spPr>
      </p:sp>
      <p:sp>
        <p:nvSpPr>
          <p:cNvPr id="51" name="Text 49"/>
          <p:cNvSpPr/>
          <p:nvPr/>
        </p:nvSpPr>
        <p:spPr>
          <a:xfrm>
            <a:off x="411480" y="3547872"/>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Quality mindset</a:t>
            </a:r>
            <a:endParaRPr lang="en-US" sz="1050" dirty="0"/>
          </a:p>
        </p:txBody>
      </p:sp>
      <p:sp>
        <p:nvSpPr>
          <p:cNvPr id="52" name="Shape 50"/>
          <p:cNvSpPr/>
          <p:nvPr/>
        </p:nvSpPr>
        <p:spPr>
          <a:xfrm>
            <a:off x="2633472" y="3547872"/>
            <a:ext cx="3108960" cy="457200"/>
          </a:xfrm>
          <a:prstGeom prst="rect">
            <a:avLst/>
          </a:prstGeom>
          <a:solidFill>
            <a:srgbClr val="EAF0F6"/>
          </a:solidFill>
          <a:ln/>
        </p:spPr>
      </p:sp>
      <p:sp>
        <p:nvSpPr>
          <p:cNvPr id="53" name="Shape 51"/>
          <p:cNvSpPr/>
          <p:nvPr/>
        </p:nvSpPr>
        <p:spPr>
          <a:xfrm>
            <a:off x="2633472" y="4005072"/>
            <a:ext cx="3108960" cy="0"/>
          </a:xfrm>
          <a:prstGeom prst="line">
            <a:avLst/>
          </a:prstGeom>
          <a:noFill/>
          <a:ln w="6350">
            <a:solidFill>
              <a:srgbClr val="C8D5E3"/>
            </a:solidFill>
            <a:prstDash val="solid"/>
          </a:ln>
        </p:spPr>
      </p:sp>
      <p:sp>
        <p:nvSpPr>
          <p:cNvPr id="54" name="Text 52"/>
          <p:cNvSpPr/>
          <p:nvPr/>
        </p:nvSpPr>
        <p:spPr>
          <a:xfrm>
            <a:off x="2724912" y="3547872"/>
            <a:ext cx="2980944" cy="457200"/>
          </a:xfrm>
          <a:prstGeom prst="rect">
            <a:avLst/>
          </a:prstGeom>
          <a:noFill/>
          <a:ln/>
        </p:spPr>
        <p:txBody>
          <a:bodyPr wrap="square" lIns="0" tIns="0" rIns="0" bIns="0" rtlCol="0" anchor="ctr"/>
          <a:lstStyle/>
          <a:p>
            <a:pPr indent="0" marL="0">
              <a:buNone/>
            </a:pPr>
            <a:r>
              <a:rPr lang="en-US" sz="1050" dirty="0">
                <a:solidFill>
                  <a:srgbClr val="7A90A8"/>
                </a:solidFill>
              </a:rPr>
              <a:t>Good enough to ship</a:t>
            </a:r>
            <a:endParaRPr lang="en-US" sz="1050" dirty="0"/>
          </a:p>
        </p:txBody>
      </p:sp>
      <p:sp>
        <p:nvSpPr>
          <p:cNvPr id="55" name="Shape 53"/>
          <p:cNvSpPr/>
          <p:nvPr/>
        </p:nvSpPr>
        <p:spPr>
          <a:xfrm>
            <a:off x="5833872" y="3547872"/>
            <a:ext cx="2990088" cy="457200"/>
          </a:xfrm>
          <a:prstGeom prst="rect">
            <a:avLst/>
          </a:prstGeom>
          <a:solidFill>
            <a:srgbClr val="EAF0F6"/>
          </a:solidFill>
          <a:ln/>
        </p:spPr>
      </p:sp>
      <p:sp>
        <p:nvSpPr>
          <p:cNvPr id="56" name="Shape 54"/>
          <p:cNvSpPr/>
          <p:nvPr/>
        </p:nvSpPr>
        <p:spPr>
          <a:xfrm>
            <a:off x="5833872" y="4005072"/>
            <a:ext cx="2990088" cy="0"/>
          </a:xfrm>
          <a:prstGeom prst="line">
            <a:avLst/>
          </a:prstGeom>
          <a:noFill/>
          <a:ln w="6350">
            <a:solidFill>
              <a:srgbClr val="C8D5E3"/>
            </a:solidFill>
            <a:prstDash val="solid"/>
          </a:ln>
        </p:spPr>
      </p:sp>
      <p:sp>
        <p:nvSpPr>
          <p:cNvPr id="57" name="Text 55"/>
          <p:cNvSpPr/>
          <p:nvPr/>
        </p:nvSpPr>
        <p:spPr>
          <a:xfrm>
            <a:off x="5925312" y="3547872"/>
            <a:ext cx="2862072" cy="457200"/>
          </a:xfrm>
          <a:prstGeom prst="rect">
            <a:avLst/>
          </a:prstGeom>
          <a:noFill/>
          <a:ln/>
        </p:spPr>
        <p:txBody>
          <a:bodyPr wrap="square" lIns="0" tIns="0" rIns="0" bIns="0" rtlCol="0" anchor="ctr"/>
          <a:lstStyle/>
          <a:p>
            <a:pPr indent="0" marL="0">
              <a:buNone/>
            </a:pPr>
            <a:r>
              <a:rPr lang="en-US" sz="1050" dirty="0">
                <a:solidFill>
                  <a:srgbClr val="1E2D3D"/>
                </a:solidFill>
              </a:rPr>
              <a:t>Sustainable: designed to last and be extended safely</a:t>
            </a:r>
            <a:endParaRPr lang="en-US" sz="1050" dirty="0"/>
          </a:p>
        </p:txBody>
      </p:sp>
      <p:sp>
        <p:nvSpPr>
          <p:cNvPr id="58" name="Shape 56"/>
          <p:cNvSpPr/>
          <p:nvPr/>
        </p:nvSpPr>
        <p:spPr>
          <a:xfrm>
            <a:off x="320040" y="4041648"/>
            <a:ext cx="2212848" cy="457200"/>
          </a:xfrm>
          <a:prstGeom prst="rect">
            <a:avLst/>
          </a:prstGeom>
          <a:solidFill>
            <a:srgbClr val="D4E4F0"/>
          </a:solidFill>
          <a:ln/>
        </p:spPr>
      </p:sp>
      <p:sp>
        <p:nvSpPr>
          <p:cNvPr id="59" name="Shape 57"/>
          <p:cNvSpPr/>
          <p:nvPr/>
        </p:nvSpPr>
        <p:spPr>
          <a:xfrm>
            <a:off x="320040" y="4498848"/>
            <a:ext cx="2212848" cy="0"/>
          </a:xfrm>
          <a:prstGeom prst="line">
            <a:avLst/>
          </a:prstGeom>
          <a:noFill/>
          <a:ln w="6350">
            <a:solidFill>
              <a:srgbClr val="C8D5E3"/>
            </a:solidFill>
            <a:prstDash val="solid"/>
          </a:ln>
        </p:spPr>
      </p:sp>
      <p:sp>
        <p:nvSpPr>
          <p:cNvPr id="60" name="Text 58"/>
          <p:cNvSpPr/>
          <p:nvPr/>
        </p:nvSpPr>
        <p:spPr>
          <a:xfrm>
            <a:off x="411480" y="4041648"/>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Developer role</a:t>
            </a:r>
            <a:endParaRPr lang="en-US" sz="1050" dirty="0"/>
          </a:p>
        </p:txBody>
      </p:sp>
      <p:sp>
        <p:nvSpPr>
          <p:cNvPr id="61" name="Shape 59"/>
          <p:cNvSpPr/>
          <p:nvPr/>
        </p:nvSpPr>
        <p:spPr>
          <a:xfrm>
            <a:off x="2633472" y="4041648"/>
            <a:ext cx="3108960" cy="457200"/>
          </a:xfrm>
          <a:prstGeom prst="rect">
            <a:avLst/>
          </a:prstGeom>
          <a:solidFill>
            <a:srgbClr val="FFFFFF"/>
          </a:solidFill>
          <a:ln/>
        </p:spPr>
      </p:sp>
      <p:sp>
        <p:nvSpPr>
          <p:cNvPr id="62" name="Shape 60"/>
          <p:cNvSpPr/>
          <p:nvPr/>
        </p:nvSpPr>
        <p:spPr>
          <a:xfrm>
            <a:off x="2633472" y="4498848"/>
            <a:ext cx="3108960" cy="0"/>
          </a:xfrm>
          <a:prstGeom prst="line">
            <a:avLst/>
          </a:prstGeom>
          <a:noFill/>
          <a:ln w="6350">
            <a:solidFill>
              <a:srgbClr val="C8D5E3"/>
            </a:solidFill>
            <a:prstDash val="solid"/>
          </a:ln>
        </p:spPr>
      </p:sp>
      <p:sp>
        <p:nvSpPr>
          <p:cNvPr id="63" name="Text 61"/>
          <p:cNvSpPr/>
          <p:nvPr/>
        </p:nvSpPr>
        <p:spPr>
          <a:xfrm>
            <a:off x="2724912" y="4041648"/>
            <a:ext cx="2980944" cy="457200"/>
          </a:xfrm>
          <a:prstGeom prst="rect">
            <a:avLst/>
          </a:prstGeom>
          <a:noFill/>
          <a:ln/>
        </p:spPr>
        <p:txBody>
          <a:bodyPr wrap="square" lIns="0" tIns="0" rIns="0" bIns="0" rtlCol="0" anchor="ctr"/>
          <a:lstStyle/>
          <a:p>
            <a:pPr indent="0" marL="0">
              <a:buNone/>
            </a:pPr>
            <a:r>
              <a:rPr lang="en-US" sz="1050" dirty="0">
                <a:solidFill>
                  <a:srgbClr val="7A90A8"/>
                </a:solidFill>
              </a:rPr>
              <a:t>Implements tickets assigned by PM</a:t>
            </a:r>
            <a:endParaRPr lang="en-US" sz="1050" dirty="0"/>
          </a:p>
        </p:txBody>
      </p:sp>
      <p:sp>
        <p:nvSpPr>
          <p:cNvPr id="64" name="Shape 62"/>
          <p:cNvSpPr/>
          <p:nvPr/>
        </p:nvSpPr>
        <p:spPr>
          <a:xfrm>
            <a:off x="5833872" y="4041648"/>
            <a:ext cx="2990088" cy="457200"/>
          </a:xfrm>
          <a:prstGeom prst="rect">
            <a:avLst/>
          </a:prstGeom>
          <a:solidFill>
            <a:srgbClr val="FFFFFF"/>
          </a:solidFill>
          <a:ln/>
        </p:spPr>
      </p:sp>
      <p:sp>
        <p:nvSpPr>
          <p:cNvPr id="65" name="Shape 63"/>
          <p:cNvSpPr/>
          <p:nvPr/>
        </p:nvSpPr>
        <p:spPr>
          <a:xfrm>
            <a:off x="5833872" y="4498848"/>
            <a:ext cx="2990088" cy="0"/>
          </a:xfrm>
          <a:prstGeom prst="line">
            <a:avLst/>
          </a:prstGeom>
          <a:noFill/>
          <a:ln w="6350">
            <a:solidFill>
              <a:srgbClr val="C8D5E3"/>
            </a:solidFill>
            <a:prstDash val="solid"/>
          </a:ln>
        </p:spPr>
      </p:sp>
      <p:sp>
        <p:nvSpPr>
          <p:cNvPr id="66" name="Text 64"/>
          <p:cNvSpPr/>
          <p:nvPr/>
        </p:nvSpPr>
        <p:spPr>
          <a:xfrm>
            <a:off x="5925312" y="4041648"/>
            <a:ext cx="2862072" cy="457200"/>
          </a:xfrm>
          <a:prstGeom prst="rect">
            <a:avLst/>
          </a:prstGeom>
          <a:noFill/>
          <a:ln/>
        </p:spPr>
        <p:txBody>
          <a:bodyPr wrap="square" lIns="0" tIns="0" rIns="0" bIns="0" rtlCol="0" anchor="ctr"/>
          <a:lstStyle/>
          <a:p>
            <a:pPr indent="0" marL="0">
              <a:buNone/>
            </a:pPr>
            <a:r>
              <a:rPr lang="en-US" sz="1050" dirty="0">
                <a:solidFill>
                  <a:srgbClr val="1E2D3D"/>
                </a:solidFill>
              </a:rPr>
              <a:t>Co-owns the product. Guides its evolution. Improves it.</a:t>
            </a:r>
            <a:endParaRPr lang="en-US" sz="1050" dirty="0"/>
          </a:p>
        </p:txBody>
      </p:sp>
      <p:sp>
        <p:nvSpPr>
          <p:cNvPr id="67" name="Shape 65"/>
          <p:cNvSpPr/>
          <p:nvPr/>
        </p:nvSpPr>
        <p:spPr>
          <a:xfrm>
            <a:off x="320040" y="4535424"/>
            <a:ext cx="2212848" cy="457200"/>
          </a:xfrm>
          <a:prstGeom prst="rect">
            <a:avLst/>
          </a:prstGeom>
          <a:solidFill>
            <a:srgbClr val="D4E4F0"/>
          </a:solidFill>
          <a:ln/>
        </p:spPr>
      </p:sp>
      <p:sp>
        <p:nvSpPr>
          <p:cNvPr id="68" name="Shape 66"/>
          <p:cNvSpPr/>
          <p:nvPr/>
        </p:nvSpPr>
        <p:spPr>
          <a:xfrm>
            <a:off x="320040" y="4992624"/>
            <a:ext cx="2212848" cy="0"/>
          </a:xfrm>
          <a:prstGeom prst="line">
            <a:avLst/>
          </a:prstGeom>
          <a:noFill/>
          <a:ln w="6350">
            <a:solidFill>
              <a:srgbClr val="C8D5E3"/>
            </a:solidFill>
            <a:prstDash val="solid"/>
          </a:ln>
        </p:spPr>
      </p:sp>
      <p:sp>
        <p:nvSpPr>
          <p:cNvPr id="69" name="Text 67"/>
          <p:cNvSpPr/>
          <p:nvPr/>
        </p:nvSpPr>
        <p:spPr>
          <a:xfrm>
            <a:off x="411480" y="4535424"/>
            <a:ext cx="2084832" cy="457200"/>
          </a:xfrm>
          <a:prstGeom prst="rect">
            <a:avLst/>
          </a:prstGeom>
          <a:noFill/>
          <a:ln/>
        </p:spPr>
        <p:txBody>
          <a:bodyPr wrap="square" lIns="0" tIns="0" rIns="0" bIns="0" rtlCol="0" anchor="ctr"/>
          <a:lstStyle/>
          <a:p>
            <a:pPr indent="0" marL="0">
              <a:buNone/>
            </a:pPr>
            <a:r>
              <a:rPr lang="en-US" sz="1050" b="1" dirty="0">
                <a:solidFill>
                  <a:srgbClr val="1C3557"/>
                </a:solidFill>
              </a:rPr>
              <a:t>Agentic implication</a:t>
            </a:r>
            <a:endParaRPr lang="en-US" sz="1050" dirty="0"/>
          </a:p>
        </p:txBody>
      </p:sp>
      <p:sp>
        <p:nvSpPr>
          <p:cNvPr id="70" name="Shape 68"/>
          <p:cNvSpPr/>
          <p:nvPr/>
        </p:nvSpPr>
        <p:spPr>
          <a:xfrm>
            <a:off x="2633472" y="4535424"/>
            <a:ext cx="3108960" cy="457200"/>
          </a:xfrm>
          <a:prstGeom prst="rect">
            <a:avLst/>
          </a:prstGeom>
          <a:solidFill>
            <a:srgbClr val="EAF0F6"/>
          </a:solidFill>
          <a:ln/>
        </p:spPr>
      </p:sp>
      <p:sp>
        <p:nvSpPr>
          <p:cNvPr id="71" name="Shape 69"/>
          <p:cNvSpPr/>
          <p:nvPr/>
        </p:nvSpPr>
        <p:spPr>
          <a:xfrm>
            <a:off x="2633472" y="4992624"/>
            <a:ext cx="3108960" cy="0"/>
          </a:xfrm>
          <a:prstGeom prst="line">
            <a:avLst/>
          </a:prstGeom>
          <a:noFill/>
          <a:ln w="6350">
            <a:solidFill>
              <a:srgbClr val="C8D5E3"/>
            </a:solidFill>
            <a:prstDash val="solid"/>
          </a:ln>
        </p:spPr>
      </p:sp>
      <p:sp>
        <p:nvSpPr>
          <p:cNvPr id="72" name="Text 70"/>
          <p:cNvSpPr/>
          <p:nvPr/>
        </p:nvSpPr>
        <p:spPr>
          <a:xfrm>
            <a:off x="2724912" y="4535424"/>
            <a:ext cx="2980944" cy="457200"/>
          </a:xfrm>
          <a:prstGeom prst="rect">
            <a:avLst/>
          </a:prstGeom>
          <a:noFill/>
          <a:ln/>
        </p:spPr>
        <p:txBody>
          <a:bodyPr wrap="square" lIns="0" tIns="0" rIns="0" bIns="0" rtlCol="0" anchor="ctr"/>
          <a:lstStyle/>
          <a:p>
            <a:pPr indent="0" marL="0">
              <a:buNone/>
            </a:pPr>
            <a:r>
              <a:rPr lang="en-US" sz="1050" dirty="0">
                <a:solidFill>
                  <a:srgbClr val="7A90A8"/>
                </a:solidFill>
              </a:rPr>
              <a:t>Agents build features in isolation</a:t>
            </a:r>
            <a:endParaRPr lang="en-US" sz="1050" dirty="0"/>
          </a:p>
        </p:txBody>
      </p:sp>
      <p:sp>
        <p:nvSpPr>
          <p:cNvPr id="73" name="Shape 71"/>
          <p:cNvSpPr/>
          <p:nvPr/>
        </p:nvSpPr>
        <p:spPr>
          <a:xfrm>
            <a:off x="5833872" y="4535424"/>
            <a:ext cx="2990088" cy="457200"/>
          </a:xfrm>
          <a:prstGeom prst="rect">
            <a:avLst/>
          </a:prstGeom>
          <a:solidFill>
            <a:srgbClr val="EAF0F6"/>
          </a:solidFill>
          <a:ln/>
        </p:spPr>
      </p:sp>
      <p:sp>
        <p:nvSpPr>
          <p:cNvPr id="74" name="Shape 72"/>
          <p:cNvSpPr/>
          <p:nvPr/>
        </p:nvSpPr>
        <p:spPr>
          <a:xfrm>
            <a:off x="5833872" y="4992624"/>
            <a:ext cx="2990088" cy="0"/>
          </a:xfrm>
          <a:prstGeom prst="line">
            <a:avLst/>
          </a:prstGeom>
          <a:noFill/>
          <a:ln w="6350">
            <a:solidFill>
              <a:srgbClr val="C8D5E3"/>
            </a:solidFill>
            <a:prstDash val="solid"/>
          </a:ln>
        </p:spPr>
      </p:sp>
      <p:sp>
        <p:nvSpPr>
          <p:cNvPr id="75" name="Text 73"/>
          <p:cNvSpPr/>
          <p:nvPr/>
        </p:nvSpPr>
        <p:spPr>
          <a:xfrm>
            <a:off x="5925312" y="4535424"/>
            <a:ext cx="2862072" cy="457200"/>
          </a:xfrm>
          <a:prstGeom prst="rect">
            <a:avLst/>
          </a:prstGeom>
          <a:noFill/>
          <a:ln/>
        </p:spPr>
        <p:txBody>
          <a:bodyPr wrap="square" lIns="0" tIns="0" rIns="0" bIns="0" rtlCol="0" anchor="ctr"/>
          <a:lstStyle/>
          <a:p>
            <a:pPr indent="0" marL="0">
              <a:buNone/>
            </a:pPr>
            <a:r>
              <a:rPr lang="en-US" sz="1050" dirty="0">
                <a:solidFill>
                  <a:srgbClr val="1E2D3D"/>
                </a:solidFill>
              </a:rPr>
              <a:t>Agents grow a well-understood, well-specified system</a:t>
            </a:r>
            <a:endParaRPr lang="en-US" sz="1050" dirty="0"/>
          </a:p>
        </p:txBody>
      </p:sp>
      <p:sp>
        <p:nvSpPr>
          <p:cNvPr id="76" name="Text 74"/>
          <p:cNvSpPr/>
          <p:nvPr/>
        </p:nvSpPr>
        <p:spPr>
          <a:xfrm>
            <a:off x="320040" y="4846320"/>
            <a:ext cx="8503920" cy="237744"/>
          </a:xfrm>
          <a:prstGeom prst="rect">
            <a:avLst/>
          </a:prstGeom>
          <a:noFill/>
          <a:ln/>
        </p:spPr>
        <p:txBody>
          <a:bodyPr wrap="square" lIns="0" tIns="0" rIns="0" bIns="0" rtlCol="0" anchor="ctr"/>
          <a:lstStyle/>
          <a:p>
            <a:pPr indent="0" marL="0">
              <a:buNone/>
            </a:pPr>
            <a:r>
              <a:rPr lang="en-US" sz="1000" i="1" dirty="0">
                <a:solidFill>
                  <a:srgbClr val="7A90A8"/>
                </a:solidFill>
              </a:rPr>
              <a:t>With agents writing code 10× faster, a product mindset is not optional — it’s the only way to ensure that speed produces value rather than accelerating toward a wall of technical debt.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DEEP PRODUCT UNDERSTANDING</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The agent builds what the team understands. If your team doesn’t deeply know the product, neither will your agent.</a:t>
            </a:r>
            <a:endParaRPr lang="en-US" sz="1200" dirty="0"/>
          </a:p>
        </p:txBody>
      </p:sp>
      <p:sp>
        <p:nvSpPr>
          <p:cNvPr id="5" name="Shape 3"/>
          <p:cNvSpPr/>
          <p:nvPr/>
        </p:nvSpPr>
        <p:spPr>
          <a:xfrm>
            <a:off x="320040" y="1170432"/>
            <a:ext cx="4160520" cy="181051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160520" cy="438912"/>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48056" y="1261872"/>
            <a:ext cx="274320" cy="274320"/>
          </a:xfrm>
          <a:prstGeom prst="rect">
            <a:avLst/>
          </a:prstGeom>
        </p:spPr>
      </p:pic>
      <p:sp>
        <p:nvSpPr>
          <p:cNvPr id="8" name="Text 5"/>
          <p:cNvSpPr/>
          <p:nvPr/>
        </p:nvSpPr>
        <p:spPr>
          <a:xfrm>
            <a:off x="795528" y="1170432"/>
            <a:ext cx="3593592" cy="438912"/>
          </a:xfrm>
          <a:prstGeom prst="rect">
            <a:avLst/>
          </a:prstGeom>
          <a:noFill/>
          <a:ln/>
        </p:spPr>
        <p:txBody>
          <a:bodyPr wrap="square" lIns="0" tIns="0" rIns="0" bIns="0" rtlCol="0" anchor="ctr"/>
          <a:lstStyle/>
          <a:p>
            <a:pPr indent="0" marL="0">
              <a:buNone/>
            </a:pPr>
            <a:r>
              <a:rPr lang="en-US" sz="1400" b="1" dirty="0">
                <a:solidFill>
                  <a:srgbClr val="FFFFFF"/>
                </a:solidFill>
              </a:rPr>
              <a:t>The Users</a:t>
            </a:r>
            <a:endParaRPr lang="en-US" sz="1400" dirty="0"/>
          </a:p>
        </p:txBody>
      </p:sp>
      <p:sp>
        <p:nvSpPr>
          <p:cNvPr id="9" name="Text 6"/>
          <p:cNvSpPr/>
          <p:nvPr/>
        </p:nvSpPr>
        <p:spPr>
          <a:xfrm>
            <a:off x="457200" y="1682496"/>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Who uses this product and why?</a:t>
            </a:r>
            <a:endParaRPr lang="en-US" sz="1050" dirty="0"/>
          </a:p>
        </p:txBody>
      </p:sp>
      <p:sp>
        <p:nvSpPr>
          <p:cNvPr id="10" name="Text 7"/>
          <p:cNvSpPr/>
          <p:nvPr/>
        </p:nvSpPr>
        <p:spPr>
          <a:xfrm>
            <a:off x="457200" y="1938528"/>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jobs are they trying to do?</a:t>
            </a:r>
            <a:endParaRPr lang="en-US" sz="1050" dirty="0"/>
          </a:p>
        </p:txBody>
      </p:sp>
      <p:sp>
        <p:nvSpPr>
          <p:cNvPr id="11" name="Text 8"/>
          <p:cNvSpPr/>
          <p:nvPr/>
        </p:nvSpPr>
        <p:spPr>
          <a:xfrm>
            <a:off x="457200" y="2194560"/>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Where do they succeed? Where do they struggle?</a:t>
            </a:r>
            <a:endParaRPr lang="en-US" sz="1050" dirty="0"/>
          </a:p>
        </p:txBody>
      </p:sp>
      <p:sp>
        <p:nvSpPr>
          <p:cNvPr id="12" name="Text 9"/>
          <p:cNvSpPr/>
          <p:nvPr/>
        </p:nvSpPr>
        <p:spPr>
          <a:xfrm>
            <a:off x="457200" y="2450592"/>
            <a:ext cx="3904488" cy="237744"/>
          </a:xfrm>
          <a:prstGeom prst="rect">
            <a:avLst/>
          </a:prstGeom>
          <a:noFill/>
          <a:ln/>
        </p:spPr>
        <p:txBody>
          <a:bodyPr wrap="square" lIns="0" tIns="0" rIns="0" bIns="0" rtlCol="0" anchor="ctr"/>
          <a:lstStyle/>
          <a:p>
            <a:pPr indent="0" marL="0">
              <a:buNone/>
            </a:pPr>
            <a:r>
              <a:rPr lang="en-US" sz="1050" dirty="0">
                <a:solidFill>
                  <a:srgbClr val="1E2D3D"/>
                </a:solidFill>
              </a:rPr>
              <a:t>• How do their needs change over time?</a:t>
            </a:r>
            <a:endParaRPr lang="en-US" sz="1050" dirty="0"/>
          </a:p>
        </p:txBody>
      </p:sp>
      <p:sp>
        <p:nvSpPr>
          <p:cNvPr id="13" name="Shape 10"/>
          <p:cNvSpPr/>
          <p:nvPr/>
        </p:nvSpPr>
        <p:spPr>
          <a:xfrm>
            <a:off x="411480" y="2651760"/>
            <a:ext cx="3977640" cy="256032"/>
          </a:xfrm>
          <a:prstGeom prst="rect">
            <a:avLst/>
          </a:prstGeom>
          <a:solidFill>
            <a:srgbClr val="3A7DC9">
              <a:alpha val="12000"/>
            </a:srgbClr>
          </a:solidFill>
          <a:ln/>
        </p:spPr>
      </p:sp>
      <p:sp>
        <p:nvSpPr>
          <p:cNvPr id="14" name="Text 11"/>
          <p:cNvSpPr/>
          <p:nvPr/>
        </p:nvSpPr>
        <p:spPr>
          <a:xfrm>
            <a:off x="457200" y="2651760"/>
            <a:ext cx="3886200" cy="256032"/>
          </a:xfrm>
          <a:prstGeom prst="rect">
            <a:avLst/>
          </a:prstGeom>
          <a:noFill/>
          <a:ln/>
        </p:spPr>
        <p:txBody>
          <a:bodyPr wrap="square" lIns="0" tIns="0" rIns="0" bIns="0" rtlCol="0" anchor="ctr"/>
          <a:lstStyle/>
          <a:p>
            <a:pPr indent="0" marL="0">
              <a:buNone/>
            </a:pPr>
            <a:r>
              <a:rPr lang="en-US" sz="950" i="1" dirty="0">
                <a:solidFill>
                  <a:srgbClr val="3A7DC9"/>
                </a:solidFill>
              </a:rPr>
              <a:t>Agent: Feed user research, journey maps, and feedback themes into context. Agents that know the user write better code.</a:t>
            </a:r>
            <a:endParaRPr lang="en-US" sz="950" dirty="0"/>
          </a:p>
        </p:txBody>
      </p:sp>
      <p:sp>
        <p:nvSpPr>
          <p:cNvPr id="15" name="Shape 12"/>
          <p:cNvSpPr/>
          <p:nvPr/>
        </p:nvSpPr>
        <p:spPr>
          <a:xfrm>
            <a:off x="4663440" y="1170432"/>
            <a:ext cx="4160520" cy="181051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6" name="Shape 13"/>
          <p:cNvSpPr/>
          <p:nvPr/>
        </p:nvSpPr>
        <p:spPr>
          <a:xfrm>
            <a:off x="4663440" y="1170432"/>
            <a:ext cx="4160520" cy="438912"/>
          </a:xfrm>
          <a:prstGeom prst="rect">
            <a:avLst/>
          </a:prstGeom>
          <a:solidFill>
            <a:srgbClr val="4A7FA8"/>
          </a:solidFill>
          <a:ln/>
        </p:spPr>
      </p:sp>
      <p:pic>
        <p:nvPicPr>
          <p:cNvPr id="17" name="Image 1" descr="preencoded.png">    </p:cNvPr>
          <p:cNvPicPr>
            <a:picLocks noChangeAspect="1"/>
          </p:cNvPicPr>
          <p:nvPr/>
        </p:nvPicPr>
        <p:blipFill>
          <a:blip r:embed="rId2"/>
          <a:stretch>
            <a:fillRect/>
          </a:stretch>
        </p:blipFill>
        <p:spPr>
          <a:xfrm>
            <a:off x="4791456" y="1261872"/>
            <a:ext cx="274320" cy="274320"/>
          </a:xfrm>
          <a:prstGeom prst="rect">
            <a:avLst/>
          </a:prstGeom>
        </p:spPr>
      </p:pic>
      <p:sp>
        <p:nvSpPr>
          <p:cNvPr id="18" name="Text 14"/>
          <p:cNvSpPr/>
          <p:nvPr/>
        </p:nvSpPr>
        <p:spPr>
          <a:xfrm>
            <a:off x="5138928" y="1170432"/>
            <a:ext cx="3593592" cy="438912"/>
          </a:xfrm>
          <a:prstGeom prst="rect">
            <a:avLst/>
          </a:prstGeom>
          <a:noFill/>
          <a:ln/>
        </p:spPr>
        <p:txBody>
          <a:bodyPr wrap="square" lIns="0" tIns="0" rIns="0" bIns="0" rtlCol="0" anchor="ctr"/>
          <a:lstStyle/>
          <a:p>
            <a:pPr indent="0" marL="0">
              <a:buNone/>
            </a:pPr>
            <a:r>
              <a:rPr lang="en-US" sz="1400" b="1" dirty="0">
                <a:solidFill>
                  <a:srgbClr val="FFFFFF"/>
                </a:solidFill>
              </a:rPr>
              <a:t>The Architecture</a:t>
            </a:r>
            <a:endParaRPr lang="en-US" sz="1400" dirty="0"/>
          </a:p>
        </p:txBody>
      </p:sp>
      <p:sp>
        <p:nvSpPr>
          <p:cNvPr id="19" name="Text 15"/>
          <p:cNvSpPr/>
          <p:nvPr/>
        </p:nvSpPr>
        <p:spPr>
          <a:xfrm>
            <a:off x="4800600" y="1682496"/>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are the core bounded contexts?</a:t>
            </a:r>
            <a:endParaRPr lang="en-US" sz="1050" dirty="0"/>
          </a:p>
        </p:txBody>
      </p:sp>
      <p:sp>
        <p:nvSpPr>
          <p:cNvPr id="20" name="Text 16"/>
          <p:cNvSpPr/>
          <p:nvPr/>
        </p:nvSpPr>
        <p:spPr>
          <a:xfrm>
            <a:off x="4800600" y="1938528"/>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are the integration points and contracts?</a:t>
            </a:r>
            <a:endParaRPr lang="en-US" sz="1050" dirty="0"/>
          </a:p>
        </p:txBody>
      </p:sp>
      <p:sp>
        <p:nvSpPr>
          <p:cNvPr id="21" name="Text 17"/>
          <p:cNvSpPr/>
          <p:nvPr/>
        </p:nvSpPr>
        <p:spPr>
          <a:xfrm>
            <a:off x="4800600" y="2194560"/>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Where are the known weak spots?</a:t>
            </a:r>
            <a:endParaRPr lang="en-US" sz="1050" dirty="0"/>
          </a:p>
        </p:txBody>
      </p:sp>
      <p:sp>
        <p:nvSpPr>
          <p:cNvPr id="22" name="Text 18"/>
          <p:cNvSpPr/>
          <p:nvPr/>
        </p:nvSpPr>
        <p:spPr>
          <a:xfrm>
            <a:off x="4800600" y="2450592"/>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constraints shaped the current design?</a:t>
            </a:r>
            <a:endParaRPr lang="en-US" sz="1050" dirty="0"/>
          </a:p>
        </p:txBody>
      </p:sp>
      <p:sp>
        <p:nvSpPr>
          <p:cNvPr id="23" name="Shape 19"/>
          <p:cNvSpPr/>
          <p:nvPr/>
        </p:nvSpPr>
        <p:spPr>
          <a:xfrm>
            <a:off x="4754880" y="2651760"/>
            <a:ext cx="3977640" cy="256032"/>
          </a:xfrm>
          <a:prstGeom prst="rect">
            <a:avLst/>
          </a:prstGeom>
          <a:solidFill>
            <a:srgbClr val="4A7FA8">
              <a:alpha val="12000"/>
            </a:srgbClr>
          </a:solidFill>
          <a:ln/>
        </p:spPr>
      </p:sp>
      <p:sp>
        <p:nvSpPr>
          <p:cNvPr id="24" name="Text 20"/>
          <p:cNvSpPr/>
          <p:nvPr/>
        </p:nvSpPr>
        <p:spPr>
          <a:xfrm>
            <a:off x="4800600" y="2651760"/>
            <a:ext cx="3886200" cy="256032"/>
          </a:xfrm>
          <a:prstGeom prst="rect">
            <a:avLst/>
          </a:prstGeom>
          <a:noFill/>
          <a:ln/>
        </p:spPr>
        <p:txBody>
          <a:bodyPr wrap="square" lIns="0" tIns="0" rIns="0" bIns="0" rtlCol="0" anchor="ctr"/>
          <a:lstStyle/>
          <a:p>
            <a:pPr indent="0" marL="0">
              <a:buNone/>
            </a:pPr>
            <a:r>
              <a:rPr lang="en-US" sz="950" i="1" dirty="0">
                <a:solidFill>
                  <a:srgbClr val="4A7FA8"/>
                </a:solidFill>
              </a:rPr>
              <a:t>Agent: ADRs, architecture docs, and schema definitions in the agent’s context window prevent architectural violations.</a:t>
            </a:r>
            <a:endParaRPr lang="en-US" sz="950" dirty="0"/>
          </a:p>
        </p:txBody>
      </p:sp>
      <p:sp>
        <p:nvSpPr>
          <p:cNvPr id="25" name="Shape 21"/>
          <p:cNvSpPr/>
          <p:nvPr/>
        </p:nvSpPr>
        <p:spPr>
          <a:xfrm>
            <a:off x="320040" y="3108960"/>
            <a:ext cx="4160520" cy="181051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6" name="Shape 22"/>
          <p:cNvSpPr/>
          <p:nvPr/>
        </p:nvSpPr>
        <p:spPr>
          <a:xfrm>
            <a:off x="320040" y="3108960"/>
            <a:ext cx="4160520" cy="438912"/>
          </a:xfrm>
          <a:prstGeom prst="rect">
            <a:avLst/>
          </a:prstGeom>
          <a:solidFill>
            <a:srgbClr val="3A7E6E"/>
          </a:solidFill>
          <a:ln/>
        </p:spPr>
      </p:sp>
      <p:pic>
        <p:nvPicPr>
          <p:cNvPr id="27" name="Image 2" descr="preencoded.png">    </p:cNvPr>
          <p:cNvPicPr>
            <a:picLocks noChangeAspect="1"/>
          </p:cNvPicPr>
          <p:nvPr/>
        </p:nvPicPr>
        <p:blipFill>
          <a:blip r:embed="rId3"/>
          <a:stretch>
            <a:fillRect/>
          </a:stretch>
        </p:blipFill>
        <p:spPr>
          <a:xfrm>
            <a:off x="448056" y="3200400"/>
            <a:ext cx="274320" cy="274320"/>
          </a:xfrm>
          <a:prstGeom prst="rect">
            <a:avLst/>
          </a:prstGeom>
        </p:spPr>
      </p:pic>
      <p:sp>
        <p:nvSpPr>
          <p:cNvPr id="28" name="Text 23"/>
          <p:cNvSpPr/>
          <p:nvPr/>
        </p:nvSpPr>
        <p:spPr>
          <a:xfrm>
            <a:off x="795528" y="3108960"/>
            <a:ext cx="3593592" cy="438912"/>
          </a:xfrm>
          <a:prstGeom prst="rect">
            <a:avLst/>
          </a:prstGeom>
          <a:noFill/>
          <a:ln/>
        </p:spPr>
        <p:txBody>
          <a:bodyPr wrap="square" lIns="0" tIns="0" rIns="0" bIns="0" rtlCol="0" anchor="ctr"/>
          <a:lstStyle/>
          <a:p>
            <a:pPr indent="0" marL="0">
              <a:buNone/>
            </a:pPr>
            <a:r>
              <a:rPr lang="en-US" sz="1400" b="1" dirty="0">
                <a:solidFill>
                  <a:srgbClr val="FFFFFF"/>
                </a:solidFill>
              </a:rPr>
              <a:t>The Business</a:t>
            </a:r>
            <a:endParaRPr lang="en-US" sz="1400" dirty="0"/>
          </a:p>
        </p:txBody>
      </p:sp>
      <p:sp>
        <p:nvSpPr>
          <p:cNvPr id="29" name="Text 24"/>
          <p:cNvSpPr/>
          <p:nvPr/>
        </p:nvSpPr>
        <p:spPr>
          <a:xfrm>
            <a:off x="457200" y="3621024"/>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business capabilities does this system enable?</a:t>
            </a:r>
            <a:endParaRPr lang="en-US" sz="1050" dirty="0"/>
          </a:p>
        </p:txBody>
      </p:sp>
      <p:sp>
        <p:nvSpPr>
          <p:cNvPr id="30" name="Text 25"/>
          <p:cNvSpPr/>
          <p:nvPr/>
        </p:nvSpPr>
        <p:spPr>
          <a:xfrm>
            <a:off x="457200" y="3877056"/>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are the north star metrics?</a:t>
            </a:r>
            <a:endParaRPr lang="en-US" sz="1050" dirty="0"/>
          </a:p>
        </p:txBody>
      </p:sp>
      <p:sp>
        <p:nvSpPr>
          <p:cNvPr id="31" name="Text 26"/>
          <p:cNvSpPr/>
          <p:nvPr/>
        </p:nvSpPr>
        <p:spPr>
          <a:xfrm>
            <a:off x="457200" y="4133088"/>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What’s the cost of downtime or quality failure?</a:t>
            </a:r>
            <a:endParaRPr lang="en-US" sz="1050" dirty="0"/>
          </a:p>
        </p:txBody>
      </p:sp>
      <p:sp>
        <p:nvSpPr>
          <p:cNvPr id="32" name="Text 27"/>
          <p:cNvSpPr/>
          <p:nvPr/>
        </p:nvSpPr>
        <p:spPr>
          <a:xfrm>
            <a:off x="457200" y="4389120"/>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is the competitive differentiation this system provides?</a:t>
            </a:r>
            <a:endParaRPr lang="en-US" sz="1050" dirty="0"/>
          </a:p>
        </p:txBody>
      </p:sp>
      <p:sp>
        <p:nvSpPr>
          <p:cNvPr id="33" name="Shape 28"/>
          <p:cNvSpPr/>
          <p:nvPr/>
        </p:nvSpPr>
        <p:spPr>
          <a:xfrm>
            <a:off x="411480" y="4590288"/>
            <a:ext cx="3977640" cy="256032"/>
          </a:xfrm>
          <a:prstGeom prst="rect">
            <a:avLst/>
          </a:prstGeom>
          <a:solidFill>
            <a:srgbClr val="3A7E6E">
              <a:alpha val="12000"/>
            </a:srgbClr>
          </a:solidFill>
          <a:ln/>
        </p:spPr>
      </p:sp>
      <p:sp>
        <p:nvSpPr>
          <p:cNvPr id="34" name="Text 29"/>
          <p:cNvSpPr/>
          <p:nvPr/>
        </p:nvSpPr>
        <p:spPr>
          <a:xfrm>
            <a:off x="457200" y="4590288"/>
            <a:ext cx="3886200" cy="256032"/>
          </a:xfrm>
          <a:prstGeom prst="rect">
            <a:avLst/>
          </a:prstGeom>
          <a:noFill/>
          <a:ln/>
        </p:spPr>
        <p:txBody>
          <a:bodyPr wrap="square" lIns="0" tIns="0" rIns="0" bIns="0" rtlCol="0" anchor="ctr"/>
          <a:lstStyle/>
          <a:p>
            <a:pPr indent="0" marL="0">
              <a:buNone/>
            </a:pPr>
            <a:r>
              <a:rPr lang="en-US" sz="950" i="1" dirty="0">
                <a:solidFill>
                  <a:srgbClr val="3A7E6E"/>
                </a:solidFill>
              </a:rPr>
              <a:t>Agent: Agents that understand business context prioritise correctly and avoid building features that conflict with strategy.</a:t>
            </a:r>
            <a:endParaRPr lang="en-US" sz="950" dirty="0"/>
          </a:p>
        </p:txBody>
      </p:sp>
      <p:sp>
        <p:nvSpPr>
          <p:cNvPr id="35" name="Shape 30"/>
          <p:cNvSpPr/>
          <p:nvPr/>
        </p:nvSpPr>
        <p:spPr>
          <a:xfrm>
            <a:off x="4663440" y="3108960"/>
            <a:ext cx="4160520" cy="181051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6" name="Shape 31"/>
          <p:cNvSpPr/>
          <p:nvPr/>
        </p:nvSpPr>
        <p:spPr>
          <a:xfrm>
            <a:off x="4663440" y="3108960"/>
            <a:ext cx="4160520" cy="438912"/>
          </a:xfrm>
          <a:prstGeom prst="rect">
            <a:avLst/>
          </a:prstGeom>
          <a:solidFill>
            <a:srgbClr val="8096B0"/>
          </a:solidFill>
          <a:ln/>
        </p:spPr>
      </p:sp>
      <p:pic>
        <p:nvPicPr>
          <p:cNvPr id="37" name="Image 3" descr="preencoded.png">    </p:cNvPr>
          <p:cNvPicPr>
            <a:picLocks noChangeAspect="1"/>
          </p:cNvPicPr>
          <p:nvPr/>
        </p:nvPicPr>
        <p:blipFill>
          <a:blip r:embed="rId4"/>
          <a:stretch>
            <a:fillRect/>
          </a:stretch>
        </p:blipFill>
        <p:spPr>
          <a:xfrm>
            <a:off x="4791456" y="3200400"/>
            <a:ext cx="274320" cy="274320"/>
          </a:xfrm>
          <a:prstGeom prst="rect">
            <a:avLst/>
          </a:prstGeom>
        </p:spPr>
      </p:pic>
      <p:sp>
        <p:nvSpPr>
          <p:cNvPr id="38" name="Text 32"/>
          <p:cNvSpPr/>
          <p:nvPr/>
        </p:nvSpPr>
        <p:spPr>
          <a:xfrm>
            <a:off x="5138928" y="3108960"/>
            <a:ext cx="3593592" cy="438912"/>
          </a:xfrm>
          <a:prstGeom prst="rect">
            <a:avLst/>
          </a:prstGeom>
          <a:noFill/>
          <a:ln/>
        </p:spPr>
        <p:txBody>
          <a:bodyPr wrap="square" lIns="0" tIns="0" rIns="0" bIns="0" rtlCol="0" anchor="ctr"/>
          <a:lstStyle/>
          <a:p>
            <a:pPr indent="0" marL="0">
              <a:buNone/>
            </a:pPr>
            <a:r>
              <a:rPr lang="en-US" sz="1400" b="1" dirty="0">
                <a:solidFill>
                  <a:srgbClr val="FFFFFF"/>
                </a:solidFill>
              </a:rPr>
              <a:t>The Codebase</a:t>
            </a:r>
            <a:endParaRPr lang="en-US" sz="1400" dirty="0"/>
          </a:p>
        </p:txBody>
      </p:sp>
      <p:sp>
        <p:nvSpPr>
          <p:cNvPr id="39" name="Text 33"/>
          <p:cNvSpPr/>
          <p:nvPr/>
        </p:nvSpPr>
        <p:spPr>
          <a:xfrm>
            <a:off x="4800600" y="3621024"/>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are the dominant patterns and idioms?</a:t>
            </a:r>
            <a:endParaRPr lang="en-US" sz="1050" dirty="0"/>
          </a:p>
        </p:txBody>
      </p:sp>
      <p:sp>
        <p:nvSpPr>
          <p:cNvPr id="40" name="Text 34"/>
          <p:cNvSpPr/>
          <p:nvPr/>
        </p:nvSpPr>
        <p:spPr>
          <a:xfrm>
            <a:off x="4800600" y="3877056"/>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Where is the most-changed code? (hotspots)</a:t>
            </a:r>
            <a:endParaRPr lang="en-US" sz="1050" dirty="0"/>
          </a:p>
        </p:txBody>
      </p:sp>
      <p:sp>
        <p:nvSpPr>
          <p:cNvPr id="41" name="Text 35"/>
          <p:cNvSpPr/>
          <p:nvPr/>
        </p:nvSpPr>
        <p:spPr>
          <a:xfrm>
            <a:off x="4800600" y="4133088"/>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Where is the highest-risk code? (complexity)</a:t>
            </a:r>
            <a:endParaRPr lang="en-US" sz="1050" dirty="0"/>
          </a:p>
        </p:txBody>
      </p:sp>
      <p:sp>
        <p:nvSpPr>
          <p:cNvPr id="42" name="Text 36"/>
          <p:cNvSpPr/>
          <p:nvPr/>
        </p:nvSpPr>
        <p:spPr>
          <a:xfrm>
            <a:off x="4800600" y="4389120"/>
            <a:ext cx="3904488" cy="237744"/>
          </a:xfrm>
          <a:prstGeom prst="rect">
            <a:avLst/>
          </a:prstGeom>
          <a:noFill/>
          <a:ln/>
        </p:spPr>
        <p:txBody>
          <a:bodyPr wrap="square" lIns="0" tIns="0" rIns="0" bIns="0" rtlCol="0" anchor="ctr"/>
          <a:lstStyle/>
          <a:p>
            <a:pPr indent="0" marL="0">
              <a:buNone/>
            </a:pPr>
            <a:r>
              <a:rPr lang="en-US" sz="1050" dirty="0">
                <a:solidFill>
                  <a:srgbClr val="1E2D3D"/>
                </a:solidFill>
              </a:rPr>
              <a:t>• What does the test coverage picture look like?</a:t>
            </a:r>
            <a:endParaRPr lang="en-US" sz="1050" dirty="0"/>
          </a:p>
        </p:txBody>
      </p:sp>
      <p:sp>
        <p:nvSpPr>
          <p:cNvPr id="43" name="Shape 37"/>
          <p:cNvSpPr/>
          <p:nvPr/>
        </p:nvSpPr>
        <p:spPr>
          <a:xfrm>
            <a:off x="4754880" y="4590288"/>
            <a:ext cx="3977640" cy="256032"/>
          </a:xfrm>
          <a:prstGeom prst="rect">
            <a:avLst/>
          </a:prstGeom>
          <a:solidFill>
            <a:srgbClr val="8096B0">
              <a:alpha val="12000"/>
            </a:srgbClr>
          </a:solidFill>
          <a:ln/>
        </p:spPr>
      </p:sp>
      <p:sp>
        <p:nvSpPr>
          <p:cNvPr id="44" name="Text 38"/>
          <p:cNvSpPr/>
          <p:nvPr/>
        </p:nvSpPr>
        <p:spPr>
          <a:xfrm>
            <a:off x="4800600" y="4590288"/>
            <a:ext cx="3886200" cy="256032"/>
          </a:xfrm>
          <a:prstGeom prst="rect">
            <a:avLst/>
          </a:prstGeom>
          <a:noFill/>
          <a:ln/>
        </p:spPr>
        <p:txBody>
          <a:bodyPr wrap="square" lIns="0" tIns="0" rIns="0" bIns="0" rtlCol="0" anchor="ctr"/>
          <a:lstStyle/>
          <a:p>
            <a:pPr indent="0" marL="0">
              <a:buNone/>
            </a:pPr>
            <a:r>
              <a:rPr lang="en-US" sz="950" i="1" dirty="0">
                <a:solidFill>
                  <a:srgbClr val="8096B0"/>
                </a:solidFill>
              </a:rPr>
              <a:t>Agent: Code understanding = better context. Map hotspots, complexity, and coverage. Agents use these to make safer changes.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THE PRODUCT CONTEXT DOCUMENT</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A living document that is both the team’s shared mental model and the agent’s primary product context source</a:t>
            </a:r>
            <a:endParaRPr lang="en-US" sz="1200" dirty="0"/>
          </a:p>
        </p:txBody>
      </p:sp>
      <p:sp>
        <p:nvSpPr>
          <p:cNvPr id="5" name="Shape 3"/>
          <p:cNvSpPr/>
          <p:nvPr/>
        </p:nvSpPr>
        <p:spPr>
          <a:xfrm>
            <a:off x="320040" y="1170432"/>
            <a:ext cx="4160520" cy="37490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160520" cy="402336"/>
          </a:xfrm>
          <a:prstGeom prst="rect">
            <a:avLst/>
          </a:prstGeom>
          <a:solidFill>
            <a:srgbClr val="1C3557"/>
          </a:solidFill>
          <a:ln/>
        </p:spPr>
      </p:sp>
      <p:sp>
        <p:nvSpPr>
          <p:cNvPr id="7" name="Text 5"/>
          <p:cNvSpPr/>
          <p:nvPr/>
        </p:nvSpPr>
        <p:spPr>
          <a:xfrm>
            <a:off x="320040" y="1170432"/>
            <a:ext cx="4160520" cy="402336"/>
          </a:xfrm>
          <a:prstGeom prst="rect">
            <a:avLst/>
          </a:prstGeom>
          <a:noFill/>
          <a:ln/>
        </p:spPr>
        <p:txBody>
          <a:bodyPr wrap="square" lIns="0" tIns="0" rIns="0" bIns="0" rtlCol="0" anchor="ctr"/>
          <a:lstStyle/>
          <a:p>
            <a:pPr algn="ctr" indent="0" marL="0">
              <a:buNone/>
            </a:pPr>
            <a:r>
              <a:rPr lang="en-US" sz="1100" b="1" spc="150" kern="0" dirty="0">
                <a:solidFill>
                  <a:srgbClr val="FFFFFF"/>
                </a:solidFill>
              </a:rPr>
              <a:t>PRODUCT.md  —  RECOMMENDED STRUCTURE</a:t>
            </a:r>
            <a:endParaRPr lang="en-US" sz="1100" dirty="0"/>
          </a:p>
        </p:txBody>
      </p:sp>
      <p:sp>
        <p:nvSpPr>
          <p:cNvPr id="8" name="Shape 6"/>
          <p:cNvSpPr/>
          <p:nvPr/>
        </p:nvSpPr>
        <p:spPr>
          <a:xfrm>
            <a:off x="429768" y="1664208"/>
            <a:ext cx="3931920" cy="347472"/>
          </a:xfrm>
          <a:prstGeom prst="rect">
            <a:avLst/>
          </a:prstGeom>
          <a:solidFill>
            <a:srgbClr val="FFFFFF"/>
          </a:solidFill>
          <a:ln/>
        </p:spPr>
      </p:sp>
      <p:sp>
        <p:nvSpPr>
          <p:cNvPr id="9" name="Text 7"/>
          <p:cNvSpPr/>
          <p:nvPr/>
        </p:nvSpPr>
        <p:spPr>
          <a:xfrm>
            <a:off x="502920" y="1664208"/>
            <a:ext cx="1664208" cy="347472"/>
          </a:xfrm>
          <a:prstGeom prst="rect">
            <a:avLst/>
          </a:prstGeom>
          <a:noFill/>
          <a:ln/>
        </p:spPr>
        <p:txBody>
          <a:bodyPr wrap="square" lIns="0" tIns="0" rIns="0" bIns="0" rtlCol="0" anchor="ctr"/>
          <a:lstStyle/>
          <a:p>
            <a:pPr indent="0" marL="0">
              <a:buNone/>
            </a:pPr>
            <a:r>
              <a:rPr lang="en-US" sz="1050" b="1" dirty="0">
                <a:solidFill>
                  <a:srgbClr val="3A7DC9"/>
                </a:solidFill>
                <a:latin typeface="Consolas" pitchFamily="34" charset="0"/>
                <a:ea typeface="Consolas" pitchFamily="34" charset="-122"/>
                <a:cs typeface="Consolas" pitchFamily="34" charset="-120"/>
              </a:rPr>
              <a:t># Product Vision</a:t>
            </a:r>
            <a:endParaRPr lang="en-US" sz="1050" dirty="0"/>
          </a:p>
        </p:txBody>
      </p:sp>
      <p:sp>
        <p:nvSpPr>
          <p:cNvPr id="10" name="Text 8"/>
          <p:cNvSpPr/>
          <p:nvPr/>
        </p:nvSpPr>
        <p:spPr>
          <a:xfrm>
            <a:off x="2212848" y="1664208"/>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One paragraph. What does this system exist to do?</a:t>
            </a:r>
            <a:endParaRPr lang="en-US" sz="1000" dirty="0"/>
          </a:p>
        </p:txBody>
      </p:sp>
      <p:sp>
        <p:nvSpPr>
          <p:cNvPr id="11" name="Shape 9"/>
          <p:cNvSpPr/>
          <p:nvPr/>
        </p:nvSpPr>
        <p:spPr>
          <a:xfrm>
            <a:off x="429768" y="2066544"/>
            <a:ext cx="3931920" cy="347472"/>
          </a:xfrm>
          <a:prstGeom prst="rect">
            <a:avLst/>
          </a:prstGeom>
          <a:solidFill>
            <a:srgbClr val="F3F6F9"/>
          </a:solidFill>
          <a:ln/>
        </p:spPr>
      </p:sp>
      <p:sp>
        <p:nvSpPr>
          <p:cNvPr id="12" name="Text 10"/>
          <p:cNvSpPr/>
          <p:nvPr/>
        </p:nvSpPr>
        <p:spPr>
          <a:xfrm>
            <a:off x="502920" y="2066544"/>
            <a:ext cx="1664208" cy="347472"/>
          </a:xfrm>
          <a:prstGeom prst="rect">
            <a:avLst/>
          </a:prstGeom>
          <a:noFill/>
          <a:ln/>
        </p:spPr>
        <p:txBody>
          <a:bodyPr wrap="square" lIns="0" tIns="0" rIns="0" bIns="0" rtlCol="0" anchor="ctr"/>
          <a:lstStyle/>
          <a:p>
            <a:pPr indent="0" marL="0">
              <a:buNone/>
            </a:pPr>
            <a:r>
              <a:rPr lang="en-US" sz="1050" b="1" dirty="0">
                <a:solidFill>
                  <a:srgbClr val="4A7FA8"/>
                </a:solidFill>
                <a:latin typeface="Consolas" pitchFamily="34" charset="0"/>
                <a:ea typeface="Consolas" pitchFamily="34" charset="-122"/>
                <a:cs typeface="Consolas" pitchFamily="34" charset="-120"/>
              </a:rPr>
              <a:t>## Users</a:t>
            </a:r>
            <a:endParaRPr lang="en-US" sz="1050" dirty="0"/>
          </a:p>
        </p:txBody>
      </p:sp>
      <p:sp>
        <p:nvSpPr>
          <p:cNvPr id="13" name="Text 11"/>
          <p:cNvSpPr/>
          <p:nvPr/>
        </p:nvSpPr>
        <p:spPr>
          <a:xfrm>
            <a:off x="2212848" y="2066544"/>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Personas, jobs-to-be-done, key pain points</a:t>
            </a:r>
            <a:endParaRPr lang="en-US" sz="1000" dirty="0"/>
          </a:p>
        </p:txBody>
      </p:sp>
      <p:sp>
        <p:nvSpPr>
          <p:cNvPr id="14" name="Shape 12"/>
          <p:cNvSpPr/>
          <p:nvPr/>
        </p:nvSpPr>
        <p:spPr>
          <a:xfrm>
            <a:off x="429768" y="2468880"/>
            <a:ext cx="3931920" cy="347472"/>
          </a:xfrm>
          <a:prstGeom prst="rect">
            <a:avLst/>
          </a:prstGeom>
          <a:solidFill>
            <a:srgbClr val="FFFFFF"/>
          </a:solidFill>
          <a:ln/>
        </p:spPr>
      </p:sp>
      <p:sp>
        <p:nvSpPr>
          <p:cNvPr id="15" name="Text 13"/>
          <p:cNvSpPr/>
          <p:nvPr/>
        </p:nvSpPr>
        <p:spPr>
          <a:xfrm>
            <a:off x="502920" y="2468880"/>
            <a:ext cx="1664208" cy="347472"/>
          </a:xfrm>
          <a:prstGeom prst="rect">
            <a:avLst/>
          </a:prstGeom>
          <a:noFill/>
          <a:ln/>
        </p:spPr>
        <p:txBody>
          <a:bodyPr wrap="square" lIns="0" tIns="0" rIns="0" bIns="0" rtlCol="0" anchor="ctr"/>
          <a:lstStyle/>
          <a:p>
            <a:pPr indent="0" marL="0">
              <a:buNone/>
            </a:pPr>
            <a:r>
              <a:rPr lang="en-US" sz="1050" b="1" dirty="0">
                <a:solidFill>
                  <a:srgbClr val="3A7E6E"/>
                </a:solidFill>
                <a:latin typeface="Consolas" pitchFamily="34" charset="0"/>
                <a:ea typeface="Consolas" pitchFamily="34" charset="-122"/>
                <a:cs typeface="Consolas" pitchFamily="34" charset="-120"/>
              </a:rPr>
              <a:t>## Business Context</a:t>
            </a:r>
            <a:endParaRPr lang="en-US" sz="1050" dirty="0"/>
          </a:p>
        </p:txBody>
      </p:sp>
      <p:sp>
        <p:nvSpPr>
          <p:cNvPr id="16" name="Text 14"/>
          <p:cNvSpPr/>
          <p:nvPr/>
        </p:nvSpPr>
        <p:spPr>
          <a:xfrm>
            <a:off x="2212848" y="2468880"/>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North star metrics, strategic importance, cost of failure</a:t>
            </a:r>
            <a:endParaRPr lang="en-US" sz="1000" dirty="0"/>
          </a:p>
        </p:txBody>
      </p:sp>
      <p:sp>
        <p:nvSpPr>
          <p:cNvPr id="17" name="Shape 15"/>
          <p:cNvSpPr/>
          <p:nvPr/>
        </p:nvSpPr>
        <p:spPr>
          <a:xfrm>
            <a:off x="429768" y="2871216"/>
            <a:ext cx="3931920" cy="347472"/>
          </a:xfrm>
          <a:prstGeom prst="rect">
            <a:avLst/>
          </a:prstGeom>
          <a:solidFill>
            <a:srgbClr val="F3F6F9"/>
          </a:solidFill>
          <a:ln/>
        </p:spPr>
      </p:sp>
      <p:sp>
        <p:nvSpPr>
          <p:cNvPr id="18" name="Text 16"/>
          <p:cNvSpPr/>
          <p:nvPr/>
        </p:nvSpPr>
        <p:spPr>
          <a:xfrm>
            <a:off x="502920" y="2871216"/>
            <a:ext cx="1664208" cy="347472"/>
          </a:xfrm>
          <a:prstGeom prst="rect">
            <a:avLst/>
          </a:prstGeom>
          <a:noFill/>
          <a:ln/>
        </p:spPr>
        <p:txBody>
          <a:bodyPr wrap="square" lIns="0" tIns="0" rIns="0" bIns="0" rtlCol="0" anchor="ctr"/>
          <a:lstStyle/>
          <a:p>
            <a:pPr indent="0" marL="0">
              <a:buNone/>
            </a:pPr>
            <a:r>
              <a:rPr lang="en-US" sz="1050" b="1" dirty="0">
                <a:solidFill>
                  <a:srgbClr val="8096B0"/>
                </a:solidFill>
                <a:latin typeface="Consolas" pitchFamily="34" charset="0"/>
                <a:ea typeface="Consolas" pitchFamily="34" charset="-122"/>
                <a:cs typeface="Consolas" pitchFamily="34" charset="-120"/>
              </a:rPr>
              <a:t>## Architecture Overview</a:t>
            </a:r>
            <a:endParaRPr lang="en-US" sz="1050" dirty="0"/>
          </a:p>
        </p:txBody>
      </p:sp>
      <p:sp>
        <p:nvSpPr>
          <p:cNvPr id="19" name="Text 17"/>
          <p:cNvSpPr/>
          <p:nvPr/>
        </p:nvSpPr>
        <p:spPr>
          <a:xfrm>
            <a:off x="2212848" y="2871216"/>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Bounded contexts, integration contracts, key constraints</a:t>
            </a:r>
            <a:endParaRPr lang="en-US" sz="1000" dirty="0"/>
          </a:p>
        </p:txBody>
      </p:sp>
      <p:sp>
        <p:nvSpPr>
          <p:cNvPr id="20" name="Shape 18"/>
          <p:cNvSpPr/>
          <p:nvPr/>
        </p:nvSpPr>
        <p:spPr>
          <a:xfrm>
            <a:off x="429768" y="3273552"/>
            <a:ext cx="3931920" cy="347472"/>
          </a:xfrm>
          <a:prstGeom prst="rect">
            <a:avLst/>
          </a:prstGeom>
          <a:solidFill>
            <a:srgbClr val="FFFFFF"/>
          </a:solidFill>
          <a:ln/>
        </p:spPr>
      </p:sp>
      <p:sp>
        <p:nvSpPr>
          <p:cNvPr id="21" name="Text 19"/>
          <p:cNvSpPr/>
          <p:nvPr/>
        </p:nvSpPr>
        <p:spPr>
          <a:xfrm>
            <a:off x="502920" y="3273552"/>
            <a:ext cx="1664208" cy="347472"/>
          </a:xfrm>
          <a:prstGeom prst="rect">
            <a:avLst/>
          </a:prstGeom>
          <a:noFill/>
          <a:ln/>
        </p:spPr>
        <p:txBody>
          <a:bodyPr wrap="square" lIns="0" tIns="0" rIns="0" bIns="0" rtlCol="0" anchor="ctr"/>
          <a:lstStyle/>
          <a:p>
            <a:pPr indent="0" marL="0">
              <a:buNone/>
            </a:pPr>
            <a:r>
              <a:rPr lang="en-US" sz="1050" b="1" dirty="0">
                <a:solidFill>
                  <a:srgbClr val="3A7DC9"/>
                </a:solidFill>
                <a:latin typeface="Consolas" pitchFamily="34" charset="0"/>
                <a:ea typeface="Consolas" pitchFamily="34" charset="-122"/>
                <a:cs typeface="Consolas" pitchFamily="34" charset="-120"/>
              </a:rPr>
              <a:t>## Design Principles</a:t>
            </a:r>
            <a:endParaRPr lang="en-US" sz="1050" dirty="0"/>
          </a:p>
        </p:txBody>
      </p:sp>
      <p:sp>
        <p:nvSpPr>
          <p:cNvPr id="22" name="Text 20"/>
          <p:cNvSpPr/>
          <p:nvPr/>
        </p:nvSpPr>
        <p:spPr>
          <a:xfrm>
            <a:off x="2212848" y="3273552"/>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The non-negotiable rules governing how we build</a:t>
            </a:r>
            <a:endParaRPr lang="en-US" sz="1000" dirty="0"/>
          </a:p>
        </p:txBody>
      </p:sp>
      <p:sp>
        <p:nvSpPr>
          <p:cNvPr id="23" name="Shape 21"/>
          <p:cNvSpPr/>
          <p:nvPr/>
        </p:nvSpPr>
        <p:spPr>
          <a:xfrm>
            <a:off x="429768" y="3675888"/>
            <a:ext cx="3931920" cy="347472"/>
          </a:xfrm>
          <a:prstGeom prst="rect">
            <a:avLst/>
          </a:prstGeom>
          <a:solidFill>
            <a:srgbClr val="F3F6F9"/>
          </a:solidFill>
          <a:ln/>
        </p:spPr>
      </p:sp>
      <p:sp>
        <p:nvSpPr>
          <p:cNvPr id="24" name="Text 22"/>
          <p:cNvSpPr/>
          <p:nvPr/>
        </p:nvSpPr>
        <p:spPr>
          <a:xfrm>
            <a:off x="502920" y="3675888"/>
            <a:ext cx="1664208" cy="347472"/>
          </a:xfrm>
          <a:prstGeom prst="rect">
            <a:avLst/>
          </a:prstGeom>
          <a:noFill/>
          <a:ln/>
        </p:spPr>
        <p:txBody>
          <a:bodyPr wrap="square" lIns="0" tIns="0" rIns="0" bIns="0" rtlCol="0" anchor="ctr"/>
          <a:lstStyle/>
          <a:p>
            <a:pPr indent="0" marL="0">
              <a:buNone/>
            </a:pPr>
            <a:r>
              <a:rPr lang="en-US" sz="1050" b="1" dirty="0">
                <a:solidFill>
                  <a:srgbClr val="4A7FA8"/>
                </a:solidFill>
                <a:latin typeface="Consolas" pitchFamily="34" charset="0"/>
                <a:ea typeface="Consolas" pitchFamily="34" charset="-122"/>
                <a:cs typeface="Consolas" pitchFamily="34" charset="-120"/>
              </a:rPr>
              <a:t>## Known Hotspots</a:t>
            </a:r>
            <a:endParaRPr lang="en-US" sz="1050" dirty="0"/>
          </a:p>
        </p:txBody>
      </p:sp>
      <p:sp>
        <p:nvSpPr>
          <p:cNvPr id="25" name="Text 23"/>
          <p:cNvSpPr/>
          <p:nvPr/>
        </p:nvSpPr>
        <p:spPr>
          <a:xfrm>
            <a:off x="2212848" y="3675888"/>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High-change and high-complexity code areas</a:t>
            </a:r>
            <a:endParaRPr lang="en-US" sz="1000" dirty="0"/>
          </a:p>
        </p:txBody>
      </p:sp>
      <p:sp>
        <p:nvSpPr>
          <p:cNvPr id="26" name="Shape 24"/>
          <p:cNvSpPr/>
          <p:nvPr/>
        </p:nvSpPr>
        <p:spPr>
          <a:xfrm>
            <a:off x="429768" y="4078224"/>
            <a:ext cx="3931920" cy="347472"/>
          </a:xfrm>
          <a:prstGeom prst="rect">
            <a:avLst/>
          </a:prstGeom>
          <a:solidFill>
            <a:srgbClr val="FFFFFF"/>
          </a:solidFill>
          <a:ln/>
        </p:spPr>
      </p:sp>
      <p:sp>
        <p:nvSpPr>
          <p:cNvPr id="27" name="Text 25"/>
          <p:cNvSpPr/>
          <p:nvPr/>
        </p:nvSpPr>
        <p:spPr>
          <a:xfrm>
            <a:off x="502920" y="4078224"/>
            <a:ext cx="1664208" cy="347472"/>
          </a:xfrm>
          <a:prstGeom prst="rect">
            <a:avLst/>
          </a:prstGeom>
          <a:noFill/>
          <a:ln/>
        </p:spPr>
        <p:txBody>
          <a:bodyPr wrap="square" lIns="0" tIns="0" rIns="0" bIns="0" rtlCol="0" anchor="ctr"/>
          <a:lstStyle/>
          <a:p>
            <a:pPr indent="0" marL="0">
              <a:buNone/>
            </a:pPr>
            <a:r>
              <a:rPr lang="en-US" sz="1050" b="1" dirty="0">
                <a:solidFill>
                  <a:srgbClr val="3A7E6E"/>
                </a:solidFill>
                <a:latin typeface="Consolas" pitchFamily="34" charset="0"/>
                <a:ea typeface="Consolas" pitchFamily="34" charset="-122"/>
                <a:cs typeface="Consolas" pitchFamily="34" charset="-120"/>
              </a:rPr>
              <a:t>## Roadmap Context</a:t>
            </a:r>
            <a:endParaRPr lang="en-US" sz="1050" dirty="0"/>
          </a:p>
        </p:txBody>
      </p:sp>
      <p:sp>
        <p:nvSpPr>
          <p:cNvPr id="28" name="Text 26"/>
          <p:cNvSpPr/>
          <p:nvPr/>
        </p:nvSpPr>
        <p:spPr>
          <a:xfrm>
            <a:off x="2212848" y="4078224"/>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What’s coming that agents must not contradict</a:t>
            </a:r>
            <a:endParaRPr lang="en-US" sz="1000" dirty="0"/>
          </a:p>
        </p:txBody>
      </p:sp>
      <p:sp>
        <p:nvSpPr>
          <p:cNvPr id="29" name="Shape 27"/>
          <p:cNvSpPr/>
          <p:nvPr/>
        </p:nvSpPr>
        <p:spPr>
          <a:xfrm>
            <a:off x="429768" y="4480560"/>
            <a:ext cx="3931920" cy="347472"/>
          </a:xfrm>
          <a:prstGeom prst="rect">
            <a:avLst/>
          </a:prstGeom>
          <a:solidFill>
            <a:srgbClr val="F3F6F9"/>
          </a:solidFill>
          <a:ln/>
        </p:spPr>
      </p:sp>
      <p:sp>
        <p:nvSpPr>
          <p:cNvPr id="30" name="Text 28"/>
          <p:cNvSpPr/>
          <p:nvPr/>
        </p:nvSpPr>
        <p:spPr>
          <a:xfrm>
            <a:off x="502920" y="4480560"/>
            <a:ext cx="1664208" cy="347472"/>
          </a:xfrm>
          <a:prstGeom prst="rect">
            <a:avLst/>
          </a:prstGeom>
          <a:noFill/>
          <a:ln/>
        </p:spPr>
        <p:txBody>
          <a:bodyPr wrap="square" lIns="0" tIns="0" rIns="0" bIns="0" rtlCol="0" anchor="ctr"/>
          <a:lstStyle/>
          <a:p>
            <a:pPr indent="0" marL="0">
              <a:buNone/>
            </a:pPr>
            <a:r>
              <a:rPr lang="en-US" sz="1050" b="1" dirty="0">
                <a:solidFill>
                  <a:srgbClr val="8096B0"/>
                </a:solidFill>
                <a:latin typeface="Consolas" pitchFamily="34" charset="0"/>
                <a:ea typeface="Consolas" pitchFamily="34" charset="-122"/>
                <a:cs typeface="Consolas" pitchFamily="34" charset="-120"/>
              </a:rPr>
              <a:t>## Non-Negotiables</a:t>
            </a:r>
            <a:endParaRPr lang="en-US" sz="1050" dirty="0"/>
          </a:p>
        </p:txBody>
      </p:sp>
      <p:sp>
        <p:nvSpPr>
          <p:cNvPr id="31" name="Text 29"/>
          <p:cNvSpPr/>
          <p:nvPr/>
        </p:nvSpPr>
        <p:spPr>
          <a:xfrm>
            <a:off x="2212848" y="4480560"/>
            <a:ext cx="2029968" cy="347472"/>
          </a:xfrm>
          <a:prstGeom prst="rect">
            <a:avLst/>
          </a:prstGeom>
          <a:noFill/>
          <a:ln/>
        </p:spPr>
        <p:txBody>
          <a:bodyPr wrap="square" lIns="0" tIns="0" rIns="0" bIns="0" rtlCol="0" anchor="ctr"/>
          <a:lstStyle/>
          <a:p>
            <a:pPr indent="0" marL="0">
              <a:buNone/>
            </a:pPr>
            <a:r>
              <a:rPr lang="en-US" sz="1000" i="1" dirty="0">
                <a:solidFill>
                  <a:srgbClr val="7A90A8"/>
                </a:solidFill>
              </a:rPr>
              <a:t>Security, compliance, and quality floors</a:t>
            </a:r>
            <a:endParaRPr lang="en-US" sz="1000" dirty="0"/>
          </a:p>
        </p:txBody>
      </p:sp>
      <p:sp>
        <p:nvSpPr>
          <p:cNvPr id="32" name="Shape 30"/>
          <p:cNvSpPr/>
          <p:nvPr/>
        </p:nvSpPr>
        <p:spPr>
          <a:xfrm>
            <a:off x="46634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3" name="Shape 31"/>
          <p:cNvSpPr/>
          <p:nvPr/>
        </p:nvSpPr>
        <p:spPr>
          <a:xfrm>
            <a:off x="4663440" y="1170432"/>
            <a:ext cx="4160520" cy="402336"/>
          </a:xfrm>
          <a:prstGeom prst="rect">
            <a:avLst/>
          </a:prstGeom>
          <a:solidFill>
            <a:srgbClr val="3A7DC9"/>
          </a:solidFill>
          <a:ln/>
        </p:spPr>
      </p:sp>
      <p:sp>
        <p:nvSpPr>
          <p:cNvPr id="34" name="Text 32"/>
          <p:cNvSpPr/>
          <p:nvPr/>
        </p:nvSpPr>
        <p:spPr>
          <a:xfrm>
            <a:off x="4663440" y="1170432"/>
            <a:ext cx="4160520" cy="402336"/>
          </a:xfrm>
          <a:prstGeom prst="rect">
            <a:avLst/>
          </a:prstGeom>
          <a:noFill/>
          <a:ln/>
        </p:spPr>
        <p:txBody>
          <a:bodyPr wrap="square" lIns="0" tIns="0" rIns="0" bIns="0" rtlCol="0" anchor="ctr"/>
          <a:lstStyle/>
          <a:p>
            <a:pPr algn="ctr" indent="0" marL="0">
              <a:buNone/>
            </a:pPr>
            <a:r>
              <a:rPr lang="en-US" sz="1100" b="1" spc="200" kern="0" dirty="0">
                <a:solidFill>
                  <a:srgbClr val="FFFFFF"/>
                </a:solidFill>
              </a:rPr>
              <a:t>HOW THE TEAM USES IT</a:t>
            </a:r>
            <a:endParaRPr lang="en-US" sz="1100" dirty="0"/>
          </a:p>
        </p:txBody>
      </p:sp>
      <p:sp>
        <p:nvSpPr>
          <p:cNvPr id="35" name="Text 33"/>
          <p:cNvSpPr/>
          <p:nvPr/>
        </p:nvSpPr>
        <p:spPr>
          <a:xfrm>
            <a:off x="4773168" y="1664208"/>
            <a:ext cx="3950208" cy="256032"/>
          </a:xfrm>
          <a:prstGeom prst="rect">
            <a:avLst/>
          </a:prstGeom>
          <a:noFill/>
          <a:ln/>
        </p:spPr>
        <p:txBody>
          <a:bodyPr wrap="square" lIns="0" tIns="0" rIns="0" bIns="0" rtlCol="0" anchor="ctr"/>
          <a:lstStyle/>
          <a:p>
            <a:pPr indent="0" marL="0">
              <a:buNone/>
            </a:pPr>
            <a:r>
              <a:rPr lang="en-US" sz="1100" dirty="0">
                <a:solidFill>
                  <a:srgbClr val="1E2D3D"/>
                </a:solidFill>
              </a:rPr>
              <a:t>✓ Onboarding: every new team member reads it first</a:t>
            </a:r>
            <a:endParaRPr lang="en-US" sz="1100" dirty="0"/>
          </a:p>
        </p:txBody>
      </p:sp>
      <p:sp>
        <p:nvSpPr>
          <p:cNvPr id="36" name="Text 34"/>
          <p:cNvSpPr/>
          <p:nvPr/>
        </p:nvSpPr>
        <p:spPr>
          <a:xfrm>
            <a:off x="4773168" y="1938528"/>
            <a:ext cx="3950208" cy="256032"/>
          </a:xfrm>
          <a:prstGeom prst="rect">
            <a:avLst/>
          </a:prstGeom>
          <a:noFill/>
          <a:ln/>
        </p:spPr>
        <p:txBody>
          <a:bodyPr wrap="square" lIns="0" tIns="0" rIns="0" bIns="0" rtlCol="0" anchor="ctr"/>
          <a:lstStyle/>
          <a:p>
            <a:pPr indent="0" marL="0">
              <a:buNone/>
            </a:pPr>
            <a:r>
              <a:rPr lang="en-US" sz="1100" dirty="0">
                <a:solidFill>
                  <a:srgbClr val="1E2D3D"/>
                </a:solidFill>
              </a:rPr>
              <a:t>✓ Sprint planning: referenced before writing any spec</a:t>
            </a:r>
            <a:endParaRPr lang="en-US" sz="1100" dirty="0"/>
          </a:p>
        </p:txBody>
      </p:sp>
      <p:sp>
        <p:nvSpPr>
          <p:cNvPr id="37" name="Text 35"/>
          <p:cNvSpPr/>
          <p:nvPr/>
        </p:nvSpPr>
        <p:spPr>
          <a:xfrm>
            <a:off x="4773168" y="2212848"/>
            <a:ext cx="3950208" cy="256032"/>
          </a:xfrm>
          <a:prstGeom prst="rect">
            <a:avLst/>
          </a:prstGeom>
          <a:noFill/>
          <a:ln/>
        </p:spPr>
        <p:txBody>
          <a:bodyPr wrap="square" lIns="0" tIns="0" rIns="0" bIns="0" rtlCol="0" anchor="ctr"/>
          <a:lstStyle/>
          <a:p>
            <a:pPr indent="0" marL="0">
              <a:buNone/>
            </a:pPr>
            <a:r>
              <a:rPr lang="en-US" sz="1100" dirty="0">
                <a:solidFill>
                  <a:srgbClr val="1E2D3D"/>
                </a:solidFill>
              </a:rPr>
              <a:t>✓ Architecture decisions: checked for conflicts</a:t>
            </a:r>
            <a:endParaRPr lang="en-US" sz="1100" dirty="0"/>
          </a:p>
        </p:txBody>
      </p:sp>
      <p:sp>
        <p:nvSpPr>
          <p:cNvPr id="38" name="Text 36"/>
          <p:cNvSpPr/>
          <p:nvPr/>
        </p:nvSpPr>
        <p:spPr>
          <a:xfrm>
            <a:off x="4773168" y="2487168"/>
            <a:ext cx="3950208" cy="256032"/>
          </a:xfrm>
          <a:prstGeom prst="rect">
            <a:avLst/>
          </a:prstGeom>
          <a:noFill/>
          <a:ln/>
        </p:spPr>
        <p:txBody>
          <a:bodyPr wrap="square" lIns="0" tIns="0" rIns="0" bIns="0" rtlCol="0" anchor="ctr"/>
          <a:lstStyle/>
          <a:p>
            <a:pPr indent="0" marL="0">
              <a:buNone/>
            </a:pPr>
            <a:r>
              <a:rPr lang="en-US" sz="1100" dirty="0">
                <a:solidFill>
                  <a:srgbClr val="1E2D3D"/>
                </a:solidFill>
              </a:rPr>
              <a:t>✓ Retrospectives: updated to reflect what changed</a:t>
            </a:r>
            <a:endParaRPr lang="en-US" sz="1100" dirty="0"/>
          </a:p>
        </p:txBody>
      </p:sp>
      <p:sp>
        <p:nvSpPr>
          <p:cNvPr id="39" name="Shape 37"/>
          <p:cNvSpPr/>
          <p:nvPr/>
        </p:nvSpPr>
        <p:spPr>
          <a:xfrm>
            <a:off x="4663440" y="2907792"/>
            <a:ext cx="4160520" cy="20116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0" name="Shape 38"/>
          <p:cNvSpPr/>
          <p:nvPr/>
        </p:nvSpPr>
        <p:spPr>
          <a:xfrm>
            <a:off x="4663440" y="2907792"/>
            <a:ext cx="4160520" cy="402336"/>
          </a:xfrm>
          <a:prstGeom prst="rect">
            <a:avLst/>
          </a:prstGeom>
          <a:solidFill>
            <a:srgbClr val="4A7FA8"/>
          </a:solidFill>
          <a:ln/>
        </p:spPr>
      </p:sp>
      <p:sp>
        <p:nvSpPr>
          <p:cNvPr id="41" name="Text 39"/>
          <p:cNvSpPr/>
          <p:nvPr/>
        </p:nvSpPr>
        <p:spPr>
          <a:xfrm>
            <a:off x="4663440" y="2907792"/>
            <a:ext cx="4160520" cy="402336"/>
          </a:xfrm>
          <a:prstGeom prst="rect">
            <a:avLst/>
          </a:prstGeom>
          <a:noFill/>
          <a:ln/>
        </p:spPr>
        <p:txBody>
          <a:bodyPr wrap="square" lIns="0" tIns="0" rIns="0" bIns="0" rtlCol="0" anchor="ctr"/>
          <a:lstStyle/>
          <a:p>
            <a:pPr algn="ctr" indent="0" marL="0">
              <a:buNone/>
            </a:pPr>
            <a:r>
              <a:rPr lang="en-US" sz="1100" b="1" spc="200" kern="0" dirty="0">
                <a:solidFill>
                  <a:srgbClr val="FFFFFF"/>
                </a:solidFill>
              </a:rPr>
              <a:t>HOW THE AGENT USES IT</a:t>
            </a:r>
            <a:endParaRPr lang="en-US" sz="1100" dirty="0"/>
          </a:p>
        </p:txBody>
      </p:sp>
      <p:sp>
        <p:nvSpPr>
          <p:cNvPr id="42" name="Text 40"/>
          <p:cNvSpPr/>
          <p:nvPr/>
        </p:nvSpPr>
        <p:spPr>
          <a:xfrm>
            <a:off x="4773168" y="3401568"/>
            <a:ext cx="3950208" cy="274320"/>
          </a:xfrm>
          <a:prstGeom prst="rect">
            <a:avLst/>
          </a:prstGeom>
          <a:noFill/>
          <a:ln/>
        </p:spPr>
        <p:txBody>
          <a:bodyPr wrap="square" lIns="0" tIns="0" rIns="0" bIns="0" rtlCol="0" anchor="ctr"/>
          <a:lstStyle/>
          <a:p>
            <a:pPr indent="0" marL="0">
              <a:buNone/>
            </a:pPr>
            <a:r>
              <a:rPr lang="en-US" sz="1100" dirty="0">
                <a:solidFill>
                  <a:srgbClr val="1E2D3D"/>
                </a:solidFill>
              </a:rPr>
              <a:t>• Referenced in CLAUDE.md — loaded every session</a:t>
            </a:r>
            <a:endParaRPr lang="en-US" sz="1100" dirty="0"/>
          </a:p>
        </p:txBody>
      </p:sp>
      <p:sp>
        <p:nvSpPr>
          <p:cNvPr id="43" name="Text 41"/>
          <p:cNvSpPr/>
          <p:nvPr/>
        </p:nvSpPr>
        <p:spPr>
          <a:xfrm>
            <a:off x="4773168" y="3694176"/>
            <a:ext cx="3950208" cy="274320"/>
          </a:xfrm>
          <a:prstGeom prst="rect">
            <a:avLst/>
          </a:prstGeom>
          <a:noFill/>
          <a:ln/>
        </p:spPr>
        <p:txBody>
          <a:bodyPr wrap="square" lIns="0" tIns="0" rIns="0" bIns="0" rtlCol="0" anchor="ctr"/>
          <a:lstStyle/>
          <a:p>
            <a:pPr indent="0" marL="0">
              <a:buNone/>
            </a:pPr>
            <a:r>
              <a:rPr lang="en-US" sz="1100" dirty="0">
                <a:solidFill>
                  <a:srgbClr val="1E2D3D"/>
                </a:solidFill>
              </a:rPr>
              <a:t>• Prevents architectural drift and feature conflicts</a:t>
            </a:r>
            <a:endParaRPr lang="en-US" sz="1100" dirty="0"/>
          </a:p>
        </p:txBody>
      </p:sp>
      <p:sp>
        <p:nvSpPr>
          <p:cNvPr id="44" name="Text 42"/>
          <p:cNvSpPr/>
          <p:nvPr/>
        </p:nvSpPr>
        <p:spPr>
          <a:xfrm>
            <a:off x="4773168" y="3986784"/>
            <a:ext cx="3950208" cy="274320"/>
          </a:xfrm>
          <a:prstGeom prst="rect">
            <a:avLst/>
          </a:prstGeom>
          <a:noFill/>
          <a:ln/>
        </p:spPr>
        <p:txBody>
          <a:bodyPr wrap="square" lIns="0" tIns="0" rIns="0" bIns="0" rtlCol="0" anchor="ctr"/>
          <a:lstStyle/>
          <a:p>
            <a:pPr indent="0" marL="0">
              <a:buNone/>
            </a:pPr>
            <a:r>
              <a:rPr lang="en-US" sz="1100" dirty="0">
                <a:solidFill>
                  <a:srgbClr val="1E2D3D"/>
                </a:solidFill>
              </a:rPr>
              <a:t>• Gives agent the ‘why’ behind every design constraint</a:t>
            </a:r>
            <a:endParaRPr lang="en-US" sz="1100" dirty="0"/>
          </a:p>
        </p:txBody>
      </p:sp>
      <p:sp>
        <p:nvSpPr>
          <p:cNvPr id="45" name="Text 43"/>
          <p:cNvSpPr/>
          <p:nvPr/>
        </p:nvSpPr>
        <p:spPr>
          <a:xfrm>
            <a:off x="4773168" y="4279392"/>
            <a:ext cx="3950208" cy="274320"/>
          </a:xfrm>
          <a:prstGeom prst="rect">
            <a:avLst/>
          </a:prstGeom>
          <a:noFill/>
          <a:ln/>
        </p:spPr>
        <p:txBody>
          <a:bodyPr wrap="square" lIns="0" tIns="0" rIns="0" bIns="0" rtlCol="0" anchor="ctr"/>
          <a:lstStyle/>
          <a:p>
            <a:pPr indent="0" marL="0">
              <a:buNone/>
            </a:pPr>
            <a:r>
              <a:rPr lang="en-US" sz="1100" dirty="0">
                <a:solidFill>
                  <a:srgbClr val="1E2D3D"/>
                </a:solidFill>
              </a:rPr>
              <a:t>• Enables agent to self-check: “Does this fit the product?”</a:t>
            </a:r>
            <a:endParaRPr lang="en-US" sz="1100" dirty="0"/>
          </a:p>
        </p:txBody>
      </p:sp>
      <p:sp>
        <p:nvSpPr>
          <p:cNvPr id="46" name="Text 44"/>
          <p:cNvSpPr/>
          <p:nvPr/>
        </p:nvSpPr>
        <p:spPr>
          <a:xfrm>
            <a:off x="4773168" y="4572000"/>
            <a:ext cx="3950208" cy="274320"/>
          </a:xfrm>
          <a:prstGeom prst="rect">
            <a:avLst/>
          </a:prstGeom>
          <a:noFill/>
          <a:ln/>
        </p:spPr>
        <p:txBody>
          <a:bodyPr wrap="square" lIns="0" tIns="0" rIns="0" bIns="0" rtlCol="0" anchor="ctr"/>
          <a:lstStyle/>
          <a:p>
            <a:pPr indent="0" marL="0">
              <a:buNone/>
            </a:pPr>
            <a:r>
              <a:rPr lang="en-US" sz="1100" dirty="0">
                <a:solidFill>
                  <a:srgbClr val="1E2D3D"/>
                </a:solidFill>
              </a:rPr>
              <a:t>• Guides prioritisation when spec is ambiguous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DEVELOPERS AS PRODUCT PEOPLE</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500" i="1" dirty="0">
                <a:solidFill>
                  <a:srgbClr val="FFFFFF"/>
                </a:solidFill>
              </a:rPr>
              <a:t>When agents write the code, the developer’s highest-value activity becomes understanding and guiding the product.</a:t>
            </a:r>
            <a:endParaRPr lang="en-US" sz="1500" dirty="0"/>
          </a:p>
        </p:txBody>
      </p:sp>
      <p:sp>
        <p:nvSpPr>
          <p:cNvPr id="4" name="Shape 2"/>
          <p:cNvSpPr/>
          <p:nvPr/>
        </p:nvSpPr>
        <p:spPr>
          <a:xfrm>
            <a:off x="320040" y="1170432"/>
            <a:ext cx="4114800" cy="349300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70432"/>
            <a:ext cx="4114800" cy="438912"/>
          </a:xfrm>
          <a:prstGeom prst="rect">
            <a:avLst/>
          </a:prstGeom>
          <a:solidFill>
            <a:srgbClr val="8096B0">
              <a:alpha val="85000"/>
            </a:srgbClr>
          </a:solidFill>
          <a:ln/>
        </p:spPr>
      </p:sp>
      <p:sp>
        <p:nvSpPr>
          <p:cNvPr id="6" name="Text 4"/>
          <p:cNvSpPr/>
          <p:nvPr/>
        </p:nvSpPr>
        <p:spPr>
          <a:xfrm>
            <a:off x="320040" y="1170432"/>
            <a:ext cx="4114800" cy="438912"/>
          </a:xfrm>
          <a:prstGeom prst="rect">
            <a:avLst/>
          </a:prstGeom>
          <a:noFill/>
          <a:ln/>
        </p:spPr>
        <p:txBody>
          <a:bodyPr wrap="square" lIns="0" tIns="0" rIns="0" bIns="0" rtlCol="0" anchor="ctr"/>
          <a:lstStyle/>
          <a:p>
            <a:pPr algn="ctr" indent="0" marL="0">
              <a:buNone/>
            </a:pPr>
            <a:r>
              <a:rPr lang="en-US" sz="1200" b="1" dirty="0">
                <a:solidFill>
                  <a:srgbClr val="FFFFFF"/>
                </a:solidFill>
              </a:rPr>
              <a:t>OLD ROLE  ·  Code Implementer</a:t>
            </a:r>
            <a:endParaRPr lang="en-US" sz="1200" dirty="0"/>
          </a:p>
        </p:txBody>
      </p:sp>
      <p:sp>
        <p:nvSpPr>
          <p:cNvPr id="7" name="Text 5"/>
          <p:cNvSpPr/>
          <p:nvPr/>
        </p:nvSpPr>
        <p:spPr>
          <a:xfrm>
            <a:off x="457200" y="1719072"/>
            <a:ext cx="3840480" cy="457200"/>
          </a:xfrm>
          <a:prstGeom prst="rect">
            <a:avLst/>
          </a:prstGeom>
          <a:noFill/>
          <a:ln/>
        </p:spPr>
        <p:txBody>
          <a:bodyPr wrap="square" lIns="0" tIns="0" rIns="0" bIns="0" rtlCol="0" anchor="ctr"/>
          <a:lstStyle/>
          <a:p>
            <a:pPr indent="0" marL="0">
              <a:buNone/>
            </a:pPr>
            <a:r>
              <a:rPr lang="en-US" sz="1150" dirty="0">
                <a:solidFill>
                  <a:srgbClr val="A0B0C8"/>
                </a:solidFill>
              </a:rPr>
              <a:t>✕  Write code to satisfy a ticket</a:t>
            </a:r>
            <a:endParaRPr lang="en-US" sz="1150" dirty="0"/>
          </a:p>
        </p:txBody>
      </p:sp>
      <p:sp>
        <p:nvSpPr>
          <p:cNvPr id="8" name="Text 6"/>
          <p:cNvSpPr/>
          <p:nvPr/>
        </p:nvSpPr>
        <p:spPr>
          <a:xfrm>
            <a:off x="457200" y="2231136"/>
            <a:ext cx="3840480" cy="457200"/>
          </a:xfrm>
          <a:prstGeom prst="rect">
            <a:avLst/>
          </a:prstGeom>
          <a:noFill/>
          <a:ln/>
        </p:spPr>
        <p:txBody>
          <a:bodyPr wrap="square" lIns="0" tIns="0" rIns="0" bIns="0" rtlCol="0" anchor="ctr"/>
          <a:lstStyle/>
          <a:p>
            <a:pPr indent="0" marL="0">
              <a:buNone/>
            </a:pPr>
            <a:r>
              <a:rPr lang="en-US" sz="1150" dirty="0">
                <a:solidFill>
                  <a:srgbClr val="A0B0C8"/>
                </a:solidFill>
              </a:rPr>
              <a:t>✕  Implement what the PM specifies</a:t>
            </a:r>
            <a:endParaRPr lang="en-US" sz="1150" dirty="0"/>
          </a:p>
        </p:txBody>
      </p:sp>
      <p:sp>
        <p:nvSpPr>
          <p:cNvPr id="9" name="Text 7"/>
          <p:cNvSpPr/>
          <p:nvPr/>
        </p:nvSpPr>
        <p:spPr>
          <a:xfrm>
            <a:off x="457200" y="2743200"/>
            <a:ext cx="3840480" cy="457200"/>
          </a:xfrm>
          <a:prstGeom prst="rect">
            <a:avLst/>
          </a:prstGeom>
          <a:noFill/>
          <a:ln/>
        </p:spPr>
        <p:txBody>
          <a:bodyPr wrap="square" lIns="0" tIns="0" rIns="0" bIns="0" rtlCol="0" anchor="ctr"/>
          <a:lstStyle/>
          <a:p>
            <a:pPr indent="0" marL="0">
              <a:buNone/>
            </a:pPr>
            <a:r>
              <a:rPr lang="en-US" sz="1150" dirty="0">
                <a:solidFill>
                  <a:srgbClr val="A0B0C8"/>
                </a:solidFill>
              </a:rPr>
              <a:t>✕  Optimise for story points delivered</a:t>
            </a:r>
            <a:endParaRPr lang="en-US" sz="1150" dirty="0"/>
          </a:p>
        </p:txBody>
      </p:sp>
      <p:sp>
        <p:nvSpPr>
          <p:cNvPr id="10" name="Text 8"/>
          <p:cNvSpPr/>
          <p:nvPr/>
        </p:nvSpPr>
        <p:spPr>
          <a:xfrm>
            <a:off x="457200" y="3255264"/>
            <a:ext cx="3840480" cy="457200"/>
          </a:xfrm>
          <a:prstGeom prst="rect">
            <a:avLst/>
          </a:prstGeom>
          <a:noFill/>
          <a:ln/>
        </p:spPr>
        <p:txBody>
          <a:bodyPr wrap="square" lIns="0" tIns="0" rIns="0" bIns="0" rtlCol="0" anchor="ctr"/>
          <a:lstStyle/>
          <a:p>
            <a:pPr indent="0" marL="0">
              <a:buNone/>
            </a:pPr>
            <a:r>
              <a:rPr lang="en-US" sz="1150" dirty="0">
                <a:solidFill>
                  <a:srgbClr val="A0B0C8"/>
                </a:solidFill>
              </a:rPr>
              <a:t>✕  Hand off and move to next ticket</a:t>
            </a:r>
            <a:endParaRPr lang="en-US" sz="1150" dirty="0"/>
          </a:p>
        </p:txBody>
      </p:sp>
      <p:sp>
        <p:nvSpPr>
          <p:cNvPr id="11" name="Text 9"/>
          <p:cNvSpPr/>
          <p:nvPr/>
        </p:nvSpPr>
        <p:spPr>
          <a:xfrm>
            <a:off x="457200" y="3767328"/>
            <a:ext cx="3840480" cy="457200"/>
          </a:xfrm>
          <a:prstGeom prst="rect">
            <a:avLst/>
          </a:prstGeom>
          <a:noFill/>
          <a:ln/>
        </p:spPr>
        <p:txBody>
          <a:bodyPr wrap="square" lIns="0" tIns="0" rIns="0" bIns="0" rtlCol="0" anchor="ctr"/>
          <a:lstStyle/>
          <a:p>
            <a:pPr indent="0" marL="0">
              <a:buNone/>
            </a:pPr>
            <a:r>
              <a:rPr lang="en-US" sz="1150" dirty="0">
                <a:solidFill>
                  <a:srgbClr val="A0B0C8"/>
                </a:solidFill>
              </a:rPr>
              <a:t>✕  System knowledge stays in one person’s head</a:t>
            </a:r>
            <a:endParaRPr lang="en-US" sz="1150" dirty="0"/>
          </a:p>
        </p:txBody>
      </p:sp>
      <p:sp>
        <p:nvSpPr>
          <p:cNvPr id="12" name="Text 10"/>
          <p:cNvSpPr/>
          <p:nvPr/>
        </p:nvSpPr>
        <p:spPr>
          <a:xfrm>
            <a:off x="457200" y="4279392"/>
            <a:ext cx="3840480" cy="457200"/>
          </a:xfrm>
          <a:prstGeom prst="rect">
            <a:avLst/>
          </a:prstGeom>
          <a:noFill/>
          <a:ln/>
        </p:spPr>
        <p:txBody>
          <a:bodyPr wrap="square" lIns="0" tIns="0" rIns="0" bIns="0" rtlCol="0" anchor="ctr"/>
          <a:lstStyle/>
          <a:p>
            <a:pPr indent="0" marL="0">
              <a:buNone/>
            </a:pPr>
            <a:r>
              <a:rPr lang="en-US" sz="1150" dirty="0">
                <a:solidFill>
                  <a:srgbClr val="A0B0C8"/>
                </a:solidFill>
              </a:rPr>
              <a:t>✕  Quality is a test run before shipping</a:t>
            </a:r>
            <a:endParaRPr lang="en-US" sz="1150" dirty="0"/>
          </a:p>
        </p:txBody>
      </p:sp>
      <p:sp>
        <p:nvSpPr>
          <p:cNvPr id="13" name="Shape 11"/>
          <p:cNvSpPr/>
          <p:nvPr/>
        </p:nvSpPr>
        <p:spPr>
          <a:xfrm>
            <a:off x="4709160" y="1170432"/>
            <a:ext cx="4114800" cy="349300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4" name="Shape 12"/>
          <p:cNvSpPr/>
          <p:nvPr/>
        </p:nvSpPr>
        <p:spPr>
          <a:xfrm>
            <a:off x="4709160" y="1170432"/>
            <a:ext cx="4114800" cy="438912"/>
          </a:xfrm>
          <a:prstGeom prst="rect">
            <a:avLst/>
          </a:prstGeom>
          <a:solidFill>
            <a:srgbClr val="3A7DC9">
              <a:alpha val="85000"/>
            </a:srgbClr>
          </a:solidFill>
          <a:ln/>
        </p:spPr>
      </p:sp>
      <p:sp>
        <p:nvSpPr>
          <p:cNvPr id="15" name="Text 13"/>
          <p:cNvSpPr/>
          <p:nvPr/>
        </p:nvSpPr>
        <p:spPr>
          <a:xfrm>
            <a:off x="4709160" y="1170432"/>
            <a:ext cx="4114800" cy="438912"/>
          </a:xfrm>
          <a:prstGeom prst="rect">
            <a:avLst/>
          </a:prstGeom>
          <a:noFill/>
          <a:ln/>
        </p:spPr>
        <p:txBody>
          <a:bodyPr wrap="square" lIns="0" tIns="0" rIns="0" bIns="0" rtlCol="0" anchor="ctr"/>
          <a:lstStyle/>
          <a:p>
            <a:pPr algn="ctr" indent="0" marL="0">
              <a:buNone/>
            </a:pPr>
            <a:r>
              <a:rPr lang="en-US" sz="1200" b="1" dirty="0">
                <a:solidFill>
                  <a:srgbClr val="FFFFFF"/>
                </a:solidFill>
              </a:rPr>
              <a:t>NEW ROLE  ·  Product Guide</a:t>
            </a:r>
            <a:endParaRPr lang="en-US" sz="1200" dirty="0"/>
          </a:p>
        </p:txBody>
      </p:sp>
      <p:sp>
        <p:nvSpPr>
          <p:cNvPr id="16" name="Text 14"/>
          <p:cNvSpPr/>
          <p:nvPr/>
        </p:nvSpPr>
        <p:spPr>
          <a:xfrm>
            <a:off x="4846320" y="1719072"/>
            <a:ext cx="3840480" cy="457200"/>
          </a:xfrm>
          <a:prstGeom prst="rect">
            <a:avLst/>
          </a:prstGeom>
          <a:noFill/>
          <a:ln/>
        </p:spPr>
        <p:txBody>
          <a:bodyPr wrap="square" lIns="0" tIns="0" rIns="0" bIns="0" rtlCol="0" anchor="ctr"/>
          <a:lstStyle/>
          <a:p>
            <a:pPr indent="0" marL="0">
              <a:buNone/>
            </a:pPr>
            <a:r>
              <a:rPr lang="en-US" sz="1150" dirty="0">
                <a:solidFill>
                  <a:srgbClr val="D4E4F0"/>
                </a:solidFill>
              </a:rPr>
              <a:t>✓  Guide the product’s evolution intelligently</a:t>
            </a:r>
            <a:endParaRPr lang="en-US" sz="1150" dirty="0"/>
          </a:p>
        </p:txBody>
      </p:sp>
      <p:sp>
        <p:nvSpPr>
          <p:cNvPr id="17" name="Text 15"/>
          <p:cNvSpPr/>
          <p:nvPr/>
        </p:nvSpPr>
        <p:spPr>
          <a:xfrm>
            <a:off x="4846320" y="2231136"/>
            <a:ext cx="3840480" cy="457200"/>
          </a:xfrm>
          <a:prstGeom prst="rect">
            <a:avLst/>
          </a:prstGeom>
          <a:noFill/>
          <a:ln/>
        </p:spPr>
        <p:txBody>
          <a:bodyPr wrap="square" lIns="0" tIns="0" rIns="0" bIns="0" rtlCol="0" anchor="ctr"/>
          <a:lstStyle/>
          <a:p>
            <a:pPr indent="0" marL="0">
              <a:buNone/>
            </a:pPr>
            <a:r>
              <a:rPr lang="en-US" sz="1150" dirty="0">
                <a:solidFill>
                  <a:srgbClr val="D4E4F0"/>
                </a:solidFill>
              </a:rPr>
              <a:t>✓  Co-author the spec with context the PM doesn’t have</a:t>
            </a:r>
            <a:endParaRPr lang="en-US" sz="1150" dirty="0"/>
          </a:p>
        </p:txBody>
      </p:sp>
      <p:sp>
        <p:nvSpPr>
          <p:cNvPr id="18" name="Text 16"/>
          <p:cNvSpPr/>
          <p:nvPr/>
        </p:nvSpPr>
        <p:spPr>
          <a:xfrm>
            <a:off x="4846320" y="2743200"/>
            <a:ext cx="3840480" cy="457200"/>
          </a:xfrm>
          <a:prstGeom prst="rect">
            <a:avLst/>
          </a:prstGeom>
          <a:noFill/>
          <a:ln/>
        </p:spPr>
        <p:txBody>
          <a:bodyPr wrap="square" lIns="0" tIns="0" rIns="0" bIns="0" rtlCol="0" anchor="ctr"/>
          <a:lstStyle/>
          <a:p>
            <a:pPr indent="0" marL="0">
              <a:buNone/>
            </a:pPr>
            <a:r>
              <a:rPr lang="en-US" sz="1150" dirty="0">
                <a:solidFill>
                  <a:srgbClr val="D4E4F0"/>
                </a:solidFill>
              </a:rPr>
              <a:t>✓  Optimise for user outcomes and system health</a:t>
            </a:r>
            <a:endParaRPr lang="en-US" sz="1150" dirty="0"/>
          </a:p>
        </p:txBody>
      </p:sp>
      <p:sp>
        <p:nvSpPr>
          <p:cNvPr id="19" name="Text 17"/>
          <p:cNvSpPr/>
          <p:nvPr/>
        </p:nvSpPr>
        <p:spPr>
          <a:xfrm>
            <a:off x="4846320" y="3255264"/>
            <a:ext cx="3840480" cy="457200"/>
          </a:xfrm>
          <a:prstGeom prst="rect">
            <a:avLst/>
          </a:prstGeom>
          <a:noFill/>
          <a:ln/>
        </p:spPr>
        <p:txBody>
          <a:bodyPr wrap="square" lIns="0" tIns="0" rIns="0" bIns="0" rtlCol="0" anchor="ctr"/>
          <a:lstStyle/>
          <a:p>
            <a:pPr indent="0" marL="0">
              <a:buNone/>
            </a:pPr>
            <a:r>
              <a:rPr lang="en-US" sz="1150" dirty="0">
                <a:solidFill>
                  <a:srgbClr val="D4E4F0"/>
                </a:solidFill>
              </a:rPr>
              <a:t>✓  Own the outcome end-to-end</a:t>
            </a:r>
            <a:endParaRPr lang="en-US" sz="1150" dirty="0"/>
          </a:p>
        </p:txBody>
      </p:sp>
      <p:sp>
        <p:nvSpPr>
          <p:cNvPr id="20" name="Text 18"/>
          <p:cNvSpPr/>
          <p:nvPr/>
        </p:nvSpPr>
        <p:spPr>
          <a:xfrm>
            <a:off x="4846320" y="3767328"/>
            <a:ext cx="3840480" cy="457200"/>
          </a:xfrm>
          <a:prstGeom prst="rect">
            <a:avLst/>
          </a:prstGeom>
          <a:noFill/>
          <a:ln/>
        </p:spPr>
        <p:txBody>
          <a:bodyPr wrap="square" lIns="0" tIns="0" rIns="0" bIns="0" rtlCol="0" anchor="ctr"/>
          <a:lstStyle/>
          <a:p>
            <a:pPr indent="0" marL="0">
              <a:buNone/>
            </a:pPr>
            <a:r>
              <a:rPr lang="en-US" sz="1150" dirty="0">
                <a:solidFill>
                  <a:srgbClr val="D4E4F0"/>
                </a:solidFill>
              </a:rPr>
              <a:t>✓  System knowledge is documented, shared, agent-accessible</a:t>
            </a:r>
            <a:endParaRPr lang="en-US" sz="1150" dirty="0"/>
          </a:p>
        </p:txBody>
      </p:sp>
      <p:sp>
        <p:nvSpPr>
          <p:cNvPr id="21" name="Text 19"/>
          <p:cNvSpPr/>
          <p:nvPr/>
        </p:nvSpPr>
        <p:spPr>
          <a:xfrm>
            <a:off x="4846320" y="4279392"/>
            <a:ext cx="3840480" cy="457200"/>
          </a:xfrm>
          <a:prstGeom prst="rect">
            <a:avLst/>
          </a:prstGeom>
          <a:noFill/>
          <a:ln/>
        </p:spPr>
        <p:txBody>
          <a:bodyPr wrap="square" lIns="0" tIns="0" rIns="0" bIns="0" rtlCol="0" anchor="ctr"/>
          <a:lstStyle/>
          <a:p>
            <a:pPr indent="0" marL="0">
              <a:buNone/>
            </a:pPr>
            <a:r>
              <a:rPr lang="en-US" sz="1150" dirty="0">
                <a:solidFill>
                  <a:srgbClr val="D4E4F0"/>
                </a:solidFill>
              </a:rPr>
              <a:t>✓  Quality is a continuous practice, not a gate</a:t>
            </a:r>
            <a:endParaRPr lang="en-US" sz="1150" dirty="0"/>
          </a:p>
        </p:txBody>
      </p:sp>
      <p:sp>
        <p:nvSpPr>
          <p:cNvPr id="22" name="Text 20"/>
          <p:cNvSpPr/>
          <p:nvPr/>
        </p:nvSpPr>
        <p:spPr>
          <a:xfrm>
            <a:off x="320040" y="4773168"/>
            <a:ext cx="8503920" cy="292608"/>
          </a:xfrm>
          <a:prstGeom prst="rect">
            <a:avLst/>
          </a:prstGeom>
          <a:noFill/>
          <a:ln/>
        </p:spPr>
        <p:txBody>
          <a:bodyPr wrap="square" lIns="0" tIns="0" rIns="0" bIns="0" rtlCol="0" anchor="ctr"/>
          <a:lstStyle/>
          <a:p>
            <a:pPr indent="0" marL="0">
              <a:buNone/>
            </a:pPr>
            <a:r>
              <a:rPr lang="en-US" sz="1000" i="1" dirty="0">
                <a:solidFill>
                  <a:srgbClr val="7A90A8"/>
                </a:solidFill>
              </a:rPr>
              <a:t>Andrew Ng (YC AI Startup School, 2025): “For the first time in my life, managers are proposing having 2× as many PMs as engineers. The engineer who understands the product is the engineer who is indispensable.”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BUILDING SHARED TEAM UNDERSTANDING</a:t>
            </a:r>
            <a:endParaRPr lang="en-US" sz="1300" dirty="0"/>
          </a:p>
        </p:txBody>
      </p:sp>
      <p:sp>
        <p:nvSpPr>
          <p:cNvPr id="4" name="Text 2"/>
          <p:cNvSpPr/>
          <p:nvPr/>
        </p:nvSpPr>
        <p:spPr>
          <a:xfrm>
            <a:off x="365760" y="822960"/>
            <a:ext cx="8412480" cy="292608"/>
          </a:xfrm>
          <a:prstGeom prst="rect">
            <a:avLst/>
          </a:prstGeom>
          <a:noFill/>
          <a:ln/>
        </p:spPr>
        <p:txBody>
          <a:bodyPr wrap="square" lIns="0" tIns="0" rIns="0" bIns="0" rtlCol="0" anchor="ctr"/>
          <a:lstStyle/>
          <a:p>
            <a:pPr indent="0" marL="0">
              <a:buNone/>
            </a:pPr>
            <a:r>
              <a:rPr lang="en-US" sz="1150" i="1" dirty="0">
                <a:solidFill>
                  <a:srgbClr val="7A90A8"/>
                </a:solidFill>
              </a:rPr>
              <a:t>A team where everyone shares deep product knowledge produces dramatically better agent-guided systems than a team of specialists working in silos.</a:t>
            </a:r>
            <a:endParaRPr lang="en-US" sz="1150" dirty="0"/>
          </a:p>
        </p:txBody>
      </p:sp>
      <p:sp>
        <p:nvSpPr>
          <p:cNvPr id="5" name="Shape 3"/>
          <p:cNvSpPr/>
          <p:nvPr/>
        </p:nvSpPr>
        <p:spPr>
          <a:xfrm>
            <a:off x="320040" y="1188720"/>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88720"/>
            <a:ext cx="54864" cy="1188720"/>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66344" y="1335024"/>
            <a:ext cx="310896" cy="310896"/>
          </a:xfrm>
          <a:prstGeom prst="rect">
            <a:avLst/>
          </a:prstGeom>
        </p:spPr>
      </p:pic>
      <p:sp>
        <p:nvSpPr>
          <p:cNvPr id="8" name="Text 5"/>
          <p:cNvSpPr/>
          <p:nvPr/>
        </p:nvSpPr>
        <p:spPr>
          <a:xfrm>
            <a:off x="868680" y="1280160"/>
            <a:ext cx="3502152" cy="292608"/>
          </a:xfrm>
          <a:prstGeom prst="rect">
            <a:avLst/>
          </a:prstGeom>
          <a:noFill/>
          <a:ln/>
        </p:spPr>
        <p:txBody>
          <a:bodyPr wrap="square" lIns="0" tIns="0" rIns="0" bIns="0" rtlCol="0" anchor="ctr"/>
          <a:lstStyle/>
          <a:p>
            <a:pPr indent="0" marL="0">
              <a:buNone/>
            </a:pPr>
            <a:r>
              <a:rPr lang="en-US" sz="1250" b="1" dirty="0">
                <a:solidFill>
                  <a:srgbClr val="1C3557"/>
                </a:solidFill>
              </a:rPr>
              <a:t>Living Documentation</a:t>
            </a:r>
            <a:endParaRPr lang="en-US" sz="1250" dirty="0"/>
          </a:p>
        </p:txBody>
      </p:sp>
      <p:sp>
        <p:nvSpPr>
          <p:cNvPr id="9" name="Text 6"/>
          <p:cNvSpPr/>
          <p:nvPr/>
        </p:nvSpPr>
        <p:spPr>
          <a:xfrm>
            <a:off x="466344" y="1664208"/>
            <a:ext cx="3904488" cy="457200"/>
          </a:xfrm>
          <a:prstGeom prst="rect">
            <a:avLst/>
          </a:prstGeom>
          <a:noFill/>
          <a:ln/>
        </p:spPr>
        <p:txBody>
          <a:bodyPr wrap="square" lIns="0" tIns="0" rIns="0" bIns="0" rtlCol="0" anchor="ctr"/>
          <a:lstStyle/>
          <a:p>
            <a:pPr indent="0" marL="0">
              <a:buNone/>
            </a:pPr>
            <a:r>
              <a:rPr lang="en-US" sz="1050" dirty="0">
                <a:solidFill>
                  <a:srgbClr val="7A90A8"/>
                </a:solidFill>
              </a:rPr>
              <a:t>PRODUCT.md, ADRs, architecture diagrams, user journey maps — all committed to the repo, all current, all readable by humans AND agents.</a:t>
            </a:r>
            <a:endParaRPr lang="en-US" sz="1050" dirty="0"/>
          </a:p>
        </p:txBody>
      </p:sp>
      <p:sp>
        <p:nvSpPr>
          <p:cNvPr id="10" name="Shape 7"/>
          <p:cNvSpPr/>
          <p:nvPr/>
        </p:nvSpPr>
        <p:spPr>
          <a:xfrm>
            <a:off x="411480" y="2157984"/>
            <a:ext cx="3977640" cy="164592"/>
          </a:xfrm>
          <a:prstGeom prst="rect">
            <a:avLst/>
          </a:prstGeom>
          <a:solidFill>
            <a:srgbClr val="3A7DC9">
              <a:alpha val="12000"/>
            </a:srgbClr>
          </a:solidFill>
          <a:ln/>
        </p:spPr>
      </p:sp>
      <p:sp>
        <p:nvSpPr>
          <p:cNvPr id="11" name="Text 8"/>
          <p:cNvSpPr/>
          <p:nvPr/>
        </p:nvSpPr>
        <p:spPr>
          <a:xfrm>
            <a:off x="448056" y="2157984"/>
            <a:ext cx="3922776" cy="164592"/>
          </a:xfrm>
          <a:prstGeom prst="rect">
            <a:avLst/>
          </a:prstGeom>
          <a:noFill/>
          <a:ln/>
        </p:spPr>
        <p:txBody>
          <a:bodyPr wrap="square" lIns="0" tIns="0" rIns="0" bIns="0" rtlCol="0" anchor="ctr"/>
          <a:lstStyle/>
          <a:p>
            <a:pPr indent="0" marL="0">
              <a:buNone/>
            </a:pPr>
            <a:r>
              <a:rPr lang="en-US" sz="900" i="1" dirty="0">
                <a:solidFill>
                  <a:srgbClr val="3A7DC9"/>
                </a:solidFill>
              </a:rPr>
              <a:t>▶ Weekly: one team member updates one section of PRODUCT.md as part of the definition of done.</a:t>
            </a:r>
            <a:endParaRPr lang="en-US" sz="900" dirty="0"/>
          </a:p>
        </p:txBody>
      </p:sp>
      <p:sp>
        <p:nvSpPr>
          <p:cNvPr id="12" name="Shape 9"/>
          <p:cNvSpPr/>
          <p:nvPr/>
        </p:nvSpPr>
        <p:spPr>
          <a:xfrm>
            <a:off x="320040" y="2487168"/>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3" name="Shape 10"/>
          <p:cNvSpPr/>
          <p:nvPr/>
        </p:nvSpPr>
        <p:spPr>
          <a:xfrm>
            <a:off x="320040" y="2487168"/>
            <a:ext cx="54864" cy="1188720"/>
          </a:xfrm>
          <a:prstGeom prst="rect">
            <a:avLst/>
          </a:prstGeom>
          <a:solidFill>
            <a:srgbClr val="4A7FA8"/>
          </a:solidFill>
          <a:ln/>
        </p:spPr>
      </p:sp>
      <p:pic>
        <p:nvPicPr>
          <p:cNvPr id="14" name="Image 1" descr="preencoded.png">    </p:cNvPr>
          <p:cNvPicPr>
            <a:picLocks noChangeAspect="1"/>
          </p:cNvPicPr>
          <p:nvPr/>
        </p:nvPicPr>
        <p:blipFill>
          <a:blip r:embed="rId2"/>
          <a:stretch>
            <a:fillRect/>
          </a:stretch>
        </p:blipFill>
        <p:spPr>
          <a:xfrm>
            <a:off x="466344" y="2633472"/>
            <a:ext cx="310896" cy="310896"/>
          </a:xfrm>
          <a:prstGeom prst="rect">
            <a:avLst/>
          </a:prstGeom>
        </p:spPr>
      </p:pic>
      <p:sp>
        <p:nvSpPr>
          <p:cNvPr id="15" name="Text 11"/>
          <p:cNvSpPr/>
          <p:nvPr/>
        </p:nvSpPr>
        <p:spPr>
          <a:xfrm>
            <a:off x="868680" y="2578608"/>
            <a:ext cx="3502152" cy="292608"/>
          </a:xfrm>
          <a:prstGeom prst="rect">
            <a:avLst/>
          </a:prstGeom>
          <a:noFill/>
          <a:ln/>
        </p:spPr>
        <p:txBody>
          <a:bodyPr wrap="square" lIns="0" tIns="0" rIns="0" bIns="0" rtlCol="0" anchor="ctr"/>
          <a:lstStyle/>
          <a:p>
            <a:pPr indent="0" marL="0">
              <a:buNone/>
            </a:pPr>
            <a:r>
              <a:rPr lang="en-US" sz="1250" b="1" dirty="0">
                <a:solidFill>
                  <a:srgbClr val="1C3557"/>
                </a:solidFill>
              </a:rPr>
              <a:t>Code Literacy for Everyone</a:t>
            </a:r>
            <a:endParaRPr lang="en-US" sz="1250" dirty="0"/>
          </a:p>
        </p:txBody>
      </p:sp>
      <p:sp>
        <p:nvSpPr>
          <p:cNvPr id="16" name="Text 12"/>
          <p:cNvSpPr/>
          <p:nvPr/>
        </p:nvSpPr>
        <p:spPr>
          <a:xfrm>
            <a:off x="466344" y="2962656"/>
            <a:ext cx="3904488" cy="457200"/>
          </a:xfrm>
          <a:prstGeom prst="rect">
            <a:avLst/>
          </a:prstGeom>
          <a:noFill/>
          <a:ln/>
        </p:spPr>
        <p:txBody>
          <a:bodyPr wrap="square" lIns="0" tIns="0" rIns="0" bIns="0" rtlCol="0" anchor="ctr"/>
          <a:lstStyle/>
          <a:p>
            <a:pPr indent="0" marL="0">
              <a:buNone/>
            </a:pPr>
            <a:r>
              <a:rPr lang="en-US" sz="1050" dirty="0">
                <a:solidFill>
                  <a:srgbClr val="7A90A8"/>
                </a:solidFill>
              </a:rPr>
              <a:t>Every team member — including PMs and designers — can navigate the codebase, read hotspot reports, and understand the risk profile of major changes.</a:t>
            </a:r>
            <a:endParaRPr lang="en-US" sz="1050" dirty="0"/>
          </a:p>
        </p:txBody>
      </p:sp>
      <p:sp>
        <p:nvSpPr>
          <p:cNvPr id="17" name="Shape 13"/>
          <p:cNvSpPr/>
          <p:nvPr/>
        </p:nvSpPr>
        <p:spPr>
          <a:xfrm>
            <a:off x="411480" y="3456432"/>
            <a:ext cx="3977640" cy="164592"/>
          </a:xfrm>
          <a:prstGeom prst="rect">
            <a:avLst/>
          </a:prstGeom>
          <a:solidFill>
            <a:srgbClr val="4A7FA8">
              <a:alpha val="12000"/>
            </a:srgbClr>
          </a:solidFill>
          <a:ln/>
        </p:spPr>
      </p:sp>
      <p:sp>
        <p:nvSpPr>
          <p:cNvPr id="18" name="Text 14"/>
          <p:cNvSpPr/>
          <p:nvPr/>
        </p:nvSpPr>
        <p:spPr>
          <a:xfrm>
            <a:off x="448056" y="3456432"/>
            <a:ext cx="3922776" cy="164592"/>
          </a:xfrm>
          <a:prstGeom prst="rect">
            <a:avLst/>
          </a:prstGeom>
          <a:noFill/>
          <a:ln/>
        </p:spPr>
        <p:txBody>
          <a:bodyPr wrap="square" lIns="0" tIns="0" rIns="0" bIns="0" rtlCol="0" anchor="ctr"/>
          <a:lstStyle/>
          <a:p>
            <a:pPr indent="0" marL="0">
              <a:buNone/>
            </a:pPr>
            <a:r>
              <a:rPr lang="en-US" sz="900" i="1" dirty="0">
                <a:solidFill>
                  <a:srgbClr val="4A7FA8"/>
                </a:solidFill>
              </a:rPr>
              <a:t>▶ Monthly: 30-min codebase walkthrough covering what changed, what’s growing, and what’s risky.</a:t>
            </a:r>
            <a:endParaRPr lang="en-US" sz="900" dirty="0"/>
          </a:p>
        </p:txBody>
      </p:sp>
      <p:sp>
        <p:nvSpPr>
          <p:cNvPr id="19" name="Shape 15"/>
          <p:cNvSpPr/>
          <p:nvPr/>
        </p:nvSpPr>
        <p:spPr>
          <a:xfrm>
            <a:off x="320040" y="3785616"/>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6"/>
          <p:cNvSpPr/>
          <p:nvPr/>
        </p:nvSpPr>
        <p:spPr>
          <a:xfrm>
            <a:off x="320040" y="3785616"/>
            <a:ext cx="54864" cy="1188720"/>
          </a:xfrm>
          <a:prstGeom prst="rect">
            <a:avLst/>
          </a:prstGeom>
          <a:solidFill>
            <a:srgbClr val="3A7E6E"/>
          </a:solidFill>
          <a:ln/>
        </p:spPr>
      </p:sp>
      <p:pic>
        <p:nvPicPr>
          <p:cNvPr id="21" name="Image 2" descr="preencoded.png">    </p:cNvPr>
          <p:cNvPicPr>
            <a:picLocks noChangeAspect="1"/>
          </p:cNvPicPr>
          <p:nvPr/>
        </p:nvPicPr>
        <p:blipFill>
          <a:blip r:embed="rId3"/>
          <a:stretch>
            <a:fillRect/>
          </a:stretch>
        </p:blipFill>
        <p:spPr>
          <a:xfrm>
            <a:off x="466344" y="3931920"/>
            <a:ext cx="310896" cy="310896"/>
          </a:xfrm>
          <a:prstGeom prst="rect">
            <a:avLst/>
          </a:prstGeom>
        </p:spPr>
      </p:pic>
      <p:sp>
        <p:nvSpPr>
          <p:cNvPr id="22" name="Text 17"/>
          <p:cNvSpPr/>
          <p:nvPr/>
        </p:nvSpPr>
        <p:spPr>
          <a:xfrm>
            <a:off x="868680" y="3877056"/>
            <a:ext cx="3502152" cy="292608"/>
          </a:xfrm>
          <a:prstGeom prst="rect">
            <a:avLst/>
          </a:prstGeom>
          <a:noFill/>
          <a:ln/>
        </p:spPr>
        <p:txBody>
          <a:bodyPr wrap="square" lIns="0" tIns="0" rIns="0" bIns="0" rtlCol="0" anchor="ctr"/>
          <a:lstStyle/>
          <a:p>
            <a:pPr indent="0" marL="0">
              <a:buNone/>
            </a:pPr>
            <a:r>
              <a:rPr lang="en-US" sz="1250" b="1" dirty="0">
                <a:solidFill>
                  <a:srgbClr val="1C3557"/>
                </a:solidFill>
              </a:rPr>
              <a:t>Cross-Functional Spec Writing</a:t>
            </a:r>
            <a:endParaRPr lang="en-US" sz="1250" dirty="0"/>
          </a:p>
        </p:txBody>
      </p:sp>
      <p:sp>
        <p:nvSpPr>
          <p:cNvPr id="23" name="Text 18"/>
          <p:cNvSpPr/>
          <p:nvPr/>
        </p:nvSpPr>
        <p:spPr>
          <a:xfrm>
            <a:off x="466344" y="4261104"/>
            <a:ext cx="3904488" cy="457200"/>
          </a:xfrm>
          <a:prstGeom prst="rect">
            <a:avLst/>
          </a:prstGeom>
          <a:noFill/>
          <a:ln/>
        </p:spPr>
        <p:txBody>
          <a:bodyPr wrap="square" lIns="0" tIns="0" rIns="0" bIns="0" rtlCol="0" anchor="ctr"/>
          <a:lstStyle/>
          <a:p>
            <a:pPr indent="0" marL="0">
              <a:buNone/>
            </a:pPr>
            <a:r>
              <a:rPr lang="en-US" sz="1050" dirty="0">
                <a:solidFill>
                  <a:srgbClr val="7A90A8"/>
                </a:solidFill>
              </a:rPr>
              <a:t>Specs are written collaboratively. PM brings user context. Developer brings system constraints. Architect brings design principles. Agent gets all three.</a:t>
            </a:r>
            <a:endParaRPr lang="en-US" sz="1050" dirty="0"/>
          </a:p>
        </p:txBody>
      </p:sp>
      <p:sp>
        <p:nvSpPr>
          <p:cNvPr id="24" name="Shape 19"/>
          <p:cNvSpPr/>
          <p:nvPr/>
        </p:nvSpPr>
        <p:spPr>
          <a:xfrm>
            <a:off x="411480" y="4754880"/>
            <a:ext cx="3977640" cy="164592"/>
          </a:xfrm>
          <a:prstGeom prst="rect">
            <a:avLst/>
          </a:prstGeom>
          <a:solidFill>
            <a:srgbClr val="3A7E6E">
              <a:alpha val="12000"/>
            </a:srgbClr>
          </a:solidFill>
          <a:ln/>
        </p:spPr>
      </p:sp>
      <p:sp>
        <p:nvSpPr>
          <p:cNvPr id="25" name="Text 20"/>
          <p:cNvSpPr/>
          <p:nvPr/>
        </p:nvSpPr>
        <p:spPr>
          <a:xfrm>
            <a:off x="448056" y="4754880"/>
            <a:ext cx="3922776" cy="164592"/>
          </a:xfrm>
          <a:prstGeom prst="rect">
            <a:avLst/>
          </a:prstGeom>
          <a:noFill/>
          <a:ln/>
        </p:spPr>
        <p:txBody>
          <a:bodyPr wrap="square" lIns="0" tIns="0" rIns="0" bIns="0" rtlCol="0" anchor="ctr"/>
          <a:lstStyle/>
          <a:p>
            <a:pPr indent="0" marL="0">
              <a:buNone/>
            </a:pPr>
            <a:r>
              <a:rPr lang="en-US" sz="900" i="1" dirty="0">
                <a:solidFill>
                  <a:srgbClr val="3A7E6E"/>
                </a:solidFill>
              </a:rPr>
              <a:t>▶ Every sprint: spec review session before agents write a single line of code.</a:t>
            </a:r>
            <a:endParaRPr lang="en-US" sz="900" dirty="0"/>
          </a:p>
        </p:txBody>
      </p:sp>
      <p:sp>
        <p:nvSpPr>
          <p:cNvPr id="26" name="Shape 21"/>
          <p:cNvSpPr/>
          <p:nvPr/>
        </p:nvSpPr>
        <p:spPr>
          <a:xfrm>
            <a:off x="4663440" y="1188720"/>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7" name="Shape 22"/>
          <p:cNvSpPr/>
          <p:nvPr/>
        </p:nvSpPr>
        <p:spPr>
          <a:xfrm>
            <a:off x="4663440" y="1188720"/>
            <a:ext cx="54864" cy="1188720"/>
          </a:xfrm>
          <a:prstGeom prst="rect">
            <a:avLst/>
          </a:prstGeom>
          <a:solidFill>
            <a:srgbClr val="8096B0"/>
          </a:solidFill>
          <a:ln/>
        </p:spPr>
      </p:sp>
      <p:pic>
        <p:nvPicPr>
          <p:cNvPr id="28" name="Image 3" descr="preencoded.png">    </p:cNvPr>
          <p:cNvPicPr>
            <a:picLocks noChangeAspect="1"/>
          </p:cNvPicPr>
          <p:nvPr/>
        </p:nvPicPr>
        <p:blipFill>
          <a:blip r:embed="rId4"/>
          <a:stretch>
            <a:fillRect/>
          </a:stretch>
        </p:blipFill>
        <p:spPr>
          <a:xfrm>
            <a:off x="4809744" y="1335024"/>
            <a:ext cx="310896" cy="310896"/>
          </a:xfrm>
          <a:prstGeom prst="rect">
            <a:avLst/>
          </a:prstGeom>
        </p:spPr>
      </p:pic>
      <p:sp>
        <p:nvSpPr>
          <p:cNvPr id="29" name="Text 23"/>
          <p:cNvSpPr/>
          <p:nvPr/>
        </p:nvSpPr>
        <p:spPr>
          <a:xfrm>
            <a:off x="5212080" y="1280160"/>
            <a:ext cx="3502152" cy="292608"/>
          </a:xfrm>
          <a:prstGeom prst="rect">
            <a:avLst/>
          </a:prstGeom>
          <a:noFill/>
          <a:ln/>
        </p:spPr>
        <p:txBody>
          <a:bodyPr wrap="square" lIns="0" tIns="0" rIns="0" bIns="0" rtlCol="0" anchor="ctr"/>
          <a:lstStyle/>
          <a:p>
            <a:pPr indent="0" marL="0">
              <a:buNone/>
            </a:pPr>
            <a:r>
              <a:rPr lang="en-US" sz="1250" b="1" dirty="0">
                <a:solidFill>
                  <a:srgbClr val="1C3557"/>
                </a:solidFill>
              </a:rPr>
              <a:t>Shared Definition of Quality</a:t>
            </a:r>
            <a:endParaRPr lang="en-US" sz="1250" dirty="0"/>
          </a:p>
        </p:txBody>
      </p:sp>
      <p:sp>
        <p:nvSpPr>
          <p:cNvPr id="30" name="Text 24"/>
          <p:cNvSpPr/>
          <p:nvPr/>
        </p:nvSpPr>
        <p:spPr>
          <a:xfrm>
            <a:off x="4809744" y="1664208"/>
            <a:ext cx="3904488" cy="457200"/>
          </a:xfrm>
          <a:prstGeom prst="rect">
            <a:avLst/>
          </a:prstGeom>
          <a:noFill/>
          <a:ln/>
        </p:spPr>
        <p:txBody>
          <a:bodyPr wrap="square" lIns="0" tIns="0" rIns="0" bIns="0" rtlCol="0" anchor="ctr"/>
          <a:lstStyle/>
          <a:p>
            <a:pPr indent="0" marL="0">
              <a:buNone/>
            </a:pPr>
            <a:r>
              <a:rPr lang="en-US" sz="1050" dirty="0">
                <a:solidFill>
                  <a:srgbClr val="7A90A8"/>
                </a:solidFill>
              </a:rPr>
              <a:t>The whole team agrees on what ‘good’ looks like: test coverage floors, performance budgets, accessibility standards, security baselines. Written down. Enforced.</a:t>
            </a:r>
            <a:endParaRPr lang="en-US" sz="1050" dirty="0"/>
          </a:p>
        </p:txBody>
      </p:sp>
      <p:sp>
        <p:nvSpPr>
          <p:cNvPr id="31" name="Shape 25"/>
          <p:cNvSpPr/>
          <p:nvPr/>
        </p:nvSpPr>
        <p:spPr>
          <a:xfrm>
            <a:off x="4754880" y="2157984"/>
            <a:ext cx="3977640" cy="164592"/>
          </a:xfrm>
          <a:prstGeom prst="rect">
            <a:avLst/>
          </a:prstGeom>
          <a:solidFill>
            <a:srgbClr val="8096B0">
              <a:alpha val="12000"/>
            </a:srgbClr>
          </a:solidFill>
          <a:ln/>
        </p:spPr>
      </p:sp>
      <p:sp>
        <p:nvSpPr>
          <p:cNvPr id="32" name="Text 26"/>
          <p:cNvSpPr/>
          <p:nvPr/>
        </p:nvSpPr>
        <p:spPr>
          <a:xfrm>
            <a:off x="4791456" y="2157984"/>
            <a:ext cx="3922776" cy="164592"/>
          </a:xfrm>
          <a:prstGeom prst="rect">
            <a:avLst/>
          </a:prstGeom>
          <a:noFill/>
          <a:ln/>
        </p:spPr>
        <p:txBody>
          <a:bodyPr wrap="square" lIns="0" tIns="0" rIns="0" bIns="0" rtlCol="0" anchor="ctr"/>
          <a:lstStyle/>
          <a:p>
            <a:pPr indent="0" marL="0">
              <a:buNone/>
            </a:pPr>
            <a:r>
              <a:rPr lang="en-US" sz="900" i="1" dirty="0">
                <a:solidFill>
                  <a:srgbClr val="8096B0"/>
                </a:solidFill>
              </a:rPr>
              <a:t>▶ Quarterly: team reviews and updates the quality contract. Non-negotiables are non-negotiable.</a:t>
            </a:r>
            <a:endParaRPr lang="en-US" sz="900" dirty="0"/>
          </a:p>
        </p:txBody>
      </p:sp>
      <p:sp>
        <p:nvSpPr>
          <p:cNvPr id="33" name="Shape 27"/>
          <p:cNvSpPr/>
          <p:nvPr/>
        </p:nvSpPr>
        <p:spPr>
          <a:xfrm>
            <a:off x="4663440" y="2487168"/>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4" name="Shape 28"/>
          <p:cNvSpPr/>
          <p:nvPr/>
        </p:nvSpPr>
        <p:spPr>
          <a:xfrm>
            <a:off x="4663440" y="2487168"/>
            <a:ext cx="54864" cy="1188720"/>
          </a:xfrm>
          <a:prstGeom prst="rect">
            <a:avLst/>
          </a:prstGeom>
          <a:solidFill>
            <a:srgbClr val="3A7DC9"/>
          </a:solidFill>
          <a:ln/>
        </p:spPr>
      </p:sp>
      <p:pic>
        <p:nvPicPr>
          <p:cNvPr id="35" name="Image 4" descr="preencoded.png">    </p:cNvPr>
          <p:cNvPicPr>
            <a:picLocks noChangeAspect="1"/>
          </p:cNvPicPr>
          <p:nvPr/>
        </p:nvPicPr>
        <p:blipFill>
          <a:blip r:embed="rId5"/>
          <a:stretch>
            <a:fillRect/>
          </a:stretch>
        </p:blipFill>
        <p:spPr>
          <a:xfrm>
            <a:off x="4809744" y="2633472"/>
            <a:ext cx="310896" cy="310896"/>
          </a:xfrm>
          <a:prstGeom prst="rect">
            <a:avLst/>
          </a:prstGeom>
        </p:spPr>
      </p:pic>
      <p:sp>
        <p:nvSpPr>
          <p:cNvPr id="36" name="Text 29"/>
          <p:cNvSpPr/>
          <p:nvPr/>
        </p:nvSpPr>
        <p:spPr>
          <a:xfrm>
            <a:off x="5212080" y="2578608"/>
            <a:ext cx="3502152" cy="292608"/>
          </a:xfrm>
          <a:prstGeom prst="rect">
            <a:avLst/>
          </a:prstGeom>
          <a:noFill/>
          <a:ln/>
        </p:spPr>
        <p:txBody>
          <a:bodyPr wrap="square" lIns="0" tIns="0" rIns="0" bIns="0" rtlCol="0" anchor="ctr"/>
          <a:lstStyle/>
          <a:p>
            <a:pPr indent="0" marL="0">
              <a:buNone/>
            </a:pPr>
            <a:r>
              <a:rPr lang="en-US" sz="1250" b="1" dirty="0">
                <a:solidFill>
                  <a:srgbClr val="1C3557"/>
                </a:solidFill>
              </a:rPr>
              <a:t>Domain Knowledge Capture</a:t>
            </a:r>
            <a:endParaRPr lang="en-US" sz="1250" dirty="0"/>
          </a:p>
        </p:txBody>
      </p:sp>
      <p:sp>
        <p:nvSpPr>
          <p:cNvPr id="37" name="Text 30"/>
          <p:cNvSpPr/>
          <p:nvPr/>
        </p:nvSpPr>
        <p:spPr>
          <a:xfrm>
            <a:off x="4809744" y="2962656"/>
            <a:ext cx="3904488" cy="457200"/>
          </a:xfrm>
          <a:prstGeom prst="rect">
            <a:avLst/>
          </a:prstGeom>
          <a:noFill/>
          <a:ln/>
        </p:spPr>
        <p:txBody>
          <a:bodyPr wrap="square" lIns="0" tIns="0" rIns="0" bIns="0" rtlCol="0" anchor="ctr"/>
          <a:lstStyle/>
          <a:p>
            <a:pPr indent="0" marL="0">
              <a:buNone/>
            </a:pPr>
            <a:r>
              <a:rPr lang="en-US" sz="1050" dirty="0">
                <a:solidFill>
                  <a:srgbClr val="7A90A8"/>
                </a:solidFill>
              </a:rPr>
              <a:t>When a developer has an insight about why the system works the way it does, it gets written down — as an ADR, a NOTES.md update, or a PRODUCT.md edit.</a:t>
            </a:r>
            <a:endParaRPr lang="en-US" sz="1050" dirty="0"/>
          </a:p>
        </p:txBody>
      </p:sp>
      <p:sp>
        <p:nvSpPr>
          <p:cNvPr id="38" name="Shape 31"/>
          <p:cNvSpPr/>
          <p:nvPr/>
        </p:nvSpPr>
        <p:spPr>
          <a:xfrm>
            <a:off x="4754880" y="3456432"/>
            <a:ext cx="3977640" cy="164592"/>
          </a:xfrm>
          <a:prstGeom prst="rect">
            <a:avLst/>
          </a:prstGeom>
          <a:solidFill>
            <a:srgbClr val="3A7DC9">
              <a:alpha val="12000"/>
            </a:srgbClr>
          </a:solidFill>
          <a:ln/>
        </p:spPr>
      </p:sp>
      <p:sp>
        <p:nvSpPr>
          <p:cNvPr id="39" name="Text 32"/>
          <p:cNvSpPr/>
          <p:nvPr/>
        </p:nvSpPr>
        <p:spPr>
          <a:xfrm>
            <a:off x="4791456" y="3456432"/>
            <a:ext cx="3922776" cy="164592"/>
          </a:xfrm>
          <a:prstGeom prst="rect">
            <a:avLst/>
          </a:prstGeom>
          <a:noFill/>
          <a:ln/>
        </p:spPr>
        <p:txBody>
          <a:bodyPr wrap="square" lIns="0" tIns="0" rIns="0" bIns="0" rtlCol="0" anchor="ctr"/>
          <a:lstStyle/>
          <a:p>
            <a:pPr indent="0" marL="0">
              <a:buNone/>
            </a:pPr>
            <a:r>
              <a:rPr lang="en-US" sz="900" i="1" dirty="0">
                <a:solidFill>
                  <a:srgbClr val="3A7DC9"/>
                </a:solidFill>
              </a:rPr>
              <a:t>▶ Agent-assisted: developers narrate insight to agent; agent drafts the ADR for review.</a:t>
            </a:r>
            <a:endParaRPr lang="en-US" sz="900" dirty="0"/>
          </a:p>
        </p:txBody>
      </p:sp>
      <p:sp>
        <p:nvSpPr>
          <p:cNvPr id="40" name="Shape 33"/>
          <p:cNvSpPr/>
          <p:nvPr/>
        </p:nvSpPr>
        <p:spPr>
          <a:xfrm>
            <a:off x="4663440" y="3785616"/>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41" name="Shape 34"/>
          <p:cNvSpPr/>
          <p:nvPr/>
        </p:nvSpPr>
        <p:spPr>
          <a:xfrm>
            <a:off x="4663440" y="3785616"/>
            <a:ext cx="54864" cy="1188720"/>
          </a:xfrm>
          <a:prstGeom prst="rect">
            <a:avLst/>
          </a:prstGeom>
          <a:solidFill>
            <a:srgbClr val="4A7FA8"/>
          </a:solidFill>
          <a:ln/>
        </p:spPr>
      </p:sp>
      <p:pic>
        <p:nvPicPr>
          <p:cNvPr id="42" name="Image 5" descr="preencoded.png">    </p:cNvPr>
          <p:cNvPicPr>
            <a:picLocks noChangeAspect="1"/>
          </p:cNvPicPr>
          <p:nvPr/>
        </p:nvPicPr>
        <p:blipFill>
          <a:blip r:embed="rId6"/>
          <a:stretch>
            <a:fillRect/>
          </a:stretch>
        </p:blipFill>
        <p:spPr>
          <a:xfrm>
            <a:off x="4809744" y="3931920"/>
            <a:ext cx="310896" cy="310896"/>
          </a:xfrm>
          <a:prstGeom prst="rect">
            <a:avLst/>
          </a:prstGeom>
        </p:spPr>
      </p:pic>
      <p:sp>
        <p:nvSpPr>
          <p:cNvPr id="43" name="Text 35"/>
          <p:cNvSpPr/>
          <p:nvPr/>
        </p:nvSpPr>
        <p:spPr>
          <a:xfrm>
            <a:off x="5212080" y="3877056"/>
            <a:ext cx="3502152" cy="292608"/>
          </a:xfrm>
          <a:prstGeom prst="rect">
            <a:avLst/>
          </a:prstGeom>
          <a:noFill/>
          <a:ln/>
        </p:spPr>
        <p:txBody>
          <a:bodyPr wrap="square" lIns="0" tIns="0" rIns="0" bIns="0" rtlCol="0" anchor="ctr"/>
          <a:lstStyle/>
          <a:p>
            <a:pPr indent="0" marL="0">
              <a:buNone/>
            </a:pPr>
            <a:r>
              <a:rPr lang="en-US" sz="1250" b="1" dirty="0">
                <a:solidFill>
                  <a:srgbClr val="1C3557"/>
                </a:solidFill>
              </a:rPr>
              <a:t>Outcome-Focused Retrospectives</a:t>
            </a:r>
            <a:endParaRPr lang="en-US" sz="1250" dirty="0"/>
          </a:p>
        </p:txBody>
      </p:sp>
      <p:sp>
        <p:nvSpPr>
          <p:cNvPr id="44" name="Text 36"/>
          <p:cNvSpPr/>
          <p:nvPr/>
        </p:nvSpPr>
        <p:spPr>
          <a:xfrm>
            <a:off x="4809744" y="4261104"/>
            <a:ext cx="3904488" cy="457200"/>
          </a:xfrm>
          <a:prstGeom prst="rect">
            <a:avLst/>
          </a:prstGeom>
          <a:noFill/>
          <a:ln/>
        </p:spPr>
        <p:txBody>
          <a:bodyPr wrap="square" lIns="0" tIns="0" rIns="0" bIns="0" rtlCol="0" anchor="ctr"/>
          <a:lstStyle/>
          <a:p>
            <a:pPr indent="0" marL="0">
              <a:buNone/>
            </a:pPr>
            <a:r>
              <a:rPr lang="en-US" sz="1050" dirty="0">
                <a:solidFill>
                  <a:srgbClr val="7A90A8"/>
                </a:solidFill>
              </a:rPr>
              <a:t>Retros focus on product outcomes, not just process. Did users succeed? Did the system get healthier? Did the team’s shared understanding deepen?</a:t>
            </a:r>
            <a:endParaRPr lang="en-US" sz="1050" dirty="0"/>
          </a:p>
        </p:txBody>
      </p:sp>
      <p:sp>
        <p:nvSpPr>
          <p:cNvPr id="45" name="Shape 37"/>
          <p:cNvSpPr/>
          <p:nvPr/>
        </p:nvSpPr>
        <p:spPr>
          <a:xfrm>
            <a:off x="4754880" y="4754880"/>
            <a:ext cx="3977640" cy="164592"/>
          </a:xfrm>
          <a:prstGeom prst="rect">
            <a:avLst/>
          </a:prstGeom>
          <a:solidFill>
            <a:srgbClr val="4A7FA8">
              <a:alpha val="12000"/>
            </a:srgbClr>
          </a:solidFill>
          <a:ln/>
        </p:spPr>
      </p:sp>
      <p:sp>
        <p:nvSpPr>
          <p:cNvPr id="46" name="Text 38"/>
          <p:cNvSpPr/>
          <p:nvPr/>
        </p:nvSpPr>
        <p:spPr>
          <a:xfrm>
            <a:off x="4791456" y="4754880"/>
            <a:ext cx="3922776" cy="164592"/>
          </a:xfrm>
          <a:prstGeom prst="rect">
            <a:avLst/>
          </a:prstGeom>
          <a:noFill/>
          <a:ln/>
        </p:spPr>
        <p:txBody>
          <a:bodyPr wrap="square" lIns="0" tIns="0" rIns="0" bIns="0" rtlCol="0" anchor="ctr"/>
          <a:lstStyle/>
          <a:p>
            <a:pPr indent="0" marL="0">
              <a:buNone/>
            </a:pPr>
            <a:r>
              <a:rPr lang="en-US" sz="900" i="1" dirty="0">
                <a:solidFill>
                  <a:srgbClr val="4A7FA8"/>
                </a:solidFill>
              </a:rPr>
              <a:t>▶ Bi-weekly: retro includes a ‘product health’ check alongside the usual process questions.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HYGIENE  &amp;  CONTINUOUS IMPROVEMENT</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A dedicated product team can run continuous improvement as a first-class activity, not an afterthought squeezed between features.</a:t>
            </a:r>
            <a:endParaRPr lang="en-US" sz="1200" dirty="0"/>
          </a:p>
        </p:txBody>
      </p:sp>
      <p:sp>
        <p:nvSpPr>
          <p:cNvPr id="5" name="Shape 3"/>
          <p:cNvSpPr/>
          <p:nvPr/>
        </p:nvSpPr>
        <p:spPr>
          <a:xfrm>
            <a:off x="320040" y="1170432"/>
            <a:ext cx="2011680" cy="37490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2011680" cy="475488"/>
          </a:xfrm>
          <a:prstGeom prst="rect">
            <a:avLst/>
          </a:prstGeom>
          <a:solidFill>
            <a:srgbClr val="3A7DC9"/>
          </a:solidFill>
          <a:ln/>
        </p:spPr>
      </p:sp>
      <p:sp>
        <p:nvSpPr>
          <p:cNvPr id="7" name="Text 5"/>
          <p:cNvSpPr/>
          <p:nvPr/>
        </p:nvSpPr>
        <p:spPr>
          <a:xfrm>
            <a:off x="320040" y="1170432"/>
            <a:ext cx="2011680" cy="475488"/>
          </a:xfrm>
          <a:prstGeom prst="rect">
            <a:avLst/>
          </a:prstGeom>
          <a:noFill/>
          <a:ln/>
        </p:spPr>
        <p:txBody>
          <a:bodyPr wrap="square" lIns="0" tIns="0" rIns="0" bIns="0" rtlCol="0" anchor="ctr"/>
          <a:lstStyle/>
          <a:p>
            <a:pPr algn="ctr" indent="0" marL="0">
              <a:buNone/>
            </a:pPr>
            <a:r>
              <a:rPr lang="en-US" sz="1400" b="1" spc="200" kern="0" dirty="0">
                <a:solidFill>
                  <a:srgbClr val="FFFFFF"/>
                </a:solidFill>
              </a:rPr>
              <a:t>DAILY</a:t>
            </a:r>
            <a:endParaRPr lang="en-US" sz="1400" dirty="0"/>
          </a:p>
        </p:txBody>
      </p:sp>
      <p:sp>
        <p:nvSpPr>
          <p:cNvPr id="8" name="Shape 6"/>
          <p:cNvSpPr/>
          <p:nvPr/>
        </p:nvSpPr>
        <p:spPr>
          <a:xfrm>
            <a:off x="411480" y="1719072"/>
            <a:ext cx="1828800" cy="713232"/>
          </a:xfrm>
          <a:prstGeom prst="rect">
            <a:avLst/>
          </a:prstGeom>
          <a:solidFill>
            <a:srgbClr val="3A7DC9">
              <a:alpha val="12000"/>
            </a:srgbClr>
          </a:solidFill>
          <a:ln/>
        </p:spPr>
      </p:sp>
      <p:sp>
        <p:nvSpPr>
          <p:cNvPr id="9" name="Text 7"/>
          <p:cNvSpPr/>
          <p:nvPr/>
        </p:nvSpPr>
        <p:spPr>
          <a:xfrm>
            <a:off x="466344" y="1755648"/>
            <a:ext cx="1719072" cy="640080"/>
          </a:xfrm>
          <a:prstGeom prst="rect">
            <a:avLst/>
          </a:prstGeom>
          <a:noFill/>
          <a:ln/>
        </p:spPr>
        <p:txBody>
          <a:bodyPr wrap="square" lIns="0" tIns="0" rIns="0" bIns="0" rtlCol="0" anchor="ctr"/>
          <a:lstStyle/>
          <a:p>
            <a:pPr indent="0" marL="0">
              <a:buNone/>
            </a:pPr>
            <a:r>
              <a:rPr lang="en-US" sz="1000" dirty="0">
                <a:solidFill>
                  <a:srgbClr val="1E2D3D"/>
                </a:solidFill>
              </a:rPr>
              <a:t>Agent auto-runs dependency vulnerability scans</a:t>
            </a:r>
            <a:endParaRPr lang="en-US" sz="1000" dirty="0"/>
          </a:p>
        </p:txBody>
      </p:sp>
      <p:sp>
        <p:nvSpPr>
          <p:cNvPr id="10" name="Shape 8"/>
          <p:cNvSpPr/>
          <p:nvPr/>
        </p:nvSpPr>
        <p:spPr>
          <a:xfrm>
            <a:off x="411480" y="2505456"/>
            <a:ext cx="1828800" cy="713232"/>
          </a:xfrm>
          <a:prstGeom prst="rect">
            <a:avLst/>
          </a:prstGeom>
          <a:solidFill>
            <a:srgbClr val="3A7DC9">
              <a:alpha val="12000"/>
            </a:srgbClr>
          </a:solidFill>
          <a:ln/>
        </p:spPr>
      </p:sp>
      <p:sp>
        <p:nvSpPr>
          <p:cNvPr id="11" name="Text 9"/>
          <p:cNvSpPr/>
          <p:nvPr/>
        </p:nvSpPr>
        <p:spPr>
          <a:xfrm>
            <a:off x="466344" y="2542032"/>
            <a:ext cx="1719072" cy="640080"/>
          </a:xfrm>
          <a:prstGeom prst="rect">
            <a:avLst/>
          </a:prstGeom>
          <a:noFill/>
          <a:ln/>
        </p:spPr>
        <p:txBody>
          <a:bodyPr wrap="square" lIns="0" tIns="0" rIns="0" bIns="0" rtlCol="0" anchor="ctr"/>
          <a:lstStyle/>
          <a:p>
            <a:pPr indent="0" marL="0">
              <a:buNone/>
            </a:pPr>
            <a:r>
              <a:rPr lang="en-US" sz="1000" dirty="0">
                <a:solidFill>
                  <a:srgbClr val="1E2D3D"/>
                </a:solidFill>
              </a:rPr>
              <a:t>Linter and type coverage report generated</a:t>
            </a:r>
            <a:endParaRPr lang="en-US" sz="1000" dirty="0"/>
          </a:p>
        </p:txBody>
      </p:sp>
      <p:sp>
        <p:nvSpPr>
          <p:cNvPr id="12" name="Shape 10"/>
          <p:cNvSpPr/>
          <p:nvPr/>
        </p:nvSpPr>
        <p:spPr>
          <a:xfrm>
            <a:off x="411480" y="3291840"/>
            <a:ext cx="1828800" cy="713232"/>
          </a:xfrm>
          <a:prstGeom prst="rect">
            <a:avLst/>
          </a:prstGeom>
          <a:solidFill>
            <a:srgbClr val="3A7DC9">
              <a:alpha val="12000"/>
            </a:srgbClr>
          </a:solidFill>
          <a:ln/>
        </p:spPr>
      </p:sp>
      <p:sp>
        <p:nvSpPr>
          <p:cNvPr id="13" name="Text 11"/>
          <p:cNvSpPr/>
          <p:nvPr/>
        </p:nvSpPr>
        <p:spPr>
          <a:xfrm>
            <a:off x="466344" y="3328416"/>
            <a:ext cx="1719072" cy="640080"/>
          </a:xfrm>
          <a:prstGeom prst="rect">
            <a:avLst/>
          </a:prstGeom>
          <a:noFill/>
          <a:ln/>
        </p:spPr>
        <p:txBody>
          <a:bodyPr wrap="square" lIns="0" tIns="0" rIns="0" bIns="0" rtlCol="0" anchor="ctr"/>
          <a:lstStyle/>
          <a:p>
            <a:pPr indent="0" marL="0">
              <a:buNone/>
            </a:pPr>
            <a:r>
              <a:rPr lang="en-US" sz="1000" dirty="0">
                <a:solidFill>
                  <a:srgbClr val="1E2D3D"/>
                </a:solidFill>
              </a:rPr>
              <a:t>Test flakiness tracked and alerted</a:t>
            </a:r>
            <a:endParaRPr lang="en-US" sz="1000" dirty="0"/>
          </a:p>
        </p:txBody>
      </p:sp>
      <p:sp>
        <p:nvSpPr>
          <p:cNvPr id="14" name="Shape 12"/>
          <p:cNvSpPr/>
          <p:nvPr/>
        </p:nvSpPr>
        <p:spPr>
          <a:xfrm>
            <a:off x="411480" y="4078224"/>
            <a:ext cx="1828800" cy="713232"/>
          </a:xfrm>
          <a:prstGeom prst="rect">
            <a:avLst/>
          </a:prstGeom>
          <a:solidFill>
            <a:srgbClr val="3A7DC9">
              <a:alpha val="12000"/>
            </a:srgbClr>
          </a:solidFill>
          <a:ln/>
        </p:spPr>
      </p:sp>
      <p:sp>
        <p:nvSpPr>
          <p:cNvPr id="15" name="Text 13"/>
          <p:cNvSpPr/>
          <p:nvPr/>
        </p:nvSpPr>
        <p:spPr>
          <a:xfrm>
            <a:off x="466344" y="4114800"/>
            <a:ext cx="1719072" cy="640080"/>
          </a:xfrm>
          <a:prstGeom prst="rect">
            <a:avLst/>
          </a:prstGeom>
          <a:noFill/>
          <a:ln/>
        </p:spPr>
        <p:txBody>
          <a:bodyPr wrap="square" lIns="0" tIns="0" rIns="0" bIns="0" rtlCol="0" anchor="ctr"/>
          <a:lstStyle/>
          <a:p>
            <a:pPr indent="0" marL="0">
              <a:buNone/>
            </a:pPr>
            <a:r>
              <a:rPr lang="en-US" sz="1000" dirty="0">
                <a:solidFill>
                  <a:srgbClr val="1E2D3D"/>
                </a:solidFill>
              </a:rPr>
              <a:t>Cost-per-request monitored (FinOps)</a:t>
            </a:r>
            <a:endParaRPr lang="en-US" sz="1000" dirty="0"/>
          </a:p>
        </p:txBody>
      </p:sp>
      <p:sp>
        <p:nvSpPr>
          <p:cNvPr id="16" name="Shape 14"/>
          <p:cNvSpPr/>
          <p:nvPr/>
        </p:nvSpPr>
        <p:spPr>
          <a:xfrm>
            <a:off x="2496312" y="1170432"/>
            <a:ext cx="2011680" cy="37490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7" name="Shape 15"/>
          <p:cNvSpPr/>
          <p:nvPr/>
        </p:nvSpPr>
        <p:spPr>
          <a:xfrm>
            <a:off x="2496312" y="1170432"/>
            <a:ext cx="2011680" cy="475488"/>
          </a:xfrm>
          <a:prstGeom prst="rect">
            <a:avLst/>
          </a:prstGeom>
          <a:solidFill>
            <a:srgbClr val="4A7FA8"/>
          </a:solidFill>
          <a:ln/>
        </p:spPr>
      </p:sp>
      <p:sp>
        <p:nvSpPr>
          <p:cNvPr id="18" name="Text 16"/>
          <p:cNvSpPr/>
          <p:nvPr/>
        </p:nvSpPr>
        <p:spPr>
          <a:xfrm>
            <a:off x="2496312" y="1170432"/>
            <a:ext cx="2011680" cy="475488"/>
          </a:xfrm>
          <a:prstGeom prst="rect">
            <a:avLst/>
          </a:prstGeom>
          <a:noFill/>
          <a:ln/>
        </p:spPr>
        <p:txBody>
          <a:bodyPr wrap="square" lIns="0" tIns="0" rIns="0" bIns="0" rtlCol="0" anchor="ctr"/>
          <a:lstStyle/>
          <a:p>
            <a:pPr algn="ctr" indent="0" marL="0">
              <a:buNone/>
            </a:pPr>
            <a:r>
              <a:rPr lang="en-US" sz="1400" b="1" spc="200" kern="0" dirty="0">
                <a:solidFill>
                  <a:srgbClr val="FFFFFF"/>
                </a:solidFill>
              </a:rPr>
              <a:t>WEEKLY</a:t>
            </a:r>
            <a:endParaRPr lang="en-US" sz="1400" dirty="0"/>
          </a:p>
        </p:txBody>
      </p:sp>
      <p:sp>
        <p:nvSpPr>
          <p:cNvPr id="19" name="Shape 17"/>
          <p:cNvSpPr/>
          <p:nvPr/>
        </p:nvSpPr>
        <p:spPr>
          <a:xfrm>
            <a:off x="2587752" y="1719072"/>
            <a:ext cx="1828800" cy="713232"/>
          </a:xfrm>
          <a:prstGeom prst="rect">
            <a:avLst/>
          </a:prstGeom>
          <a:solidFill>
            <a:srgbClr val="4A7FA8">
              <a:alpha val="12000"/>
            </a:srgbClr>
          </a:solidFill>
          <a:ln/>
        </p:spPr>
      </p:sp>
      <p:sp>
        <p:nvSpPr>
          <p:cNvPr id="20" name="Text 18"/>
          <p:cNvSpPr/>
          <p:nvPr/>
        </p:nvSpPr>
        <p:spPr>
          <a:xfrm>
            <a:off x="2642616" y="1755648"/>
            <a:ext cx="1719072" cy="640080"/>
          </a:xfrm>
          <a:prstGeom prst="rect">
            <a:avLst/>
          </a:prstGeom>
          <a:noFill/>
          <a:ln/>
        </p:spPr>
        <p:txBody>
          <a:bodyPr wrap="square" lIns="0" tIns="0" rIns="0" bIns="0" rtlCol="0" anchor="ctr"/>
          <a:lstStyle/>
          <a:p>
            <a:pPr indent="0" marL="0">
              <a:buNone/>
            </a:pPr>
            <a:r>
              <a:rPr lang="en-US" sz="1000" dirty="0">
                <a:solidFill>
                  <a:srgbClr val="1E2D3D"/>
                </a:solidFill>
              </a:rPr>
              <a:t>Codebase hotspot review (most-changed files)</a:t>
            </a:r>
            <a:endParaRPr lang="en-US" sz="1000" dirty="0"/>
          </a:p>
        </p:txBody>
      </p:sp>
      <p:sp>
        <p:nvSpPr>
          <p:cNvPr id="21" name="Shape 19"/>
          <p:cNvSpPr/>
          <p:nvPr/>
        </p:nvSpPr>
        <p:spPr>
          <a:xfrm>
            <a:off x="2587752" y="2505456"/>
            <a:ext cx="1828800" cy="713232"/>
          </a:xfrm>
          <a:prstGeom prst="rect">
            <a:avLst/>
          </a:prstGeom>
          <a:solidFill>
            <a:srgbClr val="4A7FA8">
              <a:alpha val="12000"/>
            </a:srgbClr>
          </a:solidFill>
          <a:ln/>
        </p:spPr>
      </p:sp>
      <p:sp>
        <p:nvSpPr>
          <p:cNvPr id="22" name="Text 20"/>
          <p:cNvSpPr/>
          <p:nvPr/>
        </p:nvSpPr>
        <p:spPr>
          <a:xfrm>
            <a:off x="2642616" y="2542032"/>
            <a:ext cx="1719072" cy="640080"/>
          </a:xfrm>
          <a:prstGeom prst="rect">
            <a:avLst/>
          </a:prstGeom>
          <a:noFill/>
          <a:ln/>
        </p:spPr>
        <p:txBody>
          <a:bodyPr wrap="square" lIns="0" tIns="0" rIns="0" bIns="0" rtlCol="0" anchor="ctr"/>
          <a:lstStyle/>
          <a:p>
            <a:pPr indent="0" marL="0">
              <a:buNone/>
            </a:pPr>
            <a:r>
              <a:rPr lang="en-US" sz="1000" dirty="0">
                <a:solidFill>
                  <a:srgbClr val="1E2D3D"/>
                </a:solidFill>
              </a:rPr>
              <a:t>Agent generates PR summary for tech lead</a:t>
            </a:r>
            <a:endParaRPr lang="en-US" sz="1000" dirty="0"/>
          </a:p>
        </p:txBody>
      </p:sp>
      <p:sp>
        <p:nvSpPr>
          <p:cNvPr id="23" name="Shape 21"/>
          <p:cNvSpPr/>
          <p:nvPr/>
        </p:nvSpPr>
        <p:spPr>
          <a:xfrm>
            <a:off x="2587752" y="3291840"/>
            <a:ext cx="1828800" cy="713232"/>
          </a:xfrm>
          <a:prstGeom prst="rect">
            <a:avLst/>
          </a:prstGeom>
          <a:solidFill>
            <a:srgbClr val="4A7FA8">
              <a:alpha val="12000"/>
            </a:srgbClr>
          </a:solidFill>
          <a:ln/>
        </p:spPr>
      </p:sp>
      <p:sp>
        <p:nvSpPr>
          <p:cNvPr id="24" name="Text 22"/>
          <p:cNvSpPr/>
          <p:nvPr/>
        </p:nvSpPr>
        <p:spPr>
          <a:xfrm>
            <a:off x="2642616" y="3328416"/>
            <a:ext cx="1719072" cy="640080"/>
          </a:xfrm>
          <a:prstGeom prst="rect">
            <a:avLst/>
          </a:prstGeom>
          <a:noFill/>
          <a:ln/>
        </p:spPr>
        <p:txBody>
          <a:bodyPr wrap="square" lIns="0" tIns="0" rIns="0" bIns="0" rtlCol="0" anchor="ctr"/>
          <a:lstStyle/>
          <a:p>
            <a:pPr indent="0" marL="0">
              <a:buNone/>
            </a:pPr>
            <a:r>
              <a:rPr lang="en-US" sz="1000" dirty="0">
                <a:solidFill>
                  <a:srgbClr val="1E2D3D"/>
                </a:solidFill>
              </a:rPr>
              <a:t>PRODUCT.md section updated by rotating owner</a:t>
            </a:r>
            <a:endParaRPr lang="en-US" sz="1000" dirty="0"/>
          </a:p>
        </p:txBody>
      </p:sp>
      <p:sp>
        <p:nvSpPr>
          <p:cNvPr id="25" name="Shape 23"/>
          <p:cNvSpPr/>
          <p:nvPr/>
        </p:nvSpPr>
        <p:spPr>
          <a:xfrm>
            <a:off x="2587752" y="4078224"/>
            <a:ext cx="1828800" cy="713232"/>
          </a:xfrm>
          <a:prstGeom prst="rect">
            <a:avLst/>
          </a:prstGeom>
          <a:solidFill>
            <a:srgbClr val="4A7FA8">
              <a:alpha val="12000"/>
            </a:srgbClr>
          </a:solidFill>
          <a:ln/>
        </p:spPr>
      </p:sp>
      <p:sp>
        <p:nvSpPr>
          <p:cNvPr id="26" name="Text 24"/>
          <p:cNvSpPr/>
          <p:nvPr/>
        </p:nvSpPr>
        <p:spPr>
          <a:xfrm>
            <a:off x="2642616" y="4114800"/>
            <a:ext cx="1719072" cy="640080"/>
          </a:xfrm>
          <a:prstGeom prst="rect">
            <a:avLst/>
          </a:prstGeom>
          <a:noFill/>
          <a:ln/>
        </p:spPr>
        <p:txBody>
          <a:bodyPr wrap="square" lIns="0" tIns="0" rIns="0" bIns="0" rtlCol="0" anchor="ctr"/>
          <a:lstStyle/>
          <a:p>
            <a:pPr indent="0" marL="0">
              <a:buNone/>
            </a:pPr>
            <a:r>
              <a:rPr lang="en-US" sz="1000" dirty="0">
                <a:solidFill>
                  <a:srgbClr val="1E2D3D"/>
                </a:solidFill>
              </a:rPr>
              <a:t>Spec backlog groomed against product context</a:t>
            </a:r>
            <a:endParaRPr lang="en-US" sz="1000" dirty="0"/>
          </a:p>
        </p:txBody>
      </p:sp>
      <p:sp>
        <p:nvSpPr>
          <p:cNvPr id="27" name="Shape 25"/>
          <p:cNvSpPr/>
          <p:nvPr/>
        </p:nvSpPr>
        <p:spPr>
          <a:xfrm>
            <a:off x="4672584" y="1170432"/>
            <a:ext cx="2011680" cy="37490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8" name="Shape 26"/>
          <p:cNvSpPr/>
          <p:nvPr/>
        </p:nvSpPr>
        <p:spPr>
          <a:xfrm>
            <a:off x="4672584" y="1170432"/>
            <a:ext cx="2011680" cy="475488"/>
          </a:xfrm>
          <a:prstGeom prst="rect">
            <a:avLst/>
          </a:prstGeom>
          <a:solidFill>
            <a:srgbClr val="3A7E6E"/>
          </a:solidFill>
          <a:ln/>
        </p:spPr>
      </p:sp>
      <p:sp>
        <p:nvSpPr>
          <p:cNvPr id="29" name="Text 27"/>
          <p:cNvSpPr/>
          <p:nvPr/>
        </p:nvSpPr>
        <p:spPr>
          <a:xfrm>
            <a:off x="4672584" y="1170432"/>
            <a:ext cx="2011680" cy="475488"/>
          </a:xfrm>
          <a:prstGeom prst="rect">
            <a:avLst/>
          </a:prstGeom>
          <a:noFill/>
          <a:ln/>
        </p:spPr>
        <p:txBody>
          <a:bodyPr wrap="square" lIns="0" tIns="0" rIns="0" bIns="0" rtlCol="0" anchor="ctr"/>
          <a:lstStyle/>
          <a:p>
            <a:pPr algn="ctr" indent="0" marL="0">
              <a:buNone/>
            </a:pPr>
            <a:r>
              <a:rPr lang="en-US" sz="1400" b="1" spc="200" kern="0" dirty="0">
                <a:solidFill>
                  <a:srgbClr val="FFFFFF"/>
                </a:solidFill>
              </a:rPr>
              <a:t>SPRINT</a:t>
            </a:r>
            <a:endParaRPr lang="en-US" sz="1400" dirty="0"/>
          </a:p>
        </p:txBody>
      </p:sp>
      <p:sp>
        <p:nvSpPr>
          <p:cNvPr id="30" name="Shape 28"/>
          <p:cNvSpPr/>
          <p:nvPr/>
        </p:nvSpPr>
        <p:spPr>
          <a:xfrm>
            <a:off x="4764024" y="1719072"/>
            <a:ext cx="1828800" cy="713232"/>
          </a:xfrm>
          <a:prstGeom prst="rect">
            <a:avLst/>
          </a:prstGeom>
          <a:solidFill>
            <a:srgbClr val="3A7E6E">
              <a:alpha val="12000"/>
            </a:srgbClr>
          </a:solidFill>
          <a:ln/>
        </p:spPr>
      </p:sp>
      <p:sp>
        <p:nvSpPr>
          <p:cNvPr id="31" name="Text 29"/>
          <p:cNvSpPr/>
          <p:nvPr/>
        </p:nvSpPr>
        <p:spPr>
          <a:xfrm>
            <a:off x="4818888" y="1755648"/>
            <a:ext cx="1719072" cy="640080"/>
          </a:xfrm>
          <a:prstGeom prst="rect">
            <a:avLst/>
          </a:prstGeom>
          <a:noFill/>
          <a:ln/>
        </p:spPr>
        <p:txBody>
          <a:bodyPr wrap="square" lIns="0" tIns="0" rIns="0" bIns="0" rtlCol="0" anchor="ctr"/>
          <a:lstStyle/>
          <a:p>
            <a:pPr indent="0" marL="0">
              <a:buNone/>
            </a:pPr>
            <a:r>
              <a:rPr lang="en-US" sz="1000" dirty="0">
                <a:solidFill>
                  <a:srgbClr val="1E2D3D"/>
                </a:solidFill>
              </a:rPr>
              <a:t>Architecture compliance check vs ADRs</a:t>
            </a:r>
            <a:endParaRPr lang="en-US" sz="1000" dirty="0"/>
          </a:p>
        </p:txBody>
      </p:sp>
      <p:sp>
        <p:nvSpPr>
          <p:cNvPr id="32" name="Shape 30"/>
          <p:cNvSpPr/>
          <p:nvPr/>
        </p:nvSpPr>
        <p:spPr>
          <a:xfrm>
            <a:off x="4764024" y="2505456"/>
            <a:ext cx="1828800" cy="713232"/>
          </a:xfrm>
          <a:prstGeom prst="rect">
            <a:avLst/>
          </a:prstGeom>
          <a:solidFill>
            <a:srgbClr val="3A7E6E">
              <a:alpha val="12000"/>
            </a:srgbClr>
          </a:solidFill>
          <a:ln/>
        </p:spPr>
      </p:sp>
      <p:sp>
        <p:nvSpPr>
          <p:cNvPr id="33" name="Text 31"/>
          <p:cNvSpPr/>
          <p:nvPr/>
        </p:nvSpPr>
        <p:spPr>
          <a:xfrm>
            <a:off x="4818888" y="2542032"/>
            <a:ext cx="1719072" cy="640080"/>
          </a:xfrm>
          <a:prstGeom prst="rect">
            <a:avLst/>
          </a:prstGeom>
          <a:noFill/>
          <a:ln/>
        </p:spPr>
        <p:txBody>
          <a:bodyPr wrap="square" lIns="0" tIns="0" rIns="0" bIns="0" rtlCol="0" anchor="ctr"/>
          <a:lstStyle/>
          <a:p>
            <a:pPr indent="0" marL="0">
              <a:buNone/>
            </a:pPr>
            <a:r>
              <a:rPr lang="en-US" sz="1000" dirty="0">
                <a:solidFill>
                  <a:srgbClr val="1E2D3D"/>
                </a:solidFill>
              </a:rPr>
              <a:t>Test coverage gap analysis — agent writes missing tests</a:t>
            </a:r>
            <a:endParaRPr lang="en-US" sz="1000" dirty="0"/>
          </a:p>
        </p:txBody>
      </p:sp>
      <p:sp>
        <p:nvSpPr>
          <p:cNvPr id="34" name="Shape 32"/>
          <p:cNvSpPr/>
          <p:nvPr/>
        </p:nvSpPr>
        <p:spPr>
          <a:xfrm>
            <a:off x="4764024" y="3291840"/>
            <a:ext cx="1828800" cy="713232"/>
          </a:xfrm>
          <a:prstGeom prst="rect">
            <a:avLst/>
          </a:prstGeom>
          <a:solidFill>
            <a:srgbClr val="3A7E6E">
              <a:alpha val="12000"/>
            </a:srgbClr>
          </a:solidFill>
          <a:ln/>
        </p:spPr>
      </p:sp>
      <p:sp>
        <p:nvSpPr>
          <p:cNvPr id="35" name="Text 33"/>
          <p:cNvSpPr/>
          <p:nvPr/>
        </p:nvSpPr>
        <p:spPr>
          <a:xfrm>
            <a:off x="4818888" y="3328416"/>
            <a:ext cx="1719072" cy="640080"/>
          </a:xfrm>
          <a:prstGeom prst="rect">
            <a:avLst/>
          </a:prstGeom>
          <a:noFill/>
          <a:ln/>
        </p:spPr>
        <p:txBody>
          <a:bodyPr wrap="square" lIns="0" tIns="0" rIns="0" bIns="0" rtlCol="0" anchor="ctr"/>
          <a:lstStyle/>
          <a:p>
            <a:pPr indent="0" marL="0">
              <a:buNone/>
            </a:pPr>
            <a:r>
              <a:rPr lang="en-US" sz="1000" dirty="0">
                <a:solidFill>
                  <a:srgbClr val="1E2D3D"/>
                </a:solidFill>
              </a:rPr>
              <a:t>Performance budget vs. benchmarks review</a:t>
            </a:r>
            <a:endParaRPr lang="en-US" sz="1000" dirty="0"/>
          </a:p>
        </p:txBody>
      </p:sp>
      <p:sp>
        <p:nvSpPr>
          <p:cNvPr id="36" name="Shape 34"/>
          <p:cNvSpPr/>
          <p:nvPr/>
        </p:nvSpPr>
        <p:spPr>
          <a:xfrm>
            <a:off x="4764024" y="4078224"/>
            <a:ext cx="1828800" cy="713232"/>
          </a:xfrm>
          <a:prstGeom prst="rect">
            <a:avLst/>
          </a:prstGeom>
          <a:solidFill>
            <a:srgbClr val="3A7E6E">
              <a:alpha val="12000"/>
            </a:srgbClr>
          </a:solidFill>
          <a:ln/>
        </p:spPr>
      </p:sp>
      <p:sp>
        <p:nvSpPr>
          <p:cNvPr id="37" name="Text 35"/>
          <p:cNvSpPr/>
          <p:nvPr/>
        </p:nvSpPr>
        <p:spPr>
          <a:xfrm>
            <a:off x="4818888" y="4114800"/>
            <a:ext cx="1719072" cy="640080"/>
          </a:xfrm>
          <a:prstGeom prst="rect">
            <a:avLst/>
          </a:prstGeom>
          <a:noFill/>
          <a:ln/>
        </p:spPr>
        <p:txBody>
          <a:bodyPr wrap="square" lIns="0" tIns="0" rIns="0" bIns="0" rtlCol="0" anchor="ctr"/>
          <a:lstStyle/>
          <a:p>
            <a:pPr indent="0" marL="0">
              <a:buNone/>
            </a:pPr>
            <a:r>
              <a:rPr lang="en-US" sz="1000" dirty="0">
                <a:solidFill>
                  <a:srgbClr val="1E2D3D"/>
                </a:solidFill>
              </a:rPr>
              <a:t>Security posture check (OWASP checklist item)</a:t>
            </a:r>
            <a:endParaRPr lang="en-US" sz="1000" dirty="0"/>
          </a:p>
        </p:txBody>
      </p:sp>
      <p:sp>
        <p:nvSpPr>
          <p:cNvPr id="38" name="Shape 36"/>
          <p:cNvSpPr/>
          <p:nvPr/>
        </p:nvSpPr>
        <p:spPr>
          <a:xfrm>
            <a:off x="6848856" y="1170432"/>
            <a:ext cx="2011680" cy="374904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9" name="Shape 37"/>
          <p:cNvSpPr/>
          <p:nvPr/>
        </p:nvSpPr>
        <p:spPr>
          <a:xfrm>
            <a:off x="6848856" y="1170432"/>
            <a:ext cx="2011680" cy="475488"/>
          </a:xfrm>
          <a:prstGeom prst="rect">
            <a:avLst/>
          </a:prstGeom>
          <a:solidFill>
            <a:srgbClr val="8096B0"/>
          </a:solidFill>
          <a:ln/>
        </p:spPr>
      </p:sp>
      <p:sp>
        <p:nvSpPr>
          <p:cNvPr id="40" name="Text 38"/>
          <p:cNvSpPr/>
          <p:nvPr/>
        </p:nvSpPr>
        <p:spPr>
          <a:xfrm>
            <a:off x="6848856" y="1170432"/>
            <a:ext cx="2011680" cy="475488"/>
          </a:xfrm>
          <a:prstGeom prst="rect">
            <a:avLst/>
          </a:prstGeom>
          <a:noFill/>
          <a:ln/>
        </p:spPr>
        <p:txBody>
          <a:bodyPr wrap="square" lIns="0" tIns="0" rIns="0" bIns="0" rtlCol="0" anchor="ctr"/>
          <a:lstStyle/>
          <a:p>
            <a:pPr algn="ctr" indent="0" marL="0">
              <a:buNone/>
            </a:pPr>
            <a:r>
              <a:rPr lang="en-US" sz="1400" b="1" spc="200" kern="0" dirty="0">
                <a:solidFill>
                  <a:srgbClr val="FFFFFF"/>
                </a:solidFill>
              </a:rPr>
              <a:t>QUARTERLY</a:t>
            </a:r>
            <a:endParaRPr lang="en-US" sz="1400" dirty="0"/>
          </a:p>
        </p:txBody>
      </p:sp>
      <p:sp>
        <p:nvSpPr>
          <p:cNvPr id="41" name="Shape 39"/>
          <p:cNvSpPr/>
          <p:nvPr/>
        </p:nvSpPr>
        <p:spPr>
          <a:xfrm>
            <a:off x="6940296" y="1719072"/>
            <a:ext cx="1828800" cy="713232"/>
          </a:xfrm>
          <a:prstGeom prst="rect">
            <a:avLst/>
          </a:prstGeom>
          <a:solidFill>
            <a:srgbClr val="8096B0">
              <a:alpha val="12000"/>
            </a:srgbClr>
          </a:solidFill>
          <a:ln/>
        </p:spPr>
      </p:sp>
      <p:sp>
        <p:nvSpPr>
          <p:cNvPr id="42" name="Text 40"/>
          <p:cNvSpPr/>
          <p:nvPr/>
        </p:nvSpPr>
        <p:spPr>
          <a:xfrm>
            <a:off x="6995160" y="1755648"/>
            <a:ext cx="1719072" cy="640080"/>
          </a:xfrm>
          <a:prstGeom prst="rect">
            <a:avLst/>
          </a:prstGeom>
          <a:noFill/>
          <a:ln/>
        </p:spPr>
        <p:txBody>
          <a:bodyPr wrap="square" lIns="0" tIns="0" rIns="0" bIns="0" rtlCol="0" anchor="ctr"/>
          <a:lstStyle/>
          <a:p>
            <a:pPr indent="0" marL="0">
              <a:buNone/>
            </a:pPr>
            <a:r>
              <a:rPr lang="en-US" sz="1000" dirty="0">
                <a:solidFill>
                  <a:srgbClr val="1E2D3D"/>
                </a:solidFill>
              </a:rPr>
              <a:t>Full codebase complexity + health report</a:t>
            </a:r>
            <a:endParaRPr lang="en-US" sz="1000" dirty="0"/>
          </a:p>
        </p:txBody>
      </p:sp>
      <p:sp>
        <p:nvSpPr>
          <p:cNvPr id="43" name="Shape 41"/>
          <p:cNvSpPr/>
          <p:nvPr/>
        </p:nvSpPr>
        <p:spPr>
          <a:xfrm>
            <a:off x="6940296" y="2505456"/>
            <a:ext cx="1828800" cy="713232"/>
          </a:xfrm>
          <a:prstGeom prst="rect">
            <a:avLst/>
          </a:prstGeom>
          <a:solidFill>
            <a:srgbClr val="8096B0">
              <a:alpha val="12000"/>
            </a:srgbClr>
          </a:solidFill>
          <a:ln/>
        </p:spPr>
      </p:sp>
      <p:sp>
        <p:nvSpPr>
          <p:cNvPr id="44" name="Text 42"/>
          <p:cNvSpPr/>
          <p:nvPr/>
        </p:nvSpPr>
        <p:spPr>
          <a:xfrm>
            <a:off x="6995160" y="2542032"/>
            <a:ext cx="1719072" cy="640080"/>
          </a:xfrm>
          <a:prstGeom prst="rect">
            <a:avLst/>
          </a:prstGeom>
          <a:noFill/>
          <a:ln/>
        </p:spPr>
        <p:txBody>
          <a:bodyPr wrap="square" lIns="0" tIns="0" rIns="0" bIns="0" rtlCol="0" anchor="ctr"/>
          <a:lstStyle/>
          <a:p>
            <a:pPr indent="0" marL="0">
              <a:buNone/>
            </a:pPr>
            <a:r>
              <a:rPr lang="en-US" sz="1000" dirty="0">
                <a:solidFill>
                  <a:srgbClr val="1E2D3D"/>
                </a:solidFill>
              </a:rPr>
              <a:t>Quality contract review and update</a:t>
            </a:r>
            <a:endParaRPr lang="en-US" sz="1000" dirty="0"/>
          </a:p>
        </p:txBody>
      </p:sp>
      <p:sp>
        <p:nvSpPr>
          <p:cNvPr id="45" name="Shape 43"/>
          <p:cNvSpPr/>
          <p:nvPr/>
        </p:nvSpPr>
        <p:spPr>
          <a:xfrm>
            <a:off x="6940296" y="3291840"/>
            <a:ext cx="1828800" cy="713232"/>
          </a:xfrm>
          <a:prstGeom prst="rect">
            <a:avLst/>
          </a:prstGeom>
          <a:solidFill>
            <a:srgbClr val="8096B0">
              <a:alpha val="12000"/>
            </a:srgbClr>
          </a:solidFill>
          <a:ln/>
        </p:spPr>
      </p:sp>
      <p:sp>
        <p:nvSpPr>
          <p:cNvPr id="46" name="Text 44"/>
          <p:cNvSpPr/>
          <p:nvPr/>
        </p:nvSpPr>
        <p:spPr>
          <a:xfrm>
            <a:off x="6995160" y="3328416"/>
            <a:ext cx="1719072" cy="640080"/>
          </a:xfrm>
          <a:prstGeom prst="rect">
            <a:avLst/>
          </a:prstGeom>
          <a:noFill/>
          <a:ln/>
        </p:spPr>
        <p:txBody>
          <a:bodyPr wrap="square" lIns="0" tIns="0" rIns="0" bIns="0" rtlCol="0" anchor="ctr"/>
          <a:lstStyle/>
          <a:p>
            <a:pPr indent="0" marL="0">
              <a:buNone/>
            </a:pPr>
            <a:r>
              <a:rPr lang="en-US" sz="1000" dirty="0">
                <a:solidFill>
                  <a:srgbClr val="1E2D3D"/>
                </a:solidFill>
              </a:rPr>
              <a:t>Architecture decision records reviewed</a:t>
            </a:r>
            <a:endParaRPr lang="en-US" sz="1000" dirty="0"/>
          </a:p>
        </p:txBody>
      </p:sp>
      <p:sp>
        <p:nvSpPr>
          <p:cNvPr id="47" name="Shape 45"/>
          <p:cNvSpPr/>
          <p:nvPr/>
        </p:nvSpPr>
        <p:spPr>
          <a:xfrm>
            <a:off x="6940296" y="4078224"/>
            <a:ext cx="1828800" cy="713232"/>
          </a:xfrm>
          <a:prstGeom prst="rect">
            <a:avLst/>
          </a:prstGeom>
          <a:solidFill>
            <a:srgbClr val="8096B0">
              <a:alpha val="12000"/>
            </a:srgbClr>
          </a:solidFill>
          <a:ln/>
        </p:spPr>
      </p:sp>
      <p:sp>
        <p:nvSpPr>
          <p:cNvPr id="48" name="Text 46"/>
          <p:cNvSpPr/>
          <p:nvPr/>
        </p:nvSpPr>
        <p:spPr>
          <a:xfrm>
            <a:off x="6995160" y="4114800"/>
            <a:ext cx="1719072" cy="640080"/>
          </a:xfrm>
          <a:prstGeom prst="rect">
            <a:avLst/>
          </a:prstGeom>
          <a:noFill/>
          <a:ln/>
        </p:spPr>
        <p:txBody>
          <a:bodyPr wrap="square" lIns="0" tIns="0" rIns="0" bIns="0" rtlCol="0" anchor="ctr"/>
          <a:lstStyle/>
          <a:p>
            <a:pPr indent="0" marL="0">
              <a:buNone/>
            </a:pPr>
            <a:r>
              <a:rPr lang="en-US" sz="1000" dirty="0">
                <a:solidFill>
                  <a:srgbClr val="1E2D3D"/>
                </a:solidFill>
              </a:rPr>
              <a:t>Agent workflow retrospective — what improved?</a:t>
            </a:r>
            <a:endParaRPr lang="en-US" sz="1000" dirty="0"/>
          </a:p>
        </p:txBody>
      </p:sp>
      <p:sp>
        <p:nvSpPr>
          <p:cNvPr id="49" name="Text 47"/>
          <p:cNvSpPr/>
          <p:nvPr/>
        </p:nvSpPr>
        <p:spPr>
          <a:xfrm>
            <a:off x="320040" y="4864608"/>
            <a:ext cx="8503920" cy="237744"/>
          </a:xfrm>
          <a:prstGeom prst="rect">
            <a:avLst/>
          </a:prstGeom>
          <a:noFill/>
          <a:ln/>
        </p:spPr>
        <p:txBody>
          <a:bodyPr wrap="square" lIns="0" tIns="0" rIns="0" bIns="0" rtlCol="0" anchor="ctr"/>
          <a:lstStyle/>
          <a:p>
            <a:pPr indent="0" marL="0">
              <a:buNone/>
            </a:pPr>
            <a:r>
              <a:rPr lang="en-US" sz="1050" i="1" dirty="0">
                <a:solidFill>
                  <a:srgbClr val="7A90A8"/>
                </a:solidFill>
              </a:rPr>
              <a:t>The key insight: a project team never has time for hygiene. A product team builds it into the cadence because the product is always running.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AGENT-ASSISTED CONTINUOUS IMPROVEMENT</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Agents make hygiene and improvement economically viable at scale. Tasks that would take a sprint can now run overnight.</a:t>
            </a:r>
            <a:endParaRPr lang="en-US" sz="1200" dirty="0"/>
          </a:p>
        </p:txBody>
      </p:sp>
      <p:sp>
        <p:nvSpPr>
          <p:cNvPr id="5" name="Shape 3"/>
          <p:cNvSpPr/>
          <p:nvPr/>
        </p:nvSpPr>
        <p:spPr>
          <a:xfrm>
            <a:off x="320040" y="1170432"/>
            <a:ext cx="4160520" cy="1792224"/>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160520" cy="402336"/>
          </a:xfrm>
          <a:prstGeom prst="rect">
            <a:avLst/>
          </a:prstGeom>
          <a:solidFill>
            <a:srgbClr val="1C3557"/>
          </a:solidFill>
          <a:ln/>
        </p:spPr>
      </p:sp>
      <p:sp>
        <p:nvSpPr>
          <p:cNvPr id="7" name="Text 5"/>
          <p:cNvSpPr/>
          <p:nvPr/>
        </p:nvSpPr>
        <p:spPr>
          <a:xfrm>
            <a:off x="429768" y="1170432"/>
            <a:ext cx="3941064" cy="402336"/>
          </a:xfrm>
          <a:prstGeom prst="rect">
            <a:avLst/>
          </a:prstGeom>
          <a:noFill/>
          <a:ln/>
        </p:spPr>
        <p:txBody>
          <a:bodyPr wrap="square" lIns="0" tIns="0" rIns="0" bIns="0" rtlCol="0" anchor="ctr"/>
          <a:lstStyle/>
          <a:p>
            <a:pPr indent="0" marL="0">
              <a:buNone/>
            </a:pPr>
            <a:r>
              <a:rPr lang="en-US" sz="1300" b="1" dirty="0">
                <a:solidFill>
                  <a:srgbClr val="FFFFFF"/>
                </a:solidFill>
              </a:rPr>
              <a:t>Dependency Hygiene</a:t>
            </a:r>
            <a:endParaRPr lang="en-US" sz="1300" dirty="0"/>
          </a:p>
        </p:txBody>
      </p:sp>
      <p:sp>
        <p:nvSpPr>
          <p:cNvPr id="8" name="Text 6"/>
          <p:cNvSpPr/>
          <p:nvPr/>
        </p:nvSpPr>
        <p:spPr>
          <a:xfrm>
            <a:off x="429768" y="1627632"/>
            <a:ext cx="3941064" cy="237744"/>
          </a:xfrm>
          <a:prstGeom prst="rect">
            <a:avLst/>
          </a:prstGeom>
          <a:noFill/>
          <a:ln/>
        </p:spPr>
        <p:txBody>
          <a:bodyPr wrap="square" lIns="0" tIns="0" rIns="0" bIns="0" rtlCol="0" anchor="ctr"/>
          <a:lstStyle/>
          <a:p>
            <a:pPr indent="0" marL="0">
              <a:buNone/>
            </a:pPr>
            <a:r>
              <a:rPr lang="en-US" sz="1000" i="1" dirty="0">
                <a:solidFill>
                  <a:srgbClr val="1C3557"/>
                </a:solidFill>
              </a:rPr>
              <a:t>▶ Weekly scheduled agent run</a:t>
            </a:r>
            <a:endParaRPr lang="en-US" sz="1000" dirty="0"/>
          </a:p>
        </p:txBody>
      </p:sp>
      <p:sp>
        <p:nvSpPr>
          <p:cNvPr id="9" name="Text 7"/>
          <p:cNvSpPr/>
          <p:nvPr/>
        </p:nvSpPr>
        <p:spPr>
          <a:xfrm>
            <a:off x="429768" y="1883664"/>
            <a:ext cx="3941064" cy="237744"/>
          </a:xfrm>
          <a:prstGeom prst="rect">
            <a:avLst/>
          </a:prstGeom>
          <a:noFill/>
          <a:ln/>
        </p:spPr>
        <p:txBody>
          <a:bodyPr wrap="square" lIns="0" tIns="0" rIns="0" bIns="0" rtlCol="0" anchor="ctr"/>
          <a:lstStyle/>
          <a:p>
            <a:pPr indent="0" marL="0">
              <a:buNone/>
            </a:pPr>
            <a:r>
              <a:rPr lang="en-US" sz="1050" dirty="0">
                <a:solidFill>
                  <a:srgbClr val="1E2D3D"/>
                </a:solidFill>
              </a:rPr>
              <a:t>1. Scan for outdated / vulnerable dependencies</a:t>
            </a:r>
            <a:endParaRPr lang="en-US" sz="1050" dirty="0"/>
          </a:p>
        </p:txBody>
      </p:sp>
      <p:sp>
        <p:nvSpPr>
          <p:cNvPr id="10" name="Text 8"/>
          <p:cNvSpPr/>
          <p:nvPr/>
        </p:nvSpPr>
        <p:spPr>
          <a:xfrm>
            <a:off x="429768" y="2139696"/>
            <a:ext cx="3941064" cy="237744"/>
          </a:xfrm>
          <a:prstGeom prst="rect">
            <a:avLst/>
          </a:prstGeom>
          <a:noFill/>
          <a:ln/>
        </p:spPr>
        <p:txBody>
          <a:bodyPr wrap="square" lIns="0" tIns="0" rIns="0" bIns="0" rtlCol="0" anchor="ctr"/>
          <a:lstStyle/>
          <a:p>
            <a:pPr indent="0" marL="0">
              <a:buNone/>
            </a:pPr>
            <a:r>
              <a:rPr lang="en-US" sz="1050" dirty="0">
                <a:solidFill>
                  <a:srgbClr val="1E2D3D"/>
                </a:solidFill>
              </a:rPr>
              <a:t>2. Group changes by risk level</a:t>
            </a:r>
            <a:endParaRPr lang="en-US" sz="1050" dirty="0"/>
          </a:p>
        </p:txBody>
      </p:sp>
      <p:sp>
        <p:nvSpPr>
          <p:cNvPr id="11" name="Text 9"/>
          <p:cNvSpPr/>
          <p:nvPr/>
        </p:nvSpPr>
        <p:spPr>
          <a:xfrm>
            <a:off x="429768" y="2395728"/>
            <a:ext cx="3941064" cy="237744"/>
          </a:xfrm>
          <a:prstGeom prst="rect">
            <a:avLst/>
          </a:prstGeom>
          <a:noFill/>
          <a:ln/>
        </p:spPr>
        <p:txBody>
          <a:bodyPr wrap="square" lIns="0" tIns="0" rIns="0" bIns="0" rtlCol="0" anchor="ctr"/>
          <a:lstStyle/>
          <a:p>
            <a:pPr indent="0" marL="0">
              <a:buNone/>
            </a:pPr>
            <a:r>
              <a:rPr lang="en-US" sz="1050" dirty="0">
                <a:solidFill>
                  <a:srgbClr val="1E2D3D"/>
                </a:solidFill>
              </a:rPr>
              <a:t>3. Open low-risk PRs automatically (Tier 1)</a:t>
            </a:r>
            <a:endParaRPr lang="en-US" sz="1050" dirty="0"/>
          </a:p>
        </p:txBody>
      </p:sp>
      <p:sp>
        <p:nvSpPr>
          <p:cNvPr id="12" name="Text 10"/>
          <p:cNvSpPr/>
          <p:nvPr/>
        </p:nvSpPr>
        <p:spPr>
          <a:xfrm>
            <a:off x="429768" y="2651760"/>
            <a:ext cx="3941064" cy="237744"/>
          </a:xfrm>
          <a:prstGeom prst="rect">
            <a:avLst/>
          </a:prstGeom>
          <a:noFill/>
          <a:ln/>
        </p:spPr>
        <p:txBody>
          <a:bodyPr wrap="square" lIns="0" tIns="0" rIns="0" bIns="0" rtlCol="0" anchor="ctr"/>
          <a:lstStyle/>
          <a:p>
            <a:pPr indent="0" marL="0">
              <a:buNone/>
            </a:pPr>
            <a:r>
              <a:rPr lang="en-US" sz="1050" dirty="0">
                <a:solidFill>
                  <a:srgbClr val="1E2D3D"/>
                </a:solidFill>
              </a:rPr>
              <a:t>4. Flag high-risk changes for human review (Tier 2/3)</a:t>
            </a:r>
            <a:endParaRPr lang="en-US" sz="1050" dirty="0"/>
          </a:p>
        </p:txBody>
      </p:sp>
      <p:sp>
        <p:nvSpPr>
          <p:cNvPr id="13" name="Shape 11"/>
          <p:cNvSpPr/>
          <p:nvPr/>
        </p:nvSpPr>
        <p:spPr>
          <a:xfrm>
            <a:off x="411480" y="2688336"/>
            <a:ext cx="3977640" cy="219456"/>
          </a:xfrm>
          <a:prstGeom prst="rect">
            <a:avLst/>
          </a:prstGeom>
          <a:solidFill>
            <a:srgbClr val="1C3557">
              <a:alpha val="12000"/>
            </a:srgbClr>
          </a:solidFill>
          <a:ln/>
        </p:spPr>
      </p:sp>
      <p:sp>
        <p:nvSpPr>
          <p:cNvPr id="14" name="Text 12"/>
          <p:cNvSpPr/>
          <p:nvPr/>
        </p:nvSpPr>
        <p:spPr>
          <a:xfrm>
            <a:off x="457200" y="2688336"/>
            <a:ext cx="3886200" cy="219456"/>
          </a:xfrm>
          <a:prstGeom prst="rect">
            <a:avLst/>
          </a:prstGeom>
          <a:noFill/>
          <a:ln/>
        </p:spPr>
        <p:txBody>
          <a:bodyPr wrap="square" lIns="0" tIns="0" rIns="0" bIns="0" rtlCol="0" anchor="ctr"/>
          <a:lstStyle/>
          <a:p>
            <a:pPr indent="0" marL="0">
              <a:buNone/>
            </a:pPr>
            <a:r>
              <a:rPr lang="en-US" sz="950" i="1" dirty="0">
                <a:solidFill>
                  <a:srgbClr val="1C3557"/>
                </a:solidFill>
              </a:rPr>
              <a:t>Codebase stays current. Security debt doesn’t accumulate silently.</a:t>
            </a:r>
            <a:endParaRPr lang="en-US" sz="950" dirty="0"/>
          </a:p>
        </p:txBody>
      </p:sp>
      <p:sp>
        <p:nvSpPr>
          <p:cNvPr id="15" name="Shape 13"/>
          <p:cNvSpPr/>
          <p:nvPr/>
        </p:nvSpPr>
        <p:spPr>
          <a:xfrm>
            <a:off x="4663440" y="1170432"/>
            <a:ext cx="4160520" cy="1792224"/>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6" name="Shape 14"/>
          <p:cNvSpPr/>
          <p:nvPr/>
        </p:nvSpPr>
        <p:spPr>
          <a:xfrm>
            <a:off x="4663440" y="1170432"/>
            <a:ext cx="4160520" cy="402336"/>
          </a:xfrm>
          <a:prstGeom prst="rect">
            <a:avLst/>
          </a:prstGeom>
          <a:solidFill>
            <a:srgbClr val="4A7FA8"/>
          </a:solidFill>
          <a:ln/>
        </p:spPr>
      </p:sp>
      <p:sp>
        <p:nvSpPr>
          <p:cNvPr id="17" name="Text 15"/>
          <p:cNvSpPr/>
          <p:nvPr/>
        </p:nvSpPr>
        <p:spPr>
          <a:xfrm>
            <a:off x="4773168" y="1170432"/>
            <a:ext cx="3941064" cy="402336"/>
          </a:xfrm>
          <a:prstGeom prst="rect">
            <a:avLst/>
          </a:prstGeom>
          <a:noFill/>
          <a:ln/>
        </p:spPr>
        <p:txBody>
          <a:bodyPr wrap="square" lIns="0" tIns="0" rIns="0" bIns="0" rtlCol="0" anchor="ctr"/>
          <a:lstStyle/>
          <a:p>
            <a:pPr indent="0" marL="0">
              <a:buNone/>
            </a:pPr>
            <a:r>
              <a:rPr lang="en-US" sz="1300" b="1" dirty="0">
                <a:solidFill>
                  <a:srgbClr val="FFFFFF"/>
                </a:solidFill>
              </a:rPr>
              <a:t>Test Coverage Growth</a:t>
            </a:r>
            <a:endParaRPr lang="en-US" sz="1300" dirty="0"/>
          </a:p>
        </p:txBody>
      </p:sp>
      <p:sp>
        <p:nvSpPr>
          <p:cNvPr id="18" name="Text 16"/>
          <p:cNvSpPr/>
          <p:nvPr/>
        </p:nvSpPr>
        <p:spPr>
          <a:xfrm>
            <a:off x="4773168" y="1627632"/>
            <a:ext cx="3941064" cy="237744"/>
          </a:xfrm>
          <a:prstGeom prst="rect">
            <a:avLst/>
          </a:prstGeom>
          <a:noFill/>
          <a:ln/>
        </p:spPr>
        <p:txBody>
          <a:bodyPr wrap="square" lIns="0" tIns="0" rIns="0" bIns="0" rtlCol="0" anchor="ctr"/>
          <a:lstStyle/>
          <a:p>
            <a:pPr indent="0" marL="0">
              <a:buNone/>
            </a:pPr>
            <a:r>
              <a:rPr lang="en-US" sz="1000" i="1" dirty="0">
                <a:solidFill>
                  <a:srgbClr val="4A7FA8"/>
                </a:solidFill>
              </a:rPr>
              <a:t>▶ Post-merge agent run on changed files</a:t>
            </a:r>
            <a:endParaRPr lang="en-US" sz="1000" dirty="0"/>
          </a:p>
        </p:txBody>
      </p:sp>
      <p:sp>
        <p:nvSpPr>
          <p:cNvPr id="19" name="Text 17"/>
          <p:cNvSpPr/>
          <p:nvPr/>
        </p:nvSpPr>
        <p:spPr>
          <a:xfrm>
            <a:off x="4773168" y="1883664"/>
            <a:ext cx="3941064" cy="237744"/>
          </a:xfrm>
          <a:prstGeom prst="rect">
            <a:avLst/>
          </a:prstGeom>
          <a:noFill/>
          <a:ln/>
        </p:spPr>
        <p:txBody>
          <a:bodyPr wrap="square" lIns="0" tIns="0" rIns="0" bIns="0" rtlCol="0" anchor="ctr"/>
          <a:lstStyle/>
          <a:p>
            <a:pPr indent="0" marL="0">
              <a:buNone/>
            </a:pPr>
            <a:r>
              <a:rPr lang="en-US" sz="1050" dirty="0">
                <a:solidFill>
                  <a:srgbClr val="1E2D3D"/>
                </a:solidFill>
              </a:rPr>
              <a:t>1. Identify files modified with &lt;80% coverage</a:t>
            </a:r>
            <a:endParaRPr lang="en-US" sz="1050" dirty="0"/>
          </a:p>
        </p:txBody>
      </p:sp>
      <p:sp>
        <p:nvSpPr>
          <p:cNvPr id="20" name="Text 18"/>
          <p:cNvSpPr/>
          <p:nvPr/>
        </p:nvSpPr>
        <p:spPr>
          <a:xfrm>
            <a:off x="4773168" y="2139696"/>
            <a:ext cx="3941064" cy="237744"/>
          </a:xfrm>
          <a:prstGeom prst="rect">
            <a:avLst/>
          </a:prstGeom>
          <a:noFill/>
          <a:ln/>
        </p:spPr>
        <p:txBody>
          <a:bodyPr wrap="square" lIns="0" tIns="0" rIns="0" bIns="0" rtlCol="0" anchor="ctr"/>
          <a:lstStyle/>
          <a:p>
            <a:pPr indent="0" marL="0">
              <a:buNone/>
            </a:pPr>
            <a:r>
              <a:rPr lang="en-US" sz="1050" dirty="0">
                <a:solidFill>
                  <a:srgbClr val="1E2D3D"/>
                </a:solidFill>
              </a:rPr>
              <a:t>2. Agent generates missing unit tests</a:t>
            </a:r>
            <a:endParaRPr lang="en-US" sz="1050" dirty="0"/>
          </a:p>
        </p:txBody>
      </p:sp>
      <p:sp>
        <p:nvSpPr>
          <p:cNvPr id="21" name="Text 19"/>
          <p:cNvSpPr/>
          <p:nvPr/>
        </p:nvSpPr>
        <p:spPr>
          <a:xfrm>
            <a:off x="4773168" y="2395728"/>
            <a:ext cx="3941064" cy="237744"/>
          </a:xfrm>
          <a:prstGeom prst="rect">
            <a:avLst/>
          </a:prstGeom>
          <a:noFill/>
          <a:ln/>
        </p:spPr>
        <p:txBody>
          <a:bodyPr wrap="square" lIns="0" tIns="0" rIns="0" bIns="0" rtlCol="0" anchor="ctr"/>
          <a:lstStyle/>
          <a:p>
            <a:pPr indent="0" marL="0">
              <a:buNone/>
            </a:pPr>
            <a:r>
              <a:rPr lang="en-US" sz="1050" dirty="0">
                <a:solidFill>
                  <a:srgbClr val="1E2D3D"/>
                </a:solidFill>
              </a:rPr>
              <a:t>3. Verifier confirms tests pass and are meaningful</a:t>
            </a:r>
            <a:endParaRPr lang="en-US" sz="1050" dirty="0"/>
          </a:p>
        </p:txBody>
      </p:sp>
      <p:sp>
        <p:nvSpPr>
          <p:cNvPr id="22" name="Text 20"/>
          <p:cNvSpPr/>
          <p:nvPr/>
        </p:nvSpPr>
        <p:spPr>
          <a:xfrm>
            <a:off x="4773168" y="2651760"/>
            <a:ext cx="3941064" cy="237744"/>
          </a:xfrm>
          <a:prstGeom prst="rect">
            <a:avLst/>
          </a:prstGeom>
          <a:noFill/>
          <a:ln/>
        </p:spPr>
        <p:txBody>
          <a:bodyPr wrap="square" lIns="0" tIns="0" rIns="0" bIns="0" rtlCol="0" anchor="ctr"/>
          <a:lstStyle/>
          <a:p>
            <a:pPr indent="0" marL="0">
              <a:buNone/>
            </a:pPr>
            <a:r>
              <a:rPr lang="en-US" sz="1050" dirty="0">
                <a:solidFill>
                  <a:srgbClr val="1E2D3D"/>
                </a:solidFill>
              </a:rPr>
              <a:t>4. PR opened for human review before merge</a:t>
            </a:r>
            <a:endParaRPr lang="en-US" sz="1050" dirty="0"/>
          </a:p>
        </p:txBody>
      </p:sp>
      <p:sp>
        <p:nvSpPr>
          <p:cNvPr id="23" name="Shape 21"/>
          <p:cNvSpPr/>
          <p:nvPr/>
        </p:nvSpPr>
        <p:spPr>
          <a:xfrm>
            <a:off x="4754880" y="2688336"/>
            <a:ext cx="3977640" cy="219456"/>
          </a:xfrm>
          <a:prstGeom prst="rect">
            <a:avLst/>
          </a:prstGeom>
          <a:solidFill>
            <a:srgbClr val="4A7FA8">
              <a:alpha val="12000"/>
            </a:srgbClr>
          </a:solidFill>
          <a:ln/>
        </p:spPr>
      </p:sp>
      <p:sp>
        <p:nvSpPr>
          <p:cNvPr id="24" name="Text 22"/>
          <p:cNvSpPr/>
          <p:nvPr/>
        </p:nvSpPr>
        <p:spPr>
          <a:xfrm>
            <a:off x="4800600" y="2688336"/>
            <a:ext cx="3886200" cy="219456"/>
          </a:xfrm>
          <a:prstGeom prst="rect">
            <a:avLst/>
          </a:prstGeom>
          <a:noFill/>
          <a:ln/>
        </p:spPr>
        <p:txBody>
          <a:bodyPr wrap="square" lIns="0" tIns="0" rIns="0" bIns="0" rtlCol="0" anchor="ctr"/>
          <a:lstStyle/>
          <a:p>
            <a:pPr indent="0" marL="0">
              <a:buNone/>
            </a:pPr>
            <a:r>
              <a:rPr lang="en-US" sz="950" i="1" dirty="0">
                <a:solidFill>
                  <a:srgbClr val="4A7FA8"/>
                </a:solidFill>
              </a:rPr>
              <a:t>Coverage grows organically with every feature. No dedicated ‘test debt sprints’.</a:t>
            </a:r>
            <a:endParaRPr lang="en-US" sz="950" dirty="0"/>
          </a:p>
        </p:txBody>
      </p:sp>
      <p:sp>
        <p:nvSpPr>
          <p:cNvPr id="25" name="Shape 23"/>
          <p:cNvSpPr/>
          <p:nvPr/>
        </p:nvSpPr>
        <p:spPr>
          <a:xfrm>
            <a:off x="320040" y="3108960"/>
            <a:ext cx="4160520" cy="1792224"/>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6" name="Shape 24"/>
          <p:cNvSpPr/>
          <p:nvPr/>
        </p:nvSpPr>
        <p:spPr>
          <a:xfrm>
            <a:off x="320040" y="3108960"/>
            <a:ext cx="4160520" cy="402336"/>
          </a:xfrm>
          <a:prstGeom prst="rect">
            <a:avLst/>
          </a:prstGeom>
          <a:solidFill>
            <a:srgbClr val="3A7DC9"/>
          </a:solidFill>
          <a:ln/>
        </p:spPr>
      </p:sp>
      <p:sp>
        <p:nvSpPr>
          <p:cNvPr id="27" name="Text 25"/>
          <p:cNvSpPr/>
          <p:nvPr/>
        </p:nvSpPr>
        <p:spPr>
          <a:xfrm>
            <a:off x="429768" y="3108960"/>
            <a:ext cx="3941064" cy="402336"/>
          </a:xfrm>
          <a:prstGeom prst="rect">
            <a:avLst/>
          </a:prstGeom>
          <a:noFill/>
          <a:ln/>
        </p:spPr>
        <p:txBody>
          <a:bodyPr wrap="square" lIns="0" tIns="0" rIns="0" bIns="0" rtlCol="0" anchor="ctr"/>
          <a:lstStyle/>
          <a:p>
            <a:pPr indent="0" marL="0">
              <a:buNone/>
            </a:pPr>
            <a:r>
              <a:rPr lang="en-US" sz="1300" b="1" dirty="0">
                <a:solidFill>
                  <a:srgbClr val="FFFFFF"/>
                </a:solidFill>
              </a:rPr>
              <a:t>Documentation Refresh</a:t>
            </a:r>
            <a:endParaRPr lang="en-US" sz="1300" dirty="0"/>
          </a:p>
        </p:txBody>
      </p:sp>
      <p:sp>
        <p:nvSpPr>
          <p:cNvPr id="28" name="Text 26"/>
          <p:cNvSpPr/>
          <p:nvPr/>
        </p:nvSpPr>
        <p:spPr>
          <a:xfrm>
            <a:off x="429768" y="3566160"/>
            <a:ext cx="3941064" cy="237744"/>
          </a:xfrm>
          <a:prstGeom prst="rect">
            <a:avLst/>
          </a:prstGeom>
          <a:noFill/>
          <a:ln/>
        </p:spPr>
        <p:txBody>
          <a:bodyPr wrap="square" lIns="0" tIns="0" rIns="0" bIns="0" rtlCol="0" anchor="ctr"/>
          <a:lstStyle/>
          <a:p>
            <a:pPr indent="0" marL="0">
              <a:buNone/>
            </a:pPr>
            <a:r>
              <a:rPr lang="en-US" sz="1000" i="1" dirty="0">
                <a:solidFill>
                  <a:srgbClr val="3A7DC9"/>
                </a:solidFill>
              </a:rPr>
              <a:t>▶ Triggered by significant PR merge</a:t>
            </a:r>
            <a:endParaRPr lang="en-US" sz="1000" dirty="0"/>
          </a:p>
        </p:txBody>
      </p:sp>
      <p:sp>
        <p:nvSpPr>
          <p:cNvPr id="29" name="Text 27"/>
          <p:cNvSpPr/>
          <p:nvPr/>
        </p:nvSpPr>
        <p:spPr>
          <a:xfrm>
            <a:off x="429768" y="3822192"/>
            <a:ext cx="3941064" cy="237744"/>
          </a:xfrm>
          <a:prstGeom prst="rect">
            <a:avLst/>
          </a:prstGeom>
          <a:noFill/>
          <a:ln/>
        </p:spPr>
        <p:txBody>
          <a:bodyPr wrap="square" lIns="0" tIns="0" rIns="0" bIns="0" rtlCol="0" anchor="ctr"/>
          <a:lstStyle/>
          <a:p>
            <a:pPr indent="0" marL="0">
              <a:buNone/>
            </a:pPr>
            <a:r>
              <a:rPr lang="en-US" sz="1050" dirty="0">
                <a:solidFill>
                  <a:srgbClr val="1E2D3D"/>
                </a:solidFill>
              </a:rPr>
              <a:t>1. Agent reads diff and identifies doc gaps</a:t>
            </a:r>
            <a:endParaRPr lang="en-US" sz="1050" dirty="0"/>
          </a:p>
        </p:txBody>
      </p:sp>
      <p:sp>
        <p:nvSpPr>
          <p:cNvPr id="30" name="Text 28"/>
          <p:cNvSpPr/>
          <p:nvPr/>
        </p:nvSpPr>
        <p:spPr>
          <a:xfrm>
            <a:off x="429768" y="4078224"/>
            <a:ext cx="3941064" cy="237744"/>
          </a:xfrm>
          <a:prstGeom prst="rect">
            <a:avLst/>
          </a:prstGeom>
          <a:noFill/>
          <a:ln/>
        </p:spPr>
        <p:txBody>
          <a:bodyPr wrap="square" lIns="0" tIns="0" rIns="0" bIns="0" rtlCol="0" anchor="ctr"/>
          <a:lstStyle/>
          <a:p>
            <a:pPr indent="0" marL="0">
              <a:buNone/>
            </a:pPr>
            <a:r>
              <a:rPr lang="en-US" sz="1050" dirty="0">
                <a:solidFill>
                  <a:srgbClr val="1E2D3D"/>
                </a:solidFill>
              </a:rPr>
              <a:t>2. Updates API docs, README, architecture notes</a:t>
            </a:r>
            <a:endParaRPr lang="en-US" sz="1050" dirty="0"/>
          </a:p>
        </p:txBody>
      </p:sp>
      <p:sp>
        <p:nvSpPr>
          <p:cNvPr id="31" name="Text 29"/>
          <p:cNvSpPr/>
          <p:nvPr/>
        </p:nvSpPr>
        <p:spPr>
          <a:xfrm>
            <a:off x="429768" y="4334256"/>
            <a:ext cx="3941064" cy="237744"/>
          </a:xfrm>
          <a:prstGeom prst="rect">
            <a:avLst/>
          </a:prstGeom>
          <a:noFill/>
          <a:ln/>
        </p:spPr>
        <p:txBody>
          <a:bodyPr wrap="square" lIns="0" tIns="0" rIns="0" bIns="0" rtlCol="0" anchor="ctr"/>
          <a:lstStyle/>
          <a:p>
            <a:pPr indent="0" marL="0">
              <a:buNone/>
            </a:pPr>
            <a:r>
              <a:rPr lang="en-US" sz="1050" dirty="0">
                <a:solidFill>
                  <a:srgbClr val="1E2D3D"/>
                </a:solidFill>
              </a:rPr>
              <a:t>3. Flags PRODUCT.md sections that may be outdated</a:t>
            </a:r>
            <a:endParaRPr lang="en-US" sz="1050" dirty="0"/>
          </a:p>
        </p:txBody>
      </p:sp>
      <p:sp>
        <p:nvSpPr>
          <p:cNvPr id="32" name="Text 30"/>
          <p:cNvSpPr/>
          <p:nvPr/>
        </p:nvSpPr>
        <p:spPr>
          <a:xfrm>
            <a:off x="429768" y="4590288"/>
            <a:ext cx="3941064" cy="237744"/>
          </a:xfrm>
          <a:prstGeom prst="rect">
            <a:avLst/>
          </a:prstGeom>
          <a:noFill/>
          <a:ln/>
        </p:spPr>
        <p:txBody>
          <a:bodyPr wrap="square" lIns="0" tIns="0" rIns="0" bIns="0" rtlCol="0" anchor="ctr"/>
          <a:lstStyle/>
          <a:p>
            <a:pPr indent="0" marL="0">
              <a:buNone/>
            </a:pPr>
            <a:r>
              <a:rPr lang="en-US" sz="1050" dirty="0">
                <a:solidFill>
                  <a:srgbClr val="1E2D3D"/>
                </a:solidFill>
              </a:rPr>
              <a:t>4. PR opened; team reviews and merges</a:t>
            </a:r>
            <a:endParaRPr lang="en-US" sz="1050" dirty="0"/>
          </a:p>
        </p:txBody>
      </p:sp>
      <p:sp>
        <p:nvSpPr>
          <p:cNvPr id="33" name="Shape 31"/>
          <p:cNvSpPr/>
          <p:nvPr/>
        </p:nvSpPr>
        <p:spPr>
          <a:xfrm>
            <a:off x="411480" y="4626864"/>
            <a:ext cx="3977640" cy="219456"/>
          </a:xfrm>
          <a:prstGeom prst="rect">
            <a:avLst/>
          </a:prstGeom>
          <a:solidFill>
            <a:srgbClr val="3A7DC9">
              <a:alpha val="12000"/>
            </a:srgbClr>
          </a:solidFill>
          <a:ln/>
        </p:spPr>
      </p:sp>
      <p:sp>
        <p:nvSpPr>
          <p:cNvPr id="34" name="Text 32"/>
          <p:cNvSpPr/>
          <p:nvPr/>
        </p:nvSpPr>
        <p:spPr>
          <a:xfrm>
            <a:off x="457200" y="4626864"/>
            <a:ext cx="3886200" cy="219456"/>
          </a:xfrm>
          <a:prstGeom prst="rect">
            <a:avLst/>
          </a:prstGeom>
          <a:noFill/>
          <a:ln/>
        </p:spPr>
        <p:txBody>
          <a:bodyPr wrap="square" lIns="0" tIns="0" rIns="0" bIns="0" rtlCol="0" anchor="ctr"/>
          <a:lstStyle/>
          <a:p>
            <a:pPr indent="0" marL="0">
              <a:buNone/>
            </a:pPr>
            <a:r>
              <a:rPr lang="en-US" sz="950" i="1" dirty="0">
                <a:solidFill>
                  <a:srgbClr val="3A7DC9"/>
                </a:solidFill>
              </a:rPr>
              <a:t>Documentation stays current automatically. New team members onboard faster.</a:t>
            </a:r>
            <a:endParaRPr lang="en-US" sz="950" dirty="0"/>
          </a:p>
        </p:txBody>
      </p:sp>
      <p:sp>
        <p:nvSpPr>
          <p:cNvPr id="35" name="Shape 33"/>
          <p:cNvSpPr/>
          <p:nvPr/>
        </p:nvSpPr>
        <p:spPr>
          <a:xfrm>
            <a:off x="4663440" y="3108960"/>
            <a:ext cx="4160520" cy="1792224"/>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6" name="Shape 34"/>
          <p:cNvSpPr/>
          <p:nvPr/>
        </p:nvSpPr>
        <p:spPr>
          <a:xfrm>
            <a:off x="4663440" y="3108960"/>
            <a:ext cx="4160520" cy="402336"/>
          </a:xfrm>
          <a:prstGeom prst="rect">
            <a:avLst/>
          </a:prstGeom>
          <a:solidFill>
            <a:srgbClr val="3A7E6E"/>
          </a:solidFill>
          <a:ln/>
        </p:spPr>
      </p:sp>
      <p:sp>
        <p:nvSpPr>
          <p:cNvPr id="37" name="Text 35"/>
          <p:cNvSpPr/>
          <p:nvPr/>
        </p:nvSpPr>
        <p:spPr>
          <a:xfrm>
            <a:off x="4773168" y="3108960"/>
            <a:ext cx="3941064" cy="402336"/>
          </a:xfrm>
          <a:prstGeom prst="rect">
            <a:avLst/>
          </a:prstGeom>
          <a:noFill/>
          <a:ln/>
        </p:spPr>
        <p:txBody>
          <a:bodyPr wrap="square" lIns="0" tIns="0" rIns="0" bIns="0" rtlCol="0" anchor="ctr"/>
          <a:lstStyle/>
          <a:p>
            <a:pPr indent="0" marL="0">
              <a:buNone/>
            </a:pPr>
            <a:r>
              <a:rPr lang="en-US" sz="1300" b="1" dirty="0">
                <a:solidFill>
                  <a:srgbClr val="FFFFFF"/>
                </a:solidFill>
              </a:rPr>
              <a:t>Code Quality Enforcement</a:t>
            </a:r>
            <a:endParaRPr lang="en-US" sz="1300" dirty="0"/>
          </a:p>
        </p:txBody>
      </p:sp>
      <p:sp>
        <p:nvSpPr>
          <p:cNvPr id="38" name="Text 36"/>
          <p:cNvSpPr/>
          <p:nvPr/>
        </p:nvSpPr>
        <p:spPr>
          <a:xfrm>
            <a:off x="4773168" y="3566160"/>
            <a:ext cx="3941064" cy="237744"/>
          </a:xfrm>
          <a:prstGeom prst="rect">
            <a:avLst/>
          </a:prstGeom>
          <a:noFill/>
          <a:ln/>
        </p:spPr>
        <p:txBody>
          <a:bodyPr wrap="square" lIns="0" tIns="0" rIns="0" bIns="0" rtlCol="0" anchor="ctr"/>
          <a:lstStyle/>
          <a:p>
            <a:pPr indent="0" marL="0">
              <a:buNone/>
            </a:pPr>
            <a:r>
              <a:rPr lang="en-US" sz="1000" i="1" dirty="0">
                <a:solidFill>
                  <a:srgbClr val="3A7E6E"/>
                </a:solidFill>
              </a:rPr>
              <a:t>▶ Pre-PR agent hook</a:t>
            </a:r>
            <a:endParaRPr lang="en-US" sz="1000" dirty="0"/>
          </a:p>
        </p:txBody>
      </p:sp>
      <p:sp>
        <p:nvSpPr>
          <p:cNvPr id="39" name="Text 37"/>
          <p:cNvSpPr/>
          <p:nvPr/>
        </p:nvSpPr>
        <p:spPr>
          <a:xfrm>
            <a:off x="4773168" y="3822192"/>
            <a:ext cx="3941064" cy="237744"/>
          </a:xfrm>
          <a:prstGeom prst="rect">
            <a:avLst/>
          </a:prstGeom>
          <a:noFill/>
          <a:ln/>
        </p:spPr>
        <p:txBody>
          <a:bodyPr wrap="square" lIns="0" tIns="0" rIns="0" bIns="0" rtlCol="0" anchor="ctr"/>
          <a:lstStyle/>
          <a:p>
            <a:pPr indent="0" marL="0">
              <a:buNone/>
            </a:pPr>
            <a:r>
              <a:rPr lang="en-US" sz="1050" dirty="0">
                <a:solidFill>
                  <a:srgbClr val="1E2D3D"/>
                </a:solidFill>
              </a:rPr>
              <a:t>1. Linter, formatter, and type checker run</a:t>
            </a:r>
            <a:endParaRPr lang="en-US" sz="1050" dirty="0"/>
          </a:p>
        </p:txBody>
      </p:sp>
      <p:sp>
        <p:nvSpPr>
          <p:cNvPr id="40" name="Text 38"/>
          <p:cNvSpPr/>
          <p:nvPr/>
        </p:nvSpPr>
        <p:spPr>
          <a:xfrm>
            <a:off x="4773168" y="4078224"/>
            <a:ext cx="3941064" cy="237744"/>
          </a:xfrm>
          <a:prstGeom prst="rect">
            <a:avLst/>
          </a:prstGeom>
          <a:noFill/>
          <a:ln/>
        </p:spPr>
        <p:txBody>
          <a:bodyPr wrap="square" lIns="0" tIns="0" rIns="0" bIns="0" rtlCol="0" anchor="ctr"/>
          <a:lstStyle/>
          <a:p>
            <a:pPr indent="0" marL="0">
              <a:buNone/>
            </a:pPr>
            <a:r>
              <a:rPr lang="en-US" sz="1050" dirty="0">
                <a:solidFill>
                  <a:srgbClr val="1E2D3D"/>
                </a:solidFill>
              </a:rPr>
              <a:t>2. Agent self-corrects formatting issues</a:t>
            </a:r>
            <a:endParaRPr lang="en-US" sz="1050" dirty="0"/>
          </a:p>
        </p:txBody>
      </p:sp>
      <p:sp>
        <p:nvSpPr>
          <p:cNvPr id="41" name="Text 39"/>
          <p:cNvSpPr/>
          <p:nvPr/>
        </p:nvSpPr>
        <p:spPr>
          <a:xfrm>
            <a:off x="4773168" y="4334256"/>
            <a:ext cx="3941064" cy="237744"/>
          </a:xfrm>
          <a:prstGeom prst="rect">
            <a:avLst/>
          </a:prstGeom>
          <a:noFill/>
          <a:ln/>
        </p:spPr>
        <p:txBody>
          <a:bodyPr wrap="square" lIns="0" tIns="0" rIns="0" bIns="0" rtlCol="0" anchor="ctr"/>
          <a:lstStyle/>
          <a:p>
            <a:pPr indent="0" marL="0">
              <a:buNone/>
            </a:pPr>
            <a:r>
              <a:rPr lang="en-US" sz="1050" dirty="0">
                <a:solidFill>
                  <a:srgbClr val="1E2D3D"/>
                </a:solidFill>
              </a:rPr>
              <a:t>3. Complexity check: flags methods above threshold</a:t>
            </a:r>
            <a:endParaRPr lang="en-US" sz="1050" dirty="0"/>
          </a:p>
        </p:txBody>
      </p:sp>
      <p:sp>
        <p:nvSpPr>
          <p:cNvPr id="42" name="Text 40"/>
          <p:cNvSpPr/>
          <p:nvPr/>
        </p:nvSpPr>
        <p:spPr>
          <a:xfrm>
            <a:off x="4773168" y="4590288"/>
            <a:ext cx="3941064" cy="237744"/>
          </a:xfrm>
          <a:prstGeom prst="rect">
            <a:avLst/>
          </a:prstGeom>
          <a:noFill/>
          <a:ln/>
        </p:spPr>
        <p:txBody>
          <a:bodyPr wrap="square" lIns="0" tIns="0" rIns="0" bIns="0" rtlCol="0" anchor="ctr"/>
          <a:lstStyle/>
          <a:p>
            <a:pPr indent="0" marL="0">
              <a:buNone/>
            </a:pPr>
            <a:r>
              <a:rPr lang="en-US" sz="1050" dirty="0">
                <a:solidFill>
                  <a:srgbClr val="1E2D3D"/>
                </a:solidFill>
              </a:rPr>
              <a:t>4. Security pattern check (OWASP patterns)</a:t>
            </a:r>
            <a:endParaRPr lang="en-US" sz="1050" dirty="0"/>
          </a:p>
        </p:txBody>
      </p:sp>
      <p:sp>
        <p:nvSpPr>
          <p:cNvPr id="43" name="Shape 41"/>
          <p:cNvSpPr/>
          <p:nvPr/>
        </p:nvSpPr>
        <p:spPr>
          <a:xfrm>
            <a:off x="4754880" y="4626864"/>
            <a:ext cx="3977640" cy="219456"/>
          </a:xfrm>
          <a:prstGeom prst="rect">
            <a:avLst/>
          </a:prstGeom>
          <a:solidFill>
            <a:srgbClr val="3A7E6E">
              <a:alpha val="12000"/>
            </a:srgbClr>
          </a:solidFill>
          <a:ln/>
        </p:spPr>
      </p:sp>
      <p:sp>
        <p:nvSpPr>
          <p:cNvPr id="44" name="Text 42"/>
          <p:cNvSpPr/>
          <p:nvPr/>
        </p:nvSpPr>
        <p:spPr>
          <a:xfrm>
            <a:off x="4800600" y="4626864"/>
            <a:ext cx="3886200" cy="219456"/>
          </a:xfrm>
          <a:prstGeom prst="rect">
            <a:avLst/>
          </a:prstGeom>
          <a:noFill/>
          <a:ln/>
        </p:spPr>
        <p:txBody>
          <a:bodyPr wrap="square" lIns="0" tIns="0" rIns="0" bIns="0" rtlCol="0" anchor="ctr"/>
          <a:lstStyle/>
          <a:p>
            <a:pPr indent="0" marL="0">
              <a:buNone/>
            </a:pPr>
            <a:r>
              <a:rPr lang="en-US" sz="950" i="1" dirty="0">
                <a:solidFill>
                  <a:srgbClr val="3A7E6E"/>
                </a:solidFill>
              </a:rPr>
              <a:t>Code review focuses on architecture and logic, not style or basic quality.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GUIDING THE PRODUCT WITH AGENTS</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500" i="1" dirty="0">
                <a:solidFill>
                  <a:srgbClr val="FFFFFF"/>
                </a:solidFill>
              </a:rPr>
              <a:t>When the team has deep product understanding, agents become force multipliers for the right outcomes.</a:t>
            </a:r>
            <a:endParaRPr lang="en-US" sz="1500" dirty="0"/>
          </a:p>
        </p:txBody>
      </p:sp>
      <p:sp>
        <p:nvSpPr>
          <p:cNvPr id="4" name="Shape 2"/>
          <p:cNvSpPr/>
          <p:nvPr/>
        </p:nvSpPr>
        <p:spPr>
          <a:xfrm>
            <a:off x="320040" y="1170432"/>
            <a:ext cx="420624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70432"/>
            <a:ext cx="54864" cy="1719072"/>
          </a:xfrm>
          <a:prstGeom prst="rect">
            <a:avLst/>
          </a:prstGeom>
          <a:solidFill>
            <a:srgbClr val="3A7DC9"/>
          </a:solidFill>
          <a:ln/>
        </p:spPr>
      </p:sp>
      <p:sp>
        <p:nvSpPr>
          <p:cNvPr id="6" name="Text 4"/>
          <p:cNvSpPr/>
          <p:nvPr/>
        </p:nvSpPr>
        <p:spPr>
          <a:xfrm>
            <a:off x="466344" y="1261872"/>
            <a:ext cx="3986784" cy="384048"/>
          </a:xfrm>
          <a:prstGeom prst="rect">
            <a:avLst/>
          </a:prstGeom>
          <a:noFill/>
          <a:ln/>
        </p:spPr>
        <p:txBody>
          <a:bodyPr wrap="square" lIns="0" tIns="0" rIns="0" bIns="0" rtlCol="0" anchor="ctr"/>
          <a:lstStyle/>
          <a:p>
            <a:pPr indent="0" marL="0">
              <a:buNone/>
            </a:pPr>
            <a:r>
              <a:rPr lang="en-US" sz="1300" b="1" dirty="0">
                <a:solidFill>
                  <a:srgbClr val="3A7DC9"/>
                </a:solidFill>
              </a:rPr>
              <a:t>Context-rich agents make better decisions</a:t>
            </a:r>
            <a:endParaRPr lang="en-US" sz="1300" dirty="0"/>
          </a:p>
        </p:txBody>
      </p:sp>
      <p:sp>
        <p:nvSpPr>
          <p:cNvPr id="7" name="Text 5"/>
          <p:cNvSpPr/>
          <p:nvPr/>
        </p:nvSpPr>
        <p:spPr>
          <a:xfrm>
            <a:off x="466344" y="1700784"/>
            <a:ext cx="3986784" cy="1097280"/>
          </a:xfrm>
          <a:prstGeom prst="rect">
            <a:avLst/>
          </a:prstGeom>
          <a:noFill/>
          <a:ln/>
        </p:spPr>
        <p:txBody>
          <a:bodyPr wrap="square" lIns="0" tIns="0" rIns="0" bIns="0" rtlCol="0" anchor="ctr"/>
          <a:lstStyle/>
          <a:p>
            <a:pPr indent="0" marL="0">
              <a:buNone/>
            </a:pPr>
            <a:r>
              <a:rPr lang="en-US" sz="1150" dirty="0">
                <a:solidFill>
                  <a:srgbClr val="D4E4F0"/>
                </a:solidFill>
              </a:rPr>
              <a:t>An agent with PRODUCT.md, ADRs, user personas, and architecture docs in context will self-correct toward the right solution. Without context, it optimises for the technically correct solution, not the product-correct one.</a:t>
            </a:r>
            <a:endParaRPr lang="en-US" sz="1150" dirty="0"/>
          </a:p>
        </p:txBody>
      </p:sp>
      <p:sp>
        <p:nvSpPr>
          <p:cNvPr id="8" name="Shape 6"/>
          <p:cNvSpPr/>
          <p:nvPr/>
        </p:nvSpPr>
        <p:spPr>
          <a:xfrm>
            <a:off x="4709160" y="1170432"/>
            <a:ext cx="420624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9" name="Shape 7"/>
          <p:cNvSpPr/>
          <p:nvPr/>
        </p:nvSpPr>
        <p:spPr>
          <a:xfrm>
            <a:off x="4709160" y="1170432"/>
            <a:ext cx="54864" cy="1719072"/>
          </a:xfrm>
          <a:prstGeom prst="rect">
            <a:avLst/>
          </a:prstGeom>
          <a:solidFill>
            <a:srgbClr val="4A7FA8"/>
          </a:solidFill>
          <a:ln/>
        </p:spPr>
      </p:sp>
      <p:sp>
        <p:nvSpPr>
          <p:cNvPr id="10" name="Text 8"/>
          <p:cNvSpPr/>
          <p:nvPr/>
        </p:nvSpPr>
        <p:spPr>
          <a:xfrm>
            <a:off x="4855464" y="1261872"/>
            <a:ext cx="3986784" cy="384048"/>
          </a:xfrm>
          <a:prstGeom prst="rect">
            <a:avLst/>
          </a:prstGeom>
          <a:noFill/>
          <a:ln/>
        </p:spPr>
        <p:txBody>
          <a:bodyPr wrap="square" lIns="0" tIns="0" rIns="0" bIns="0" rtlCol="0" anchor="ctr"/>
          <a:lstStyle/>
          <a:p>
            <a:pPr indent="0" marL="0">
              <a:buNone/>
            </a:pPr>
            <a:r>
              <a:rPr lang="en-US" sz="1300" b="1" dirty="0">
                <a:solidFill>
                  <a:srgbClr val="4A7FA8"/>
                </a:solidFill>
              </a:rPr>
              <a:t>The team guides intent; agents execute</a:t>
            </a:r>
            <a:endParaRPr lang="en-US" sz="1300" dirty="0"/>
          </a:p>
        </p:txBody>
      </p:sp>
      <p:sp>
        <p:nvSpPr>
          <p:cNvPr id="11" name="Text 9"/>
          <p:cNvSpPr/>
          <p:nvPr/>
        </p:nvSpPr>
        <p:spPr>
          <a:xfrm>
            <a:off x="4855464" y="1700784"/>
            <a:ext cx="3986784" cy="1097280"/>
          </a:xfrm>
          <a:prstGeom prst="rect">
            <a:avLst/>
          </a:prstGeom>
          <a:noFill/>
          <a:ln/>
        </p:spPr>
        <p:txBody>
          <a:bodyPr wrap="square" lIns="0" tIns="0" rIns="0" bIns="0" rtlCol="0" anchor="ctr"/>
          <a:lstStyle/>
          <a:p>
            <a:pPr indent="0" marL="0">
              <a:buNone/>
            </a:pPr>
            <a:r>
              <a:rPr lang="en-US" sz="1150" dirty="0">
                <a:solidFill>
                  <a:srgbClr val="D4E4F0"/>
                </a:solidFill>
              </a:rPr>
              <a:t>Product people define WHAT and WHY with precision. Agents determine HOW and DO it at scale. The team’s job is to write better specs, richer context, and more explicit acceptance criteria — not more code.</a:t>
            </a:r>
            <a:endParaRPr lang="en-US" sz="1150" dirty="0"/>
          </a:p>
        </p:txBody>
      </p:sp>
      <p:sp>
        <p:nvSpPr>
          <p:cNvPr id="12" name="Shape 10"/>
          <p:cNvSpPr/>
          <p:nvPr/>
        </p:nvSpPr>
        <p:spPr>
          <a:xfrm>
            <a:off x="320040" y="3044952"/>
            <a:ext cx="420624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3" name="Shape 11"/>
          <p:cNvSpPr/>
          <p:nvPr/>
        </p:nvSpPr>
        <p:spPr>
          <a:xfrm>
            <a:off x="320040" y="3044952"/>
            <a:ext cx="54864" cy="1719072"/>
          </a:xfrm>
          <a:prstGeom prst="rect">
            <a:avLst/>
          </a:prstGeom>
          <a:solidFill>
            <a:srgbClr val="3A7E6E"/>
          </a:solidFill>
          <a:ln/>
        </p:spPr>
      </p:sp>
      <p:sp>
        <p:nvSpPr>
          <p:cNvPr id="14" name="Text 12"/>
          <p:cNvSpPr/>
          <p:nvPr/>
        </p:nvSpPr>
        <p:spPr>
          <a:xfrm>
            <a:off x="466344" y="3136392"/>
            <a:ext cx="3986784" cy="384048"/>
          </a:xfrm>
          <a:prstGeom prst="rect">
            <a:avLst/>
          </a:prstGeom>
          <a:noFill/>
          <a:ln/>
        </p:spPr>
        <p:txBody>
          <a:bodyPr wrap="square" lIns="0" tIns="0" rIns="0" bIns="0" rtlCol="0" anchor="ctr"/>
          <a:lstStyle/>
          <a:p>
            <a:pPr indent="0" marL="0">
              <a:buNone/>
            </a:pPr>
            <a:r>
              <a:rPr lang="en-US" sz="1300" b="1" dirty="0">
                <a:solidFill>
                  <a:srgbClr val="3A7E6E"/>
                </a:solidFill>
              </a:rPr>
              <a:t>Quality is a team sport, not a QA phase</a:t>
            </a:r>
            <a:endParaRPr lang="en-US" sz="1300" dirty="0"/>
          </a:p>
        </p:txBody>
      </p:sp>
      <p:sp>
        <p:nvSpPr>
          <p:cNvPr id="15" name="Text 13"/>
          <p:cNvSpPr/>
          <p:nvPr/>
        </p:nvSpPr>
        <p:spPr>
          <a:xfrm>
            <a:off x="466344" y="3575304"/>
            <a:ext cx="3986784" cy="1097280"/>
          </a:xfrm>
          <a:prstGeom prst="rect">
            <a:avLst/>
          </a:prstGeom>
          <a:noFill/>
          <a:ln/>
        </p:spPr>
        <p:txBody>
          <a:bodyPr wrap="square" lIns="0" tIns="0" rIns="0" bIns="0" rtlCol="0" anchor="ctr"/>
          <a:lstStyle/>
          <a:p>
            <a:pPr indent="0" marL="0">
              <a:buNone/>
            </a:pPr>
            <a:r>
              <a:rPr lang="en-US" sz="1150" dirty="0">
                <a:solidFill>
                  <a:srgbClr val="D4E4F0"/>
                </a:solidFill>
              </a:rPr>
              <a:t>Every team member — PM, developer, architect — shares ownership of code quality, test coverage, security posture, and technical health. Agents automate the measurement; humans own the standards.</a:t>
            </a:r>
            <a:endParaRPr lang="en-US" sz="1150" dirty="0"/>
          </a:p>
        </p:txBody>
      </p:sp>
      <p:sp>
        <p:nvSpPr>
          <p:cNvPr id="16" name="Shape 14"/>
          <p:cNvSpPr/>
          <p:nvPr/>
        </p:nvSpPr>
        <p:spPr>
          <a:xfrm>
            <a:off x="4709160" y="3044952"/>
            <a:ext cx="420624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7" name="Shape 15"/>
          <p:cNvSpPr/>
          <p:nvPr/>
        </p:nvSpPr>
        <p:spPr>
          <a:xfrm>
            <a:off x="4709160" y="3044952"/>
            <a:ext cx="54864" cy="1719072"/>
          </a:xfrm>
          <a:prstGeom prst="rect">
            <a:avLst/>
          </a:prstGeom>
          <a:solidFill>
            <a:srgbClr val="8096B0"/>
          </a:solidFill>
          <a:ln/>
        </p:spPr>
      </p:sp>
      <p:sp>
        <p:nvSpPr>
          <p:cNvPr id="18" name="Text 16"/>
          <p:cNvSpPr/>
          <p:nvPr/>
        </p:nvSpPr>
        <p:spPr>
          <a:xfrm>
            <a:off x="4855464" y="3136392"/>
            <a:ext cx="3986784" cy="384048"/>
          </a:xfrm>
          <a:prstGeom prst="rect">
            <a:avLst/>
          </a:prstGeom>
          <a:noFill/>
          <a:ln/>
        </p:spPr>
        <p:txBody>
          <a:bodyPr wrap="square" lIns="0" tIns="0" rIns="0" bIns="0" rtlCol="0" anchor="ctr"/>
          <a:lstStyle/>
          <a:p>
            <a:pPr indent="0" marL="0">
              <a:buNone/>
            </a:pPr>
            <a:r>
              <a:rPr lang="en-US" sz="1300" b="1" dirty="0">
                <a:solidFill>
                  <a:srgbClr val="8096B0"/>
                </a:solidFill>
              </a:rPr>
              <a:t>Evolve fast and safely because you understand deeply</a:t>
            </a:r>
            <a:endParaRPr lang="en-US" sz="1300" dirty="0"/>
          </a:p>
        </p:txBody>
      </p:sp>
      <p:sp>
        <p:nvSpPr>
          <p:cNvPr id="19" name="Text 17"/>
          <p:cNvSpPr/>
          <p:nvPr/>
        </p:nvSpPr>
        <p:spPr>
          <a:xfrm>
            <a:off x="4855464" y="3575304"/>
            <a:ext cx="3986784" cy="1097280"/>
          </a:xfrm>
          <a:prstGeom prst="rect">
            <a:avLst/>
          </a:prstGeom>
          <a:noFill/>
          <a:ln/>
        </p:spPr>
        <p:txBody>
          <a:bodyPr wrap="square" lIns="0" tIns="0" rIns="0" bIns="0" rtlCol="0" anchor="ctr"/>
          <a:lstStyle/>
          <a:p>
            <a:pPr indent="0" marL="0">
              <a:buNone/>
            </a:pPr>
            <a:r>
              <a:rPr lang="en-US" sz="1150" dirty="0">
                <a:solidFill>
                  <a:srgbClr val="D4E4F0"/>
                </a:solidFill>
              </a:rPr>
              <a:t>Teams that deeply understand their product can guide agents to change it quickly without breaking it. Speed without understanding produces accelerated technical debt. Speed with understanding produces competitive advantage.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LAB EXERCISE  ·  40 MINUTES</a:t>
            </a:r>
            <a:endParaRPr lang="en-US" sz="1300" dirty="0"/>
          </a:p>
        </p:txBody>
      </p:sp>
      <p:sp>
        <p:nvSpPr>
          <p:cNvPr id="4" name="Text 2"/>
          <p:cNvSpPr/>
          <p:nvPr/>
        </p:nvSpPr>
        <p:spPr>
          <a:xfrm>
            <a:off x="365760" y="868680"/>
            <a:ext cx="8412480" cy="420624"/>
          </a:xfrm>
          <a:prstGeom prst="rect">
            <a:avLst/>
          </a:prstGeom>
          <a:noFill/>
          <a:ln/>
        </p:spPr>
        <p:txBody>
          <a:bodyPr wrap="square" lIns="0" tIns="0" rIns="0" bIns="0" rtlCol="0" anchor="ctr"/>
          <a:lstStyle/>
          <a:p>
            <a:pPr indent="0" marL="0">
              <a:buNone/>
            </a:pPr>
            <a:r>
              <a:rPr lang="en-US" sz="1800" b="1" dirty="0">
                <a:solidFill>
                  <a:srgbClr val="1C3557"/>
                </a:solidFill>
              </a:rPr>
              <a:t>Write Your Team’s PRODUCT.md — and Use It to Guide an Agent</a:t>
            </a:r>
            <a:endParaRPr lang="en-US" sz="1800" dirty="0"/>
          </a:p>
        </p:txBody>
      </p:sp>
      <p:sp>
        <p:nvSpPr>
          <p:cNvPr id="5" name="Shape 3"/>
          <p:cNvSpPr/>
          <p:nvPr/>
        </p:nvSpPr>
        <p:spPr>
          <a:xfrm>
            <a:off x="320040" y="1389888"/>
            <a:ext cx="8503920" cy="56692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389888"/>
            <a:ext cx="475488" cy="566928"/>
          </a:xfrm>
          <a:prstGeom prst="rect">
            <a:avLst/>
          </a:prstGeom>
          <a:solidFill>
            <a:srgbClr val="4A7FA8"/>
          </a:solidFill>
          <a:ln/>
        </p:spPr>
      </p:sp>
      <p:sp>
        <p:nvSpPr>
          <p:cNvPr id="7" name="Text 5"/>
          <p:cNvSpPr/>
          <p:nvPr/>
        </p:nvSpPr>
        <p:spPr>
          <a:xfrm>
            <a:off x="320040" y="1389888"/>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886968" y="1426464"/>
            <a:ext cx="2286000" cy="237744"/>
          </a:xfrm>
          <a:prstGeom prst="rect">
            <a:avLst/>
          </a:prstGeom>
          <a:noFill/>
          <a:ln/>
        </p:spPr>
        <p:txBody>
          <a:bodyPr wrap="square" lIns="0" tIns="0" rIns="0" bIns="0" rtlCol="0" anchor="ctr"/>
          <a:lstStyle/>
          <a:p>
            <a:pPr indent="0" marL="0">
              <a:buNone/>
            </a:pPr>
            <a:r>
              <a:rPr lang="en-US" sz="1200" b="1" dirty="0">
                <a:solidFill>
                  <a:srgbClr val="4A7FA8"/>
                </a:solidFill>
              </a:rPr>
              <a:t>Assess your current state</a:t>
            </a:r>
            <a:endParaRPr lang="en-US" sz="1200" dirty="0"/>
          </a:p>
        </p:txBody>
      </p:sp>
      <p:sp>
        <p:nvSpPr>
          <p:cNvPr id="9" name="Text 7"/>
          <p:cNvSpPr/>
          <p:nvPr/>
        </p:nvSpPr>
        <p:spPr>
          <a:xfrm>
            <a:off x="3172968" y="1426464"/>
            <a:ext cx="777240" cy="237744"/>
          </a:xfrm>
          <a:prstGeom prst="rect">
            <a:avLst/>
          </a:prstGeom>
          <a:noFill/>
          <a:ln/>
        </p:spPr>
        <p:txBody>
          <a:bodyPr wrap="square" lIns="0" tIns="0" rIns="0" bIns="0" rtlCol="0" anchor="ctr"/>
          <a:lstStyle/>
          <a:p>
            <a:pPr indent="0" marL="0">
              <a:buNone/>
            </a:pPr>
            <a:r>
              <a:rPr lang="en-US" sz="1100" i="1" dirty="0">
                <a:solidFill>
                  <a:srgbClr val="7A90A8"/>
                </a:solidFill>
              </a:rPr>
              <a:t>(5 min)</a:t>
            </a:r>
            <a:endParaRPr lang="en-US" sz="1100" dirty="0"/>
          </a:p>
        </p:txBody>
      </p:sp>
      <p:sp>
        <p:nvSpPr>
          <p:cNvPr id="10" name="Text 8"/>
          <p:cNvSpPr/>
          <p:nvPr/>
        </p:nvSpPr>
        <p:spPr>
          <a:xfrm>
            <a:off x="886968" y="1682496"/>
            <a:ext cx="7818120" cy="237744"/>
          </a:xfrm>
          <a:prstGeom prst="rect">
            <a:avLst/>
          </a:prstGeom>
          <a:noFill/>
          <a:ln/>
        </p:spPr>
        <p:txBody>
          <a:bodyPr wrap="square" lIns="0" tIns="0" rIns="0" bIns="0" rtlCol="0" anchor="ctr"/>
          <a:lstStyle/>
          <a:p>
            <a:pPr indent="0" marL="0">
              <a:buNone/>
            </a:pPr>
            <a:r>
              <a:rPr lang="en-US" sz="1050" dirty="0">
                <a:solidFill>
                  <a:srgbClr val="7A90A8"/>
                </a:solidFill>
              </a:rPr>
              <a:t>How much of your product context is written down today? Rate each of the 4 domains (Users, Architecture, Business, Codebase) from 1 (none documented) to 5 (fully documented and current). What’s your average?</a:t>
            </a:r>
            <a:endParaRPr lang="en-US" sz="1050" dirty="0"/>
          </a:p>
        </p:txBody>
      </p:sp>
      <p:sp>
        <p:nvSpPr>
          <p:cNvPr id="11" name="Shape 9"/>
          <p:cNvSpPr/>
          <p:nvPr/>
        </p:nvSpPr>
        <p:spPr>
          <a:xfrm>
            <a:off x="320040" y="2011680"/>
            <a:ext cx="8503920" cy="56692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2" name="Shape 10"/>
          <p:cNvSpPr/>
          <p:nvPr/>
        </p:nvSpPr>
        <p:spPr>
          <a:xfrm>
            <a:off x="320040" y="2011680"/>
            <a:ext cx="475488" cy="566928"/>
          </a:xfrm>
          <a:prstGeom prst="rect">
            <a:avLst/>
          </a:prstGeom>
          <a:solidFill>
            <a:srgbClr val="4A7FA8"/>
          </a:solidFill>
          <a:ln/>
        </p:spPr>
      </p:sp>
      <p:sp>
        <p:nvSpPr>
          <p:cNvPr id="13" name="Text 11"/>
          <p:cNvSpPr/>
          <p:nvPr/>
        </p:nvSpPr>
        <p:spPr>
          <a:xfrm>
            <a:off x="320040" y="2011680"/>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4" name="Text 12"/>
          <p:cNvSpPr/>
          <p:nvPr/>
        </p:nvSpPr>
        <p:spPr>
          <a:xfrm>
            <a:off x="886968" y="2048256"/>
            <a:ext cx="2286000" cy="237744"/>
          </a:xfrm>
          <a:prstGeom prst="rect">
            <a:avLst/>
          </a:prstGeom>
          <a:noFill/>
          <a:ln/>
        </p:spPr>
        <p:txBody>
          <a:bodyPr wrap="square" lIns="0" tIns="0" rIns="0" bIns="0" rtlCol="0" anchor="ctr"/>
          <a:lstStyle/>
          <a:p>
            <a:pPr indent="0" marL="0">
              <a:buNone/>
            </a:pPr>
            <a:r>
              <a:rPr lang="en-US" sz="1200" b="1" dirty="0">
                <a:solidFill>
                  <a:srgbClr val="4A7FA8"/>
                </a:solidFill>
              </a:rPr>
              <a:t>Write the Vision section</a:t>
            </a:r>
            <a:endParaRPr lang="en-US" sz="1200" dirty="0"/>
          </a:p>
        </p:txBody>
      </p:sp>
      <p:sp>
        <p:nvSpPr>
          <p:cNvPr id="15" name="Text 13"/>
          <p:cNvSpPr/>
          <p:nvPr/>
        </p:nvSpPr>
        <p:spPr>
          <a:xfrm>
            <a:off x="3172968" y="2048256"/>
            <a:ext cx="777240" cy="237744"/>
          </a:xfrm>
          <a:prstGeom prst="rect">
            <a:avLst/>
          </a:prstGeom>
          <a:noFill/>
          <a:ln/>
        </p:spPr>
        <p:txBody>
          <a:bodyPr wrap="square" lIns="0" tIns="0" rIns="0" bIns="0" rtlCol="0" anchor="ctr"/>
          <a:lstStyle/>
          <a:p>
            <a:pPr indent="0" marL="0">
              <a:buNone/>
            </a:pPr>
            <a:r>
              <a:rPr lang="en-US" sz="1100" i="1" dirty="0">
                <a:solidFill>
                  <a:srgbClr val="7A90A8"/>
                </a:solidFill>
              </a:rPr>
              <a:t>(8 min)</a:t>
            </a:r>
            <a:endParaRPr lang="en-US" sz="1100" dirty="0"/>
          </a:p>
        </p:txBody>
      </p:sp>
      <p:sp>
        <p:nvSpPr>
          <p:cNvPr id="16" name="Text 14"/>
          <p:cNvSpPr/>
          <p:nvPr/>
        </p:nvSpPr>
        <p:spPr>
          <a:xfrm>
            <a:off x="886968" y="2304288"/>
            <a:ext cx="7818120" cy="237744"/>
          </a:xfrm>
          <a:prstGeom prst="rect">
            <a:avLst/>
          </a:prstGeom>
          <a:noFill/>
          <a:ln/>
        </p:spPr>
        <p:txBody>
          <a:bodyPr wrap="square" lIns="0" tIns="0" rIns="0" bIns="0" rtlCol="0" anchor="ctr"/>
          <a:lstStyle/>
          <a:p>
            <a:pPr indent="0" marL="0">
              <a:buNone/>
            </a:pPr>
            <a:r>
              <a:rPr lang="en-US" sz="1050" dirty="0">
                <a:solidFill>
                  <a:srgbClr val="7A90A8"/>
                </a:solidFill>
              </a:rPr>
              <a:t>Write the “Product Vision” section of your PRODUCT.md. One paragraph: what does this system exist to do, for whom, and why does it matter? Swap with a neighbour — does it tell them enough to make a sensible architecture decision?</a:t>
            </a:r>
            <a:endParaRPr lang="en-US" sz="1050" dirty="0"/>
          </a:p>
        </p:txBody>
      </p:sp>
      <p:sp>
        <p:nvSpPr>
          <p:cNvPr id="17" name="Shape 15"/>
          <p:cNvSpPr/>
          <p:nvPr/>
        </p:nvSpPr>
        <p:spPr>
          <a:xfrm>
            <a:off x="320040" y="2633472"/>
            <a:ext cx="8503920" cy="56692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8" name="Shape 16"/>
          <p:cNvSpPr/>
          <p:nvPr/>
        </p:nvSpPr>
        <p:spPr>
          <a:xfrm>
            <a:off x="320040" y="2633472"/>
            <a:ext cx="475488" cy="566928"/>
          </a:xfrm>
          <a:prstGeom prst="rect">
            <a:avLst/>
          </a:prstGeom>
          <a:solidFill>
            <a:srgbClr val="4A7FA8"/>
          </a:solidFill>
          <a:ln/>
        </p:spPr>
      </p:sp>
      <p:sp>
        <p:nvSpPr>
          <p:cNvPr id="19" name="Text 17"/>
          <p:cNvSpPr/>
          <p:nvPr/>
        </p:nvSpPr>
        <p:spPr>
          <a:xfrm>
            <a:off x="320040" y="2633472"/>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0" name="Text 18"/>
          <p:cNvSpPr/>
          <p:nvPr/>
        </p:nvSpPr>
        <p:spPr>
          <a:xfrm>
            <a:off x="886968" y="2670048"/>
            <a:ext cx="2286000" cy="237744"/>
          </a:xfrm>
          <a:prstGeom prst="rect">
            <a:avLst/>
          </a:prstGeom>
          <a:noFill/>
          <a:ln/>
        </p:spPr>
        <p:txBody>
          <a:bodyPr wrap="square" lIns="0" tIns="0" rIns="0" bIns="0" rtlCol="0" anchor="ctr"/>
          <a:lstStyle/>
          <a:p>
            <a:pPr indent="0" marL="0">
              <a:buNone/>
            </a:pPr>
            <a:r>
              <a:rPr lang="en-US" sz="1200" b="1" dirty="0">
                <a:solidFill>
                  <a:srgbClr val="4A7FA8"/>
                </a:solidFill>
              </a:rPr>
              <a:t>Map the Users and Business</a:t>
            </a:r>
            <a:endParaRPr lang="en-US" sz="1200" dirty="0"/>
          </a:p>
        </p:txBody>
      </p:sp>
      <p:sp>
        <p:nvSpPr>
          <p:cNvPr id="21" name="Text 19"/>
          <p:cNvSpPr/>
          <p:nvPr/>
        </p:nvSpPr>
        <p:spPr>
          <a:xfrm>
            <a:off x="3172968" y="2670048"/>
            <a:ext cx="777240" cy="237744"/>
          </a:xfrm>
          <a:prstGeom prst="rect">
            <a:avLst/>
          </a:prstGeom>
          <a:noFill/>
          <a:ln/>
        </p:spPr>
        <p:txBody>
          <a:bodyPr wrap="square" lIns="0" tIns="0" rIns="0" bIns="0" rtlCol="0" anchor="ctr"/>
          <a:lstStyle/>
          <a:p>
            <a:pPr indent="0" marL="0">
              <a:buNone/>
            </a:pPr>
            <a:r>
              <a:rPr lang="en-US" sz="1100" i="1" dirty="0">
                <a:solidFill>
                  <a:srgbClr val="7A90A8"/>
                </a:solidFill>
              </a:rPr>
              <a:t>(8 min)</a:t>
            </a:r>
            <a:endParaRPr lang="en-US" sz="1100" dirty="0"/>
          </a:p>
        </p:txBody>
      </p:sp>
      <p:sp>
        <p:nvSpPr>
          <p:cNvPr id="22" name="Text 20"/>
          <p:cNvSpPr/>
          <p:nvPr/>
        </p:nvSpPr>
        <p:spPr>
          <a:xfrm>
            <a:off x="886968" y="2926080"/>
            <a:ext cx="7818120" cy="237744"/>
          </a:xfrm>
          <a:prstGeom prst="rect">
            <a:avLst/>
          </a:prstGeom>
          <a:noFill/>
          <a:ln/>
        </p:spPr>
        <p:txBody>
          <a:bodyPr wrap="square" lIns="0" tIns="0" rIns="0" bIns="0" rtlCol="0" anchor="ctr"/>
          <a:lstStyle/>
          <a:p>
            <a:pPr indent="0" marL="0">
              <a:buNone/>
            </a:pPr>
            <a:r>
              <a:rPr lang="en-US" sz="1050" dirty="0">
                <a:solidFill>
                  <a:srgbClr val="7A90A8"/>
                </a:solidFill>
              </a:rPr>
              <a:t>Write the Users and Business Context sections. Include: the top 3 user personas, their jobs-to-be-done, your north star metric, and the cost of a major quality failure. These go into the agent’s context.</a:t>
            </a:r>
            <a:endParaRPr lang="en-US" sz="1050" dirty="0"/>
          </a:p>
        </p:txBody>
      </p:sp>
      <p:sp>
        <p:nvSpPr>
          <p:cNvPr id="23" name="Shape 21"/>
          <p:cNvSpPr/>
          <p:nvPr/>
        </p:nvSpPr>
        <p:spPr>
          <a:xfrm>
            <a:off x="320040" y="3255264"/>
            <a:ext cx="8503920" cy="56692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4" name="Shape 22"/>
          <p:cNvSpPr/>
          <p:nvPr/>
        </p:nvSpPr>
        <p:spPr>
          <a:xfrm>
            <a:off x="320040" y="3255264"/>
            <a:ext cx="475488" cy="566928"/>
          </a:xfrm>
          <a:prstGeom prst="rect">
            <a:avLst/>
          </a:prstGeom>
          <a:solidFill>
            <a:srgbClr val="4A7FA8"/>
          </a:solidFill>
          <a:ln/>
        </p:spPr>
      </p:sp>
      <p:sp>
        <p:nvSpPr>
          <p:cNvPr id="25" name="Text 23"/>
          <p:cNvSpPr/>
          <p:nvPr/>
        </p:nvSpPr>
        <p:spPr>
          <a:xfrm>
            <a:off x="320040" y="3255264"/>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4"/>
          <p:cNvSpPr/>
          <p:nvPr/>
        </p:nvSpPr>
        <p:spPr>
          <a:xfrm>
            <a:off x="886968" y="3291840"/>
            <a:ext cx="2286000" cy="237744"/>
          </a:xfrm>
          <a:prstGeom prst="rect">
            <a:avLst/>
          </a:prstGeom>
          <a:noFill/>
          <a:ln/>
        </p:spPr>
        <p:txBody>
          <a:bodyPr wrap="square" lIns="0" tIns="0" rIns="0" bIns="0" rtlCol="0" anchor="ctr"/>
          <a:lstStyle/>
          <a:p>
            <a:pPr indent="0" marL="0">
              <a:buNone/>
            </a:pPr>
            <a:r>
              <a:rPr lang="en-US" sz="1200" b="1" dirty="0">
                <a:solidFill>
                  <a:srgbClr val="4A7FA8"/>
                </a:solidFill>
              </a:rPr>
              <a:t>Identify hotspots and non-negotiables</a:t>
            </a:r>
            <a:endParaRPr lang="en-US" sz="1200" dirty="0"/>
          </a:p>
        </p:txBody>
      </p:sp>
      <p:sp>
        <p:nvSpPr>
          <p:cNvPr id="27" name="Text 25"/>
          <p:cNvSpPr/>
          <p:nvPr/>
        </p:nvSpPr>
        <p:spPr>
          <a:xfrm>
            <a:off x="3172968" y="3291840"/>
            <a:ext cx="777240" cy="237744"/>
          </a:xfrm>
          <a:prstGeom prst="rect">
            <a:avLst/>
          </a:prstGeom>
          <a:noFill/>
          <a:ln/>
        </p:spPr>
        <p:txBody>
          <a:bodyPr wrap="square" lIns="0" tIns="0" rIns="0" bIns="0" rtlCol="0" anchor="ctr"/>
          <a:lstStyle/>
          <a:p>
            <a:pPr indent="0" marL="0">
              <a:buNone/>
            </a:pPr>
            <a:r>
              <a:rPr lang="en-US" sz="1100" i="1" dirty="0">
                <a:solidFill>
                  <a:srgbClr val="7A90A8"/>
                </a:solidFill>
              </a:rPr>
              <a:t>(7 min)</a:t>
            </a:r>
            <a:endParaRPr lang="en-US" sz="1100" dirty="0"/>
          </a:p>
        </p:txBody>
      </p:sp>
      <p:sp>
        <p:nvSpPr>
          <p:cNvPr id="28" name="Text 26"/>
          <p:cNvSpPr/>
          <p:nvPr/>
        </p:nvSpPr>
        <p:spPr>
          <a:xfrm>
            <a:off x="886968" y="3547872"/>
            <a:ext cx="7818120" cy="237744"/>
          </a:xfrm>
          <a:prstGeom prst="rect">
            <a:avLst/>
          </a:prstGeom>
          <a:noFill/>
          <a:ln/>
        </p:spPr>
        <p:txBody>
          <a:bodyPr wrap="square" lIns="0" tIns="0" rIns="0" bIns="0" rtlCol="0" anchor="ctr"/>
          <a:lstStyle/>
          <a:p>
            <a:pPr indent="0" marL="0">
              <a:buNone/>
            </a:pPr>
            <a:r>
              <a:rPr lang="en-US" sz="1050" dirty="0">
                <a:solidFill>
                  <a:srgbClr val="7A90A8"/>
                </a:solidFill>
              </a:rPr>
              <a:t>Use your knowledge of the codebase to identify: (a) the 3 files or modules most likely to cause problems, and (b) the 3 non-negotiable quality or architecture constraints. Add both to PRODUCT.md.</a:t>
            </a:r>
            <a:endParaRPr lang="en-US" sz="1050" dirty="0"/>
          </a:p>
        </p:txBody>
      </p:sp>
      <p:sp>
        <p:nvSpPr>
          <p:cNvPr id="29" name="Shape 27"/>
          <p:cNvSpPr/>
          <p:nvPr/>
        </p:nvSpPr>
        <p:spPr>
          <a:xfrm>
            <a:off x="320040" y="3877056"/>
            <a:ext cx="8503920" cy="56692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0" name="Shape 28"/>
          <p:cNvSpPr/>
          <p:nvPr/>
        </p:nvSpPr>
        <p:spPr>
          <a:xfrm>
            <a:off x="320040" y="3877056"/>
            <a:ext cx="475488" cy="566928"/>
          </a:xfrm>
          <a:prstGeom prst="rect">
            <a:avLst/>
          </a:prstGeom>
          <a:solidFill>
            <a:srgbClr val="4A7FA8"/>
          </a:solidFill>
          <a:ln/>
        </p:spPr>
      </p:sp>
      <p:sp>
        <p:nvSpPr>
          <p:cNvPr id="31" name="Text 29"/>
          <p:cNvSpPr/>
          <p:nvPr/>
        </p:nvSpPr>
        <p:spPr>
          <a:xfrm>
            <a:off x="320040" y="3877056"/>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2" name="Text 30"/>
          <p:cNvSpPr/>
          <p:nvPr/>
        </p:nvSpPr>
        <p:spPr>
          <a:xfrm>
            <a:off x="886968" y="3913632"/>
            <a:ext cx="2286000" cy="237744"/>
          </a:xfrm>
          <a:prstGeom prst="rect">
            <a:avLst/>
          </a:prstGeom>
          <a:noFill/>
          <a:ln/>
        </p:spPr>
        <p:txBody>
          <a:bodyPr wrap="square" lIns="0" tIns="0" rIns="0" bIns="0" rtlCol="0" anchor="ctr"/>
          <a:lstStyle/>
          <a:p>
            <a:pPr indent="0" marL="0">
              <a:buNone/>
            </a:pPr>
            <a:r>
              <a:rPr lang="en-US" sz="1200" b="1" dirty="0">
                <a:solidFill>
                  <a:srgbClr val="4A7FA8"/>
                </a:solidFill>
              </a:rPr>
              <a:t>Test the agent with your document</a:t>
            </a:r>
            <a:endParaRPr lang="en-US" sz="1200" dirty="0"/>
          </a:p>
        </p:txBody>
      </p:sp>
      <p:sp>
        <p:nvSpPr>
          <p:cNvPr id="33" name="Text 31"/>
          <p:cNvSpPr/>
          <p:nvPr/>
        </p:nvSpPr>
        <p:spPr>
          <a:xfrm>
            <a:off x="3172968" y="3913632"/>
            <a:ext cx="777240" cy="237744"/>
          </a:xfrm>
          <a:prstGeom prst="rect">
            <a:avLst/>
          </a:prstGeom>
          <a:noFill/>
          <a:ln/>
        </p:spPr>
        <p:txBody>
          <a:bodyPr wrap="square" lIns="0" tIns="0" rIns="0" bIns="0" rtlCol="0" anchor="ctr"/>
          <a:lstStyle/>
          <a:p>
            <a:pPr indent="0" marL="0">
              <a:buNone/>
            </a:pPr>
            <a:r>
              <a:rPr lang="en-US" sz="1100" i="1" dirty="0">
                <a:solidFill>
                  <a:srgbClr val="7A90A8"/>
                </a:solidFill>
              </a:rPr>
              <a:t>(8 min)</a:t>
            </a:r>
            <a:endParaRPr lang="en-US" sz="1100" dirty="0"/>
          </a:p>
        </p:txBody>
      </p:sp>
      <p:sp>
        <p:nvSpPr>
          <p:cNvPr id="34" name="Text 32"/>
          <p:cNvSpPr/>
          <p:nvPr/>
        </p:nvSpPr>
        <p:spPr>
          <a:xfrm>
            <a:off x="886968" y="4169664"/>
            <a:ext cx="7818120" cy="237744"/>
          </a:xfrm>
          <a:prstGeom prst="rect">
            <a:avLst/>
          </a:prstGeom>
          <a:noFill/>
          <a:ln/>
        </p:spPr>
        <p:txBody>
          <a:bodyPr wrap="square" lIns="0" tIns="0" rIns="0" bIns="0" rtlCol="0" anchor="ctr"/>
          <a:lstStyle/>
          <a:p>
            <a:pPr indent="0" marL="0">
              <a:buNone/>
            </a:pPr>
            <a:r>
              <a:rPr lang="en-US" sz="1050" dirty="0">
                <a:solidFill>
                  <a:srgbClr val="7A90A8"/>
                </a:solidFill>
              </a:rPr>
              <a:t>Open Claude Code. Load your PRODUCT.md. Ask it to propose an approach to a real upcoming feature. Does it make better decisions with the context? What’s still missing from the document?</a:t>
            </a:r>
            <a:endParaRPr lang="en-US" sz="1050" dirty="0"/>
          </a:p>
        </p:txBody>
      </p:sp>
      <p:sp>
        <p:nvSpPr>
          <p:cNvPr id="35" name="Shape 33"/>
          <p:cNvSpPr/>
          <p:nvPr/>
        </p:nvSpPr>
        <p:spPr>
          <a:xfrm>
            <a:off x="320040" y="4498848"/>
            <a:ext cx="8503920" cy="56692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6" name="Shape 34"/>
          <p:cNvSpPr/>
          <p:nvPr/>
        </p:nvSpPr>
        <p:spPr>
          <a:xfrm>
            <a:off x="320040" y="4498848"/>
            <a:ext cx="475488" cy="566928"/>
          </a:xfrm>
          <a:prstGeom prst="rect">
            <a:avLst/>
          </a:prstGeom>
          <a:solidFill>
            <a:srgbClr val="4A7FA8"/>
          </a:solidFill>
          <a:ln/>
        </p:spPr>
      </p:sp>
      <p:sp>
        <p:nvSpPr>
          <p:cNvPr id="37" name="Text 35"/>
          <p:cNvSpPr/>
          <p:nvPr/>
        </p:nvSpPr>
        <p:spPr>
          <a:xfrm>
            <a:off x="320040" y="4498848"/>
            <a:ext cx="475488" cy="566928"/>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8" name="Text 36"/>
          <p:cNvSpPr/>
          <p:nvPr/>
        </p:nvSpPr>
        <p:spPr>
          <a:xfrm>
            <a:off x="886968" y="4535424"/>
            <a:ext cx="2286000" cy="237744"/>
          </a:xfrm>
          <a:prstGeom prst="rect">
            <a:avLst/>
          </a:prstGeom>
          <a:noFill/>
          <a:ln/>
        </p:spPr>
        <p:txBody>
          <a:bodyPr wrap="square" lIns="0" tIns="0" rIns="0" bIns="0" rtlCol="0" anchor="ctr"/>
          <a:lstStyle/>
          <a:p>
            <a:pPr indent="0" marL="0">
              <a:buNone/>
            </a:pPr>
            <a:r>
              <a:rPr lang="en-US" sz="1200" b="1" dirty="0">
                <a:solidFill>
                  <a:srgbClr val="4A7FA8"/>
                </a:solidFill>
              </a:rPr>
              <a:t>Design your hygiene cadence</a:t>
            </a:r>
            <a:endParaRPr lang="en-US" sz="1200" dirty="0"/>
          </a:p>
        </p:txBody>
      </p:sp>
      <p:sp>
        <p:nvSpPr>
          <p:cNvPr id="39" name="Text 37"/>
          <p:cNvSpPr/>
          <p:nvPr/>
        </p:nvSpPr>
        <p:spPr>
          <a:xfrm>
            <a:off x="3172968" y="4535424"/>
            <a:ext cx="777240" cy="237744"/>
          </a:xfrm>
          <a:prstGeom prst="rect">
            <a:avLst/>
          </a:prstGeom>
          <a:noFill/>
          <a:ln/>
        </p:spPr>
        <p:txBody>
          <a:bodyPr wrap="square" lIns="0" tIns="0" rIns="0" bIns="0" rtlCol="0" anchor="ctr"/>
          <a:lstStyle/>
          <a:p>
            <a:pPr indent="0" marL="0">
              <a:buNone/>
            </a:pPr>
            <a:r>
              <a:rPr lang="en-US" sz="1100" i="1" dirty="0">
                <a:solidFill>
                  <a:srgbClr val="7A90A8"/>
                </a:solidFill>
              </a:rPr>
              <a:t>(4 min)</a:t>
            </a:r>
            <a:endParaRPr lang="en-US" sz="1100" dirty="0"/>
          </a:p>
        </p:txBody>
      </p:sp>
      <p:sp>
        <p:nvSpPr>
          <p:cNvPr id="40" name="Text 38"/>
          <p:cNvSpPr/>
          <p:nvPr/>
        </p:nvSpPr>
        <p:spPr>
          <a:xfrm>
            <a:off x="886968" y="4791456"/>
            <a:ext cx="7818120" cy="237744"/>
          </a:xfrm>
          <a:prstGeom prst="rect">
            <a:avLst/>
          </a:prstGeom>
          <a:noFill/>
          <a:ln/>
        </p:spPr>
        <p:txBody>
          <a:bodyPr wrap="square" lIns="0" tIns="0" rIns="0" bIns="0" rtlCol="0" anchor="ctr"/>
          <a:lstStyle/>
          <a:p>
            <a:pPr indent="0" marL="0">
              <a:buNone/>
            </a:pPr>
            <a:r>
              <a:rPr lang="en-US" sz="1050" dirty="0">
                <a:solidFill>
                  <a:srgbClr val="7A90A8"/>
                </a:solidFill>
              </a:rPr>
              <a:t>Choose one daily, one weekly, and one sprint-cadence hygiene practice to implement. For each: what agent workflow enables it? Who owns reviewing the output?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8979408" y="0"/>
            <a:ext cx="164592" cy="5143500"/>
          </a:xfrm>
          <a:prstGeom prst="rect">
            <a:avLst/>
          </a:prstGeom>
          <a:solidFill>
            <a:srgbClr val="3A7DC9"/>
          </a:solidFill>
          <a:ln/>
        </p:spPr>
      </p:sp>
      <p:sp>
        <p:nvSpPr>
          <p:cNvPr id="3" name="Text 1"/>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DISCUSSION + MODULE SUMMARY</a:t>
            </a:r>
            <a:endParaRPr lang="en-US" sz="1300" dirty="0"/>
          </a:p>
        </p:txBody>
      </p:sp>
      <p:sp>
        <p:nvSpPr>
          <p:cNvPr id="4" name="Shape 2"/>
          <p:cNvSpPr/>
          <p:nvPr/>
        </p:nvSpPr>
        <p:spPr>
          <a:xfrm>
            <a:off x="320040" y="749808"/>
            <a:ext cx="502920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749808"/>
            <a:ext cx="5029200" cy="438912"/>
          </a:xfrm>
          <a:prstGeom prst="rect">
            <a:avLst/>
          </a:prstGeom>
          <a:solidFill>
            <a:srgbClr val="5B8DB8">
              <a:alpha val="85000"/>
            </a:srgbClr>
          </a:solidFill>
          <a:ln/>
        </p:spPr>
      </p:sp>
      <p:sp>
        <p:nvSpPr>
          <p:cNvPr id="6" name="Text 4"/>
          <p:cNvSpPr/>
          <p:nvPr/>
        </p:nvSpPr>
        <p:spPr>
          <a:xfrm>
            <a:off x="320040" y="749808"/>
            <a:ext cx="502920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DISCUSSION QUESTIONS</a:t>
            </a:r>
            <a:endParaRPr lang="en-US" sz="1100" dirty="0"/>
          </a:p>
        </p:txBody>
      </p:sp>
      <p:sp>
        <p:nvSpPr>
          <p:cNvPr id="7" name="Text 5"/>
          <p:cNvSpPr/>
          <p:nvPr/>
        </p:nvSpPr>
        <p:spPr>
          <a:xfrm>
            <a:off x="457200" y="1280160"/>
            <a:ext cx="4663440" cy="2834640"/>
          </a:xfrm>
          <a:prstGeom prst="rect">
            <a:avLst/>
          </a:prstGeom>
          <a:noFill/>
          <a:ln/>
        </p:spPr>
        <p:txBody>
          <a:bodyPr wrap="square" lIns="0" tIns="0" rIns="0" bIns="0" rtlCol="0" anchor="ctr"/>
          <a:lstStyle/>
          <a:p>
            <a:pPr indent="0" marL="0">
              <a:buNone/>
            </a:pPr>
            <a:r>
              <a:rPr lang="en-US" sz="1150" dirty="0">
                <a:solidFill>
                  <a:srgbClr val="D4E4F0"/>
                </a:solidFill>
              </a:rPr>
              <a:t>Q1.  Does your team currently operate as a product team or a project team? What would have to change?</a:t>
            </a:r>
            <a:endParaRPr lang="en-US" sz="1150" dirty="0"/>
          </a:p>
          <a:p>
            <a:pPr indent="0" marL="0">
              <a:buNone/>
            </a:pPr>
            <a:endParaRPr lang="en-US" sz="1150" dirty="0"/>
          </a:p>
          <a:p>
            <a:pPr indent="0" marL="0">
              <a:buNone/>
            </a:pPr>
            <a:r>
              <a:rPr lang="en-US" sz="1150" dirty="0">
                <a:solidFill>
                  <a:srgbClr val="D4E4F0"/>
                </a:solidFill>
              </a:rPr>
              <a:t>Q2.  If a new developer joined today, how long would it take them to understand the product well enough to guide an agent safely?</a:t>
            </a:r>
            <a:endParaRPr lang="en-US" sz="1150" dirty="0"/>
          </a:p>
          <a:p>
            <a:pPr indent="0" marL="0">
              <a:buNone/>
            </a:pPr>
            <a:endParaRPr lang="en-US" sz="1150" dirty="0"/>
          </a:p>
          <a:p>
            <a:pPr indent="0" marL="0">
              <a:buNone/>
            </a:pPr>
            <a:r>
              <a:rPr lang="en-US" sz="1150" dirty="0">
                <a:solidFill>
                  <a:srgbClr val="D4E4F0"/>
                </a:solidFill>
              </a:rPr>
              <a:t>Q3.  What’s one piece of critical product context that lives only in one person’s head? What’s the risk?</a:t>
            </a:r>
            <a:endParaRPr lang="en-US" sz="1150" dirty="0"/>
          </a:p>
          <a:p>
            <a:pPr indent="0" marL="0">
              <a:buNone/>
            </a:pPr>
            <a:endParaRPr lang="en-US" sz="1150" dirty="0"/>
          </a:p>
          <a:p>
            <a:pPr indent="0" marL="0">
              <a:buNone/>
            </a:pPr>
            <a:r>
              <a:rPr lang="en-US" sz="1150" dirty="0">
                <a:solidFill>
                  <a:srgbClr val="D4E4F0"/>
                </a:solidFill>
              </a:rPr>
              <a:t>Q4.  Which hygiene practice, if automated by an agent today, would have the biggest positive impact on your codebase?</a:t>
            </a:r>
            <a:endParaRPr lang="en-US" sz="1150" dirty="0"/>
          </a:p>
        </p:txBody>
      </p:sp>
      <p:sp>
        <p:nvSpPr>
          <p:cNvPr id="8" name="Shape 6"/>
          <p:cNvSpPr/>
          <p:nvPr/>
        </p:nvSpPr>
        <p:spPr>
          <a:xfrm>
            <a:off x="5532120" y="749808"/>
            <a:ext cx="329184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9" name="Shape 7"/>
          <p:cNvSpPr/>
          <p:nvPr/>
        </p:nvSpPr>
        <p:spPr>
          <a:xfrm>
            <a:off x="5532120" y="749808"/>
            <a:ext cx="3291840" cy="438912"/>
          </a:xfrm>
          <a:prstGeom prst="rect">
            <a:avLst/>
          </a:prstGeom>
          <a:solidFill>
            <a:srgbClr val="3A7DC9">
              <a:alpha val="90000"/>
            </a:srgbClr>
          </a:solidFill>
          <a:ln/>
        </p:spPr>
      </p:sp>
      <p:sp>
        <p:nvSpPr>
          <p:cNvPr id="10" name="Text 8"/>
          <p:cNvSpPr/>
          <p:nvPr/>
        </p:nvSpPr>
        <p:spPr>
          <a:xfrm>
            <a:off x="5532120" y="749808"/>
            <a:ext cx="329184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KEY TAKEAWAYS</a:t>
            </a:r>
            <a:endParaRPr lang="en-US" sz="1100" dirty="0"/>
          </a:p>
        </p:txBody>
      </p:sp>
      <p:sp>
        <p:nvSpPr>
          <p:cNvPr id="11" name="Text 9"/>
          <p:cNvSpPr/>
          <p:nvPr/>
        </p:nvSpPr>
        <p:spPr>
          <a:xfrm>
            <a:off x="5669280" y="1280160"/>
            <a:ext cx="3063240" cy="2834640"/>
          </a:xfrm>
          <a:prstGeom prst="rect">
            <a:avLst/>
          </a:prstGeom>
          <a:noFill/>
          <a:ln/>
        </p:spPr>
        <p:txBody>
          <a:bodyPr wrap="square" lIns="0" tIns="0" rIns="0" bIns="0" rtlCol="0" anchor="ctr"/>
          <a:lstStyle/>
          <a:p>
            <a:pPr indent="0" marL="0">
              <a:buNone/>
            </a:pPr>
            <a:r>
              <a:rPr lang="en-US" sz="1150" dirty="0">
                <a:solidFill>
                  <a:srgbClr val="D4E4F0"/>
                </a:solidFill>
              </a:rPr>
              <a:t>· Product ≠ project. Mindset matters.</a:t>
            </a:r>
            <a:endParaRPr lang="en-US" sz="1150" dirty="0"/>
          </a:p>
          <a:p>
            <a:pPr indent="0" marL="0">
              <a:buNone/>
            </a:pPr>
            <a:endParaRPr lang="en-US" sz="1150" dirty="0"/>
          </a:p>
          <a:p>
            <a:pPr indent="0" marL="0">
              <a:buNone/>
            </a:pPr>
            <a:r>
              <a:rPr lang="en-US" sz="1150" dirty="0">
                <a:solidFill>
                  <a:srgbClr val="D4E4F0"/>
                </a:solidFill>
              </a:rPr>
              <a:t>· Agents build what the team understands</a:t>
            </a:r>
            <a:endParaRPr lang="en-US" sz="1150" dirty="0"/>
          </a:p>
          <a:p>
            <a:pPr indent="0" marL="0">
              <a:buNone/>
            </a:pPr>
            <a:endParaRPr lang="en-US" sz="1150" dirty="0"/>
          </a:p>
          <a:p>
            <a:pPr indent="0" marL="0">
              <a:buNone/>
            </a:pPr>
            <a:r>
              <a:rPr lang="en-US" sz="1150" dirty="0">
                <a:solidFill>
                  <a:srgbClr val="D4E4F0"/>
                </a:solidFill>
              </a:rPr>
              <a:t>· PRODUCT.md is context for humans AND agents</a:t>
            </a:r>
            <a:endParaRPr lang="en-US" sz="1150" dirty="0"/>
          </a:p>
          <a:p>
            <a:pPr indent="0" marL="0">
              <a:buNone/>
            </a:pPr>
            <a:endParaRPr lang="en-US" sz="1150" dirty="0"/>
          </a:p>
          <a:p>
            <a:pPr indent="0" marL="0">
              <a:buNone/>
            </a:pPr>
            <a:r>
              <a:rPr lang="en-US" sz="1150" dirty="0">
                <a:solidFill>
                  <a:srgbClr val="D4E4F0"/>
                </a:solidFill>
              </a:rPr>
              <a:t>· Developers are now product guides, not ticket closers</a:t>
            </a:r>
            <a:endParaRPr lang="en-US" sz="1150" dirty="0"/>
          </a:p>
          <a:p>
            <a:pPr indent="0" marL="0">
              <a:buNone/>
            </a:pPr>
            <a:endParaRPr lang="en-US" sz="1150" dirty="0"/>
          </a:p>
          <a:p>
            <a:pPr indent="0" marL="0">
              <a:buNone/>
            </a:pPr>
            <a:r>
              <a:rPr lang="en-US" sz="1150" dirty="0">
                <a:solidFill>
                  <a:srgbClr val="D4E4F0"/>
                </a:solidFill>
              </a:rPr>
              <a:t>· Shared understanding is a team practice, not a doc</a:t>
            </a:r>
            <a:endParaRPr lang="en-US" sz="1150" dirty="0"/>
          </a:p>
          <a:p>
            <a:pPr indent="0" marL="0">
              <a:buNone/>
            </a:pPr>
            <a:endParaRPr lang="en-US" sz="1150" dirty="0"/>
          </a:p>
          <a:p>
            <a:pPr indent="0" marL="0">
              <a:buNone/>
            </a:pPr>
            <a:r>
              <a:rPr lang="en-US" sz="1150" dirty="0">
                <a:solidFill>
                  <a:srgbClr val="D4E4F0"/>
                </a:solidFill>
              </a:rPr>
              <a:t>· Hygiene must be a cadence, not a cleanup sprint</a:t>
            </a:r>
            <a:endParaRPr lang="en-US" sz="1150" dirty="0"/>
          </a:p>
          <a:p>
            <a:pPr indent="0" marL="0">
              <a:buNone/>
            </a:pPr>
            <a:endParaRPr lang="en-US" sz="1150" dirty="0"/>
          </a:p>
          <a:p>
            <a:pPr indent="0" marL="0">
              <a:buNone/>
            </a:pPr>
            <a:r>
              <a:rPr lang="en-US" sz="1150" dirty="0">
                <a:solidFill>
                  <a:srgbClr val="D4E4F0"/>
                </a:solidFill>
              </a:rPr>
              <a:t>· Speed + understanding = competitive advantage</a:t>
            </a:r>
            <a:endParaRPr lang="en-US" sz="1150" dirty="0"/>
          </a:p>
        </p:txBody>
      </p:sp>
      <p:sp>
        <p:nvSpPr>
          <p:cNvPr id="12" name="Shape 10"/>
          <p:cNvSpPr/>
          <p:nvPr/>
        </p:nvSpPr>
        <p:spPr>
          <a:xfrm>
            <a:off x="320040" y="4343400"/>
            <a:ext cx="8503920" cy="566928"/>
          </a:xfrm>
          <a:prstGeom prst="rect">
            <a:avLst/>
          </a:prstGeom>
          <a:solidFill>
            <a:srgbClr val="3A7DC9">
              <a:alpha val="82000"/>
            </a:srgbClr>
          </a:solidFill>
          <a:ln/>
        </p:spPr>
      </p:sp>
      <p:sp>
        <p:nvSpPr>
          <p:cNvPr id="13" name="Text 11"/>
          <p:cNvSpPr/>
          <p:nvPr/>
        </p:nvSpPr>
        <p:spPr>
          <a:xfrm>
            <a:off x="320040" y="4343400"/>
            <a:ext cx="8503920" cy="566928"/>
          </a:xfrm>
          <a:prstGeom prst="rect">
            <a:avLst/>
          </a:prstGeom>
          <a:noFill/>
          <a:ln/>
        </p:spPr>
        <p:txBody>
          <a:bodyPr wrap="square" lIns="0" tIns="0" rIns="0" bIns="0" rtlCol="0" anchor="ctr"/>
          <a:lstStyle/>
          <a:p>
            <a:pPr algn="ctr" indent="0" marL="0">
              <a:buNone/>
            </a:pPr>
            <a:r>
              <a:rPr lang="en-US" sz="1150" b="1" dirty="0">
                <a:solidFill>
                  <a:srgbClr val="FFFFFF"/>
                </a:solidFill>
              </a:rPr>
              <a:t>NEXT  ·  Module 12: [Your second topic] — Tell me the theme and we’ll build it next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 Product-First Engineering</dc:title>
  <dc:subject>PptxGenJS Presentation</dc:subject>
  <dc:creator>Enterprise Architect Training Series</dc:creator>
  <cp:lastModifiedBy>Enterprise Architect Training Series</cp:lastModifiedBy>
  <cp:revision>1</cp:revision>
  <dcterms:created xsi:type="dcterms:W3CDTF">2026-04-05T20:05:21Z</dcterms:created>
  <dcterms:modified xsi:type="dcterms:W3CDTF">2026-04-05T20:05:21Z</dcterms:modified>
</cp:coreProperties>
</file>