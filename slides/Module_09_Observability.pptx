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926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B8DB8"/>
                </a:solidFill>
              </a:rPr>
              <a:t>ENTERPRISE AGENTIC PRACTICES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1371600" cy="347472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74980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MODULE 09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261872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Observability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365760" y="2395728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B8DB8"/>
                </a:solidFill>
              </a:rPr>
              <a:t>Five engineering practices that make your solution monitorable, manageable, and trustworthy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65760" y="3145536"/>
            <a:ext cx="3200400" cy="36576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331012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90A8"/>
                </a:solidFill>
              </a:rPr>
              <a:t>Duration: </a:t>
            </a:r>
            <a:pPr indent="0" marL="0">
              <a:buNone/>
            </a:pPr>
            <a:r>
              <a:rPr lang="en-US" sz="1300" dirty="0">
                <a:solidFill>
                  <a:srgbClr val="7A90A8"/>
                </a:solidFill>
              </a:rPr>
              <a:t>60–75 min  </a:t>
            </a:r>
            <a:pPr indent="0" marL="0">
              <a:buNone/>
            </a:pPr>
            <a:r>
              <a:rPr lang="en-US" sz="1300" dirty="0">
                <a:solidFill>
                  <a:srgbClr val="7A90A8"/>
                </a:solidFill>
              </a:rPr>
              <a:t>  |  </a:t>
            </a:r>
            <a:pPr indent="0" marL="0">
              <a:buNone/>
            </a:pPr>
            <a:r>
              <a:rPr lang="en-US" sz="1300" b="1" dirty="0">
                <a:solidFill>
                  <a:srgbClr val="7A90A8"/>
                </a:solidFill>
              </a:rPr>
              <a:t>Level: </a:t>
            </a:r>
            <a:pPr indent="0" marL="0">
              <a:buNone/>
            </a:pPr>
            <a:r>
              <a:rPr lang="en-US" sz="1300" dirty="0">
                <a:solidFill>
                  <a:srgbClr val="7A90A8"/>
                </a:solidFill>
              </a:rPr>
              <a:t>Intermediate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903720" y="502920"/>
            <a:ext cx="1920240" cy="749808"/>
          </a:xfrm>
          <a:prstGeom prst="rect">
            <a:avLst/>
          </a:prstGeom>
          <a:solidFill>
            <a:srgbClr val="3A7DC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903720" y="50292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Structured Logs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03720" y="1399032"/>
            <a:ext cx="1920240" cy="749808"/>
          </a:xfrm>
          <a:prstGeom prst="rect">
            <a:avLst/>
          </a:prstGeom>
          <a:solidFill>
            <a:srgbClr val="4A7FA8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903720" y="1399032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Custom Metrics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903720" y="2295144"/>
            <a:ext cx="1920240" cy="749808"/>
          </a:xfrm>
          <a:prstGeom prst="rect">
            <a:avLst/>
          </a:prstGeom>
          <a:solidFill>
            <a:srgbClr val="3A7E6E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03720" y="2295144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Distributed Traces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903720" y="3191256"/>
            <a:ext cx="1920240" cy="749808"/>
          </a:xfrm>
          <a:prstGeom prst="rect">
            <a:avLst/>
          </a:prstGeom>
          <a:solidFill>
            <a:srgbClr val="2E5073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03720" y="3191256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Events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903720" y="4087368"/>
            <a:ext cx="1920240" cy="749808"/>
          </a:xfrm>
          <a:prstGeom prst="rect">
            <a:avLst/>
          </a:prstGeom>
          <a:solidFill>
            <a:srgbClr val="8096B0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03720" y="4087368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Health Endpoints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03720" y="49834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90A8"/>
                </a:solidFill>
              </a:rPr>
              <a:t>The 5 Practices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LEARNING OBJECTIVES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4160520" cy="475488"/>
          </a:xfrm>
          <a:prstGeom prst="rect">
            <a:avLst/>
          </a:prstGeom>
          <a:solidFill>
            <a:srgbClr val="3A7DC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" y="100584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3816" y="914400"/>
            <a:ext cx="3593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Structured Logs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84632" y="1481328"/>
            <a:ext cx="386791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</a:rPr>
              <a:t>Design context-rich log entries with consistent schemas that enable fast diagnosis, compliance audit, and cross-service correlation.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914400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914400"/>
            <a:ext cx="4160520" cy="475488"/>
          </a:xfrm>
          <a:prstGeom prst="rect">
            <a:avLst/>
          </a:prstGeom>
          <a:solidFill>
            <a:srgbClr val="4A7FA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896" y="100584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48656" y="914400"/>
            <a:ext cx="3593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Custom Metrics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919472" y="1481328"/>
            <a:ext cx="386791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</a:rPr>
              <a:t>Instrument key product flows — not just infrastructure — with RED and USE metrics that connect system behavior to business outcomes.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20040" y="2944368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20040" y="2944368"/>
            <a:ext cx="4160520" cy="475488"/>
          </a:xfrm>
          <a:prstGeom prst="rect">
            <a:avLst/>
          </a:prstGeom>
          <a:solidFill>
            <a:srgbClr val="3A7E6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" y="3035808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3816" y="2944368"/>
            <a:ext cx="3593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Traces &amp; Events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84632" y="3511296"/>
            <a:ext cx="386791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</a:rPr>
              <a:t>Implement distributed tracing to pinpoint root cause across service boundaries, and emit domain and security events for cross-team visibility.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54880" y="2944368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54880" y="2944368"/>
            <a:ext cx="4160520" cy="475488"/>
          </a:xfrm>
          <a:prstGeom prst="rect">
            <a:avLst/>
          </a:prstGeom>
          <a:solidFill>
            <a:srgbClr val="8096B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2896" y="3035808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248656" y="2944368"/>
            <a:ext cx="3593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Health Endpoints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919472" y="3511296"/>
            <a:ext cx="386791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</a:rPr>
              <a:t>Expose liveness, readiness, and startup endpoints that enable safe zero-downtime deployments and automated recovery in any platform.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8DB8"/>
                </a:solidFill>
              </a:rPr>
              <a:t>OBSERVABILITY VS. MONITORING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</a:rPr>
              <a:t>Monitoring answers questions you knew to ask. Observability lets you ask questions you didn’t know you’d need.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20040" y="1152144"/>
            <a:ext cx="8503920" cy="347472"/>
          </a:xfrm>
          <a:prstGeom prst="rect">
            <a:avLst/>
          </a:prstGeom>
          <a:solidFill>
            <a:srgbClr val="2E5073">
              <a:alpha val="9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15214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8DB8"/>
                </a:solidFill>
              </a:rPr>
              <a:t>QUESTION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468880" y="115214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096B0"/>
                </a:solidFill>
              </a:rPr>
              <a:t>MONITORING ANSWER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715000" y="115214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7DC9"/>
                </a:solidFill>
              </a:rPr>
              <a:t>OBSERVABILITY ANSWER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554480"/>
            <a:ext cx="8503920" cy="512064"/>
          </a:xfrm>
          <a:prstGeom prst="rect">
            <a:avLst/>
          </a:prstGeom>
          <a:solidFill>
            <a:srgbClr val="2E5073">
              <a:alpha val="7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554480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DB8"/>
                </a:solidFill>
              </a:rPr>
              <a:t>What failed?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68880" y="155448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Pre-defined alerts on known thresholds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715000" y="155448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Any question — including ones you didn’t anticipate at deploy time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121408"/>
            <a:ext cx="8503920" cy="512064"/>
          </a:xfrm>
          <a:prstGeom prst="rect">
            <a:avLst/>
          </a:prstGeom>
          <a:solidFill>
            <a:srgbClr val="2A4870">
              <a:alpha val="7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2121408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DB8"/>
                </a:solidFill>
              </a:rPr>
              <a:t>Where did it fail?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68880" y="2121408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Service-level error rate or CPU spike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715000" y="2121408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Exact span in the distributed trace across all services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688336"/>
            <a:ext cx="8503920" cy="512064"/>
          </a:xfrm>
          <a:prstGeom prst="rect">
            <a:avLst/>
          </a:prstGeom>
          <a:solidFill>
            <a:srgbClr val="2E5073">
              <a:alpha val="7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2688336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DB8"/>
                </a:solidFill>
              </a:rPr>
              <a:t>Why did it fail?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68880" y="2688336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Log grep — if you logged the right thing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715000" y="2688336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Correlated log + trace + event by shared trace_id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255264"/>
            <a:ext cx="8503920" cy="512064"/>
          </a:xfrm>
          <a:prstGeom prst="rect">
            <a:avLst/>
          </a:prstGeom>
          <a:solidFill>
            <a:srgbClr val="2A4870">
              <a:alpha val="7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3255264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DB8"/>
                </a:solidFill>
              </a:rPr>
              <a:t>How bad is it?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468880" y="3255264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Infrastructure metrics: requests/sec, error rate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715000" y="3255264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Business flow metrics: checkout completion, payment success rate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3822192"/>
            <a:ext cx="8503920" cy="512064"/>
          </a:xfrm>
          <a:prstGeom prst="rect">
            <a:avLst/>
          </a:prstGeom>
          <a:solidFill>
            <a:srgbClr val="2E5073">
              <a:alpha val="7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3822192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DB8"/>
                </a:solidFill>
              </a:rPr>
              <a:t>Is it getting worse?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468880" y="3822192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Alert fires when threshold crossed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715000" y="3822192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Trend visible in metrics before alert threshold is reached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" y="4389120"/>
            <a:ext cx="8503920" cy="512064"/>
          </a:xfrm>
          <a:prstGeom prst="rect">
            <a:avLst/>
          </a:prstGeom>
          <a:solidFill>
            <a:srgbClr val="2A4870">
              <a:alpha val="7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" y="4389120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DB8"/>
                </a:solidFill>
              </a:rPr>
              <a:t>What changed?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468880" y="438912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Deployment timestamp, config diff (if you kept it)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715000" y="438912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Domain events + trace context show causal chain from change to impact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20040" y="5029200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0A8"/>
                </a:solidFill>
              </a:rPr>
              <a:t>The SRE principle: “Hope is not a strategy.” You cannot hope your system is behaving correctly — you must instrument it to know.  — Google SRE Book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PRACTICE 1  ·  STRUCTURED AND CONTEXT-RICH LOGS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297680" cy="4005072"/>
          </a:xfrm>
          <a:prstGeom prst="rect">
            <a:avLst/>
          </a:prstGeom>
          <a:solidFill>
            <a:srgbClr val="1C3557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4297680" cy="384048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9144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</a:rPr>
              <a:t>ANATOMY OF A WELL-STRUCTURED LOG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4081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8DB8"/>
                </a:solidFill>
              </a:rPr>
              <a:t>"timestamp":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267712" y="14081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8DB8"/>
                </a:solidFill>
              </a:rPr>
              <a:t> "2026-04-07T14:32:18Z"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1719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8DB8"/>
                </a:solidFill>
              </a:rPr>
              <a:t>"level":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267712" y="17190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3040"/>
                </a:solidFill>
              </a:rPr>
              <a:t> "ERROR"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2029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8DB8"/>
                </a:solidFill>
              </a:rPr>
              <a:t>"service":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267712" y="20299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8DB8"/>
                </a:solidFill>
              </a:rPr>
              <a:t> "payment-service"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23408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8DB8"/>
                </a:solidFill>
              </a:rPr>
              <a:t>"trace_id":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267712" y="23408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7E6E"/>
                </a:solidFill>
              </a:rPr>
              <a:t> "4bf92f35…"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2651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8DB8"/>
                </a:solidFill>
              </a:rPr>
              <a:t>"span_id":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267712" y="2651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7E6E"/>
                </a:solidFill>
              </a:rPr>
              <a:t> "00f067aa…"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2962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8DB8"/>
                </a:solidFill>
              </a:rPr>
              <a:t>"correlation_id":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267712" y="29626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7820"/>
                </a:solidFill>
              </a:rPr>
              <a:t> "order-88291"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32735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8DB8"/>
                </a:solidFill>
              </a:rPr>
              <a:t>"user_id":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67712" y="32735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E4F0"/>
                </a:solidFill>
              </a:rPr>
              <a:t> "usr-4429f"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" y="3584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8DB8"/>
                </a:solidFill>
              </a:rPr>
              <a:t>"event":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267712" y="35844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8DB8"/>
                </a:solidFill>
              </a:rPr>
              <a:t> "payment.charge.failed"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2920" y="38953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8DB8"/>
                </a:solidFill>
              </a:rPr>
              <a:t>"failure_reason":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267712" y="389534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E4F0"/>
                </a:solidFill>
              </a:rPr>
              <a:t> "card_declined"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2920" y="4206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8DB8"/>
                </a:solidFill>
              </a:rPr>
              <a:t>"retry_count":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267712" y="4206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E4F0"/>
                </a:solidFill>
              </a:rPr>
              <a:t> 2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02920" y="45171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8DB8"/>
                </a:solidFill>
              </a:rPr>
              <a:t>"message":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267712" y="451713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0A8"/>
                </a:solidFill>
              </a:rPr>
              <a:t> "Payment failed after 2 retries"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00600" y="914400"/>
            <a:ext cx="4023360" cy="658368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914400"/>
            <a:ext cx="54864" cy="658368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9692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3557"/>
                </a:solidFill>
              </a:rPr>
              <a:t>Correlated by trace_id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937760" y="12618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A8"/>
                </a:solidFill>
              </a:rPr>
              <a:t>Join all log entries for one user request across every service with a single query. No manual log parsing.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00600" y="1664208"/>
            <a:ext cx="4023360" cy="658368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00600" y="1664208"/>
            <a:ext cx="54864" cy="658368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35" name="Text 33"/>
          <p:cNvSpPr/>
          <p:nvPr/>
        </p:nvSpPr>
        <p:spPr>
          <a:xfrm>
            <a:off x="4937760" y="17190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3557"/>
                </a:solidFill>
              </a:rPr>
              <a:t>Business context, not just system state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937760" y="20116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A8"/>
                </a:solidFill>
              </a:rPr>
              <a:t>correlation_id, user_id, and event type connect log entries to business entities and user journeys.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00600" y="2414016"/>
            <a:ext cx="4023360" cy="658368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800600" y="2414016"/>
            <a:ext cx="54864" cy="658368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39" name="Text 37"/>
          <p:cNvSpPr/>
          <p:nvPr/>
        </p:nvSpPr>
        <p:spPr>
          <a:xfrm>
            <a:off x="4937760" y="24688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3557"/>
                </a:solidFill>
              </a:rPr>
              <a:t>PII redaction by design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937760" y="27614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A8"/>
                </a:solidFill>
              </a:rPr>
              <a:t>Define which fields are redacted at capture time — before logs leave the service — not as an afterthought.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00600" y="3163824"/>
            <a:ext cx="4023360" cy="658368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800600" y="3163824"/>
            <a:ext cx="54864" cy="658368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43" name="Text 41"/>
          <p:cNvSpPr/>
          <p:nvPr/>
        </p:nvSpPr>
        <p:spPr>
          <a:xfrm>
            <a:off x="4937760" y="32186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3557"/>
                </a:solidFill>
              </a:rPr>
              <a:t>Compliance audit on demand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4937760" y="35112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A8"/>
                </a:solidFill>
              </a:rPr>
              <a:t>“Show me all actions user X took between 14:00 and 15:00” is a log query, not a manual investigation.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800600" y="3913632"/>
            <a:ext cx="4023360" cy="658368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800600" y="3913632"/>
            <a:ext cx="54864" cy="658368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47" name="Text 45"/>
          <p:cNvSpPr/>
          <p:nvPr/>
        </p:nvSpPr>
        <p:spPr>
          <a:xfrm>
            <a:off x="4937760" y="39684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3557"/>
                </a:solidFill>
              </a:rPr>
              <a:t>SIEM feed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4937760" y="42611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A8"/>
                </a:solidFill>
              </a:rPr>
              <a:t>Security events in structured logs join to distributed traces by trace_id — the pivot key for incident investigation.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8DB8"/>
                </a:solidFill>
              </a:rPr>
              <a:t>PRACTICE 2  ·  CUSTOM METRICS FOR KEY PRODUCT FLOWS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</a:rPr>
              <a:t>Infrastructure metrics tell you about resources. Custom metrics tell you about your product.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20040" y="1115568"/>
            <a:ext cx="4023360" cy="1828800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15568"/>
            <a:ext cx="4023360" cy="475488"/>
          </a:xfrm>
          <a:prstGeom prst="rect">
            <a:avLst/>
          </a:prstGeom>
          <a:solidFill>
            <a:srgbClr val="3A7DC9">
              <a:alpha val="9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29768" y="11155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RED Pattern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9768" y="138988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8DB8"/>
                </a:solidFill>
              </a:rPr>
              <a:t>For every user-facing service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84632" y="170078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7DC9"/>
                </a:solidFill>
              </a:rPr>
              <a:t>Rate: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490472" y="1700784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Requests per second — is volume normal?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84632" y="208483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7DC9"/>
                </a:solidFill>
              </a:rPr>
              <a:t>Errors: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490472" y="2084832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Error rate as % of requests — is quality normal?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4632" y="246888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7DC9"/>
                </a:solidFill>
              </a:rPr>
              <a:t>Duration: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490472" y="2468880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Latency distribution p50/p95/p99 — is speed normal?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1115568"/>
            <a:ext cx="4023360" cy="1828800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115568"/>
            <a:ext cx="4023360" cy="475488"/>
          </a:xfrm>
          <a:prstGeom prst="rect">
            <a:avLst/>
          </a:prstGeom>
          <a:solidFill>
            <a:srgbClr val="4A7FA8">
              <a:alpha val="9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773168" y="11155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USE Pattern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73168" y="138988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8DB8"/>
                </a:solidFill>
              </a:rPr>
              <a:t>For every internal resource or queue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28032" y="170078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7FA8"/>
                </a:solidFill>
              </a:rPr>
              <a:t>Utilization: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833872" y="1700784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% of capacity in use — how loaded is it?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28032" y="208483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7FA8"/>
                </a:solidFill>
              </a:rPr>
              <a:t>Saturation: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833872" y="2084832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Queue depth / backlog — is demand exceeding supply?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28032" y="246888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7FA8"/>
                </a:solidFill>
              </a:rPr>
              <a:t>Errors: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833872" y="2468880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Failure rate — is it working reliably?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3090672"/>
            <a:ext cx="8503920" cy="329184"/>
          </a:xfrm>
          <a:prstGeom prst="rect">
            <a:avLst/>
          </a:prstGeom>
          <a:solidFill>
            <a:srgbClr val="2E5073">
              <a:alpha val="9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309067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8DB8"/>
                </a:solidFill>
              </a:rPr>
              <a:t>PRODUCT FLOW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743200" y="3090672"/>
            <a:ext cx="5989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8DB8"/>
                </a:solidFill>
              </a:rPr>
              <a:t>KEY METRICS TO INSTRUMENT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3474720"/>
            <a:ext cx="8503920" cy="347472"/>
          </a:xfrm>
          <a:prstGeom prst="rect">
            <a:avLst/>
          </a:prstGeom>
          <a:solidFill>
            <a:srgbClr val="2E5073">
              <a:alpha val="7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11480" y="3474720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DB8"/>
                </a:solidFill>
              </a:rPr>
              <a:t>User authentication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743200" y="347472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Login success rate · MFA completion rate · Session creation time p95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0040" y="3858768"/>
            <a:ext cx="8503920" cy="347472"/>
          </a:xfrm>
          <a:prstGeom prst="rect">
            <a:avLst/>
          </a:prstGeom>
          <a:solidFill>
            <a:srgbClr val="2A4870">
              <a:alpha val="7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11480" y="3858768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DB8"/>
                </a:solidFill>
              </a:rPr>
              <a:t>Checkout / payment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743200" y="385876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Step completion rates · Cart abandonment · Payment success rate · Decline rate by reason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20040" y="4242816"/>
            <a:ext cx="8503920" cy="347472"/>
          </a:xfrm>
          <a:prstGeom prst="rect">
            <a:avLst/>
          </a:prstGeom>
          <a:solidFill>
            <a:srgbClr val="2E5073">
              <a:alpha val="75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11480" y="4242816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DB8"/>
                </a:solidFill>
              </a:rPr>
              <a:t>Background jobs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743200" y="4242816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Queue depth · Processing rate · Job failure rate · Retry rate · Time-to-completion p95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20040" y="4626864"/>
            <a:ext cx="8503920" cy="347472"/>
          </a:xfrm>
          <a:prstGeom prst="rect">
            <a:avLst/>
          </a:prstGeom>
          <a:solidFill>
            <a:srgbClr val="2A4870">
              <a:alpha val="75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411480" y="4626864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DB8"/>
                </a:solidFill>
              </a:rPr>
              <a:t>Search / recommendations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743200" y="4626864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Query latency p95 · Zero-results rate · Click-through rate · Relevance score trend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20040" y="5029200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0A8"/>
                </a:solidFill>
              </a:rPr>
              <a:t>Custom metrics are the input to SLOs. Every team that owns a user-facing flow should own the metrics for it.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3A7E6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PRACTICE 3  ·  DISTRIBUTED TRACING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90A8"/>
                </a:solidFill>
              </a:rPr>
              <a:t>Logs say something was slow. Metrics say how often. Traces tell you exactly where, in which service, in which span.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5720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4572000" cy="384048"/>
          </a:xfrm>
          <a:prstGeom prst="rect">
            <a:avLst/>
          </a:prstGeom>
          <a:solidFill>
            <a:srgbClr val="3A7E6E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170432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TRACE WATERFALL  ·  Order Placement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166420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3557"/>
                </a:solidFill>
              </a:rPr>
              <a:t>api-gateway: POST /orders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83280" y="1719072"/>
            <a:ext cx="4114800" cy="219456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10" name="Text 8"/>
          <p:cNvSpPr/>
          <p:nvPr/>
        </p:nvSpPr>
        <p:spPr>
          <a:xfrm>
            <a:off x="7516368" y="1664208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0A8"/>
                </a:solidFill>
              </a:rPr>
              <a:t>420ms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210312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7DC9"/>
                </a:solidFill>
              </a:rPr>
              <a:t>  auth-service: validate_token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566160" y="2157984"/>
            <a:ext cx="731520" cy="219456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13" name="Text 11"/>
          <p:cNvSpPr/>
          <p:nvPr/>
        </p:nvSpPr>
        <p:spPr>
          <a:xfrm>
            <a:off x="4315968" y="210312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0A8"/>
                </a:solidFill>
              </a:rPr>
              <a:t>18ms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254203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7FA8"/>
                </a:solidFill>
              </a:rPr>
              <a:t>  order-service: place_order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566160" y="2596896"/>
            <a:ext cx="3108960" cy="219456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16" name="Text 14"/>
          <p:cNvSpPr/>
          <p:nvPr/>
        </p:nvSpPr>
        <p:spPr>
          <a:xfrm>
            <a:off x="6693408" y="25420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0A8"/>
                </a:solidFill>
              </a:rPr>
              <a:t>395ms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298094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7E6E"/>
                </a:solidFill>
              </a:rPr>
              <a:t>    inventory: check_stock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767328" y="3035808"/>
            <a:ext cx="822960" cy="219456"/>
          </a:xfrm>
          <a:prstGeom prst="rect">
            <a:avLst/>
          </a:prstGeom>
          <a:solidFill>
            <a:srgbClr val="3A7E6E"/>
          </a:solidFill>
          <a:ln/>
        </p:spPr>
      </p:sp>
      <p:sp>
        <p:nvSpPr>
          <p:cNvPr id="19" name="Text 17"/>
          <p:cNvSpPr/>
          <p:nvPr/>
        </p:nvSpPr>
        <p:spPr>
          <a:xfrm>
            <a:off x="4608576" y="2980944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0A8"/>
                </a:solidFill>
              </a:rPr>
              <a:t>22ms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11480" y="341985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7820"/>
                </a:solidFill>
              </a:rPr>
              <a:t>    payment-service: charge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767328" y="3474720"/>
            <a:ext cx="1920240" cy="219456"/>
          </a:xfrm>
          <a:prstGeom prst="rect">
            <a:avLst/>
          </a:prstGeom>
          <a:solidFill>
            <a:srgbClr val="B87820"/>
          </a:solidFill>
          <a:ln/>
        </p:spPr>
      </p:sp>
      <p:sp>
        <p:nvSpPr>
          <p:cNvPr id="22" name="Text 20"/>
          <p:cNvSpPr/>
          <p:nvPr/>
        </p:nvSpPr>
        <p:spPr>
          <a:xfrm>
            <a:off x="5705856" y="3419856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0A8"/>
                </a:solidFill>
              </a:rPr>
              <a:t>340ms ⚠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1480" y="385876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3040"/>
                </a:solidFill>
              </a:rPr>
              <a:t>      payment-gw: authorize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968496" y="3913632"/>
            <a:ext cx="1737360" cy="219456"/>
          </a:xfrm>
          <a:prstGeom prst="rect">
            <a:avLst/>
          </a:prstGeom>
          <a:solidFill>
            <a:srgbClr val="B03040">
              <a:alpha val="8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724144" y="3858768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0A8"/>
                </a:solidFill>
              </a:rPr>
              <a:t>320ms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1480" y="429768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096B0"/>
                </a:solidFill>
              </a:rPr>
              <a:t>    fulfil-service: dispatch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767328" y="4352544"/>
            <a:ext cx="457200" cy="219456"/>
          </a:xfrm>
          <a:prstGeom prst="rect">
            <a:avLst/>
          </a:prstGeom>
          <a:solidFill>
            <a:srgbClr val="8096B0">
              <a:alpha val="8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242816" y="429768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0A8"/>
                </a:solidFill>
              </a:rPr>
              <a:t>14ms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074920" y="1170432"/>
            <a:ext cx="374904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074920" y="1170432"/>
            <a:ext cx="54864" cy="841248"/>
          </a:xfrm>
          <a:prstGeom prst="rect">
            <a:avLst/>
          </a:prstGeom>
          <a:solidFill>
            <a:srgbClr val="3A7E6E"/>
          </a:solidFill>
          <a:ln/>
        </p:spPr>
      </p:sp>
      <p:sp>
        <p:nvSpPr>
          <p:cNvPr id="31" name="Text 29"/>
          <p:cNvSpPr/>
          <p:nvPr/>
        </p:nvSpPr>
        <p:spPr>
          <a:xfrm>
            <a:off x="5212080" y="124358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3557"/>
                </a:solidFill>
              </a:rPr>
              <a:t>Root cause in the critical path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212080" y="157276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A8"/>
                </a:solidFill>
              </a:rPr>
              <a:t>payment-gw:authorize takes 320ms — that one span explains 76% of end-to-end latency. Logs alone would not surface this.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74920" y="2121408"/>
            <a:ext cx="374904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074920" y="2121408"/>
            <a:ext cx="54864" cy="841248"/>
          </a:xfrm>
          <a:prstGeom prst="rect">
            <a:avLst/>
          </a:prstGeom>
          <a:solidFill>
            <a:srgbClr val="3A7E6E"/>
          </a:solidFill>
          <a:ln/>
        </p:spPr>
      </p:sp>
      <p:sp>
        <p:nvSpPr>
          <p:cNvPr id="35" name="Text 33"/>
          <p:cNvSpPr/>
          <p:nvPr/>
        </p:nvSpPr>
        <p:spPr>
          <a:xfrm>
            <a:off x="5212080" y="21945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3557"/>
                </a:solidFill>
              </a:rPr>
              <a:t>N+1 query detection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212080" y="2523744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A8"/>
                </a:solidFill>
              </a:rPr>
              <a:t>50 sequential DB spans under a single parent span is a trace pattern — invisible in aggregate metrics.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074920" y="3072384"/>
            <a:ext cx="374904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074920" y="3072384"/>
            <a:ext cx="54864" cy="841248"/>
          </a:xfrm>
          <a:prstGeom prst="rect">
            <a:avLst/>
          </a:prstGeom>
          <a:solidFill>
            <a:srgbClr val="3A7E6E"/>
          </a:solidFill>
          <a:ln/>
        </p:spPr>
      </p:sp>
      <p:sp>
        <p:nvSpPr>
          <p:cNvPr id="39" name="Text 37"/>
          <p:cNvSpPr/>
          <p:nvPr/>
        </p:nvSpPr>
        <p:spPr>
          <a:xfrm>
            <a:off x="5212080" y="314553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3557"/>
                </a:solidFill>
              </a:rPr>
              <a:t>Cross-service failure propagation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212080" y="347472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A8"/>
                </a:solidFill>
              </a:rPr>
              <a:t>Error in downstream service A becomes a 500 in service B. Trace shows the origin; logs in B only show the symptom.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074920" y="4023360"/>
            <a:ext cx="374904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074920" y="4023360"/>
            <a:ext cx="54864" cy="841248"/>
          </a:xfrm>
          <a:prstGeom prst="rect">
            <a:avLst/>
          </a:prstGeom>
          <a:solidFill>
            <a:srgbClr val="3A7E6E"/>
          </a:solidFill>
          <a:ln/>
        </p:spPr>
      </p:sp>
      <p:sp>
        <p:nvSpPr>
          <p:cNvPr id="43" name="Text 41"/>
          <p:cNvSpPr/>
          <p:nvPr/>
        </p:nvSpPr>
        <p:spPr>
          <a:xfrm>
            <a:off x="5212080" y="40965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3557"/>
                </a:solidFill>
              </a:rPr>
              <a:t>Standard: OpenTelemetry + W3C Trace Context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212080" y="442569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0A8"/>
                </a:solidFill>
              </a:rPr>
              <a:t>Propagate trace_id in W3C headers across all HTTP calls including async queues. OpenTelemetry is the vendor-neutral standard.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074920" y="4956048"/>
            <a:ext cx="3749040" cy="256032"/>
          </a:xfrm>
          <a:prstGeom prst="rect">
            <a:avLst/>
          </a:prstGeom>
          <a:solidFill>
            <a:srgbClr val="3A7E6E">
              <a:alpha val="15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5166360" y="497433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A7E6E"/>
                </a:solidFill>
              </a:rPr>
              <a:t>Enterprise: always retain error traces 100%. Apply tail-based sampling for successful requests.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PRACTICE 4  ·  EVENTS: CROSS-DOMAIN NOTIFICATIONS &amp; SECURITY SIGNALS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114800" cy="411480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4114800" cy="47548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6" name="Text 4"/>
          <p:cNvSpPr/>
          <p:nvPr/>
        </p:nvSpPr>
        <p:spPr>
          <a:xfrm>
            <a:off x="429768" y="822960"/>
            <a:ext cx="3950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Operational / Domain Events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" y="1097280"/>
            <a:ext cx="3950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</a:rPr>
              <a:t>State changes that other services need to know about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29768" y="1389888"/>
            <a:ext cx="3913632" cy="402336"/>
          </a:xfrm>
          <a:prstGeom prst="rect">
            <a:avLst/>
          </a:prstGeom>
          <a:solidFill>
            <a:srgbClr val="4A7FA8">
              <a:alpha val="1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40817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FA8"/>
                </a:solidFill>
              </a:rPr>
              <a:t>OrderPlaced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591056"/>
            <a:ext cx="3822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0A8"/>
                </a:solidFill>
              </a:rPr>
              <a:t>Triggers: notification, loyalty award, analytics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29768" y="1883664"/>
            <a:ext cx="3913632" cy="402336"/>
          </a:xfrm>
          <a:prstGeom prst="rect">
            <a:avLst/>
          </a:prstGeom>
          <a:solidFill>
            <a:srgbClr val="4A7FA8">
              <a:alpha val="1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1901952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FA8"/>
                </a:solidFill>
              </a:rPr>
              <a:t>PaymentProcessed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084832"/>
            <a:ext cx="3822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0A8"/>
                </a:solidFill>
              </a:rPr>
              <a:t>Triggers: fulfilment dispatch, invoice generation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29768" y="2377440"/>
            <a:ext cx="3913632" cy="402336"/>
          </a:xfrm>
          <a:prstGeom prst="rect">
            <a:avLst/>
          </a:prstGeom>
          <a:solidFill>
            <a:srgbClr val="4A7FA8">
              <a:alpha val="1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395728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FA8"/>
                </a:solidFill>
              </a:rPr>
              <a:t>AccountCreated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2578608"/>
            <a:ext cx="3822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0A8"/>
                </a:solidFill>
              </a:rPr>
              <a:t>Triggers: onboarding email, CRM record creation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9768" y="2871216"/>
            <a:ext cx="3913632" cy="402336"/>
          </a:xfrm>
          <a:prstGeom prst="rect">
            <a:avLst/>
          </a:prstGeom>
          <a:solidFill>
            <a:srgbClr val="4A7FA8">
              <a:alpha val="1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889504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FA8"/>
                </a:solidFill>
              </a:rPr>
              <a:t>ShipmentDispatched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3072384"/>
            <a:ext cx="3822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0A8"/>
                </a:solidFill>
              </a:rPr>
              <a:t>Triggers: customer notification, tracking activation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3419856"/>
            <a:ext cx="3950208" cy="1408176"/>
          </a:xfrm>
          <a:prstGeom prst="rect">
            <a:avLst/>
          </a:prstGeom>
          <a:solidFill>
            <a:srgbClr val="4A7FA8">
              <a:alpha val="8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" y="3456432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A7FA8"/>
                </a:solidFill>
              </a:rPr>
              <a:t>EVENT SCHEMA FIELDS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4632" y="3694176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D3D"/>
                </a:solidFill>
              </a:rPr>
              <a:t>event_id  · event_type  · event_version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4632" y="3968496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D3D"/>
                </a:solidFill>
              </a:rPr>
              <a:t>source_service  · timestamp  · trace_id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4632" y="4242816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D3D"/>
                </a:solidFill>
              </a:rPr>
              <a:t>aggregate_id  · aggregate_type  · payload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4632" y="4517136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D3D"/>
                </a:solidFill>
              </a:rPr>
              <a:t>idempotency_key  · schema_registry_id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822960"/>
            <a:ext cx="4114800" cy="411480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822960"/>
            <a:ext cx="4114800" cy="475488"/>
          </a:xfrm>
          <a:prstGeom prst="rect">
            <a:avLst/>
          </a:prstGeom>
          <a:solidFill>
            <a:srgbClr val="B03040"/>
          </a:solidFill>
          <a:ln/>
        </p:spPr>
      </p:sp>
      <p:sp>
        <p:nvSpPr>
          <p:cNvPr id="28" name="Text 26"/>
          <p:cNvSpPr/>
          <p:nvPr/>
        </p:nvSpPr>
        <p:spPr>
          <a:xfrm>
            <a:off x="4864608" y="822960"/>
            <a:ext cx="3950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Security Events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64608" y="1097280"/>
            <a:ext cx="3950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</a:rPr>
              <a:t>Actions relevant to access, audit, and threat detection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64608" y="1389888"/>
            <a:ext cx="3913632" cy="402336"/>
          </a:xfrm>
          <a:prstGeom prst="rect">
            <a:avLst/>
          </a:prstGeom>
          <a:solidFill>
            <a:srgbClr val="B03040">
              <a:alpha val="1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140817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3040"/>
                </a:solidFill>
              </a:rPr>
              <a:t>AuthenticationFailed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37760" y="1591056"/>
            <a:ext cx="3822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0A8"/>
                </a:solidFill>
              </a:rPr>
              <a:t>SIEM: brute-force detection, account lockout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64608" y="1883664"/>
            <a:ext cx="3913632" cy="402336"/>
          </a:xfrm>
          <a:prstGeom prst="rect">
            <a:avLst/>
          </a:prstGeom>
          <a:solidFill>
            <a:srgbClr val="B03040">
              <a:alpha val="1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937760" y="1901952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3040"/>
                </a:solidFill>
              </a:rPr>
              <a:t>PrivilegedOperationPerformed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37760" y="2084832"/>
            <a:ext cx="3822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0A8"/>
                </a:solidFill>
              </a:rPr>
              <a:t>SIEM: admin action audit, SOX compliance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64608" y="2377440"/>
            <a:ext cx="3913632" cy="402336"/>
          </a:xfrm>
          <a:prstGeom prst="rect">
            <a:avLst/>
          </a:prstGeom>
          <a:solidFill>
            <a:srgbClr val="B03040">
              <a:alpha val="1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4937760" y="2395728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3040"/>
                </a:solidFill>
              </a:rPr>
              <a:t>SensitiveDataExported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937760" y="2578608"/>
            <a:ext cx="3822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0A8"/>
                </a:solidFill>
              </a:rPr>
              <a:t>SIEM: data loss prevention correlation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64608" y="2871216"/>
            <a:ext cx="3913632" cy="402336"/>
          </a:xfrm>
          <a:prstGeom prst="rect">
            <a:avLst/>
          </a:prstGeom>
          <a:solidFill>
            <a:srgbClr val="B03040">
              <a:alpha val="1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4937760" y="2889504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3040"/>
                </a:solidFill>
              </a:rPr>
              <a:t>PermissionEscalationAttempted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937760" y="3072384"/>
            <a:ext cx="3822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0A8"/>
                </a:solidFill>
              </a:rPr>
              <a:t>SIEM: lateral movement detection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846320" y="3419856"/>
            <a:ext cx="3950208" cy="1408176"/>
          </a:xfrm>
          <a:prstGeom prst="rect">
            <a:avLst/>
          </a:prstGeom>
          <a:solidFill>
            <a:srgbClr val="B03040">
              <a:alpha val="8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4919472" y="3456432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03040"/>
                </a:solidFill>
              </a:rPr>
              <a:t>EVENT SCHEMA FIELDS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919472" y="3694176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D3D"/>
                </a:solidFill>
              </a:rPr>
              <a:t>event_id  · event_type  · severity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919472" y="3968496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D3D"/>
                </a:solidFill>
              </a:rPr>
              <a:t>actor_id  · source_ip  · trace_id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919472" y="4242816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D3D"/>
                </a:solidFill>
              </a:rPr>
              <a:t>resource_type  · resource_id  · action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919472" y="4517136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D3D"/>
                </a:solidFill>
              </a:rPr>
              <a:t>outcome  · risk_score  · schema_version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320040" y="5047488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0A8"/>
                </a:solidFill>
              </a:rPr>
              <a:t>The trace_id in security events must match the trace_id in distributed traces — the join key for SIEM incident investigation.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8DB8"/>
                </a:solidFill>
              </a:rPr>
              <a:t>PRACTICE 5  ·  HEALTH AND READINESS ENDPOINTS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The operational interface between your service and its platform — how infrastructure knows whether to route traffic, restart, or wait.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115568"/>
            <a:ext cx="2743200" cy="3822192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15568"/>
            <a:ext cx="2743200" cy="658368"/>
          </a:xfrm>
          <a:prstGeom prst="rect">
            <a:avLst/>
          </a:prstGeom>
          <a:solidFill>
            <a:srgbClr val="3A7E6E">
              <a:alpha val="9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1155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/health/live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44475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Liveness Probe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88366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E4F0"/>
                </a:solidFill>
              </a:rPr>
              <a:t>Is this process alive and not deadlocked?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3591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7E6E"/>
                </a:solidFill>
              </a:rPr>
              <a:t>✓ 200 OK — process is running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651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3040"/>
                </a:solidFill>
              </a:rPr>
              <a:t>✗ 500 — container will be restarted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303580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A7E6E"/>
                </a:solidFill>
              </a:rPr>
              <a:t>WHAT TO CHECK: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327355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· Process is responsive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354787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· No deadlock or OOM condition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382219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· Internal watchdog heartbeat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93192" y="4407408"/>
            <a:ext cx="2596896" cy="438912"/>
          </a:xfrm>
          <a:prstGeom prst="rect">
            <a:avLst/>
          </a:prstGeom>
          <a:solidFill>
            <a:srgbClr val="3A7E6E">
              <a:alpha val="12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48056" y="4425696"/>
            <a:ext cx="2505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A7E6E"/>
                </a:solidFill>
              </a:rPr>
              <a:t>Do NOT check downstream dependencies — DB outage ≠ restart your process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27832" y="1115568"/>
            <a:ext cx="2743200" cy="3822192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27832" y="1115568"/>
            <a:ext cx="2743200" cy="658368"/>
          </a:xfrm>
          <a:prstGeom prst="rect">
            <a:avLst/>
          </a:prstGeom>
          <a:solidFill>
            <a:srgbClr val="3A7DC9">
              <a:alpha val="9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319272" y="11155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/health/ready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19272" y="144475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Readiness Probe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19272" y="188366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E4F0"/>
                </a:solidFill>
              </a:rPr>
              <a:t>Is this instance ready to serve traffic?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19272" y="23591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7E6E"/>
                </a:solidFill>
              </a:rPr>
              <a:t>✓ 200 OK — instance in load balancer pool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19272" y="2651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3040"/>
                </a:solidFill>
              </a:rPr>
              <a:t>✗ 503 — removed from pool, no traffic sent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19272" y="303580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A7DC9"/>
                </a:solidFill>
              </a:rPr>
              <a:t>WHAT TO CHECK: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19272" y="327355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· DB connection pool healthy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19272" y="354787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· Required dependencies reachable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19272" y="382219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· Cache connected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19272" y="409651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· Warm-up complete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00984" y="4407408"/>
            <a:ext cx="2596896" cy="438912"/>
          </a:xfrm>
          <a:prstGeom prst="rect">
            <a:avLst/>
          </a:prstGeom>
          <a:solidFill>
            <a:srgbClr val="3A7DC9">
              <a:alpha val="12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3355848" y="4425696"/>
            <a:ext cx="2505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A7DC9"/>
                </a:solidFill>
              </a:rPr>
              <a:t>Do NOT do expensive operations — probes run every few seconds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135624" y="1115568"/>
            <a:ext cx="2743200" cy="3822192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35624" y="1115568"/>
            <a:ext cx="2743200" cy="658368"/>
          </a:xfrm>
          <a:prstGeom prst="rect">
            <a:avLst/>
          </a:prstGeom>
          <a:solidFill>
            <a:srgbClr val="B87820">
              <a:alpha val="9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227064" y="11155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/health/startup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27064" y="144475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Startup Probe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27064" y="188366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E4F0"/>
                </a:solidFill>
              </a:rPr>
              <a:t>Has this instance finished initialising?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27064" y="23591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7E6E"/>
                </a:solidFill>
              </a:rPr>
              <a:t>✓ 200 OK — liveness probes begin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27064" y="2651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3040"/>
                </a:solidFill>
              </a:rPr>
              <a:t>✗ 503 — no traffic until startup complete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27064" y="303580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87820"/>
                </a:solidFill>
              </a:rPr>
              <a:t>WHAT TO CHECK: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27064" y="327355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· Config loaded successfully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27064" y="354787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· DB schema validated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27064" y="382219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· Cache pre-warmed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227064" y="409651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· ML model loaded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08776" y="4407408"/>
            <a:ext cx="2596896" cy="438912"/>
          </a:xfrm>
          <a:prstGeom prst="rect">
            <a:avLst/>
          </a:prstGeom>
          <a:solidFill>
            <a:srgbClr val="B87820">
              <a:alpha val="12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6263640" y="4425696"/>
            <a:ext cx="2505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87820"/>
                </a:solidFill>
              </a:rPr>
              <a:t>Use a long initial delay — prevents liveness probe killing a slow-start service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THE FIVE PRACTICES TOGETHER: THE CORRELATION LAYER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90A8"/>
                </a:solidFill>
              </a:rPr>
              <a:t>A shared trace_id links all five signals to the same request — turning five isolated islands into one diagnostic system.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8503920" cy="347472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1704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</a:rPr>
              <a:t>PRACTICE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377440" y="117043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</a:rPr>
              <a:t>QUESTION IT ANSWERS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23560" y="117043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</a:rPr>
              <a:t>WITHOUT IT YOU FACE…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572768"/>
            <a:ext cx="85039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1572768"/>
            <a:ext cx="73152" cy="548640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" y="157276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7DC9"/>
                </a:solidFill>
              </a:rPr>
              <a:t>Structured Logs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77440" y="157276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What exactly happened, in what context?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23560" y="157276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Log grep across unstructured text; manual reconstruction of sequence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176272"/>
            <a:ext cx="8503920" cy="548640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15" name="Shape 13"/>
          <p:cNvSpPr/>
          <p:nvPr/>
        </p:nvSpPr>
        <p:spPr>
          <a:xfrm>
            <a:off x="320040" y="2176272"/>
            <a:ext cx="73152" cy="548640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" y="217627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FA8"/>
                </a:solidFill>
              </a:rPr>
              <a:t>Custom Metrics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377440" y="217627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Is the product flow healthy? How bad is it?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623560" y="217627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Infra metrics only — 20% CPU, but 40% payment failures invisible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2779776"/>
            <a:ext cx="85039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320040" y="2779776"/>
            <a:ext cx="73152" cy="548640"/>
          </a:xfrm>
          <a:prstGeom prst="rect">
            <a:avLst/>
          </a:prstGeom>
          <a:solidFill>
            <a:srgbClr val="3A7E6E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" y="277977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7E6E"/>
                </a:solidFill>
              </a:rPr>
              <a:t>Distributed Traces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377440" y="277977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Which service in the chain caused this?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23560" y="277977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Per-service logs correlated manually; root cause guesswork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3383280"/>
            <a:ext cx="8503920" cy="548640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25" name="Shape 23"/>
          <p:cNvSpPr/>
          <p:nvPr/>
        </p:nvSpPr>
        <p:spPr>
          <a:xfrm>
            <a:off x="320040" y="3383280"/>
            <a:ext cx="73152" cy="548640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" y="33832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FA8"/>
                </a:solidFill>
              </a:rPr>
              <a:t>Events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377440" y="33832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What changed? Who should know?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623560" y="33832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Polling for state changes; security actions not forwarded to SIEM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" y="3986784"/>
            <a:ext cx="85039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320040" y="3986784"/>
            <a:ext cx="73152" cy="548640"/>
          </a:xfrm>
          <a:prstGeom prst="rect">
            <a:avLst/>
          </a:prstGeom>
          <a:solidFill>
            <a:srgbClr val="8096B0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" y="398678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96B0"/>
                </a:solidFill>
              </a:rPr>
              <a:t>Health Endpoints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377440" y="398678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Is this instance ready for traffic?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623560" y="398678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All-or-nothing deployment; partial failures invisible to load balancer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20040" y="4736592"/>
            <a:ext cx="8503920" cy="347472"/>
          </a:xfrm>
          <a:prstGeom prst="rect">
            <a:avLst/>
          </a:prstGeom>
          <a:solidFill>
            <a:srgbClr val="3A7DC9">
              <a:alpha val="85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11480" y="473659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</a:rPr>
              <a:t>All five signals carry the same trace_id — the single key that joins a log entry, a trace span, a metric, a domain event, and a health check to one request.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8DB8"/>
                </a:solidFill>
              </a:rPr>
              <a:t>ENTERPRISE CONSIDERATIONS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Observability in regulated, multi-team enterprise environments requires deliberate governance decisions.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170432"/>
            <a:ext cx="4206240" cy="1207008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70432"/>
            <a:ext cx="54864" cy="1207008"/>
          </a:xfrm>
          <a:prstGeom prst="rect">
            <a:avLst/>
          </a:prstGeom>
          <a:solidFill>
            <a:srgbClr val="B03040"/>
          </a:solidFill>
          <a:ln/>
        </p:spPr>
      </p:sp>
      <p:sp>
        <p:nvSpPr>
          <p:cNvPr id="6" name="Text 4"/>
          <p:cNvSpPr/>
          <p:nvPr/>
        </p:nvSpPr>
        <p:spPr>
          <a:xfrm>
            <a:off x="466344" y="1243584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3040"/>
                </a:solidFill>
              </a:rPr>
              <a:t>PII and data residency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6344" y="1572768"/>
            <a:ext cx="40050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Logs and events are regulated data. Redact PII at capture time — before logs leave the service. GDPR, HIPAA, and PCI-DSS all apply to what you log.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1170432"/>
            <a:ext cx="4206240" cy="1207008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70432"/>
            <a:ext cx="54864" cy="1207008"/>
          </a:xfrm>
          <a:prstGeom prst="rect">
            <a:avLst/>
          </a:prstGeom>
          <a:solidFill>
            <a:srgbClr val="B87820"/>
          </a:solidFill>
          <a:ln/>
        </p:spPr>
      </p:sp>
      <p:sp>
        <p:nvSpPr>
          <p:cNvPr id="10" name="Text 8"/>
          <p:cNvSpPr/>
          <p:nvPr/>
        </p:nvSpPr>
        <p:spPr>
          <a:xfrm>
            <a:off x="4855464" y="1243584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7820"/>
                </a:solidFill>
              </a:rPr>
              <a:t>Retention policies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55464" y="1572768"/>
            <a:ext cx="40050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SOX requires access logs retained for 7 years. PCI-DSS requires 12 months of security event logs. Define retention per data classification before first deployment.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487168"/>
            <a:ext cx="4206240" cy="1207008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487168"/>
            <a:ext cx="54864" cy="1207008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" y="2560320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7DC9"/>
                </a:solidFill>
              </a:rPr>
              <a:t>Observability cost governance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344" y="2889504"/>
            <a:ext cx="40050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High-cardinality metrics, full-trace retention, and high-volume event streaming scale with request volume. Budget explicitly. Apply sampling strategies.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2487168"/>
            <a:ext cx="4206240" cy="1207008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487168"/>
            <a:ext cx="54864" cy="120700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18" name="Text 16"/>
          <p:cNvSpPr/>
          <p:nvPr/>
        </p:nvSpPr>
        <p:spPr>
          <a:xfrm>
            <a:off x="4855464" y="2560320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FA8"/>
                </a:solidFill>
              </a:rPr>
              <a:t>Centralised SIEM — non-negotiable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55464" y="2889504"/>
            <a:ext cx="40050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Security events must go to a centralised SIEM. Per-team SIEM is not compliance. Cross-team correlation requires centralisation.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803904"/>
            <a:ext cx="4206240" cy="1207008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803904"/>
            <a:ext cx="54864" cy="1207008"/>
          </a:xfrm>
          <a:prstGeom prst="rect">
            <a:avLst/>
          </a:prstGeom>
          <a:solidFill>
            <a:srgbClr val="3A7E6E"/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" y="3877056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7E6E"/>
                </a:solidFill>
              </a:rPr>
              <a:t>Schema governance for events and logs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6344" y="4206240"/>
            <a:ext cx="40050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Log fields and event schemas are contracts. A field rename breaks queries and dashboards. Use a schema registry; define field names at platform level.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3803904"/>
            <a:ext cx="4206240" cy="1207008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803904"/>
            <a:ext cx="54864" cy="1207008"/>
          </a:xfrm>
          <a:prstGeom prst="rect">
            <a:avLst/>
          </a:prstGeom>
          <a:solidFill>
            <a:srgbClr val="8096B0"/>
          </a:solidFill>
          <a:ln/>
        </p:spPr>
      </p:sp>
      <p:sp>
        <p:nvSpPr>
          <p:cNvPr id="26" name="Text 24"/>
          <p:cNvSpPr/>
          <p:nvPr/>
        </p:nvSpPr>
        <p:spPr>
          <a:xfrm>
            <a:off x="4855464" y="3877056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096B0"/>
                </a:solidFill>
              </a:rPr>
              <a:t>Cross-team trace propagation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55464" y="4206240"/>
            <a:ext cx="40050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When requests cross team boundaries, trace context must propagate across that boundary. A missing trace context creates a gap in every incident investigation.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LAB EXERCISE  ·  30 MINUTES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4124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3557"/>
                </a:solidFill>
              </a:rPr>
              <a:t>Instrument an Order Management Service: Structured Logs · Metrics · Trace · Events · Health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1316736"/>
            <a:ext cx="8503920" cy="676656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16736"/>
            <a:ext cx="475488" cy="676656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316736"/>
            <a:ext cx="4754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86968" y="13716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FA8"/>
                </a:solidFill>
              </a:rPr>
              <a:t>Structured log schema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81528" y="13716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0A8"/>
                </a:solidFill>
              </a:rPr>
              <a:t>(6 min)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86968" y="1682496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Design the JSON log entry for order.placed. Mandatory fields? Where does PII appear and how do you redact it? How does trace_id propagate to downstream service logs?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084832"/>
            <a:ext cx="8503920" cy="676656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084832"/>
            <a:ext cx="475488" cy="676656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2084832"/>
            <a:ext cx="4754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86968" y="213969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FA8"/>
                </a:solidFill>
              </a:rPr>
              <a:t>Custom metrics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81528" y="213969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0A8"/>
                </a:solidFill>
              </a:rPr>
              <a:t>(7 min)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86968" y="2450592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Name the five most important metrics for your order flow. For each: RED or USE pattern, alert threshold, and what fires when the threshold is breached.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2852928"/>
            <a:ext cx="8503920" cy="676656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852928"/>
            <a:ext cx="475488" cy="676656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2852928"/>
            <a:ext cx="4754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86968" y="29077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FA8"/>
                </a:solidFill>
              </a:rPr>
              <a:t>Distributed trace span tree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081528" y="29077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0A8"/>
                </a:solidFill>
              </a:rPr>
              <a:t>(7 min)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86968" y="3218688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Draw the span tree for a successful order placement: span names, owning services, critical path, and where you’d expect latency to concentrate under load.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3621024"/>
            <a:ext cx="8503920" cy="676656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621024"/>
            <a:ext cx="475488" cy="676656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3621024"/>
            <a:ext cx="4754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86968" y="36758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FA8"/>
                </a:solidFill>
              </a:rPr>
              <a:t>Security event catalogue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081528" y="367588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0A8"/>
                </a:solidFill>
              </a:rPr>
              <a:t>(5 min)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86968" y="3986784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List the security events this service should emit. For each: event type, what triggered it, which SIEM detection rule it feeds, and the trace_id join strategy.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" y="4389120"/>
            <a:ext cx="8503920" cy="676656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4389120"/>
            <a:ext cx="475488" cy="676656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31" name="Text 29"/>
          <p:cNvSpPr/>
          <p:nvPr/>
        </p:nvSpPr>
        <p:spPr>
          <a:xfrm>
            <a:off x="320040" y="4389120"/>
            <a:ext cx="4754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86968" y="444398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FA8"/>
                </a:solidFill>
              </a:rPr>
              <a:t>Health endpoint spec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081528" y="444398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0A8"/>
                </a:solidFill>
              </a:rPr>
              <a:t>(5 min)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86968" y="4754880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Write the /health/ready JSON response when: (a) fully healthy; (b) payment processor degraded. What should the load balancer do in each case?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8DB8"/>
                </a:solidFill>
              </a:rPr>
              <a:t>DISCUSSION + MODULE SUMMARY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5029200" cy="3493008"/>
          </a:xfrm>
          <a:prstGeom prst="rect">
            <a:avLst/>
          </a:prstGeom>
          <a:solidFill>
            <a:srgbClr val="2E5073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49808"/>
            <a:ext cx="5029200" cy="438912"/>
          </a:xfrm>
          <a:prstGeom prst="rect">
            <a:avLst/>
          </a:prstGeom>
          <a:solidFill>
            <a:srgbClr val="5B8DB8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749808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DISCUSSION QUESTIONS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4663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Q1.  For the last production incident your team experienced, which of the five practices would have cut your diagnosis time in half?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Q2.  Walk through your current log entries. Are they structured? Do they carry a trace_id? What is missing?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Q3.  Your payment service has a 5% error rate but infrastructure metrics look normal. Which practice surfaces this?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Q4.  A security analyst asks: “Show me all external API calls made by automated processes in the last 24 hours.” Can you answer today?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532120" y="749808"/>
            <a:ext cx="3291840" cy="3493008"/>
          </a:xfrm>
          <a:prstGeom prst="rect">
            <a:avLst/>
          </a:prstGeom>
          <a:solidFill>
            <a:srgbClr val="2E5073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532120" y="749808"/>
            <a:ext cx="3291840" cy="438912"/>
          </a:xfrm>
          <a:prstGeom prst="rect">
            <a:avLst/>
          </a:prstGeom>
          <a:solidFill>
            <a:srgbClr val="3A7DC9">
              <a:alpha val="9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532120" y="74980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KEY TAKEAWAYS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0" y="1280160"/>
            <a:ext cx="3063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· 5 practices: logs · metrics · traces · events · health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· Monitoring answers known questions — observability answers new ones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· Structured logs + trace_id = cross-service diagnosis in one query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· Custom metrics connect infra to business outcomes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· Events bridge SIEM and cross-domain integration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· Health endpoints are the platform’s operating contract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· trace_id is the join key that makes all five work as one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4343400"/>
            <a:ext cx="8503920" cy="566928"/>
          </a:xfrm>
          <a:prstGeom prst="rect">
            <a:avLst/>
          </a:prstGeom>
          <a:solidFill>
            <a:srgbClr val="3A7DC9">
              <a:alpha val="82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434340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NEXT  ·  Module 10: Design Reviews  —  Design principles, security &amp; FinOps reviews, the 12-point checklist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9: Observability</dc:title>
  <dc:subject>PptxGenJS Presentation</dc:subject>
  <dc:creator>PptxGenJS</dc:creator>
  <cp:lastModifiedBy>PptxGenJS</cp:lastModifiedBy>
  <cp:revision>1</cp:revision>
  <dcterms:created xsi:type="dcterms:W3CDTF">2026-04-07T23:58:11Z</dcterms:created>
  <dcterms:modified xsi:type="dcterms:W3CDTF">2026-04-07T23:58:11Z</dcterms:modified>
</cp:coreProperties>
</file>