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926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8DB8"/>
                </a:solidFill>
              </a:rPr>
              <a:t>ENTERPRISE AGENTIC PRACTICES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261872"/>
            <a:ext cx="62179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FinOps for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Agentic Systems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365760" y="3017520"/>
            <a:ext cx="6400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8DB8"/>
                </a:solidFill>
              </a:rPr>
              <a:t>Token economics, cost governance, and maximising ROI at agent scale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" y="3639312"/>
            <a:ext cx="320040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37947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Duration: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60–75 min 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  |  </a:t>
            </a:r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Level: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Advanced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675120" y="777240"/>
            <a:ext cx="2148840" cy="841248"/>
          </a:xfrm>
          <a:prstGeom prst="rect">
            <a:avLst/>
          </a:prstGeom>
          <a:solidFill>
            <a:srgbClr val="4A7FA8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675120" y="777240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Input tokens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675120" y="1216152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E4F0"/>
                </a:solidFill>
              </a:rPr>
              <a:t>$0.003/K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675120" y="1856232"/>
            <a:ext cx="2148840" cy="841248"/>
          </a:xfrm>
          <a:prstGeom prst="rect">
            <a:avLst/>
          </a:prstGeom>
          <a:solidFill>
            <a:srgbClr val="3A7DC9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75120" y="1856232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Output tokens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675120" y="2295144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E4F0"/>
                </a:solidFill>
              </a:rPr>
              <a:t>$0.015/K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675120" y="2935224"/>
            <a:ext cx="2148840" cy="841248"/>
          </a:xfrm>
          <a:prstGeom prst="rect">
            <a:avLst/>
          </a:prstGeom>
          <a:solidFill>
            <a:srgbClr val="3A7E6E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675120" y="2935224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Agent steps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675120" y="337413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E4F0"/>
                </a:solidFill>
              </a:rPr>
              <a:t>× loop depth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675120" y="4014216"/>
            <a:ext cx="2148840" cy="841248"/>
          </a:xfrm>
          <a:prstGeom prst="rect">
            <a:avLst/>
          </a:prstGeom>
          <a:solidFill>
            <a:srgbClr val="8096B0">
              <a:alpha val="8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675120" y="4014216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Retrieval ops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675120" y="445312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E4F0"/>
                </a:solidFill>
              </a:rPr>
              <a:t>× chunk count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LEARNING OBJECTIVES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82296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By the end of this module you will be able to: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64008" cy="1664208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3716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Understand AI Cost Structure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601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Explain why AI costs are non-linear — token pricing, context window quadratics, output premiums, and how agent loops multiply costs.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6634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170432"/>
            <a:ext cx="64008" cy="1664208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37160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035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Define FinOps Metrics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3035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Implement cost-per-token, cost-per-inference, cost-per-unit-of-work, and token efficiency ratio as operational KPIs.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3200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20040" y="2999232"/>
            <a:ext cx="64008" cy="1664208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20040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601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Apply Optimisation Levers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9601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Use model routing, prompt compression, semantic caching, compaction, and context hygiene to reduce costs without sacrificing quality.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6634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663440" y="2999232"/>
            <a:ext cx="64008" cy="1664208"/>
          </a:xfrm>
          <a:prstGeom prst="rect">
            <a:avLst/>
          </a:prstGeom>
          <a:solidFill>
            <a:srgbClr val="8096B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320040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3035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Build Cost Governance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3035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Design budget limits, token quotas, alerting thresholds, and FinOps dashboards that give engineering and finance a shared view.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WHY AI COSTS ARE DIFFERENT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Cloud bills CPU hours. AI bills semantic units — and they compound in ways that aren’t obvious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6" name="Text 4"/>
          <p:cNvSpPr/>
          <p:nvPr/>
        </p:nvSpPr>
        <p:spPr>
          <a:xfrm>
            <a:off x="466344" y="124358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Output tokens cost 3–8× more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66344" y="1609344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Nearly all major providers price output tokens significantly higher than input tokens. Agents that generate verbose intermediate reasoning (chain-of-thought) pay this premium on every step.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" y="2468880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2468880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" y="254203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Context window scales quadratically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66344" y="2907792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 128K-token context costs 64× more to process than an 8K context due to attention matrix scaling. Unbounded context growth is a FinOps disaster.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3767328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" y="3767328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" y="384048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Agent loops multiply everything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66344" y="4206240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 ReAct loop running 10 cycles can consume 50× the tokens of a single linear pass. Each iteration sends the full conversation history as context.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1170432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8" name="Text 16"/>
          <p:cNvSpPr/>
          <p:nvPr/>
        </p:nvSpPr>
        <p:spPr>
          <a:xfrm>
            <a:off x="4855464" y="124358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Retrieval adds a third cost dimension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55464" y="1609344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RAG pipelines incur embedding costs, retrieval costs, and re-ranking costs before the LLM even sees a token. Tune chunk size and retrieval depth carefully.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09160" y="2468880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09160" y="2468880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2" name="Text 20"/>
          <p:cNvSpPr/>
          <p:nvPr/>
        </p:nvSpPr>
        <p:spPr>
          <a:xfrm>
            <a:off x="4855464" y="254203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Quality and safety cost money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55464" y="2907792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Guardrails, Judge LLMs, verifiers, and evaluation runs all add cost. Budget for reliability infrastructure, not just generation.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09160" y="3767328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09160" y="3767328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6" name="Text 24"/>
          <p:cNvSpPr/>
          <p:nvPr/>
        </p:nvSpPr>
        <p:spPr>
          <a:xfrm>
            <a:off x="4855464" y="384048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Costs are non-linear with scale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55464" y="4206240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 feature that costs $0.001/request seems cheap until it runs 1M times/day. Plan for 10× scale from day one and model cost growth curves.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KEY FINOPS METRICS FOR AGENTS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Connect every metric to business value. If you can’t answer “is this justified?”, you don’t have enough visibility.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1984248" cy="384048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6" name="Text 4"/>
          <p:cNvSpPr/>
          <p:nvPr/>
        </p:nvSpPr>
        <p:spPr>
          <a:xfrm>
            <a:off x="393192" y="1170432"/>
            <a:ext cx="1892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3557"/>
                </a:solidFill>
              </a:rPr>
              <a:t>Metric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395728" y="1170432"/>
            <a:ext cx="2084832" cy="384048"/>
          </a:xfrm>
          <a:prstGeom prst="rect">
            <a:avLst/>
          </a:prstGeom>
          <a:solidFill>
            <a:srgbClr val="D6E8FB"/>
          </a:solidFill>
          <a:ln/>
        </p:spPr>
      </p:sp>
      <p:sp>
        <p:nvSpPr>
          <p:cNvPr id="8" name="Text 6"/>
          <p:cNvSpPr/>
          <p:nvPr/>
        </p:nvSpPr>
        <p:spPr>
          <a:xfrm>
            <a:off x="2468880" y="1170432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Tier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0" y="1170432"/>
            <a:ext cx="4251960" cy="384048"/>
          </a:xfrm>
          <a:prstGeom prst="rect">
            <a:avLst/>
          </a:prstGeom>
          <a:solidFill>
            <a:srgbClr val="D0EDE5"/>
          </a:solidFill>
          <a:ln/>
        </p:spPr>
      </p:sp>
      <p:sp>
        <p:nvSpPr>
          <p:cNvPr id="10" name="Text 8"/>
          <p:cNvSpPr/>
          <p:nvPr/>
        </p:nvSpPr>
        <p:spPr>
          <a:xfrm>
            <a:off x="4645152" y="117043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How to measure  ·  Why it matters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" y="1609344"/>
            <a:ext cx="1984248" cy="530352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12" name="Shape 10"/>
          <p:cNvSpPr/>
          <p:nvPr/>
        </p:nvSpPr>
        <p:spPr>
          <a:xfrm>
            <a:off x="2395728" y="1609344"/>
            <a:ext cx="2084832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0" y="1609344"/>
            <a:ext cx="425196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" y="1609344"/>
            <a:ext cx="54864" cy="530352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15" name="Text 13"/>
          <p:cNvSpPr/>
          <p:nvPr/>
        </p:nvSpPr>
        <p:spPr>
          <a:xfrm>
            <a:off x="448056" y="1609344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3557"/>
                </a:solidFill>
              </a:rPr>
              <a:t>Cost per token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468880" y="1737360"/>
            <a:ext cx="1938528" cy="274320"/>
          </a:xfrm>
          <a:prstGeom prst="rect">
            <a:avLst/>
          </a:prstGeom>
          <a:solidFill>
            <a:srgbClr val="8096B0">
              <a:alpha val="2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2468880" y="173736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096B0"/>
                </a:solidFill>
              </a:rPr>
              <a:t>Base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663440" y="1609344"/>
            <a:ext cx="41056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Provider API billing  ·  Baseline unit. Varies by model, input vs output, and cached vs fresh.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" y="2180844"/>
            <a:ext cx="1984248" cy="530352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20" name="Shape 18"/>
          <p:cNvSpPr/>
          <p:nvPr/>
        </p:nvSpPr>
        <p:spPr>
          <a:xfrm>
            <a:off x="2395728" y="2180844"/>
            <a:ext cx="2084832" cy="530352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0" y="2180844"/>
            <a:ext cx="4251960" cy="530352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22" name="Shape 20"/>
          <p:cNvSpPr/>
          <p:nvPr/>
        </p:nvSpPr>
        <p:spPr>
          <a:xfrm>
            <a:off x="320040" y="2180844"/>
            <a:ext cx="54864" cy="530352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3" name="Text 21"/>
          <p:cNvSpPr/>
          <p:nvPr/>
        </p:nvSpPr>
        <p:spPr>
          <a:xfrm>
            <a:off x="448056" y="2180844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3557"/>
                </a:solidFill>
              </a:rPr>
              <a:t>Cost per request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2468880" y="2308860"/>
            <a:ext cx="1938528" cy="274320"/>
          </a:xfrm>
          <a:prstGeom prst="rect">
            <a:avLst/>
          </a:prstGeom>
          <a:solidFill>
            <a:srgbClr val="4A7FA8">
              <a:alpha val="20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2468880" y="230886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7FA8"/>
                </a:solidFill>
              </a:rPr>
              <a:t>Operational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663440" y="2180844"/>
            <a:ext cx="41056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(Input + Output tokens) × rate  ·  Enables per-feature cost tracking and user-level attribution.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20040" y="2752344"/>
            <a:ext cx="1984248" cy="530352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28" name="Shape 26"/>
          <p:cNvSpPr/>
          <p:nvPr/>
        </p:nvSpPr>
        <p:spPr>
          <a:xfrm>
            <a:off x="2395728" y="2752344"/>
            <a:ext cx="2084832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4572000" y="2752344"/>
            <a:ext cx="425196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Shape 28"/>
          <p:cNvSpPr/>
          <p:nvPr/>
        </p:nvSpPr>
        <p:spPr>
          <a:xfrm>
            <a:off x="320040" y="2752344"/>
            <a:ext cx="54864" cy="53035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1" name="Text 29"/>
          <p:cNvSpPr/>
          <p:nvPr/>
        </p:nvSpPr>
        <p:spPr>
          <a:xfrm>
            <a:off x="448056" y="2752344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3557"/>
                </a:solidFill>
              </a:rPr>
              <a:t>Cost per unit of work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2468880" y="2880360"/>
            <a:ext cx="1938528" cy="274320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2468880" y="288036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7DC9"/>
                </a:solidFill>
              </a:rPr>
              <a:t>Business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663440" y="2752344"/>
            <a:ext cx="41056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Cost / (PRs, tickets, features)  ·  The only metric finance understands. Everything else is implementation.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20040" y="3323844"/>
            <a:ext cx="1984248" cy="530352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36" name="Shape 34"/>
          <p:cNvSpPr/>
          <p:nvPr/>
        </p:nvSpPr>
        <p:spPr>
          <a:xfrm>
            <a:off x="2395728" y="3323844"/>
            <a:ext cx="2084832" cy="530352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7" name="Shape 35"/>
          <p:cNvSpPr/>
          <p:nvPr/>
        </p:nvSpPr>
        <p:spPr>
          <a:xfrm>
            <a:off x="4572000" y="3323844"/>
            <a:ext cx="4251960" cy="530352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8" name="Shape 36"/>
          <p:cNvSpPr/>
          <p:nvPr/>
        </p:nvSpPr>
        <p:spPr>
          <a:xfrm>
            <a:off x="320040" y="3323844"/>
            <a:ext cx="54864" cy="530352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39" name="Text 37"/>
          <p:cNvSpPr/>
          <p:nvPr/>
        </p:nvSpPr>
        <p:spPr>
          <a:xfrm>
            <a:off x="448056" y="3323844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3557"/>
                </a:solidFill>
              </a:rPr>
              <a:t>Token efficiency ratio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2468880" y="3451860"/>
            <a:ext cx="1938528" cy="274320"/>
          </a:xfrm>
          <a:prstGeom prst="rect">
            <a:avLst/>
          </a:prstGeom>
          <a:solidFill>
            <a:srgbClr val="3A7E6E">
              <a:alpha val="20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2468880" y="345186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7E6E"/>
                </a:solidFill>
              </a:rPr>
              <a:t>Quality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663440" y="3323844"/>
            <a:ext cx="41056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Output quality score / tokens spent  ·  Are you getting value per token? Detects wasteful verbose prompts.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20040" y="3895344"/>
            <a:ext cx="1984248" cy="530352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44" name="Shape 42"/>
          <p:cNvSpPr/>
          <p:nvPr/>
        </p:nvSpPr>
        <p:spPr>
          <a:xfrm>
            <a:off x="2395728" y="3895344"/>
            <a:ext cx="2084832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Shape 43"/>
          <p:cNvSpPr/>
          <p:nvPr/>
        </p:nvSpPr>
        <p:spPr>
          <a:xfrm>
            <a:off x="4572000" y="3895344"/>
            <a:ext cx="425196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Shape 44"/>
          <p:cNvSpPr/>
          <p:nvPr/>
        </p:nvSpPr>
        <p:spPr>
          <a:xfrm>
            <a:off x="320040" y="3895344"/>
            <a:ext cx="54864" cy="530352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47" name="Text 45"/>
          <p:cNvSpPr/>
          <p:nvPr/>
        </p:nvSpPr>
        <p:spPr>
          <a:xfrm>
            <a:off x="448056" y="3895344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3557"/>
                </a:solidFill>
              </a:rPr>
              <a:t>Tokens per user session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2468880" y="4023360"/>
            <a:ext cx="1938528" cy="274320"/>
          </a:xfrm>
          <a:prstGeom prst="rect">
            <a:avLst/>
          </a:prstGeom>
          <a:solidFill>
            <a:srgbClr val="4A7FA8">
              <a:alpha val="20000"/>
            </a:srgbClr>
          </a:solidFill>
          <a:ln/>
        </p:spPr>
      </p:sp>
      <p:sp>
        <p:nvSpPr>
          <p:cNvPr id="49" name="Text 47"/>
          <p:cNvSpPr/>
          <p:nvPr/>
        </p:nvSpPr>
        <p:spPr>
          <a:xfrm>
            <a:off x="2468880" y="402336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7FA8"/>
                </a:solidFill>
              </a:rPr>
              <a:t>Ops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663440" y="3895344"/>
            <a:ext cx="41056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Total tokens / active sessions  ·  Track flat or declining as usage grows. Rising = efficiency problem.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320040" y="4466844"/>
            <a:ext cx="1984248" cy="530352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52" name="Shape 50"/>
          <p:cNvSpPr/>
          <p:nvPr/>
        </p:nvSpPr>
        <p:spPr>
          <a:xfrm>
            <a:off x="2395728" y="4466844"/>
            <a:ext cx="2084832" cy="530352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53" name="Shape 51"/>
          <p:cNvSpPr/>
          <p:nvPr/>
        </p:nvSpPr>
        <p:spPr>
          <a:xfrm>
            <a:off x="4572000" y="4466844"/>
            <a:ext cx="4251960" cy="530352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54" name="Shape 52"/>
          <p:cNvSpPr/>
          <p:nvPr/>
        </p:nvSpPr>
        <p:spPr>
          <a:xfrm>
            <a:off x="320040" y="4466844"/>
            <a:ext cx="54864" cy="53035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5" name="Text 53"/>
          <p:cNvSpPr/>
          <p:nvPr/>
        </p:nvSpPr>
        <p:spPr>
          <a:xfrm>
            <a:off x="448056" y="4466844"/>
            <a:ext cx="1801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3557"/>
                </a:solidFill>
              </a:rPr>
              <a:t>Cost per agent loop iteration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2468880" y="4594860"/>
            <a:ext cx="1938528" cy="274320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57" name="Text 55"/>
          <p:cNvSpPr/>
          <p:nvPr/>
        </p:nvSpPr>
        <p:spPr>
          <a:xfrm>
            <a:off x="2468880" y="4594860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7DC9"/>
                </a:solidFill>
              </a:rPr>
              <a:t>Agent-specific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4663440" y="4466844"/>
            <a:ext cx="41056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Total cost / loop count  ·  Exposes runaway loops. Should decrease as agents get better at one-shot.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SIX OPTIMISATION LEVERS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Apply in order of effort vs impact. Start with levers 1–3 before building infrastructure for 4–6.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20624" cy="118872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206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32104" y="1225296"/>
            <a:ext cx="3557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Prompt Optimisation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243584"/>
            <a:ext cx="1170432" cy="219456"/>
          </a:xfrm>
          <a:prstGeom prst="rect">
            <a:avLst/>
          </a:prstGeom>
          <a:solidFill>
            <a:srgbClr val="1C3557">
              <a:alpha val="2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3246120" y="124358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3557"/>
                </a:solidFill>
              </a:rPr>
              <a:t>15–25% cost reduction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32104" y="1554480"/>
            <a:ext cx="3557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Add “be concise” to prompts. Remove examples that don’t contribute. Strip redundant instructions. Spot expensive prompts in telemetry and refine.“Be concise” alone saves 15–25% (FinOps Foundation).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" y="2468880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" y="2468880"/>
            <a:ext cx="420624" cy="118872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" y="2468880"/>
            <a:ext cx="4206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2104" y="2523744"/>
            <a:ext cx="3557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Model Routing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246120" y="2542032"/>
            <a:ext cx="1170432" cy="219456"/>
          </a:xfrm>
          <a:prstGeom prst="rect">
            <a:avLst/>
          </a:prstGeom>
          <a:solidFill>
            <a:srgbClr val="4A7FA8">
              <a:alpha val="2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3246120" y="254203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7FA8"/>
                </a:solidFill>
              </a:rPr>
              <a:t>30–70% cost reduction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2104" y="2852928"/>
            <a:ext cx="3557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Route simple queries to cheaper/faster models (Claude Haiku, GPT-4o mini). Reserve frontier models (Opus, GPT-4o) for complex reasoning. LiteLLM, Portkey, OpenRouter all support this out of the box.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3767328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" y="3767328"/>
            <a:ext cx="420624" cy="118872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1" name="Text 19"/>
          <p:cNvSpPr/>
          <p:nvPr/>
        </p:nvSpPr>
        <p:spPr>
          <a:xfrm>
            <a:off x="320040" y="3767328"/>
            <a:ext cx="4206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32104" y="3822192"/>
            <a:ext cx="3557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Context Compaction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246120" y="3840480"/>
            <a:ext cx="1170432" cy="219456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3246120" y="384048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7DC9"/>
                </a:solidFill>
              </a:rPr>
              <a:t>40–60% cost reduction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32104" y="4151376"/>
            <a:ext cx="3557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Prevent quadratic context growth. Clear tool results from history. Compact conversation at defined thresholds. A 10-cycle ReAct loop without compaction can cost 50× a compacted equivalent.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63440" y="1170432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63440" y="1170432"/>
            <a:ext cx="420624" cy="118872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8" name="Text 26"/>
          <p:cNvSpPr/>
          <p:nvPr/>
        </p:nvSpPr>
        <p:spPr>
          <a:xfrm>
            <a:off x="4663440" y="1170432"/>
            <a:ext cx="4206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04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175504" y="1225296"/>
            <a:ext cx="3557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Semantic Caching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589520" y="1243584"/>
            <a:ext cx="1170432" cy="219456"/>
          </a:xfrm>
          <a:prstGeom prst="rect">
            <a:avLst/>
          </a:prstGeom>
          <a:solidFill>
            <a:srgbClr val="3A7E6E">
              <a:alpha val="20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7589520" y="124358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7E6E"/>
                </a:solidFill>
              </a:rPr>
              <a:t>20–50% cost reduction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175504" y="1554480"/>
            <a:ext cx="3557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Cache LLM responses for semantically similar queries. Portkey/Helicone provide caching layers with configurable similarity thresholds. Most effective for repeated lookup patterns.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663440" y="2468880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663440" y="2468880"/>
            <a:ext cx="420624" cy="1188720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35" name="Text 33"/>
          <p:cNvSpPr/>
          <p:nvPr/>
        </p:nvSpPr>
        <p:spPr>
          <a:xfrm>
            <a:off x="4663440" y="2468880"/>
            <a:ext cx="4206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05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5175504" y="2523744"/>
            <a:ext cx="3557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Prompt Compression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7589520" y="2542032"/>
            <a:ext cx="1170432" cy="219456"/>
          </a:xfrm>
          <a:prstGeom prst="rect">
            <a:avLst/>
          </a:prstGeom>
          <a:solidFill>
            <a:srgbClr val="8096B0">
              <a:alpha val="20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7589520" y="254203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096B0"/>
                </a:solidFill>
              </a:rPr>
              <a:t>Up to 90% input cost reduction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175504" y="2852928"/>
            <a:ext cx="3557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LLMLingua and similar tools compress prompts with a small, fast model before sending to the large model. 20× compression ratios on verbose prompts. Acceptable quality degradation for most tasks.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663440" y="3767328"/>
            <a:ext cx="41605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663440" y="3767328"/>
            <a:ext cx="420624" cy="118872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42" name="Text 40"/>
          <p:cNvSpPr/>
          <p:nvPr/>
        </p:nvSpPr>
        <p:spPr>
          <a:xfrm>
            <a:off x="4663440" y="3767328"/>
            <a:ext cx="4206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06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5175504" y="3822192"/>
            <a:ext cx="3557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Provisioned Throughput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589520" y="3840480"/>
            <a:ext cx="1170432" cy="219456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45" name="Text 43"/>
          <p:cNvSpPr/>
          <p:nvPr/>
        </p:nvSpPr>
        <p:spPr>
          <a:xfrm>
            <a:off x="7589520" y="384048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7DC9"/>
                </a:solidFill>
              </a:rPr>
              <a:t>33% cost vs on-demand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175504" y="4151376"/>
            <a:ext cx="35570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For predictable, high-volume workloads: purchase provisioned throughput (PTUs on Azure, reserved capacity on AWS Bedrock). Tradeoff: commit to volume, gain cost predictability and lower latency.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COST GOVERNANCE MODEL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Visibility → Allocation → Optimisation  —  the three FinOps pillars applied to agent workloads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26974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2697480" cy="530352"/>
          </a:xfrm>
          <a:prstGeom prst="rect">
            <a:avLst/>
          </a:prstGeom>
          <a:solidFill>
            <a:srgbClr val="1C3557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9304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50392" y="1170432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VISIBILITY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1773936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Make cost of every model call visible to engineers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" y="2395728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Per-feature, per-team, per-user cost breakdowns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301752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Real-time spend dashboards (Grafana, Datadog)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3639312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Alert on anomalies within minutes, not months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57200" y="4261104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Connect token usage to business outcomes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200400" y="1170432"/>
            <a:ext cx="26974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200400" y="1170432"/>
            <a:ext cx="2697480" cy="530352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289304"/>
            <a:ext cx="292608" cy="292608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730752" y="1170432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ALLOCATION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3337560" y="1773936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Tag requests by team, feature, and customer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3337560" y="2395728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Standardise API key naming conventions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3337560" y="301752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Enforce one key per team/feature boundary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3337560" y="3639312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Chargeback to cost centers by consumption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3337560" y="4261104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Track cost-per-user for SaaS products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6080760" y="1170432"/>
            <a:ext cx="269748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6080760" y="1170432"/>
            <a:ext cx="2697480" cy="530352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289304"/>
            <a:ext cx="292608" cy="292608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611112" y="1170432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OPTIMISATION</a:t>
            </a:r>
            <a:endParaRPr lang="en-US" sz="1600" dirty="0"/>
          </a:p>
        </p:txBody>
      </p:sp>
      <p:sp>
        <p:nvSpPr>
          <p:cNvPr id="27" name="Text 22"/>
          <p:cNvSpPr/>
          <p:nvPr/>
        </p:nvSpPr>
        <p:spPr>
          <a:xfrm>
            <a:off x="6217920" y="1773936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Identify most expensive prompts in telemetry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6217920" y="2395728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Apply routing: cheap model first, escalate only if needed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6217920" y="301752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Set hard token budget limits at gateway level</a:t>
            </a:r>
            <a:endParaRPr lang="en-US" sz="1100" dirty="0"/>
          </a:p>
        </p:txBody>
      </p:sp>
      <p:sp>
        <p:nvSpPr>
          <p:cNvPr id="30" name="Text 25"/>
          <p:cNvSpPr/>
          <p:nvPr/>
        </p:nvSpPr>
        <p:spPr>
          <a:xfrm>
            <a:off x="6217920" y="3639312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Auto-throttle/pause when budget is exhausted</a:t>
            </a:r>
            <a:endParaRPr lang="en-US" sz="1100" dirty="0"/>
          </a:p>
        </p:txBody>
      </p:sp>
      <p:sp>
        <p:nvSpPr>
          <p:cNvPr id="31" name="Text 26"/>
          <p:cNvSpPr/>
          <p:nvPr/>
        </p:nvSpPr>
        <p:spPr>
          <a:xfrm>
            <a:off x="6217920" y="4261104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Run optimisation sprints quarterly against KPIs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FINOPS TOOLING FOR AI WORKLOADS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</a:rPr>
              <a:t>The LLM observability stack has matured to include cost dimensions alongside traditional metrics  — Zylos Research, 2026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4206240" cy="384048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17043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Vantage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46120" y="1234440"/>
            <a:ext cx="1207008" cy="256032"/>
          </a:xfrm>
          <a:prstGeom prst="rect">
            <a:avLst/>
          </a:prstGeom>
          <a:solidFill>
            <a:srgbClr val="3A7DC9">
              <a:alpha val="4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3246120" y="123444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FinOps Platform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11480" y="1609344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Native Anthropic + cloud cost in one view. MCP server for agent-driven cost queries. Best for: teams scaling Claude/GPT usage who need cost next to infra spend.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0040" y="2468880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2468880"/>
            <a:ext cx="4206240" cy="384048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11480" y="246888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Langfuse / Traceloop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46120" y="2532888"/>
            <a:ext cx="1207008" cy="256032"/>
          </a:xfrm>
          <a:prstGeom prst="rect">
            <a:avLst/>
          </a:prstGeom>
          <a:solidFill>
            <a:srgbClr val="4A7FA8">
              <a:alpha val="40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3246120" y="253288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LLM Tracing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11480" y="2907792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Open-source LLM tracing with cost attribution at trace and span level. Integrates with existing observability stacks. Best for: teams wanting open-source cost visibility.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0040" y="3767328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3767328"/>
            <a:ext cx="4206240" cy="384048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411480" y="376732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Portkey / Helicone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246120" y="3831336"/>
            <a:ext cx="1207008" cy="256032"/>
          </a:xfrm>
          <a:prstGeom prst="rect">
            <a:avLst/>
          </a:prstGeom>
          <a:solidFill>
            <a:srgbClr val="3A7E6E">
              <a:alpha val="4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3246120" y="3831336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LLM Gateway Proxy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11480" y="420624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LLM gateway proxies that inject per-request cost tracking, budget limits, and usage breakdowns without code changes. Also enables semantic caching and model routing.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70916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09160" y="1170432"/>
            <a:ext cx="4206240" cy="384048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4800600" y="117043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Datadog LLM Obs.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635240" y="1234440"/>
            <a:ext cx="1207008" cy="256032"/>
          </a:xfrm>
          <a:prstGeom prst="rect">
            <a:avLst/>
          </a:prstGeom>
          <a:solidFill>
            <a:srgbClr val="8096B0">
              <a:alpha val="4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7635240" y="123444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Enterprise APM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800600" y="1609344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Enterprise-grade cost monitoring integrated with existing cloud cost management. Pulls from provider APIs. Best for: orgs already on Datadog with existing cloud cost dashboards.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09160" y="2468880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709160" y="2468880"/>
            <a:ext cx="4206240" cy="384048"/>
          </a:xfrm>
          <a:prstGeom prst="rect">
            <a:avLst/>
          </a:prstGeom>
          <a:solidFill>
            <a:srgbClr val="5B8DB8">
              <a:alpha val="9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4800600" y="246888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FinOps Foundation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635240" y="2532888"/>
            <a:ext cx="1207008" cy="256032"/>
          </a:xfrm>
          <a:prstGeom prst="rect">
            <a:avLst/>
          </a:prstGeom>
          <a:solidFill>
            <a:srgbClr val="5B8DB8">
              <a:alpha val="40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7635240" y="253288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Framework + Community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800600" y="2907792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Working groups on FinOps for AI, benchmark data, cost optimisation guides, and FOCUS standard for multi-cloud billing normalisation. Free resources at finops.org.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3767328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709160" y="3767328"/>
            <a:ext cx="4206240" cy="384048"/>
          </a:xfrm>
          <a:prstGeom prst="rect">
            <a:avLst/>
          </a:prstGeom>
          <a:solidFill>
            <a:srgbClr val="2E5073">
              <a:alpha val="90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4800600" y="376732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Natively (Grafana)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7635240" y="3831336"/>
            <a:ext cx="1207008" cy="256032"/>
          </a:xfrm>
          <a:prstGeom prst="rect">
            <a:avLst/>
          </a:prstGeom>
          <a:solidFill>
            <a:srgbClr val="2E5073">
              <a:alpha val="40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7635240" y="3831336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DIY Dashboard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800600" y="420624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Export token usage from provider APIs, build Grafana panels: cost by team, tokens per request by model, budget burn rate. Full control, more engineering investment.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ROI EQUATION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90A8"/>
                </a:solidFill>
              </a:rPr>
              <a:t>FinOps is not just cost cutting — it’s maximising value per dollar spent on AI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8503920" cy="822960"/>
          </a:xfrm>
          <a:prstGeom prst="rect">
            <a:avLst/>
          </a:prstGeom>
          <a:solidFill>
            <a:srgbClr val="D4E4F0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0040" y="1170432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3557"/>
                </a:solidFill>
              </a:rPr>
              <a:t>ROI  =  (Value Generated − Total AI Cost)  ÷  Total AI Cost  ×  100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20040" y="205740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Companies deploying agentic AI report average ROI of 171% (U.S. enterprises: ~192%) — 3× traditional automation ROI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" y="2423160"/>
            <a:ext cx="4160520" cy="24963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2423160"/>
            <a:ext cx="4160520" cy="38404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10" name="Text 8"/>
          <p:cNvSpPr/>
          <p:nvPr/>
        </p:nvSpPr>
        <p:spPr>
          <a:xfrm>
            <a:off x="320040" y="242316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↑  VALUE DRIVERS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2880360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✓  Developer velocity (features / sprint)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3264408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✓  Reduced QA and rework cycles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648456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✓  Lower cost of routine operations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57200" y="4032504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✓  Faster time-to-market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D3D"/>
                </a:solidFill>
              </a:rPr>
              <a:t>✓  24/7 operation without human overtime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663440" y="2423160"/>
            <a:ext cx="4160520" cy="24963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2423160"/>
            <a:ext cx="4160520" cy="384048"/>
          </a:xfrm>
          <a:prstGeom prst="rect">
            <a:avLst/>
          </a:prstGeom>
          <a:solidFill>
            <a:srgbClr val="B03040"/>
          </a:solidFill>
          <a:ln/>
        </p:spPr>
      </p:sp>
      <p:sp>
        <p:nvSpPr>
          <p:cNvPr id="18" name="Text 16"/>
          <p:cNvSpPr/>
          <p:nvPr/>
        </p:nvSpPr>
        <p:spPr>
          <a:xfrm>
            <a:off x="4663440" y="242316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↓  COST DRIVERS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00600" y="2880360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✕  Token consumption (input + output)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800600" y="3264408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✕  Infrastructure (compute, networking)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800600" y="3648456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✕  Reliability layer (verifiers, judges)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800600" y="4032504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✕  Human oversight time (HITL gates)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800600" y="4416552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✕  Observability and monitoring stack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20040" y="48463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Avoid vanity metrics: 1M requests at $0.001 = $1,000. Is it generating at least $1,000 of value? Always connect usage metrics to cost, and cost to business value.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FINOPS ANTI-PATTERNS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These patterns are burning enterprise AI budgets right now. Know them before they hit your P&amp;L.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225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No cost visibility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155448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Costs discovered at month-end. No ability to detect anomalies or attribute spend to teams.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1920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Deploy an LLM gateway proxy day one. Cost tracking is not optional infrastructure.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468880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468880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468880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25237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One model for everything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2852928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Using GPT-4o or Claude Opus for every task, including simple lookups that Haiku handles fine.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32186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Implement model routing. Classify request complexity, route to cheapest model that handles it.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3767328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767328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767328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2960" y="3822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Unbounded context windows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2960" y="4151376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Agents accumulating history across 100+ tool calls, paying quadratic compute costs.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22960" y="451713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Set compaction thresholds. Implement tool result clearing. Define max context per agent type.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663440" y="117043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1170432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4663440" y="1170432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166360" y="1225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Verbose prompts at scale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166360" y="155448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Unnecessary examples, redundant instructions, and boilerplate burning 20–30% of budget.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166360" y="1920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“Be concise” saves 15–25%. Audit top 10 most expensive prompts quarterly and refine.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63440" y="2468880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2468880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4663440" y="2468880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166360" y="25237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No budget guardrails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166360" y="2852928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Single runaway agent loop exhausts monthly AI budget overnight. Discovered in morning standup.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166360" y="32186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Hard token budget limits at gateway level. Auto-throttle at 80% of budget. Alert at 50%.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663440" y="3767328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663440" y="3767328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4663440" y="3767328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166360" y="3822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Vanity metrics only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166360" y="4151376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Tracking request count and uptime but not cost-per-unit-of-work. Cannot justify AI investment to CFO.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166360" y="451713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Define and track 3 business-level metrics: cost per feature, cost per support deflection, etc.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FINOPS GOVERNANCE DASHBOARD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What engineering, finance, and product need to see together in one view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4206240" cy="34747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17043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Spend Overview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1581912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Total AI spend this month: $12,450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11480" y="1773936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Budget remaining: $7,550 (38%)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11480" y="196596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Projected month-end: $18,200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11480" y="2157984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MoM change: +23%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468880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468880"/>
            <a:ext cx="4206240" cy="347472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411480" y="246888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Cost by Team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11480" y="288036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Platform: $4,200 (34%)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11480" y="3072384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Product: $3,800 (31%)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11480" y="3264408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Data: $2,900 (23%)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11480" y="3456432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Infra: $1,550 (12%)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0040" y="3767328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" y="3767328"/>
            <a:ext cx="4206240" cy="347472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411480" y="376732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Model Distribution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1480" y="4178808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Claude Sonnet: $6,800 (55%)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11480" y="4370832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Claude Haiku: $2,100 (17%)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11480" y="4562856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Claude Opus: $3,550 (28%)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11480" y="475488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Routing efficiency: 72%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709160" y="1170432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09160" y="1170432"/>
            <a:ext cx="4206240" cy="347472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4800600" y="117043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Unit Economics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00600" y="1581912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Cost per PR: $0.42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800600" y="1773936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Cost per support deflection: $0.18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800600" y="196596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Cost per feature shipped: $156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800600" y="2157984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Token efficiency: 84% (target: 90%)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709160" y="2468880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709160" y="2468880"/>
            <a:ext cx="4206240" cy="347472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4800600" y="246888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Alerts &amp; Anomalies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800600" y="288036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1 alert: Data team 140% of daily budget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800600" y="3072384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3 runaway loops detected (auto-stopped)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800600" y="3264408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New model API key detected (untagged)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800600" y="3456432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Cost spike +340% at 02:14 UTC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709160" y="3767328"/>
            <a:ext cx="4206240" cy="117043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709160" y="3767328"/>
            <a:ext cx="4206240" cy="347472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4800600" y="376732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Optimisation Wins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800600" y="4178808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Routing saved $1,240 this month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800600" y="4370832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Compaction saved $880 this month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800600" y="4562856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“Be concise” prompts saved $320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4800600" y="475488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Caching hit rate: 31% (↑ from 18%)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LAB EXERCISE  ·  30 MINUTES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41248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3557"/>
                </a:solidFill>
              </a:rPr>
              <a:t>Cost-Model Your Team’s Claude Code Usage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20040" y="1280160"/>
            <a:ext cx="8503920" cy="237744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28016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C3557"/>
                </a:solidFill>
              </a:rPr>
              <a:t>Scope: focuses on the cost of using Claude Code and GitHub Copilot in your development workflow — not production agent costs (same principles apply once you ship production agents)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20040" y="1591056"/>
            <a:ext cx="8503920" cy="6400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" y="1591056"/>
            <a:ext cx="475488" cy="64008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9" name="Text 7"/>
          <p:cNvSpPr/>
          <p:nvPr/>
        </p:nvSpPr>
        <p:spPr>
          <a:xfrm>
            <a:off x="320040" y="1591056"/>
            <a:ext cx="475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86968" y="164592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Estimate token costs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990088" y="164592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86968" y="1920240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Pick one real Claude Code workflow your team uses. Estimate: LLM calls per run, context size, model tier. Use current Claude Sonnet pricing. What does one run cost? What does 20 developer runs/day cost?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" y="2304288"/>
            <a:ext cx="8503920" cy="6400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" y="2304288"/>
            <a:ext cx="475488" cy="64008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5" name="Text 13"/>
          <p:cNvSpPr/>
          <p:nvPr/>
        </p:nvSpPr>
        <p:spPr>
          <a:xfrm>
            <a:off x="320040" y="2304288"/>
            <a:ext cx="475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86968" y="235915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Apply the five levers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990088" y="235915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(6 min)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6968" y="2633472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Which of the five optimisation levers apply to your coding agent workflow? For each applicable lever: estimate % savings and implementation effort (1–5). Which single change would you make first?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" y="3017520"/>
            <a:ext cx="8503920" cy="6400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" y="3017520"/>
            <a:ext cx="475488" cy="64008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1" name="Text 19"/>
          <p:cNvSpPr/>
          <p:nvPr/>
        </p:nvSpPr>
        <p:spPr>
          <a:xfrm>
            <a:off x="320040" y="3017520"/>
            <a:ext cx="475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86968" y="307238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Design your budget architecture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2990088" y="307238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(6 min)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86968" y="3346704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Define cost limits at each level: org, team, per-developer session, per-task request. What triggers each alert? What is automated vs manual?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0040" y="3730752"/>
            <a:ext cx="8503920" cy="6400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0040" y="3730752"/>
            <a:ext cx="475488" cy="64008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7" name="Text 25"/>
          <p:cNvSpPr/>
          <p:nvPr/>
        </p:nvSpPr>
        <p:spPr>
          <a:xfrm>
            <a:off x="320040" y="3730752"/>
            <a:ext cx="475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886968" y="378561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Choose your tooling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2990088" y="378561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(4 min)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86968" y="4059936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Langfuse, Vantage, Portkey, or native Anthropic usage dashboards? What is the one view your tech lead checks weekly?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0040" y="4443984"/>
            <a:ext cx="8503920" cy="6400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20040" y="4443984"/>
            <a:ext cx="475488" cy="64008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3" name="Text 31"/>
          <p:cNvSpPr/>
          <p:nvPr/>
        </p:nvSpPr>
        <p:spPr>
          <a:xfrm>
            <a:off x="320040" y="4443984"/>
            <a:ext cx="475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5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886968" y="449884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Share your $/day estimate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2990088" y="449884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(2 min)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86968" y="4773168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What surprised you? Where is the biggest cost risk in your current usage patterns? What habit would you change today?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DISCUSSION + MODULE SUMMARY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502920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solidFill>
            <a:srgbClr val="5B8DB8">
              <a:alpha val="8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DISCUSSION QUESTIONS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Q1.  Do you currently have cost-per-unit-of-work visibility for your AI features? If not, what’s the nearest proxy?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Q2.  Which of the six optimisation levers could you deploy in the next sprint with no new infrastructure?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Q3.  If your AI spend doubled tomorrow, would you know within the hour? What’s your alert setup today?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Q4.  How do you currently justify AI investment to your CFO or leadership? What would cost-per-feature data change?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532120" y="749808"/>
            <a:ext cx="329184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KEY TAKEAWAYS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1280160"/>
            <a:ext cx="3063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Output tokens cost 3–8× more than input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10-cycle loops = 50× cost without compaction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“Be concise” alone saves 15–25%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Route: cheap model first, escalate if needed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Visibility → Allocation → Optimisation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Define cost-per-unit-of-work before deploying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Average agent ROI: 171% — but only if governed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solidFill>
            <a:srgbClr val="3A7DC9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NEXT  ·  Module 10: Design Reviews  —  Agent-first design, AX, ADRs, and the pre-deployment design review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9: FinOps for Agentic Systems</dc:title>
  <dc:subject>PptxGenJS Presentation</dc:subject>
  <dc:creator>PptxGenJS</dc:creator>
  <cp:lastModifiedBy>PptxGenJS</cp:lastModifiedBy>
  <cp:revision>1</cp:revision>
  <dcterms:created xsi:type="dcterms:W3CDTF">2026-04-05T20:37:43Z</dcterms:created>
  <dcterms:modified xsi:type="dcterms:W3CDTF">2026-04-05T20:37:43Z</dcterms:modified>
</cp:coreProperties>
</file>