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6217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FinOps for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Agentic Systems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Token economics, cost governance, and maximising ROI at agent scale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639312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794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60–75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Advanced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777240"/>
            <a:ext cx="2148840" cy="841248"/>
          </a:xfrm>
          <a:prstGeom prst="rect">
            <a:avLst/>
          </a:prstGeom>
          <a:solidFill>
            <a:srgbClr val="4A7FA8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7772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Input tokens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1216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4F0"/>
                </a:solidFill>
              </a:rPr>
              <a:t>$0.003/K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856232"/>
            <a:ext cx="2148840" cy="841248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8562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Output tokens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22951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4F0"/>
                </a:solidFill>
              </a:rPr>
              <a:t>$0.015/K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2935224"/>
            <a:ext cx="2148840" cy="841248"/>
          </a:xfrm>
          <a:prstGeom prst="rect">
            <a:avLst/>
          </a:prstGeom>
          <a:solidFill>
            <a:srgbClr val="3A7E6E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93522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Agent steps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33741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4F0"/>
                </a:solidFill>
              </a:rPr>
              <a:t>× loop depth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4014216"/>
            <a:ext cx="2148840" cy="841248"/>
          </a:xfrm>
          <a:prstGeom prst="rect">
            <a:avLst/>
          </a:prstGeom>
          <a:solidFill>
            <a:srgbClr val="8096B0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401421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Retrieval ops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44531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E4F0"/>
                </a:solidFill>
              </a:rPr>
              <a:t>× chunk count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Understand AI Cost Structure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Explain why AI costs are non-linear — token pricing, context window quadratics, output premiums, and how agent loops multiply costs.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Define FinOps Metrics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Implement cost-per-token, cost-per-inference, cost-per-unit-of-work, and token efficiency ratio as operational KPIs.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Optimisation Levers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Use model routing, prompt compression, semantic caching, compaction, and context hygiene to reduce costs without sacrificing quality.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Build Cost Governance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Design budget limits, token quotas, alerting thresholds, and FinOps dashboards that give engineering and finance a shared view.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WHY AI COSTS ARE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Cloud bills CPU hours. AI bills semantic units — and they compound in ways that aren’t obvious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43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Output tokens cost 3–8× more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16093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Nearly all major providers price output tokens significantly higher than input tokens. Agents that generate verbose intermediate reasoning (chain-of-thought) pay this premium on every step.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468880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" y="2542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Context window scales quadratically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" y="29077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 128K-token context costs 64× more to process than an 8K context due to attention matrix scaling. Unbounded context growth is a FinOps disaster.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67328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" y="3840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Agent loops multiply everything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 ReAct loop running 10 cycles can consume 50× the tokens of a single linear pass. Each iteration sends the full conversation history as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7043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1243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Retrieval adds a third cost dimension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5464" y="16093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RAG pipelines incur embedding costs, retrieval costs, and re-ranking costs before the LLM even sees a token. Tune chunk size and retrieval depth carefully.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68880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542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Quality and safety cost money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55464" y="29077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Guardrails, Judge LLMs, verifiers, and evaluation runs all add cost. Budget for reliability infrastructure, not just generation.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67328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3840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Costs are non-linear with 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55464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 feature that costs $0.001/request seems cheap until it runs 1M times/day. Plan for 10× scale from day one and model cost growth curves.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KEY FINOPS METRICS FOR 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Connect every metric to business value. If you can’t answer “is this justified?”, you don’t have enough visibility.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84248" cy="38404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1704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3557"/>
                </a:solidFill>
              </a:rPr>
              <a:t>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95728" y="1170432"/>
            <a:ext cx="2084832" cy="384048"/>
          </a:xfrm>
          <a:prstGeom prst="rect">
            <a:avLst/>
          </a:prstGeom>
          <a:solidFill>
            <a:srgbClr val="D6E8FB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17043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Tier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4251960" cy="384048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170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How to measure  ·  Why it matters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1984248" cy="53035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395728" y="1609344"/>
            <a:ext cx="208483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609344"/>
            <a:ext cx="4251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609344"/>
            <a:ext cx="54864" cy="53035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" y="160934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Cost per token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1737360"/>
            <a:ext cx="1938528" cy="274320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737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96B0"/>
                </a:solidFill>
              </a:rPr>
              <a:t>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609344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Provider API billing  ·  Baseline unit. Varies by model, input vs output, and cached vs fresh.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180844"/>
            <a:ext cx="1984248" cy="53035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2395728" y="2180844"/>
            <a:ext cx="2084832" cy="53035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2180844"/>
            <a:ext cx="4251960" cy="53035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180844"/>
            <a:ext cx="54864" cy="53035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" y="218084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Cost per request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2308860"/>
            <a:ext cx="1938528" cy="274320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23088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A8"/>
                </a:solidFill>
              </a:rPr>
              <a:t>Operational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180844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(Input + Output tokens) × rate  ·  Enables per-feature cost tracking and user-level attribution.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752344"/>
            <a:ext cx="1984248" cy="53035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395728" y="2752344"/>
            <a:ext cx="208483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2752344"/>
            <a:ext cx="4251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752344"/>
            <a:ext cx="54864" cy="5303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" y="275234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Cost per unit of work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68880" y="2880360"/>
            <a:ext cx="1938528" cy="274320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2880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C9"/>
                </a:solidFill>
              </a:rPr>
              <a:t>Business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2752344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Cost / (PRs, tickets, features)  ·  The only metric finance understands. Everything else is implementation.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323844"/>
            <a:ext cx="1984248" cy="53035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6" name="Shape 34"/>
          <p:cNvSpPr/>
          <p:nvPr/>
        </p:nvSpPr>
        <p:spPr>
          <a:xfrm>
            <a:off x="2395728" y="3323844"/>
            <a:ext cx="2084832" cy="53035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3323844"/>
            <a:ext cx="4251960" cy="53035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3323844"/>
            <a:ext cx="54864" cy="53035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9" name="Text 37"/>
          <p:cNvSpPr/>
          <p:nvPr/>
        </p:nvSpPr>
        <p:spPr>
          <a:xfrm>
            <a:off x="448056" y="332384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Token efficiency ratio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468880" y="3451860"/>
            <a:ext cx="1938528" cy="274320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34518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E6E"/>
                </a:solidFill>
              </a:rPr>
              <a:t>Quality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3323844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Output quality score / tokens spent  ·  Are you getting value per token? Detects wasteful verbose prompts.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3895344"/>
            <a:ext cx="1984248" cy="53035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95728" y="3895344"/>
            <a:ext cx="208483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0" y="3895344"/>
            <a:ext cx="4251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3895344"/>
            <a:ext cx="54864" cy="530352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" y="389534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Tokens per user session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468880" y="4023360"/>
            <a:ext cx="1938528" cy="274320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468880" y="4023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A8"/>
                </a:solidFill>
              </a:rPr>
              <a:t>Ops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3895344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Total tokens / active sessions  ·  Track flat or declining as usage grows. Rising = efficiency problem.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0040" y="4466844"/>
            <a:ext cx="1984248" cy="53035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52" name="Shape 50"/>
          <p:cNvSpPr/>
          <p:nvPr/>
        </p:nvSpPr>
        <p:spPr>
          <a:xfrm>
            <a:off x="2395728" y="4466844"/>
            <a:ext cx="2084832" cy="53035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0" y="4466844"/>
            <a:ext cx="4251960" cy="530352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54" name="Shape 52"/>
          <p:cNvSpPr/>
          <p:nvPr/>
        </p:nvSpPr>
        <p:spPr>
          <a:xfrm>
            <a:off x="320040" y="4466844"/>
            <a:ext cx="54864" cy="53035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5" name="Text 53"/>
          <p:cNvSpPr/>
          <p:nvPr/>
        </p:nvSpPr>
        <p:spPr>
          <a:xfrm>
            <a:off x="448056" y="4466844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Cost per agent loop iteration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468880" y="4594860"/>
            <a:ext cx="1938528" cy="274320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468880" y="45948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C9"/>
                </a:solidFill>
              </a:rPr>
              <a:t>Agent-specific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63440" y="4466844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Total cost / loop count  ·  Exposes runaway loops. Should decrease as agents get better at one-shot.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SIX OPTIMISATION LEVERS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Apply in order of effort vs impact. Start with levers 1–3 before building infrastructure for 4–6.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20624" cy="118872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1225296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Prompt Optimisation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43584"/>
            <a:ext cx="1170432" cy="219456"/>
          </a:xfrm>
          <a:prstGeom prst="rect">
            <a:avLst/>
          </a:prstGeom>
          <a:solidFill>
            <a:srgbClr val="1C3557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43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557"/>
                </a:solidFill>
              </a:rPr>
              <a:t>15–25% cost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2104" y="1554480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Add “be concise” to prompts. Remove examples that don’t contribute. Strip redundant instructions. Spot expensive prompts in telemetry and refine.“Be concise” alone saves 15–25% (FinOps Foundation).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68880"/>
            <a:ext cx="420624" cy="11887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46888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" y="252374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Model Routing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542032"/>
            <a:ext cx="1170432" cy="219456"/>
          </a:xfrm>
          <a:prstGeom prst="rect">
            <a:avLst/>
          </a:prstGeom>
          <a:solidFill>
            <a:srgbClr val="4A7FA8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A8"/>
                </a:solidFill>
              </a:rPr>
              <a:t>30–70% cost reduction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" y="2852928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Route simple queries to cheaper/faster models (Claude Haiku, GPT-4o mini). Reserve frontier models (Opus, GPT-4o) for complex reasoning. LiteLLM, Portkey, OpenRouter all support this out of the box.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67328"/>
            <a:ext cx="42062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767328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" y="38221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Context Compaction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3840480"/>
            <a:ext cx="1170432" cy="219456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8404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C9"/>
                </a:solidFill>
              </a:rPr>
              <a:t>40–60% cost reduction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" y="4151376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Prevent quadratic context growth. Clear tool results from history. Compact conversation at defined thresholds. A 10-cycle ReAct loop without compaction can cost 50× a compacted equivalent.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170432"/>
            <a:ext cx="420624" cy="118872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170432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75504" y="1225296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Semantic Caching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1243584"/>
            <a:ext cx="1170432" cy="219456"/>
          </a:xfrm>
          <a:prstGeom prst="rect">
            <a:avLst/>
          </a:prstGeom>
          <a:solidFill>
            <a:srgbClr val="3A7E6E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1243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E6E"/>
                </a:solidFill>
              </a:rPr>
              <a:t>20–50% cost reduction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75504" y="1554480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Cache LLM responses for semantically similar queries. Portkey/Helicone provide caching layers with configurable similarity thresholds. Most effective for repeated lookup patterns.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468880"/>
            <a:ext cx="420624" cy="118872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468880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75504" y="2523744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Prompt Compression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589520" y="2542032"/>
            <a:ext cx="1170432" cy="219456"/>
          </a:xfrm>
          <a:prstGeom prst="rect">
            <a:avLst/>
          </a:prstGeom>
          <a:solidFill>
            <a:srgbClr val="8096B0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589520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96B0"/>
                </a:solidFill>
              </a:rPr>
              <a:t>Up to 90% input cost reduction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75504" y="2852928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LLMLingua and similar tools compress prompts with a small, fast model before sending to the large model. 20× compression ratios on verbose prompts. Acceptable quality degradation for most tasks.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767328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767328"/>
            <a:ext cx="420624" cy="118872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767328"/>
            <a:ext cx="420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75504" y="38221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Provisioned Throughput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589520" y="3840480"/>
            <a:ext cx="1170432" cy="219456"/>
          </a:xfrm>
          <a:prstGeom prst="rect">
            <a:avLst/>
          </a:prstGeom>
          <a:solidFill>
            <a:srgbClr val="3A7DC9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589520" y="38404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C9"/>
                </a:solidFill>
              </a:rPr>
              <a:t>33% cost vs on-demand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75504" y="4151376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For predictable, high-volume workloads: purchase provisioned throughput (PTUs on Azure, reserved capacity on AWS Bedrock). Tradeoff: commit to volume, gain cost predictability and lower latency.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COST GOVERNANCE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Visibility → Allocation → Optimisation  —  the three FinOps pillars applied to agent workloads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974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530352"/>
          </a:xfrm>
          <a:prstGeom prst="rect">
            <a:avLst/>
          </a:prstGeom>
          <a:solidFill>
            <a:srgbClr val="1C35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93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1704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7739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Make cost of every model call visible to engineers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395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Per-feature, per-team, per-user cost breakdowns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Real-time spend dashboards (Grafana, Datadog)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Alert on anomalies within minutes, not months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2611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Connect token usage to business outcomes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170432"/>
            <a:ext cx="26974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170432"/>
            <a:ext cx="2697480" cy="530352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89304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30752" y="11704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ALLOCATION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37560" y="17739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Tag requests by team, feature, and customer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2395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Standardise API key naming conventions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37560" y="3017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Enforce one key per team/feature boundary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37560" y="363931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Chargeback to cost centres by consumption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37560" y="42611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Track cost-per-user for SaaS products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80760" y="1170432"/>
            <a:ext cx="269748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80760" y="1170432"/>
            <a:ext cx="2697480" cy="530352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9304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11112" y="11704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OPTIMISATION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217920" y="17739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Identify most expensive prompts in telemetry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17920" y="2395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Apply routing: cheap model first, escalate only if needed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17920" y="3017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Set hard token budget limits at gateway level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17920" y="363931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Auto-throttle/pause when budget is exhausted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17920" y="426110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• Run optimisation sprints quarterly against KPIs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FINOPS TOOLING FOR AI WORKLOADS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LLM observability stack has matured to include cost dimensions alongside traditional metrics  — Zylos Research,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Vantage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1207008" cy="256032"/>
          </a:xfrm>
          <a:prstGeom prst="rect">
            <a:avLst/>
          </a:prstGeom>
          <a:solidFill>
            <a:srgbClr val="3A7DC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2344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FinOps Platform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60934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Native Anthropic + cloud cost in one view. MCP server for agent-driven cost queries. Best for: teams scaling Claude/GPT usage who need cost next to infra spend.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4206240" cy="384048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Langfuse / Traceloop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532888"/>
            <a:ext cx="1207008" cy="256032"/>
          </a:xfrm>
          <a:prstGeom prst="rect">
            <a:avLst/>
          </a:prstGeom>
          <a:solidFill>
            <a:srgbClr val="4A7FA8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53288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LLM Tracing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9077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Open-source LLM tracing with cost attribution at trace and span level. Integrates with existing observability stacks. Best for: teams wanting open-source cost visibility.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67328"/>
            <a:ext cx="4206240" cy="384048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Portkey / Helicone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46120" y="3831336"/>
            <a:ext cx="1207008" cy="256032"/>
          </a:xfrm>
          <a:prstGeom prst="rect">
            <a:avLst/>
          </a:prstGeom>
          <a:solidFill>
            <a:srgbClr val="3A7E6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383133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LLM Gateway Proxy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206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LLM gateway proxies that inject per-request cost tracking, budget limits, and usage breakdowns without code changes. Also enables semantic caching and model routing.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170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Datadog LLM Obs.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35240" y="1234440"/>
            <a:ext cx="1207008" cy="256032"/>
          </a:xfrm>
          <a:prstGeom prst="rect">
            <a:avLst/>
          </a:prstGeom>
          <a:solidFill>
            <a:srgbClr val="8096B0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2344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Enterprise APM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160934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Enterprise-grade cost monitoring integrated with existing cloud cost management. Pulls from provider APIs. Best for: orgs already on Datadog with existing cloud cost dashboards.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468880"/>
            <a:ext cx="4206240" cy="384048"/>
          </a:xfrm>
          <a:prstGeom prst="rect">
            <a:avLst/>
          </a:prstGeom>
          <a:solidFill>
            <a:srgbClr val="5B8DB8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FinOps Foundation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35240" y="2532888"/>
            <a:ext cx="1207008" cy="256032"/>
          </a:xfrm>
          <a:prstGeom prst="rect">
            <a:avLst/>
          </a:prstGeom>
          <a:solidFill>
            <a:srgbClr val="5B8DB8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253288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Framework + Community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29077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Working groups on FinOps for AI, benchmark data, cost optimisation guides, and FOCUS standard for multi-cloud billing normalisation. Free resources at finops.org.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767328"/>
            <a:ext cx="4206240" cy="384048"/>
          </a:xfrm>
          <a:prstGeom prst="rect">
            <a:avLst/>
          </a:prstGeom>
          <a:solidFill>
            <a:srgbClr val="2E5073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Natively (Grafana)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35240" y="3831336"/>
            <a:ext cx="1207008" cy="256032"/>
          </a:xfrm>
          <a:prstGeom prst="rect">
            <a:avLst/>
          </a:prstGeom>
          <a:solidFill>
            <a:srgbClr val="2E5073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635240" y="383133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DIY Dashboard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00600" y="42062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Export token usage from provider APIs, build Grafana panels: cost by team, tokens per request by model, budget burn rate. Full control, more engineering investment.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ROI EQUATION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90A8"/>
                </a:solidFill>
              </a:rPr>
              <a:t>FinOps is not just cost cutting — it’s maximising value per dollar spent on 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822960"/>
          </a:xfrm>
          <a:prstGeom prst="rect">
            <a:avLst/>
          </a:prstGeom>
          <a:solidFill>
            <a:srgbClr val="D4E4F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557"/>
                </a:solidFill>
              </a:rPr>
              <a:t>ROI  =  (Value Generated − Total AI Cost)  ÷  Total AI Cost  ×  100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Companies deploying agentic AI report average ROI of 171% (U.S. enterprises: ~192%) — 3× traditional automation ROI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4160520" cy="2496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423160"/>
            <a:ext cx="4160520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4231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↑  VALUE DRIVERS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Developer velocity (features / sprint)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2644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Reduced QA and rework cycles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Lower cost of routine operations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0325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Faster time-to-market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24/7 operation without human overtime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160520" cy="2496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423160"/>
            <a:ext cx="4160520" cy="384048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4231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↓  COST DRIVERS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8803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✕  Token consumption (input + output)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2644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✕  Infrastructure (compute, networking)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36484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✕  Reliability layer (verifiers, judges)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40325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✕  Human oversight time (HITL gates)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44165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✕  Observability and monitoring stack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Avoid vanity metrics: 1M requests at $0.001 = $1,000. Is it generating at least $1,000 of value? Always connect usage metrics to cost, and cost to business value.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FINOPS ANTI-PATTERNS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These patterns are burning enterprise AI budgets right now. Know them before they hit your P&amp;L.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No cost visibility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Costs discovered at month-end. No ability to detect anomalies or attribute spend to teams.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Deploy an LLM gateway proxy day one. Cost tracking is not optional infrastructure.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468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One model for everything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Using GPT-4o or Claude Opus for every task, including simple lookups that Haiku handles fine.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Implement model routing. Classify request complexity, route to cheapest model that handles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67328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673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Unbounded context windows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Agents accumulating history across 100+ tool calls, paying quadratic compute costs.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517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Set compaction thresholds. Implement tool result clearing. Define max context per agent type.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Verbose prompts at scale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66360" y="15544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Unnecessary examples, redundant instructions, and boilerplate burning 20–30% of budget.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“Be concise” saves 15–25%. Audit top 10 most expensive prompts quarterly and refine.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68880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68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No budget guardrails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66360" y="28529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Single runaway agent loop exhausts monthly AI budget overnight. Discovered in morning standup.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Hard token budget limits at gateway level. Auto-throttle at 80% of budget. Alert at 50%.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67328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673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557"/>
                </a:solidFill>
              </a:rPr>
              <a:t>Vanity metrics only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166360" y="41513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Tracking request count and uptime but not cost-per-unit-of-work. Cannot justify AI investment to CFO.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45171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Define and track 3 business-level metrics: cost per feature, cost per support deflection, etc.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FINOPS GOVERNANCE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What engineering, finance, and product need to see together in one view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34747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Spend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Total AI spend this month: $12,450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Budget remaining: $7,550 (38%)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Projected month-end: $18,200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MoM change: +23%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4206240" cy="347472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by Team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Platform: $4,200 (34%)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Product: $3,800 (31%)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264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Data: $2,900 (23%)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Infra: $1,550 (12%)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67328"/>
            <a:ext cx="4206240" cy="347472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7673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Distribution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1788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Claude Sonnet: $6,800 (55%)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370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Claude Haiku: $2,100 (17%)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562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Claude Opus: $3,550 (28%)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7548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Routing efficiency: 72%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170432"/>
            <a:ext cx="4206240" cy="347472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15819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Cost per PR: $0.42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17739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Cost per support deflection: $0.18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19659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Cost per feature shipped: $156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1579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Token efficiency: 84% (target: 90%)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468880"/>
            <a:ext cx="4206240" cy="34747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Alerts &amp; Anomalies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8803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1 alert: Data team 140% of daily budget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30723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3 runaway loops detected (auto-stopped)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3264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New model API key detected (untagged)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34564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Cost spike +340% at 02:14 UTC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3767328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767328"/>
            <a:ext cx="4206240" cy="347472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7673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Optimisation Wins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41788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Routing saved $1,240 this month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4370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Compaction saved $880 this month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00600" y="4562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“Be concise” prompts saved $320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00600" y="47548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Caching hit rate: 31% (↑ from 18%)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Build a Cost Model for Your Agent Workflow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Estimate current spend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90088" y="1444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373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For your Module 2 agent workflow: estimate tokens per operation (input + output). Multiply by provider rate. Calculate cost per day at 100, 1,000, and 10,000 runs. What’s the surprise?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214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1762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Identify the biggest cost driver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0088" y="21762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468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Is it context window size? Output verbosity? Loop depth? Number of tool calls? Pinpoint the single biggest contributor to your estimated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5292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5292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6968" y="2907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Apply three optimisation levers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0088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(10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2004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From the six levers: pick the three most applicable to your workflow. Estimate the savings from each. Which combination gets you to a sustainable unit cost?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8444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84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6968" y="3639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Define your FinOps metrics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90088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9319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Define cost-per-unit-of-work for your workflow. What does “one unit of work” mean? What’s your target cost per unit? What’s the maximum acceptable cost?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31596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3159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Design a budget guardrail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990088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6634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Define three threshold levels: Yellow (50% budget: alert), Orange (80%: throttle), Red (100%: stop). Who gets notified at each? What’s the auto-response?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Do you currently have cost-per-unit-of-work visibility for your AI features? If not, what’s the nearest proxy?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Which of the six optimisation levers could you deploy in the next sprint with no new infrastructure?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If your AI spend doubled tomorrow, would you know within the hour? What’s your alert setup today?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How do you currently justify AI investment to your CFO or leadership? What would cost-per-feature data change?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Output tokens cost 3–8× more than input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10-cycle loops = 50× cost without compaction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“Be concise” alone saves 15–25%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Route: cheap model first, escalate if needed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Visibility → Allocation → Optimisation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Define cost-per-unit-of-work before deploying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Average agent ROI: 171% — but only if governed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10: Design Reviews  —  Agent-first design, AX, ADRs, and the pre-deployment design review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FinOps for Agentic Systems</dc:title>
  <dc:subject>PptxGenJS Presentation</dc:subject>
  <dc:creator>PptxGenJS</dc:creator>
  <cp:lastModifiedBy>PptxGenJS</cp:lastModifiedBy>
  <cp:revision>1</cp:revision>
  <dcterms:created xsi:type="dcterms:W3CDTF">2026-04-05T19:46:33Z</dcterms:created>
  <dcterms:modified xsi:type="dcterms:W3CDTF">2026-04-05T19:46:33Z</dcterms:modified>
</cp:coreProperties>
</file>