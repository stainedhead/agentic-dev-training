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Reliability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Security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Engineering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8DB8"/>
                </a:solidFill>
              </a:rPr>
              <a:t>Building agents that are safe, sandboxed, and production-grade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858768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40050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75–90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Advanced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29400" y="594360"/>
            <a:ext cx="2194560" cy="658368"/>
          </a:xfrm>
          <a:prstGeom prst="rect">
            <a:avLst/>
          </a:prstGeom>
          <a:solidFill>
            <a:srgbClr val="3A7DC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5943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Identity &amp; IAM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1490472"/>
            <a:ext cx="2194560" cy="658368"/>
          </a:xfrm>
          <a:prstGeom prst="rect">
            <a:avLst/>
          </a:prstGeom>
          <a:solidFill>
            <a:srgbClr val="4A7FA8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4904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Sandboxing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2386584"/>
            <a:ext cx="2194560" cy="658368"/>
          </a:xfrm>
          <a:prstGeom prst="rect">
            <a:avLst/>
          </a:prstGeom>
          <a:solidFill>
            <a:srgbClr val="3A7E6E">
              <a:alpha val="84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238658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Least Privilege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3282696"/>
            <a:ext cx="2194560" cy="658368"/>
          </a:xfrm>
          <a:prstGeom prst="rect">
            <a:avLst/>
          </a:prstGeom>
          <a:solidFill>
            <a:srgbClr val="8096B0">
              <a:alpha val="76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32826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Kill Switches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29400" y="4178808"/>
            <a:ext cx="2194560" cy="658368"/>
          </a:xfrm>
          <a:prstGeom prst="rect">
            <a:avLst/>
          </a:prstGeom>
          <a:solidFill>
            <a:srgbClr val="2E5073">
              <a:alpha val="6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41788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Audit Logs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By the end of this module you will be able to: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Manage Agent Identities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Apply first-class identity governance to agents — service accounts, workload identities, just-in-time provisioning, and zero standing privileges.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70432"/>
            <a:ext cx="64008" cy="166420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Design Sandboxed Agents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Structure agents to run in containers with minimal permissions, few binaries, and intentionally reduced flexibility for predictability and security.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99232"/>
            <a:ext cx="64008" cy="166420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Apply OWASP GenAI Top 10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Identify and mitigate the top threat classes: prompt injection, tool misuse, memory leakage, privilege escalation, and agent impersonation.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999232"/>
            <a:ext cx="64008" cy="1664208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Build Kill Switches &amp; Audit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Design circuit breakers, emergency stop mechanisms, and full audit trails so every agent action is traceable and reversible where possible.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AGENTS AS DIGITAL WORKERS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Non-human identities outnumber humans ~50:1 in the average enterprise today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206240" cy="17190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54864" cy="17190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" y="1280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DC9"/>
                </a:solidFill>
              </a:rPr>
              <a:t>They need identity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" y="1700784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4F0"/>
                </a:solidFill>
              </a:rPr>
              <a:t>Unique service accounts, Kubernetes pod identities, or workload identities — not generic shared credentials. Each agent = one identity.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206240" cy="17190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54864" cy="17190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0" name="Text 8"/>
          <p:cNvSpPr/>
          <p:nvPr/>
        </p:nvSpPr>
        <p:spPr>
          <a:xfrm>
            <a:off x="4855464" y="1280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DC9"/>
                </a:solidFill>
              </a:rPr>
              <a:t>They need privileges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55464" y="1700784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4F0"/>
                </a:solidFill>
              </a:rPr>
              <a:t>Strict, scoped permissions per tool. Default-deny, explicit-allow. Every tool is a potential escalation path.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108960"/>
            <a:ext cx="4206240" cy="17190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108960"/>
            <a:ext cx="54864" cy="17190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DC9"/>
                </a:solidFill>
              </a:rPr>
              <a:t>They need oversight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" y="3621024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4F0"/>
                </a:solidFill>
              </a:rPr>
              <a:t>80% of IT leaders report agents acting outside expected behaviour (Strata, 2025). Legacy IAM was not designed for this scale.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4206240" cy="17190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108960"/>
            <a:ext cx="54864" cy="17190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8" name="Text 16"/>
          <p:cNvSpPr/>
          <p:nvPr/>
        </p:nvSpPr>
        <p:spPr>
          <a:xfrm>
            <a:off x="4855464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DC9"/>
                </a:solidFill>
              </a:rPr>
              <a:t>They need traceability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55464" y="3621024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4F0"/>
                </a:solidFill>
              </a:rPr>
              <a:t>Every agent action must map to an identity, an intent, and a timestamp. Without audit trails, compliance fails and incidents can't be investigated.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Traditional IAM assumed long-lived human identities. Agents are ephemeral, delegated, and cross-boundary — a fundamentally different trust model.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ZERO TRUST FOR 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90A8"/>
                </a:solidFill>
              </a:rPr>
              <a:t>Never trust, always verify — even when the request comes from your own agent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02336" cy="1188720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1225296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Least Privilege by Default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3816" y="1554480"/>
            <a:ext cx="3575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Every tool is a potential escalation path. Default-deny; add explicit allow rules per agent persona. If you wouldn't give a junior contractor root access, don't give it to an agent.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68880"/>
            <a:ext cx="402336" cy="1188720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468880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" y="252374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Just-in-Time Provisioning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3816" y="2852928"/>
            <a:ext cx="3575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Grant access only when the task requires it. Revoke immediately after. No standing admin rights. Agents that complete and terminate should leave no residual permissions.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767328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767328"/>
            <a:ext cx="402336" cy="1188720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767328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" y="382219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Short-Lived Secrets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3816" y="4151376"/>
            <a:ext cx="3575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Rotate credentials often. Store in Vault or cloud KMS. Never bake credentials into prompts, memory, or context files. Secrets in context = secrets in logs.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170432"/>
            <a:ext cx="402336" cy="1188720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170432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57216" y="1225296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Signed Tools &amp; Plugins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57216" y="1554480"/>
            <a:ext cx="3575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Require signature verification (Sigstore/Cosign) before an agent can load or invoke a tool. Prevents untrusted modules from entering your toolchain via MCP or plugin injection.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468880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468880"/>
            <a:ext cx="402336" cy="1188720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2468880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57216" y="252374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Zero Trust OAuth Scopes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157216" y="2852928"/>
            <a:ext cx="3575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Enforce OAuth scopes at the MCP/tool boundary. Each tool call should be authorised by scope, not by the agent's general session token.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767328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67328"/>
            <a:ext cx="402336" cy="1188720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767328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82219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Network Egress Allowlists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157216" y="4151376"/>
            <a:ext cx="3575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Agents should only be able to reach pre-approved endpoints. Spotify's Honk runs with virtually no access to surrounding systems — by design.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SANDBOXING  —  SPOTIFY’S DESIGN PHILOSOPHY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0A8"/>
                </a:solidFill>
              </a:rPr>
              <a:t>“Intentional flexibility reduction = more predictable behaviour + secondary security benefits”  — Spotify Engineering (Honk Part 3)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6177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694944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4358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Container with minimal permissions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Agent runs as a non-root user in a gVisor/GKE Sandbox or Firecracker microVM. No host filesystem access.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46177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65960"/>
            <a:ext cx="54864" cy="694944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02082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Few binaries available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313432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Only the tools the agent needs to do its job. Every additional binary is an attack surface and an unpredictability vector.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46177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43200"/>
            <a:ext cx="54864" cy="694944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79806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No access to surrounding systems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090672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Agents cannot call internal APIs, databases, or services not in the explicit allowlist. Network egress via allowlist only.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46177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20440"/>
            <a:ext cx="54864" cy="694944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57530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Bounded execution time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867912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Every agent run has a timeout. Unbounded execution enables resource exhaustion and runaway agentic loops.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297680"/>
            <a:ext cx="46177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297680"/>
            <a:ext cx="54864" cy="694944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435254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Immutable infrastructure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4645152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Agents run from verified, signed images. No in-place mutations. Each run is a fresh container from a known-good state.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66360" y="1170432"/>
            <a:ext cx="36576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66360" y="1170432"/>
            <a:ext cx="3657600" cy="38404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1170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LAYERED EXECUTION PLANE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76088" y="1664208"/>
            <a:ext cx="3438144" cy="685800"/>
          </a:xfrm>
          <a:prstGeom prst="rect">
            <a:avLst/>
          </a:prstGeom>
          <a:solidFill>
            <a:srgbClr val="8096B0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1709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Assurance Plane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19842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E4F0"/>
                </a:solidFill>
              </a:rPr>
              <a:t>Sigstore/Cosign, SLSA, SBOMs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76088" y="2441448"/>
            <a:ext cx="3438144" cy="685800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2487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Observability Plane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7614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E4F0"/>
                </a:solidFill>
              </a:rPr>
              <a:t>OTel spans, SIEM, SOAR playbooks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76088" y="3218688"/>
            <a:ext cx="3438144" cy="685800"/>
          </a:xfrm>
          <a:prstGeom prst="rect">
            <a:avLst/>
          </a:prstGeom>
          <a:solidFill>
            <a:srgbClr val="4A7FA8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349240" y="3264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Data/Memory Plane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35387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E4F0"/>
                </a:solidFill>
              </a:rPr>
              <a:t>Vector stores on private subnets, PII redaction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76088" y="3995928"/>
            <a:ext cx="3438144" cy="685800"/>
          </a:xfrm>
          <a:prstGeom prst="rect">
            <a:avLst/>
          </a:prstGeom>
          <a:solidFill>
            <a:srgbClr val="3A7E6E">
              <a:alpha val="8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349240" y="4041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Execution Plane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43159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E4F0"/>
                </a:solidFill>
              </a:rPr>
              <a:t>gVisor/Firecracker, WASI, egress allowlists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OWASP GENAI TOP 10 v2025  —  AGENT THREAT CLASSES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The exact failure modes your enterprise agents will face in production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70432"/>
            <a:ext cx="658368" cy="868680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56616" y="1170432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B8"/>
                </a:solidFill>
              </a:rPr>
              <a:t>LLM01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0" y="1243584"/>
            <a:ext cx="804672" cy="237744"/>
          </a:xfrm>
          <a:prstGeom prst="rect">
            <a:avLst/>
          </a:prstGeom>
          <a:solidFill>
            <a:srgbClr val="E05555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243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2252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Prompt Injection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Input validation, output filtering, sandboxed execution. Never trust external content as instructions.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3055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130552"/>
            <a:ext cx="658368" cy="868680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" y="2130552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B8"/>
                </a:solidFill>
              </a:rPr>
              <a:t>LLM02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2203704"/>
            <a:ext cx="804672" cy="237744"/>
          </a:xfrm>
          <a:prstGeom prst="rect">
            <a:avLst/>
          </a:prstGeom>
          <a:solidFill>
            <a:srgbClr val="E08855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2037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1560" y="21854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Insecure Output Handling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514600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Treat all LLM output as untrusted. Sanitise before passing to shell, DB, or browser.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9067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090672"/>
            <a:ext cx="658368" cy="868680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" y="3090672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B8"/>
                </a:solidFill>
              </a:rPr>
              <a:t>LLM03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0" y="3163824"/>
            <a:ext cx="804672" cy="237744"/>
          </a:xfrm>
          <a:prstGeom prst="rect">
            <a:avLst/>
          </a:prstGeom>
          <a:solidFill>
            <a:srgbClr val="E08855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1638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" y="3145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 Data Poisoning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474720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For fine-tuned models: validate training data provenance. For RAG: validate retrieval sources.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05079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050792"/>
            <a:ext cx="658368" cy="868680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" y="4050792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B8"/>
                </a:solidFill>
              </a:rPr>
              <a:t>LLM06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0" y="4123944"/>
            <a:ext cx="804672" cy="237744"/>
          </a:xfrm>
          <a:prstGeom prst="rect">
            <a:avLst/>
          </a:prstGeom>
          <a:solidFill>
            <a:srgbClr val="E05555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412394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1560" y="41056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Excessive Agency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4434840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Least privilege. Require explicit HITL approval for irreversible actions. Kill switches required.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117043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1170432"/>
            <a:ext cx="658368" cy="868680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45736" y="1170432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B8"/>
                </a:solidFill>
              </a:rPr>
              <a:t>LLM07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46720" y="1243584"/>
            <a:ext cx="804672" cy="237744"/>
          </a:xfrm>
          <a:prstGeom prst="rect">
            <a:avLst/>
          </a:prstGeom>
          <a:solidFill>
            <a:srgbClr val="8096B0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0" y="1243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40680" y="12252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 Prompt Leakage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1554480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Never put secrets in system prompts. Assume all prompt content can be extracted by adversarial users.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13055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09160" y="2130552"/>
            <a:ext cx="658368" cy="868680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745736" y="2130552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B8"/>
                </a:solidFill>
              </a:rPr>
              <a:t>LLM08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46720" y="2203704"/>
            <a:ext cx="804672" cy="237744"/>
          </a:xfrm>
          <a:prstGeom prst="rect">
            <a:avLst/>
          </a:prstGeom>
          <a:solidFill>
            <a:srgbClr val="8096B0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0" y="22037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40680" y="21854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Vector / Embedding Attacks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40680" y="2514600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Validate and sanitise content before embedding. Monitor for retrieval anomalies in RAG pipelines.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309067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3090672"/>
            <a:ext cx="658368" cy="868680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745736" y="3090672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B8"/>
                </a:solidFill>
              </a:rPr>
              <a:t>LLM09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046720" y="3163824"/>
            <a:ext cx="804672" cy="237744"/>
          </a:xfrm>
          <a:prstGeom prst="rect">
            <a:avLst/>
          </a:prstGeom>
          <a:solidFill>
            <a:srgbClr val="E08855">
              <a:alpha val="8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046720" y="31638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40680" y="3145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Misinformation at Scale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40680" y="3474720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Ground agents in validated sources. Implement citation requirements. Human review for high-stakes outputs.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09160" y="405079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709160" y="4050792"/>
            <a:ext cx="658368" cy="868680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4745736" y="4050792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B8"/>
                </a:solidFill>
              </a:rPr>
              <a:t>LLM10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046720" y="4123944"/>
            <a:ext cx="804672" cy="237744"/>
          </a:xfrm>
          <a:prstGeom prst="rect">
            <a:avLst/>
          </a:prstGeom>
          <a:solidFill>
            <a:srgbClr val="E08855">
              <a:alpha val="8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046720" y="412394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440680" y="41056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Unbounded Consumption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440680" y="4434840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Hard token budgets, cost guardrails, rate limits at gateway level. Monitor cost per agent run.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KILL SWITCHES &amp; AUDIT TRAILS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90A8"/>
                </a:solidFill>
              </a:rPr>
              <a:t>Every production agent deployment needs a reliable mechanism to pause or stop it immediately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60520" cy="38404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KILL SWITCH PATTERNS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664208"/>
            <a:ext cx="3931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" y="1664208"/>
            <a:ext cx="73152" cy="731520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Hard stop (immediate)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Terminate agent container. Revoke all credentials. Quarantine the agent namespace. Use when: unexpected behaviour detected or security incident.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468880"/>
            <a:ext cx="3931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" y="2468880"/>
            <a:ext cx="73152" cy="731520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23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Graceful pause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8163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Agent completes current tool call, saves state to NOTES.md, awaits human instruction. Use when: review needed before proceeding.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3273552"/>
            <a:ext cx="3931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" y="3273552"/>
            <a:ext cx="73152" cy="731520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HITL escalation gate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621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Agent reaches a pre-defined checkpoint and cannot proceed without explicit human approval. Use when: irreversible action required.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" y="4078224"/>
            <a:ext cx="3931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" y="4078224"/>
            <a:ext cx="73152" cy="731520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Budget exhaustion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4256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Agent automatically stops when token/cost budget is exceeded. Prevents runaway loops from burning compute. Use as a secondary safety net.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170432"/>
            <a:ext cx="416052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170432"/>
            <a:ext cx="4160520" cy="38404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1704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AUDIT TRAIL REQUIREMENTS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73168" y="1664208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66420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User prompts and model responses — full fidelity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73168" y="2039112"/>
            <a:ext cx="3931920" cy="329184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039112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Retrieval provenance (what was fetched and from where)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73168" y="2414016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414016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Every tool invocation: name, arguments, output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73168" y="2788920"/>
            <a:ext cx="3931920" cy="329184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788920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Permissions in effect at time of each action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73168" y="3163824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163824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Agent identity and session token for each call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73168" y="3538728"/>
            <a:ext cx="3931920" cy="329184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53872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Diff / output before human approval gate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73168" y="3913632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913632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Compaction events (what was summarised and discarded)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73168" y="4288536"/>
            <a:ext cx="3931920" cy="329184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288536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✓  Cost and token usage per run and per tool call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ENTERPRISE SECURITY FRAMEWORKS FOR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Align to existing frameworks — don't reinvent. Agents extend existing risk surfaces, not create new categories.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011680" cy="374904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2011680" cy="65836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NIST AI RMF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83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A7DC9"/>
                </a:solidFill>
              </a:rPr>
              <a:t>AI Risk Management Framework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Role-based access controls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Continuous monitoring &amp; adversarial testing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2552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Lifecycle logging for traceability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Govern, Map, Measure, Manage lifecycle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45994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0A8"/>
                </a:solidFill>
              </a:rPr>
              <a:t>nist.gov/artificial-intelligence/ai-rmf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96312" y="1170432"/>
            <a:ext cx="2011680" cy="374904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170432"/>
            <a:ext cx="2011680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5" name="Text 13"/>
          <p:cNvSpPr/>
          <p:nvPr/>
        </p:nvSpPr>
        <p:spPr>
          <a:xfrm>
            <a:off x="2496312" y="11704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OWASP GenAI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Top 10 v2025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1883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4A7FA8"/>
                </a:solidFill>
              </a:rPr>
              <a:t>Application-level threat catalogue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87752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15 agent-specific threat categories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87752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Prompt injection, tool misuse, memory leakage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87752" y="32552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Mitigation checklists per threat class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87752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Quarterly incident round-ups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9464" y="45994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0A8"/>
                </a:solidFill>
              </a:rPr>
              <a:t>owasp.org/www-project-top-10-for-llm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72584" y="1170432"/>
            <a:ext cx="2011680" cy="374904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72584" y="1170432"/>
            <a:ext cx="2011680" cy="65836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4" name="Text 22"/>
          <p:cNvSpPr/>
          <p:nvPr/>
        </p:nvSpPr>
        <p:spPr>
          <a:xfrm>
            <a:off x="4672584" y="11704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ISO/IEC 42001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64024" y="1883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A7E6E"/>
                </a:solidFill>
              </a:rPr>
              <a:t>AI Management System Standard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64024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Oversight, logging, continual improvement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64024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AI governance documentation requirements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64024" y="32552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Audit and accountability mechanisms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64024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Compatible with ISO 27001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45736" y="45994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0A8"/>
                </a:solidFill>
              </a:rPr>
              <a:t>iso.org/standard/81230.html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48856" y="1170432"/>
            <a:ext cx="2011680" cy="374904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48856" y="1170432"/>
            <a:ext cx="2011680" cy="65836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33" name="Text 31"/>
          <p:cNvSpPr/>
          <p:nvPr/>
        </p:nvSpPr>
        <p:spPr>
          <a:xfrm>
            <a:off x="6848856" y="11704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CSA / Cloud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Alliance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0296" y="1883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096B0"/>
                </a:solidFill>
              </a:rPr>
              <a:t>Cloud-specific AI security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0296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Trait-based risk model for agents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0296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Agent identity in multi-cloud environments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0296" y="32552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Data residency and sovereignty controls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0296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• Shared responsibility model for LLM APIs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22008" y="45994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0A8"/>
                </a:solidFill>
              </a:rPr>
              <a:t>cloudsecurityalliance.org/ai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PRE-DEPLOYMENT SECURITY CHECKLIST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Run this before every agent goes to production. Every unchecked item is a known risk you’re accepting.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206240" cy="38404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Identity &amp; Access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" y="1645920"/>
            <a:ext cx="256032" cy="237744"/>
          </a:xfrm>
          <a:prstGeom prst="rect">
            <a:avLst/>
          </a:prstGeom>
          <a:solidFill>
            <a:srgbClr val="3A7DC9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6459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DC9"/>
                </a:solidFill>
              </a:rPr>
              <a:t>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Agent has unique identity (not shared creds)?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1956816"/>
            <a:ext cx="256032" cy="237744"/>
          </a:xfrm>
          <a:prstGeom prst="rect">
            <a:avLst/>
          </a:prstGeom>
          <a:solidFill>
            <a:srgbClr val="3A7DC9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19568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DC9"/>
                </a:solidFill>
              </a:rPr>
              <a:t>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Least-privilege tool permissions applied?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2267712"/>
            <a:ext cx="256032" cy="237744"/>
          </a:xfrm>
          <a:prstGeom prst="rect">
            <a:avLst/>
          </a:prstGeom>
          <a:solidFill>
            <a:srgbClr val="3A7DC9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22677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DC9"/>
                </a:solidFill>
              </a:rPr>
              <a:t>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JIT provisioning (no standing admin rights)?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2578608"/>
            <a:ext cx="256032" cy="237744"/>
          </a:xfrm>
          <a:prstGeom prst="rect">
            <a:avLst/>
          </a:prstGeom>
          <a:solidFill>
            <a:srgbClr val="3A7DC9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257860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DC9"/>
                </a:solidFill>
              </a:rPr>
              <a:t>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" y="2578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Secrets in Vault/KMS (not in prompts/memory)?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170432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170432"/>
            <a:ext cx="4206240" cy="38404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1704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Sandboxing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18888" y="1645920"/>
            <a:ext cx="256032" cy="237744"/>
          </a:xfrm>
          <a:prstGeom prst="rect">
            <a:avLst/>
          </a:prstGeom>
          <a:solidFill>
            <a:srgbClr val="4A7FA8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16459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FA8"/>
                </a:solidFill>
              </a:rPr>
              <a:t>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48072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Agent runs in isolated container?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18888" y="1956816"/>
            <a:ext cx="256032" cy="237744"/>
          </a:xfrm>
          <a:prstGeom prst="rect">
            <a:avLst/>
          </a:prstGeom>
          <a:solidFill>
            <a:srgbClr val="4A7FA8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19568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FA8"/>
                </a:solidFill>
              </a:rPr>
              <a:t>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48072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Network egress allowlist configured?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18888" y="2267712"/>
            <a:ext cx="256032" cy="237744"/>
          </a:xfrm>
          <a:prstGeom prst="rect">
            <a:avLst/>
          </a:prstGeom>
          <a:solidFill>
            <a:srgbClr val="4A7FA8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22677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FA8"/>
                </a:solidFill>
              </a:rPr>
              <a:t>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48072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Execution timeout defined and enforced?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18888" y="2578608"/>
            <a:ext cx="256032" cy="237744"/>
          </a:xfrm>
          <a:prstGeom prst="rect">
            <a:avLst/>
          </a:prstGeom>
          <a:solidFill>
            <a:srgbClr val="4A7FA8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18888" y="257860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FA8"/>
                </a:solidFill>
              </a:rPr>
              <a:t>□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8072" y="2578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Binary allowlist minimised?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044952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044952"/>
            <a:ext cx="4206240" cy="38404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0449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Threat Mitigations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29768" y="3520440"/>
            <a:ext cx="256032" cy="237744"/>
          </a:xfrm>
          <a:prstGeom prst="rect">
            <a:avLst/>
          </a:prstGeom>
          <a:solidFill>
            <a:srgbClr val="3A7E6E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35204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E6E"/>
                </a:solidFill>
              </a:rPr>
              <a:t>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8952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Input validation for prompt injection?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" y="3831336"/>
            <a:ext cx="256032" cy="237744"/>
          </a:xfrm>
          <a:prstGeom prst="rect">
            <a:avLst/>
          </a:prstGeom>
          <a:solidFill>
            <a:srgbClr val="3A7E6E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29768" y="38313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E6E"/>
                </a:solidFill>
              </a:rPr>
              <a:t>□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58952" y="3831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Output sanitisation before shell/DB/browser?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9768" y="4142232"/>
            <a:ext cx="256032" cy="237744"/>
          </a:xfrm>
          <a:prstGeom prst="rect">
            <a:avLst/>
          </a:prstGeom>
          <a:solidFill>
            <a:srgbClr val="3A7E6E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29768" y="41422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E6E"/>
                </a:solidFill>
              </a:rPr>
              <a:t>□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8952" y="4142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HITL gate for irreversible actions?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9768" y="4453128"/>
            <a:ext cx="256032" cy="237744"/>
          </a:xfrm>
          <a:prstGeom prst="rect">
            <a:avLst/>
          </a:prstGeom>
          <a:solidFill>
            <a:srgbClr val="3A7E6E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29768" y="44531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E6E"/>
                </a:solidFill>
              </a:rPr>
              <a:t>□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58952" y="4453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Cost budget and token limits set?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09160" y="3044952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3044952"/>
            <a:ext cx="4206240" cy="38404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52" name="Text 50"/>
          <p:cNvSpPr/>
          <p:nvPr/>
        </p:nvSpPr>
        <p:spPr>
          <a:xfrm>
            <a:off x="4709160" y="30449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Audit &amp; Response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818888" y="3520440"/>
            <a:ext cx="256032" cy="237744"/>
          </a:xfrm>
          <a:prstGeom prst="rect">
            <a:avLst/>
          </a:prstGeom>
          <a:solidFill>
            <a:srgbClr val="8096B0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818888" y="35204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6B0"/>
                </a:solidFill>
              </a:rPr>
              <a:t>□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48072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Full audit trail enabled (prompts, tools, outputs)?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18888" y="3831336"/>
            <a:ext cx="256032" cy="237744"/>
          </a:xfrm>
          <a:prstGeom prst="rect">
            <a:avLst/>
          </a:prstGeom>
          <a:solidFill>
            <a:srgbClr val="8096B0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818888" y="38313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6B0"/>
                </a:solidFill>
              </a:rPr>
              <a:t>□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8072" y="3831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Kill switch mechanism tested?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18888" y="4142232"/>
            <a:ext cx="256032" cy="237744"/>
          </a:xfrm>
          <a:prstGeom prst="rect">
            <a:avLst/>
          </a:prstGeom>
          <a:solidFill>
            <a:srgbClr val="8096B0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818888" y="41422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6B0"/>
                </a:solidFill>
              </a:rPr>
              <a:t>□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148072" y="4142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SIEM/SOAR alerts configured?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818888" y="4453128"/>
            <a:ext cx="256032" cy="237744"/>
          </a:xfrm>
          <a:prstGeom prst="rect">
            <a:avLst/>
          </a:prstGeom>
          <a:solidFill>
            <a:srgbClr val="8096B0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4818888" y="44531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6B0"/>
                </a:solidFill>
              </a:rPr>
              <a:t>□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148072" y="4453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Incident response runbook written?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498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CASE STUDY  ·  SPOTIFY HONK  ·  SECURITY DESIGN DECISIONS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2011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4864" cy="2011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" y="960120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✓ Sandboxed container by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" y="1344168"/>
            <a:ext cx="3922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Agent runs with limited permissions, few binaries, and virtually no access to surrounding systems. Not as an afterthought — as the primary design constraint.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2185416"/>
            <a:ext cx="3959352" cy="594360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21992"/>
            <a:ext cx="3867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7DC9"/>
                </a:solidFill>
              </a:rPr>
              <a:t>Result: Predictable behaviour AND security. Intentional flexibility reduction serves both goals simultaneously.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4160520" cy="2011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68680"/>
            <a:ext cx="54864" cy="201168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4809744" y="960120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✓ Infrastructure outside the 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9744" y="1344168"/>
            <a:ext cx="3922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Slack interactions, git push, prompt authoring all happen OUTSIDE the agent boundary. The agent only touches code. The blast radius of any failure is contained.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73168" y="2185416"/>
            <a:ext cx="3959352" cy="594360"/>
          </a:xfrm>
          <a:prstGeom prst="rect">
            <a:avLst/>
          </a:prstGeom>
          <a:solidFill>
            <a:srgbClr val="4A7FA8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221992"/>
            <a:ext cx="3867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7FA8"/>
                </a:solidFill>
              </a:rPr>
              <a:t>Result: Even if the agent misbehaves, it cannot send unauthorised messages, push to wrong branches, or escalate beyond code changes.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4160520" cy="2011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44952"/>
            <a:ext cx="54864" cy="201168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" y="3136392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E6E"/>
                </a:solidFill>
              </a:rPr>
              <a:t>✓ Audit logs for compliance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" y="3520440"/>
            <a:ext cx="3922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Every agent action is logged. Spotify maintains full audit trails for their automated PR pipeline, enabling compliance reporting and incident investigation.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" y="4361688"/>
            <a:ext cx="3959352" cy="594360"/>
          </a:xfrm>
          <a:prstGeom prst="rect">
            <a:avLst/>
          </a:prstGeom>
          <a:solidFill>
            <a:srgbClr val="3A7E6E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398264"/>
            <a:ext cx="3867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7E6E"/>
                </a:solidFill>
              </a:rPr>
              <a:t>Result: 1,500+ automated PRs merged with full traceability. Compliance teams can answer any question about who authorised what, when.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044952"/>
            <a:ext cx="4160520" cy="2011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44952"/>
            <a:ext cx="54864" cy="201168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5" name="Text 23"/>
          <p:cNvSpPr/>
          <p:nvPr/>
        </p:nvSpPr>
        <p:spPr>
          <a:xfrm>
            <a:off x="4809744" y="3136392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96B0"/>
                </a:solidFill>
              </a:rPr>
              <a:t>✓ Human merge gate (non-negotiable)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9744" y="3520440"/>
            <a:ext cx="3922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Agents open PRs. Humans merge. No agent ever directly commits to main without human approval. The HITL gate is hardcoded into the pipeline, not configurable.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73168" y="4361688"/>
            <a:ext cx="3959352" cy="594360"/>
          </a:xfrm>
          <a:prstGeom prst="rect">
            <a:avLst/>
          </a:prstGeom>
          <a:solidFill>
            <a:srgbClr val="8096B0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4398264"/>
            <a:ext cx="3867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6B0"/>
                </a:solidFill>
              </a:rPr>
              <a:t>Result: ~50% of PRs automated, zero bypassing of human review. Speed AND governance coexist.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30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557"/>
                </a:solidFill>
              </a:rPr>
              <a:t>Security Design Review: Threat Model Your Module 2 Agent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8988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Identity mapping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98648" y="1444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73736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For the agent you designed in Module 2: list every identity it needs. What tools does it call? What systems does it access? Assign one identity per distinct permission boundary.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214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6968" y="2176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OWASP threat pass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98648" y="21762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4688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Run your agent through the OWASP GenAI Top 10. For LLM01 (Prompt Injection) and LLM06 (Excessive Agency): what’s your specific risk? What mitigation applies?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85292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5292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85292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86968" y="2907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Kill switch design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98648" y="29077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2004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Define the three conditions under which your agent must immediately stop. What triggers hard stop vs graceful pause vs HITL gate? Who has the authority to trigger each?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58444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8444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58444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86968" y="3639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Audit trail spec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98648" y="36393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9319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List the 5 most important things to log about your agent’s actions. For each: what format, what retention, who can access, and what alert fires if the log is missing?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31596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3159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86968" y="4370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Pre-deployment checklist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898648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66344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Work through the slide 9 checklist for your agent. Which boxes can you check today? Which require new infrastructure? Prioritise the top 3 gaps.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DISCUSSION + MODULE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solidFill>
            <a:srgbClr val="5B8DB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DISCUSSION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Q1.  Which OWASP GenAI threat is your organisation least prepared for today? What would remediation require?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Q2.  Non-human identities outnumber humans 50:1. Does your current IAM system treat agents as first-class identities?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Q3.  Could you answer a compliance audit about every action your current agents took last week? What’s missing?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Q4.  Where in your organisation would a compromised agent cause the most damage? Is that pathway protected?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29184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Agents are digital workers needing first-class identity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Default-deny: every tool is an escalation path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Sandbox intentionally — limits flexibility AND risk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OWASP GenAI Top 10: know your threats by name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Kill switches are non-negotiable in production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Audit everything: prompts, tools, outputs, permissions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Spotify: speed + governance coexist by design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3A7DC9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  ·  Module 09: FinOps for Agentic Systems  —  Token economics, cost governance, model routing, and ROI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Reliability &amp; Security Engineering</dc:title>
  <dc:subject>PptxGenJS Presentation</dc:subject>
  <dc:creator>PptxGenJS</dc:creator>
  <cp:lastModifiedBy>PptxGenJS</cp:lastModifiedBy>
  <cp:revision>1</cp:revision>
  <dcterms:created xsi:type="dcterms:W3CDTF">2026-04-05T19:46:33Z</dcterms:created>
  <dcterms:modified xsi:type="dcterms:W3CDTF">2026-04-05T19:46:33Z</dcterms:modified>
</cp:coreProperties>
</file>