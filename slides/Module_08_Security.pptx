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92608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400" kern="0" dirty="0">
                <a:solidFill>
                  <a:srgbClr val="5B8DB8"/>
                </a:solidFill>
              </a:rPr>
              <a:t>ENTERPRISE AGENTIC PRACTICES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5" name="Text 3"/>
          <p:cNvSpPr/>
          <p:nvPr/>
        </p:nvSpPr>
        <p:spPr>
          <a:xfrm>
            <a:off x="365760" y="749808"/>
            <a:ext cx="1371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MODULE 08</a:t>
            </a:r>
            <a:endParaRPr lang="en-US" sz="1100" dirty="0"/>
          </a:p>
        </p:txBody>
      </p:sp>
      <p:sp>
        <p:nvSpPr>
          <p:cNvPr id="6" name="Text 4"/>
          <p:cNvSpPr/>
          <p:nvPr/>
        </p:nvSpPr>
        <p:spPr>
          <a:xfrm>
            <a:off x="365760" y="1207008"/>
            <a:ext cx="6217920" cy="2011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Reliability &amp;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Security</a:t>
            </a:r>
            <a:endParaRPr lang="en-US" sz="4400" dirty="0"/>
          </a:p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</a:rPr>
              <a:t>Engineering</a:t>
            </a:r>
            <a:endParaRPr lang="en-US" sz="4400" dirty="0"/>
          </a:p>
        </p:txBody>
      </p:sp>
      <p:sp>
        <p:nvSpPr>
          <p:cNvPr id="7" name="Text 5"/>
          <p:cNvSpPr/>
          <p:nvPr/>
        </p:nvSpPr>
        <p:spPr>
          <a:xfrm>
            <a:off x="365760" y="3291840"/>
            <a:ext cx="6400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8DB8"/>
                </a:solidFill>
              </a:rPr>
              <a:t>Building agents that are safe, sandboxed, and production-grade</a:t>
            </a:r>
            <a:endParaRPr lang="en-US" sz="1800" dirty="0"/>
          </a:p>
        </p:txBody>
      </p:sp>
      <p:sp>
        <p:nvSpPr>
          <p:cNvPr id="8" name="Shape 6"/>
          <p:cNvSpPr/>
          <p:nvPr/>
        </p:nvSpPr>
        <p:spPr>
          <a:xfrm>
            <a:off x="365760" y="3858768"/>
            <a:ext cx="3200400" cy="36576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9" name="Text 7"/>
          <p:cNvSpPr/>
          <p:nvPr/>
        </p:nvSpPr>
        <p:spPr>
          <a:xfrm>
            <a:off x="365760" y="4005072"/>
            <a:ext cx="45720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Duration: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75–90 min 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  |  </a:t>
            </a:r>
            <a:pPr indent="0" marL="0">
              <a:buNone/>
            </a:pPr>
            <a:r>
              <a:rPr lang="en-US" sz="1300" b="1" dirty="0">
                <a:solidFill>
                  <a:srgbClr val="7A90A8"/>
                </a:solidFill>
              </a:rPr>
              <a:t>Level: </a:t>
            </a:r>
            <a:pPr indent="0" marL="0">
              <a:buNone/>
            </a:pPr>
            <a:r>
              <a:rPr lang="en-US" sz="1300" dirty="0">
                <a:solidFill>
                  <a:srgbClr val="7A90A8"/>
                </a:solidFill>
              </a:rPr>
              <a:t>Advanced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629400" y="594360"/>
            <a:ext cx="2194560" cy="658368"/>
          </a:xfrm>
          <a:prstGeom prst="rect">
            <a:avLst/>
          </a:prstGeom>
          <a:solidFill>
            <a:srgbClr val="3A7DC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6629400" y="594360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Identity &amp; IAM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629400" y="1490472"/>
            <a:ext cx="2194560" cy="658368"/>
          </a:xfrm>
          <a:prstGeom prst="rect">
            <a:avLst/>
          </a:prstGeom>
          <a:solidFill>
            <a:srgbClr val="4A7FA8">
              <a:alpha val="9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6629400" y="1490472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Sandboxing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6629400" y="2386584"/>
            <a:ext cx="2194560" cy="658368"/>
          </a:xfrm>
          <a:prstGeom prst="rect">
            <a:avLst/>
          </a:prstGeom>
          <a:solidFill>
            <a:srgbClr val="3A7E6E">
              <a:alpha val="84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5" name="Text 13"/>
          <p:cNvSpPr/>
          <p:nvPr/>
        </p:nvSpPr>
        <p:spPr>
          <a:xfrm>
            <a:off x="6629400" y="2386584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Least Privilege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629400" y="3282696"/>
            <a:ext cx="2194560" cy="658368"/>
          </a:xfrm>
          <a:prstGeom prst="rect">
            <a:avLst/>
          </a:prstGeom>
          <a:solidFill>
            <a:srgbClr val="8096B0">
              <a:alpha val="76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6629400" y="3282696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Kill Switches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6629400" y="4178808"/>
            <a:ext cx="2194560" cy="658368"/>
          </a:xfrm>
          <a:prstGeom prst="rect">
            <a:avLst/>
          </a:prstGeom>
          <a:solidFill>
            <a:srgbClr val="2E5073">
              <a:alpha val="68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6629400" y="4178808"/>
            <a:ext cx="21945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Audit Logs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4124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LEARNING OBJECTIVES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20040" y="82296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By the end of this module you will be able to: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64008" cy="1664208"/>
          </a:xfrm>
          <a:prstGeom prst="rect">
            <a:avLst/>
          </a:prstGeom>
          <a:solidFill>
            <a:srgbClr val="3A7DC9"/>
          </a:solidFill>
          <a:ln/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4632" y="1371600"/>
            <a:ext cx="365760" cy="36576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9601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Manage Agent Identities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9601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Apply first-class identity governance to agents — service accounts, workload identities, just-in-time provisioning, and zero standing privileges.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4663440" y="11704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663440" y="1170432"/>
            <a:ext cx="64008" cy="1664208"/>
          </a:xfrm>
          <a:prstGeom prst="rect">
            <a:avLst/>
          </a:prstGeom>
          <a:solidFill>
            <a:srgbClr val="4A7FA8"/>
          </a:solidFill>
          <a:ln/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28032" y="137160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5303520" y="13350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Design Sandboxed Agents</a:t>
            </a:r>
            <a:endParaRPr lang="en-US" sz="1300" dirty="0"/>
          </a:p>
        </p:txBody>
      </p:sp>
      <p:sp>
        <p:nvSpPr>
          <p:cNvPr id="14" name="Text 10"/>
          <p:cNvSpPr/>
          <p:nvPr/>
        </p:nvSpPr>
        <p:spPr>
          <a:xfrm>
            <a:off x="5303520" y="17556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Structure agents to run in containers with minimal permissions, few binaries, and intentionally reduced flexibility for predictability and security.</a:t>
            </a:r>
            <a:endParaRPr lang="en-US" sz="1150" dirty="0"/>
          </a:p>
        </p:txBody>
      </p:sp>
      <p:sp>
        <p:nvSpPr>
          <p:cNvPr id="15" name="Shape 11"/>
          <p:cNvSpPr/>
          <p:nvPr/>
        </p:nvSpPr>
        <p:spPr>
          <a:xfrm>
            <a:off x="3200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2"/>
          <p:cNvSpPr/>
          <p:nvPr/>
        </p:nvSpPr>
        <p:spPr>
          <a:xfrm>
            <a:off x="320040" y="2999232"/>
            <a:ext cx="64008" cy="1664208"/>
          </a:xfrm>
          <a:prstGeom prst="rect">
            <a:avLst/>
          </a:prstGeom>
          <a:solidFill>
            <a:srgbClr val="3A7E6E"/>
          </a:solidFill>
          <a:ln/>
        </p:spPr>
      </p:sp>
      <p:pic>
        <p:nvPicPr>
          <p:cNvPr id="17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4632" y="320040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9601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Apply OWASP GenAI Top 10</a:t>
            </a:r>
            <a:endParaRPr lang="en-US" sz="1300" dirty="0"/>
          </a:p>
        </p:txBody>
      </p:sp>
      <p:sp>
        <p:nvSpPr>
          <p:cNvPr id="19" name="Text 14"/>
          <p:cNvSpPr/>
          <p:nvPr/>
        </p:nvSpPr>
        <p:spPr>
          <a:xfrm>
            <a:off x="9601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Identify and mitigate the top threat classes: prompt injection, tool misuse, memory leakage, privilege escalation, and agent impersonation.</a:t>
            </a:r>
            <a:endParaRPr lang="en-US" sz="1150" dirty="0"/>
          </a:p>
        </p:txBody>
      </p:sp>
      <p:sp>
        <p:nvSpPr>
          <p:cNvPr id="20" name="Shape 15"/>
          <p:cNvSpPr/>
          <p:nvPr/>
        </p:nvSpPr>
        <p:spPr>
          <a:xfrm>
            <a:off x="4663440" y="2999232"/>
            <a:ext cx="4160520" cy="1664208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6"/>
          <p:cNvSpPr/>
          <p:nvPr/>
        </p:nvSpPr>
        <p:spPr>
          <a:xfrm>
            <a:off x="4663440" y="2999232"/>
            <a:ext cx="64008" cy="1664208"/>
          </a:xfrm>
          <a:prstGeom prst="rect">
            <a:avLst/>
          </a:prstGeom>
          <a:solidFill>
            <a:srgbClr val="8096B0"/>
          </a:solidFill>
          <a:ln/>
        </p:spPr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3200400"/>
            <a:ext cx="365760" cy="36576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5303520" y="3163824"/>
            <a:ext cx="33832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C3557"/>
                </a:solidFill>
              </a:rPr>
              <a:t>Build Kill Switches &amp; Audit</a:t>
            </a:r>
            <a:endParaRPr lang="en-US" sz="1300" dirty="0"/>
          </a:p>
        </p:txBody>
      </p:sp>
      <p:sp>
        <p:nvSpPr>
          <p:cNvPr id="24" name="Text 18"/>
          <p:cNvSpPr/>
          <p:nvPr/>
        </p:nvSpPr>
        <p:spPr>
          <a:xfrm>
            <a:off x="5303520" y="3584448"/>
            <a:ext cx="33832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7A90A8"/>
                </a:solidFill>
              </a:rPr>
              <a:t>Design circuit breakers, emergency stop mechanisms, and full audit trails so every agent action is traceable and reversible where possible.</a:t>
            </a:r>
            <a:endParaRPr lang="en-US" sz="11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AGENTS AS DIGITAL WORKERS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Non-human identities outnumber humans ~50:1 in the average enterprise today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88720"/>
            <a:ext cx="4206240" cy="17190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88720"/>
            <a:ext cx="54864" cy="17190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466344" y="12801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They need identity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466344" y="1700784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Unique service accounts, Kubernetes pod identities, or workload identities — not generic shared credentials. Each agent = one identity.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709160" y="1188720"/>
            <a:ext cx="4206240" cy="17190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4709160" y="1188720"/>
            <a:ext cx="54864" cy="17190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0" name="Text 8"/>
          <p:cNvSpPr/>
          <p:nvPr/>
        </p:nvSpPr>
        <p:spPr>
          <a:xfrm>
            <a:off x="4855464" y="128016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They need privileges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4855464" y="1700784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Strict, scoped permissions per tool. Default-deny, explicit-allow. Every tool is a potential escalation path.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20040" y="3108960"/>
            <a:ext cx="4206240" cy="17190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320040" y="3108960"/>
            <a:ext cx="54864" cy="17190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4" name="Text 12"/>
          <p:cNvSpPr/>
          <p:nvPr/>
        </p:nvSpPr>
        <p:spPr>
          <a:xfrm>
            <a:off x="466344" y="32004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They need oversight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66344" y="3621024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80% of IT leaders report agents acting outside expected behaviour (Strata, 2025). Legacy IAM was not designed for this scale.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709160" y="3108960"/>
            <a:ext cx="4206240" cy="1719072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4709160" y="3108960"/>
            <a:ext cx="54864" cy="1719072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18" name="Text 16"/>
          <p:cNvSpPr/>
          <p:nvPr/>
        </p:nvSpPr>
        <p:spPr>
          <a:xfrm>
            <a:off x="4855464" y="3200400"/>
            <a:ext cx="3931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3A7DC9"/>
                </a:solidFill>
              </a:rPr>
              <a:t>They need traceability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4855464" y="3621024"/>
            <a:ext cx="3931920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D4E4F0"/>
                </a:solidFill>
              </a:rPr>
              <a:t>Every agent action must map to an identity, an intent, and a timestamp. Without audit trails, compliance fails and incidents can't be investigated.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320040" y="4846320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7A90A8"/>
                </a:solidFill>
              </a:rPr>
              <a:t>Traditional IAM assumed long-lived human identities. Agents are ephemeral, delegated, and cross-boundary — a fundamentally different trust model.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ZERO TRUST FOR AGENTS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Never trust, always verify — even when the request comes from your own agent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02336" cy="118872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813816" y="122529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Least Privilege by Default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813816" y="1554480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Every tool is a potential escalation path. Default-deny; add explicit allow rules per agent persona. If you wouldn't give a junior contractor root access, don't give it to an agent.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3200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2468880"/>
            <a:ext cx="402336" cy="118872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320040" y="2468880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02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13816" y="252374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Just-in-Time Provisioning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813816" y="2852928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Grant access only when the task requires it. Revoke immediately after. No standing admin rights. Agents that complete and terminate should leave no residual permissions.</a:t>
            </a:r>
            <a:endParaRPr lang="en-US" sz="1050" dirty="0"/>
          </a:p>
        </p:txBody>
      </p:sp>
      <p:sp>
        <p:nvSpPr>
          <p:cNvPr id="15" name="Shape 13"/>
          <p:cNvSpPr/>
          <p:nvPr/>
        </p:nvSpPr>
        <p:spPr>
          <a:xfrm>
            <a:off x="3200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20040" y="3767328"/>
            <a:ext cx="402336" cy="1188720"/>
          </a:xfrm>
          <a:prstGeom prst="rect">
            <a:avLst/>
          </a:prstGeom>
          <a:solidFill>
            <a:srgbClr val="3A7E6E">
              <a:alpha val="90000"/>
            </a:srgbClr>
          </a:solidFill>
          <a:ln/>
        </p:spPr>
      </p:sp>
      <p:sp>
        <p:nvSpPr>
          <p:cNvPr id="17" name="Text 15"/>
          <p:cNvSpPr/>
          <p:nvPr/>
        </p:nvSpPr>
        <p:spPr>
          <a:xfrm>
            <a:off x="320040" y="3767328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03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13816" y="382219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Short-Lived Secrets</a:t>
            </a:r>
            <a:endParaRPr lang="en-US" sz="1250" dirty="0"/>
          </a:p>
        </p:txBody>
      </p:sp>
      <p:sp>
        <p:nvSpPr>
          <p:cNvPr id="19" name="Text 17"/>
          <p:cNvSpPr/>
          <p:nvPr/>
        </p:nvSpPr>
        <p:spPr>
          <a:xfrm>
            <a:off x="813816" y="4151376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Rotate credentials often. Store in Vault or cloud KMS. Never bake credentials into prompts, memory, or context files. Secrets in context = secrets in logs.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663440" y="1170432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663440" y="1170432"/>
            <a:ext cx="402336" cy="1188720"/>
          </a:xfrm>
          <a:prstGeom prst="rect">
            <a:avLst/>
          </a:prstGeom>
          <a:solidFill>
            <a:srgbClr val="8096B0">
              <a:alpha val="9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1170432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04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5157216" y="1225296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Signed Tools &amp; Plugins</a:t>
            </a:r>
            <a:endParaRPr lang="en-US" sz="1250" dirty="0"/>
          </a:p>
        </p:txBody>
      </p:sp>
      <p:sp>
        <p:nvSpPr>
          <p:cNvPr id="24" name="Text 22"/>
          <p:cNvSpPr/>
          <p:nvPr/>
        </p:nvSpPr>
        <p:spPr>
          <a:xfrm>
            <a:off x="5157216" y="1554480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Require signature verification (Sigstore/Cosign) before an agent can load or invoke a tool. Prevents untrusted modules from entering your toolchain via MCP or plugin injection.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4663440" y="2468880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2468880"/>
            <a:ext cx="402336" cy="1188720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663440" y="2468880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05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5157216" y="2523744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Zero Trust OAuth Scopes</a:t>
            </a:r>
            <a:endParaRPr lang="en-US" sz="1250" dirty="0"/>
          </a:p>
        </p:txBody>
      </p:sp>
      <p:sp>
        <p:nvSpPr>
          <p:cNvPr id="29" name="Text 27"/>
          <p:cNvSpPr/>
          <p:nvPr/>
        </p:nvSpPr>
        <p:spPr>
          <a:xfrm>
            <a:off x="5157216" y="2852928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Enforce OAuth scopes at the MCP/tool boundary. Each tool call should be authorised by scope, not by the agent's general session token.</a:t>
            </a:r>
            <a:endParaRPr lang="en-US" sz="1050" dirty="0"/>
          </a:p>
        </p:txBody>
      </p:sp>
      <p:sp>
        <p:nvSpPr>
          <p:cNvPr id="30" name="Shape 28"/>
          <p:cNvSpPr/>
          <p:nvPr/>
        </p:nvSpPr>
        <p:spPr>
          <a:xfrm>
            <a:off x="4663440" y="3767328"/>
            <a:ext cx="4160520" cy="118872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3767328"/>
            <a:ext cx="402336" cy="1188720"/>
          </a:xfrm>
          <a:prstGeom prst="rect">
            <a:avLst/>
          </a:prstGeom>
          <a:solidFill>
            <a:srgbClr val="4A7FA8">
              <a:alpha val="90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4663440" y="3767328"/>
            <a:ext cx="4023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06</a:t>
            </a:r>
            <a:endParaRPr lang="en-US" sz="1400" dirty="0"/>
          </a:p>
        </p:txBody>
      </p:sp>
      <p:sp>
        <p:nvSpPr>
          <p:cNvPr id="33" name="Text 31"/>
          <p:cNvSpPr/>
          <p:nvPr/>
        </p:nvSpPr>
        <p:spPr>
          <a:xfrm>
            <a:off x="5157216" y="3822192"/>
            <a:ext cx="357530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3557"/>
                </a:solidFill>
              </a:rPr>
              <a:t>Network Egress Allowlists</a:t>
            </a:r>
            <a:endParaRPr lang="en-US" sz="1250" dirty="0"/>
          </a:p>
        </p:txBody>
      </p:sp>
      <p:sp>
        <p:nvSpPr>
          <p:cNvPr id="34" name="Text 32"/>
          <p:cNvSpPr/>
          <p:nvPr/>
        </p:nvSpPr>
        <p:spPr>
          <a:xfrm>
            <a:off x="5157216" y="4151376"/>
            <a:ext cx="3575304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Agents should only be able to reach pre-approved endpoints. Spotify's Honk runs with virtually no access to surrounding systems — by design.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SANDBOXING  —  SPOTIFY’S DESIGN PHILOSOPHY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7A90A8"/>
                </a:solidFill>
              </a:rPr>
              <a:t>“Intentional flexibility reduction = more predictable behaviour + secondary security benefits”  — Spotify Engineering (Honk Part 3)</a:t>
            </a:r>
            <a:endParaRPr lang="en-US" sz="1150" dirty="0"/>
          </a:p>
        </p:txBody>
      </p:sp>
      <p:sp>
        <p:nvSpPr>
          <p:cNvPr id="5" name="Shape 3"/>
          <p:cNvSpPr/>
          <p:nvPr/>
        </p:nvSpPr>
        <p:spPr>
          <a:xfrm>
            <a:off x="320040" y="1188720"/>
            <a:ext cx="4617720" cy="69494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88720"/>
            <a:ext cx="54864" cy="69494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475488" y="1243584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Container with minimal permissions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5488" y="1536192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 runs as a non-root user in a gVisor/GKE Sandbox or Firecracker microVM. No host filesystem access.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320040" y="1965960"/>
            <a:ext cx="4617720" cy="69494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0040" y="1965960"/>
            <a:ext cx="54864" cy="69494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1" name="Text 9"/>
          <p:cNvSpPr/>
          <p:nvPr/>
        </p:nvSpPr>
        <p:spPr>
          <a:xfrm>
            <a:off x="475488" y="2020824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Few binaries available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5488" y="2313432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Only the tools the agent needs to do its job. Every additional binary is an attack surface and an unpredictability vector.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320040" y="2743200"/>
            <a:ext cx="4617720" cy="69494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320040" y="2743200"/>
            <a:ext cx="54864" cy="69494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475488" y="2798064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No access to surrounding systems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5488" y="3090672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cannot call internal APIs, databases, or services not in the explicit allowlist. Network egress via allowlist only.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20040" y="3520440"/>
            <a:ext cx="4617720" cy="69494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520440"/>
            <a:ext cx="54864" cy="69494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475488" y="3575304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Bounded execution time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75488" y="3867912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Every agent run has a timeout. Unbounded execution enables resource exhaustion and runaway agentic loops.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320040" y="4297680"/>
            <a:ext cx="4617720" cy="694944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4297680"/>
            <a:ext cx="54864" cy="694944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3" name="Text 21"/>
          <p:cNvSpPr/>
          <p:nvPr/>
        </p:nvSpPr>
        <p:spPr>
          <a:xfrm>
            <a:off x="475488" y="4352544"/>
            <a:ext cx="431596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Immutable infrastructure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475488" y="4645152"/>
            <a:ext cx="43159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A90A8"/>
                </a:solidFill>
              </a:rPr>
              <a:t>Agents run from verified, signed images. No in-place mutations. Each run is a fresh container from a known-good state.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166360" y="1170432"/>
            <a:ext cx="3657600" cy="37490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166360" y="1170432"/>
            <a:ext cx="365760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7" name="Text 25"/>
          <p:cNvSpPr/>
          <p:nvPr/>
        </p:nvSpPr>
        <p:spPr>
          <a:xfrm>
            <a:off x="5166360" y="1170432"/>
            <a:ext cx="3657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LAYERED EXECUTION PLANE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5276088" y="1664208"/>
            <a:ext cx="3438144" cy="685800"/>
          </a:xfrm>
          <a:prstGeom prst="rect">
            <a:avLst/>
          </a:prstGeom>
          <a:solidFill>
            <a:srgbClr val="8096B0">
              <a:alpha val="85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5349240" y="170992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Assurance Plane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349240" y="198424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Sigstore/Cosign, SLSA, SBOMs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5276088" y="2441448"/>
            <a:ext cx="3438144" cy="685800"/>
          </a:xfrm>
          <a:prstGeom prst="rect">
            <a:avLst/>
          </a:prstGeom>
          <a:solidFill>
            <a:srgbClr val="3A7DC9">
              <a:alpha val="85000"/>
            </a:srgbClr>
          </a:solidFill>
          <a:ln/>
        </p:spPr>
      </p:sp>
      <p:sp>
        <p:nvSpPr>
          <p:cNvPr id="32" name="Text 30"/>
          <p:cNvSpPr/>
          <p:nvPr/>
        </p:nvSpPr>
        <p:spPr>
          <a:xfrm>
            <a:off x="5349240" y="248716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Observability Plane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5349240" y="276148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OTel spans, SIEM, SOAR playbooks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5276088" y="3218688"/>
            <a:ext cx="3438144" cy="685800"/>
          </a:xfrm>
          <a:prstGeom prst="rect">
            <a:avLst/>
          </a:prstGeom>
          <a:solidFill>
            <a:srgbClr val="4A7FA8">
              <a:alpha val="85000"/>
            </a:srgbClr>
          </a:solidFill>
          <a:ln/>
        </p:spPr>
      </p:sp>
      <p:sp>
        <p:nvSpPr>
          <p:cNvPr id="35" name="Text 33"/>
          <p:cNvSpPr/>
          <p:nvPr/>
        </p:nvSpPr>
        <p:spPr>
          <a:xfrm>
            <a:off x="5349240" y="326440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Data/Memory Plane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5349240" y="353872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Vector stores on private subnets, PII redaction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5276088" y="3995928"/>
            <a:ext cx="3438144" cy="685800"/>
          </a:xfrm>
          <a:prstGeom prst="rect">
            <a:avLst/>
          </a:prstGeom>
          <a:solidFill>
            <a:srgbClr val="3A7E6E">
              <a:alpha val="85000"/>
            </a:srgbClr>
          </a:solidFill>
          <a:ln/>
        </p:spPr>
      </p:sp>
      <p:sp>
        <p:nvSpPr>
          <p:cNvPr id="38" name="Text 36"/>
          <p:cNvSpPr/>
          <p:nvPr/>
        </p:nvSpPr>
        <p:spPr>
          <a:xfrm>
            <a:off x="5349240" y="4041648"/>
            <a:ext cx="3291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Execution Plane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349240" y="4315968"/>
            <a:ext cx="32918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D4E4F0"/>
                </a:solidFill>
              </a:rPr>
              <a:t>gVisor/Firecracker, WASI, egress allowlists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OWASP GENAI TOP 10 v2025  —  AGENT THREAT CLASSES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FFFFFF"/>
                </a:solidFill>
              </a:rPr>
              <a:t>The exact failure modes your enterprise agents will face in production</a:t>
            </a:r>
            <a:endParaRPr lang="en-US" sz="17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" name="Shape 3"/>
          <p:cNvSpPr/>
          <p:nvPr/>
        </p:nvSpPr>
        <p:spPr>
          <a:xfrm>
            <a:off x="320040" y="117043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56616" y="117043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LLM01</a:t>
            </a:r>
            <a:endParaRPr lang="en-US" sz="900" dirty="0"/>
          </a:p>
        </p:txBody>
      </p:sp>
      <p:sp>
        <p:nvSpPr>
          <p:cNvPr id="7" name="Shape 5"/>
          <p:cNvSpPr/>
          <p:nvPr/>
        </p:nvSpPr>
        <p:spPr>
          <a:xfrm>
            <a:off x="3657600" y="1243584"/>
            <a:ext cx="804672" cy="237744"/>
          </a:xfrm>
          <a:prstGeom prst="rect">
            <a:avLst/>
          </a:prstGeom>
          <a:solidFill>
            <a:srgbClr val="E05555">
              <a:alpha val="80000"/>
            </a:srgbClr>
          </a:solidFill>
          <a:ln/>
        </p:spPr>
      </p:sp>
      <p:sp>
        <p:nvSpPr>
          <p:cNvPr id="8" name="Text 6"/>
          <p:cNvSpPr/>
          <p:nvPr/>
        </p:nvSpPr>
        <p:spPr>
          <a:xfrm>
            <a:off x="3657600" y="12435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CRITICAL</a:t>
            </a:r>
            <a:endParaRPr lang="en-US" sz="800" dirty="0"/>
          </a:p>
        </p:txBody>
      </p:sp>
      <p:sp>
        <p:nvSpPr>
          <p:cNvPr id="9" name="Text 7"/>
          <p:cNvSpPr/>
          <p:nvPr/>
        </p:nvSpPr>
        <p:spPr>
          <a:xfrm>
            <a:off x="1051560" y="122529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Prompt Injection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1051560" y="155448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Input validation, output filtering, sandboxed execution. Never trust external content as instructions.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320040" y="213055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2" name="Shape 10"/>
          <p:cNvSpPr/>
          <p:nvPr/>
        </p:nvSpPr>
        <p:spPr>
          <a:xfrm>
            <a:off x="320040" y="213055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56616" y="213055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LLM02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3657600" y="2203704"/>
            <a:ext cx="804672" cy="237744"/>
          </a:xfrm>
          <a:prstGeom prst="rect">
            <a:avLst/>
          </a:prstGeom>
          <a:solidFill>
            <a:srgbClr val="E08855">
              <a:alpha val="8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3657600" y="220370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HIGH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1051560" y="218541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Insecure Output Handling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051560" y="251460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Treat all LLM output as untrusted. Sanitise before passing to shell, DB, or browser.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320040" y="309067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" y="309067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0" name="Text 18"/>
          <p:cNvSpPr/>
          <p:nvPr/>
        </p:nvSpPr>
        <p:spPr>
          <a:xfrm>
            <a:off x="356616" y="309067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LLM03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657600" y="3163824"/>
            <a:ext cx="804672" cy="237744"/>
          </a:xfrm>
          <a:prstGeom prst="rect">
            <a:avLst/>
          </a:prstGeom>
          <a:solidFill>
            <a:srgbClr val="E08855">
              <a:alpha val="80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0" y="316382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HIGH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1051560" y="314553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Training Data Poisoning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051560" y="347472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For fine-tuned models: validate training data provenance. For RAG: validate retrieval sources.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320040" y="405079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26" name="Shape 24"/>
          <p:cNvSpPr/>
          <p:nvPr/>
        </p:nvSpPr>
        <p:spPr>
          <a:xfrm>
            <a:off x="320040" y="405079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356616" y="405079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LLM06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3657600" y="4123944"/>
            <a:ext cx="804672" cy="237744"/>
          </a:xfrm>
          <a:prstGeom prst="rect">
            <a:avLst/>
          </a:prstGeom>
          <a:solidFill>
            <a:srgbClr val="E05555">
              <a:alpha val="80000"/>
            </a:srgbClr>
          </a:solidFill>
          <a:ln/>
        </p:spPr>
      </p:sp>
      <p:sp>
        <p:nvSpPr>
          <p:cNvPr id="29" name="Text 27"/>
          <p:cNvSpPr/>
          <p:nvPr/>
        </p:nvSpPr>
        <p:spPr>
          <a:xfrm>
            <a:off x="3657600" y="412394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CRITICAL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1051560" y="410565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Excessive Agency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1051560" y="443484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Least privilege. Require explicit HITL approval for irreversible actions. Kill switches required.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4709160" y="117043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33" name="Shape 31"/>
          <p:cNvSpPr/>
          <p:nvPr/>
        </p:nvSpPr>
        <p:spPr>
          <a:xfrm>
            <a:off x="4709160" y="117043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34" name="Text 32"/>
          <p:cNvSpPr/>
          <p:nvPr/>
        </p:nvSpPr>
        <p:spPr>
          <a:xfrm>
            <a:off x="4745736" y="117043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LLM07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8046720" y="1243584"/>
            <a:ext cx="804672" cy="237744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36" name="Text 34"/>
          <p:cNvSpPr/>
          <p:nvPr/>
        </p:nvSpPr>
        <p:spPr>
          <a:xfrm>
            <a:off x="8046720" y="124358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MEDIUM</a:t>
            </a:r>
            <a:endParaRPr lang="en-US" sz="800" dirty="0"/>
          </a:p>
        </p:txBody>
      </p:sp>
      <p:sp>
        <p:nvSpPr>
          <p:cNvPr id="37" name="Text 35"/>
          <p:cNvSpPr/>
          <p:nvPr/>
        </p:nvSpPr>
        <p:spPr>
          <a:xfrm>
            <a:off x="5440680" y="122529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System Prompt Leakage</a:t>
            </a:r>
            <a:endParaRPr lang="en-US" sz="1200" dirty="0"/>
          </a:p>
        </p:txBody>
      </p:sp>
      <p:sp>
        <p:nvSpPr>
          <p:cNvPr id="38" name="Text 36"/>
          <p:cNvSpPr/>
          <p:nvPr/>
        </p:nvSpPr>
        <p:spPr>
          <a:xfrm>
            <a:off x="5440680" y="155448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Never put secrets in system prompts. Assume all prompt content can be extracted by adversarial users.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4709160" y="213055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40" name="Shape 38"/>
          <p:cNvSpPr/>
          <p:nvPr/>
        </p:nvSpPr>
        <p:spPr>
          <a:xfrm>
            <a:off x="4709160" y="213055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1" name="Text 39"/>
          <p:cNvSpPr/>
          <p:nvPr/>
        </p:nvSpPr>
        <p:spPr>
          <a:xfrm>
            <a:off x="4745736" y="213055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LLM08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8046720" y="2203704"/>
            <a:ext cx="804672" cy="237744"/>
          </a:xfrm>
          <a:prstGeom prst="rect">
            <a:avLst/>
          </a:prstGeom>
          <a:solidFill>
            <a:srgbClr val="8096B0">
              <a:alpha val="80000"/>
            </a:srgbClr>
          </a:solidFill>
          <a:ln/>
        </p:spPr>
      </p:sp>
      <p:sp>
        <p:nvSpPr>
          <p:cNvPr id="43" name="Text 41"/>
          <p:cNvSpPr/>
          <p:nvPr/>
        </p:nvSpPr>
        <p:spPr>
          <a:xfrm>
            <a:off x="8046720" y="220370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MEDIUM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5440680" y="218541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Vector / Embedding Attacks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5440680" y="251460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Validate and sanitise content before embedding. Monitor for retrieval anomalies in RAG pipelines.</a:t>
            </a:r>
            <a:endParaRPr lang="en-US" sz="1000" dirty="0"/>
          </a:p>
        </p:txBody>
      </p:sp>
      <p:sp>
        <p:nvSpPr>
          <p:cNvPr id="46" name="Shape 44"/>
          <p:cNvSpPr/>
          <p:nvPr/>
        </p:nvSpPr>
        <p:spPr>
          <a:xfrm>
            <a:off x="4709160" y="309067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47" name="Shape 45"/>
          <p:cNvSpPr/>
          <p:nvPr/>
        </p:nvSpPr>
        <p:spPr>
          <a:xfrm>
            <a:off x="4709160" y="309067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4745736" y="309067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LLM09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8046720" y="3163824"/>
            <a:ext cx="804672" cy="237744"/>
          </a:xfrm>
          <a:prstGeom prst="rect">
            <a:avLst/>
          </a:prstGeom>
          <a:solidFill>
            <a:srgbClr val="E08855">
              <a:alpha val="80000"/>
            </a:srgbClr>
          </a:solidFill>
          <a:ln/>
        </p:spPr>
      </p:sp>
      <p:sp>
        <p:nvSpPr>
          <p:cNvPr id="50" name="Text 48"/>
          <p:cNvSpPr/>
          <p:nvPr/>
        </p:nvSpPr>
        <p:spPr>
          <a:xfrm>
            <a:off x="8046720" y="316382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HIGH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5440680" y="314553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Misinformation at Scale</a:t>
            </a:r>
            <a:endParaRPr lang="en-US" sz="1200" dirty="0"/>
          </a:p>
        </p:txBody>
      </p:sp>
      <p:sp>
        <p:nvSpPr>
          <p:cNvPr id="52" name="Text 50"/>
          <p:cNvSpPr/>
          <p:nvPr/>
        </p:nvSpPr>
        <p:spPr>
          <a:xfrm>
            <a:off x="5440680" y="347472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Ground agents in validated sources. Implement citation requirements. Human review for high-stakes outputs.</a:t>
            </a:r>
            <a:endParaRPr lang="en-US" sz="1000" dirty="0"/>
          </a:p>
        </p:txBody>
      </p:sp>
      <p:sp>
        <p:nvSpPr>
          <p:cNvPr id="53" name="Shape 51"/>
          <p:cNvSpPr/>
          <p:nvPr/>
        </p:nvSpPr>
        <p:spPr>
          <a:xfrm>
            <a:off x="4709160" y="4050792"/>
            <a:ext cx="4206240" cy="86868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</p:spPr>
      </p:sp>
      <p:sp>
        <p:nvSpPr>
          <p:cNvPr id="54" name="Shape 52"/>
          <p:cNvSpPr/>
          <p:nvPr/>
        </p:nvSpPr>
        <p:spPr>
          <a:xfrm>
            <a:off x="4709160" y="4050792"/>
            <a:ext cx="658368" cy="868680"/>
          </a:xfrm>
          <a:prstGeom prst="rect">
            <a:avLst/>
          </a:prstGeom>
          <a:solidFill>
            <a:srgbClr val="2E5073">
              <a:alpha val="95000"/>
            </a:srgbClr>
          </a:solidFill>
          <a:ln/>
        </p:spPr>
      </p:sp>
      <p:sp>
        <p:nvSpPr>
          <p:cNvPr id="55" name="Text 53"/>
          <p:cNvSpPr/>
          <p:nvPr/>
        </p:nvSpPr>
        <p:spPr>
          <a:xfrm>
            <a:off x="4745736" y="4050792"/>
            <a:ext cx="621792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5B8DB8"/>
                </a:solidFill>
              </a:rPr>
              <a:t>LLM10</a:t>
            </a:r>
            <a:endParaRPr lang="en-US" sz="900" dirty="0"/>
          </a:p>
        </p:txBody>
      </p:sp>
      <p:sp>
        <p:nvSpPr>
          <p:cNvPr id="56" name="Shape 54"/>
          <p:cNvSpPr/>
          <p:nvPr/>
        </p:nvSpPr>
        <p:spPr>
          <a:xfrm>
            <a:off x="8046720" y="4123944"/>
            <a:ext cx="804672" cy="237744"/>
          </a:xfrm>
          <a:prstGeom prst="rect">
            <a:avLst/>
          </a:prstGeom>
          <a:solidFill>
            <a:srgbClr val="E08855">
              <a:alpha val="80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8046720" y="4123944"/>
            <a:ext cx="8046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</a:rPr>
              <a:t>HIGH</a:t>
            </a:r>
            <a:endParaRPr lang="en-US" sz="800" dirty="0"/>
          </a:p>
        </p:txBody>
      </p:sp>
      <p:sp>
        <p:nvSpPr>
          <p:cNvPr id="58" name="Text 56"/>
          <p:cNvSpPr/>
          <p:nvPr/>
        </p:nvSpPr>
        <p:spPr>
          <a:xfrm>
            <a:off x="5440680" y="4105656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</a:rPr>
              <a:t>Unbounded Consumption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440680" y="4434840"/>
            <a:ext cx="3401568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Hard token budgets, cost guardrails, rate limits at gateway level. Monitor cost per agent run.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KILL SWITCHES &amp; AUDIT TRAILS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i="1" dirty="0">
                <a:solidFill>
                  <a:srgbClr val="7A90A8"/>
                </a:solidFill>
              </a:rPr>
              <a:t>Every production agent deployment needs a reliable mechanism to pause or stop it immediately</a:t>
            </a:r>
            <a:endParaRPr lang="en-US" sz="125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KILL SWITCH PATTERNS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" y="1664208"/>
            <a:ext cx="393192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429768" y="1664208"/>
            <a:ext cx="73152" cy="7315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0" name="Text 8"/>
          <p:cNvSpPr/>
          <p:nvPr/>
        </p:nvSpPr>
        <p:spPr>
          <a:xfrm>
            <a:off x="594360" y="171907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Hard stop (immediate)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94360" y="2011680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Terminate agent container. Revoke all credentials. Quarantine the agent namespace. Use when: unexpected behaviour detected or security incident.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29768" y="2468880"/>
            <a:ext cx="393192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3" name="Shape 11"/>
          <p:cNvSpPr/>
          <p:nvPr/>
        </p:nvSpPr>
        <p:spPr>
          <a:xfrm>
            <a:off x="429768" y="2468880"/>
            <a:ext cx="73152" cy="7315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4" name="Text 12"/>
          <p:cNvSpPr/>
          <p:nvPr/>
        </p:nvSpPr>
        <p:spPr>
          <a:xfrm>
            <a:off x="594360" y="2523744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Graceful pause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94360" y="2816352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Agent completes current tool call, saves state to NOTES.md, awaits human instruction. Use when: review needed before proceeding.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429768" y="3273552"/>
            <a:ext cx="393192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Shape 15"/>
          <p:cNvSpPr/>
          <p:nvPr/>
        </p:nvSpPr>
        <p:spPr>
          <a:xfrm>
            <a:off x="429768" y="3273552"/>
            <a:ext cx="73152" cy="7315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18" name="Text 16"/>
          <p:cNvSpPr/>
          <p:nvPr/>
        </p:nvSpPr>
        <p:spPr>
          <a:xfrm>
            <a:off x="594360" y="33284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HITL escalation gate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94360" y="3621024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Agent reaches a pre-defined checkpoint and cannot proceed without explicit human approval. Use when: irreversible action required.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429768" y="4078224"/>
            <a:ext cx="393192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1" name="Shape 19"/>
          <p:cNvSpPr/>
          <p:nvPr/>
        </p:nvSpPr>
        <p:spPr>
          <a:xfrm>
            <a:off x="429768" y="4078224"/>
            <a:ext cx="73152" cy="731520"/>
          </a:xfrm>
          <a:prstGeom prst="rect">
            <a:avLst/>
          </a:prstGeom>
          <a:solidFill>
            <a:srgbClr val="B03040"/>
          </a:solidFill>
          <a:ln/>
        </p:spPr>
      </p:sp>
      <p:sp>
        <p:nvSpPr>
          <p:cNvPr id="22" name="Text 20"/>
          <p:cNvSpPr/>
          <p:nvPr/>
        </p:nvSpPr>
        <p:spPr>
          <a:xfrm>
            <a:off x="594360" y="413308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3557"/>
                </a:solidFill>
              </a:rPr>
              <a:t>Budget exhaustion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594360" y="4425696"/>
            <a:ext cx="3657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Agent automatically stops when token/cost budget is exceeded. Prevents runaway loops from burning compute. Use as a secondary safety net.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4663440" y="1170432"/>
            <a:ext cx="4160520" cy="374904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26" name="Text 24"/>
          <p:cNvSpPr/>
          <p:nvPr/>
        </p:nvSpPr>
        <p:spPr>
          <a:xfrm>
            <a:off x="4663440" y="1170432"/>
            <a:ext cx="41605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AUDIT TRAIL REQUIREMENTS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73168" y="1664208"/>
            <a:ext cx="39319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1664208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User prompts and model responses — full fidelity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4773168" y="2039112"/>
            <a:ext cx="3931920" cy="32918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0" name="Text 28"/>
          <p:cNvSpPr/>
          <p:nvPr/>
        </p:nvSpPr>
        <p:spPr>
          <a:xfrm>
            <a:off x="4846320" y="2039112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Retrieval provenance (what was fetched and from where)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73168" y="2414016"/>
            <a:ext cx="39319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2" name="Text 30"/>
          <p:cNvSpPr/>
          <p:nvPr/>
        </p:nvSpPr>
        <p:spPr>
          <a:xfrm>
            <a:off x="4846320" y="2414016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Every tool invocation: name, arguments, output</a:t>
            </a:r>
            <a:endParaRPr lang="en-US" sz="1050" dirty="0"/>
          </a:p>
        </p:txBody>
      </p:sp>
      <p:sp>
        <p:nvSpPr>
          <p:cNvPr id="33" name="Shape 31"/>
          <p:cNvSpPr/>
          <p:nvPr/>
        </p:nvSpPr>
        <p:spPr>
          <a:xfrm>
            <a:off x="4773168" y="2788920"/>
            <a:ext cx="3931920" cy="32918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4" name="Text 32"/>
          <p:cNvSpPr/>
          <p:nvPr/>
        </p:nvSpPr>
        <p:spPr>
          <a:xfrm>
            <a:off x="4846320" y="2788920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Permissions in effect at time of each action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773168" y="3163824"/>
            <a:ext cx="39319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36" name="Text 34"/>
          <p:cNvSpPr/>
          <p:nvPr/>
        </p:nvSpPr>
        <p:spPr>
          <a:xfrm>
            <a:off x="4846320" y="3163824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Agent identity and session token for each call</a:t>
            </a:r>
            <a:endParaRPr lang="en-US" sz="1050" dirty="0"/>
          </a:p>
        </p:txBody>
      </p:sp>
      <p:sp>
        <p:nvSpPr>
          <p:cNvPr id="37" name="Shape 35"/>
          <p:cNvSpPr/>
          <p:nvPr/>
        </p:nvSpPr>
        <p:spPr>
          <a:xfrm>
            <a:off x="4773168" y="3538728"/>
            <a:ext cx="3931920" cy="32918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38" name="Text 36"/>
          <p:cNvSpPr/>
          <p:nvPr/>
        </p:nvSpPr>
        <p:spPr>
          <a:xfrm>
            <a:off x="4846320" y="3538728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Diff / output before human approval gate</a:t>
            </a:r>
            <a:endParaRPr lang="en-US" sz="1050" dirty="0"/>
          </a:p>
        </p:txBody>
      </p:sp>
      <p:sp>
        <p:nvSpPr>
          <p:cNvPr id="39" name="Shape 37"/>
          <p:cNvSpPr/>
          <p:nvPr/>
        </p:nvSpPr>
        <p:spPr>
          <a:xfrm>
            <a:off x="4773168" y="3913632"/>
            <a:ext cx="3931920" cy="329184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40" name="Text 38"/>
          <p:cNvSpPr/>
          <p:nvPr/>
        </p:nvSpPr>
        <p:spPr>
          <a:xfrm>
            <a:off x="4846320" y="3913632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Compaction events (what was summarised and discarded)</a:t>
            </a:r>
            <a:endParaRPr lang="en-US" sz="1050" dirty="0"/>
          </a:p>
        </p:txBody>
      </p:sp>
      <p:sp>
        <p:nvSpPr>
          <p:cNvPr id="41" name="Shape 39"/>
          <p:cNvSpPr/>
          <p:nvPr/>
        </p:nvSpPr>
        <p:spPr>
          <a:xfrm>
            <a:off x="4773168" y="4288536"/>
            <a:ext cx="3931920" cy="329184"/>
          </a:xfrm>
          <a:prstGeom prst="rect">
            <a:avLst/>
          </a:prstGeom>
          <a:solidFill>
            <a:srgbClr val="F3F6F9"/>
          </a:solidFill>
          <a:ln/>
        </p:spPr>
      </p:sp>
      <p:sp>
        <p:nvSpPr>
          <p:cNvPr id="42" name="Text 40"/>
          <p:cNvSpPr/>
          <p:nvPr/>
        </p:nvSpPr>
        <p:spPr>
          <a:xfrm>
            <a:off x="4846320" y="4288536"/>
            <a:ext cx="378561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1E2D3D"/>
                </a:solidFill>
              </a:rPr>
              <a:t>✓  Cost and token usage per run and per tool call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ENTERPRISE SECURITY FRAMEWORKS FOR AGENTS</a:t>
            </a:r>
            <a:endParaRPr lang="en-US" sz="1300" dirty="0"/>
          </a:p>
        </p:txBody>
      </p:sp>
      <p:sp>
        <p:nvSpPr>
          <p:cNvPr id="3" name="Text 1"/>
          <p:cNvSpPr/>
          <p:nvPr/>
        </p:nvSpPr>
        <p:spPr>
          <a:xfrm>
            <a:off x="365760" y="658368"/>
            <a:ext cx="8229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FFFFFF"/>
                </a:solidFill>
              </a:rPr>
              <a:t>Align to existing frameworks — don't reinvent. Agents extend existing risk surfaces, not create new categories.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320040" y="1170432"/>
            <a:ext cx="2011680" cy="37490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1170432"/>
            <a:ext cx="2011680" cy="65836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11704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NIST AI RMF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11480" y="18836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3A7DC9"/>
                </a:solidFill>
              </a:rPr>
              <a:t>AI Risk Management Framework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411480" y="22311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Role-based access controls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411480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Continuous monitoring &amp; adversarial testing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411480" y="32552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Lifecycle logging for traceability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11480" y="37673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Govern, Map, Measure, Manage lifecycle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393192" y="459943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0A8"/>
                </a:solidFill>
              </a:rPr>
              <a:t>nist.gov/artificial-intelligence/ai-rmf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2496312" y="1170432"/>
            <a:ext cx="2011680" cy="37490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2496312" y="1170432"/>
            <a:ext cx="2011680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5" name="Text 13"/>
          <p:cNvSpPr/>
          <p:nvPr/>
        </p:nvSpPr>
        <p:spPr>
          <a:xfrm>
            <a:off x="2496312" y="11704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OWASP GenAI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Top 10 v2025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2587752" y="18836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4A7FA8"/>
                </a:solidFill>
              </a:rPr>
              <a:t>Application-level threat catalogue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2587752" y="22311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15 agent-specific threat categories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587752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Prompt injection, tool misuse, memory leakage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587752" y="32552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Mitigation checklists per threat class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587752" y="37673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Quarterly incident round-ups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2569464" y="459943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0A8"/>
                </a:solidFill>
              </a:rPr>
              <a:t>owasp.org/www-project-top-10-for-llm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4672584" y="1170432"/>
            <a:ext cx="2011680" cy="37490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4672584" y="1170432"/>
            <a:ext cx="2011680" cy="65836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24" name="Text 22"/>
          <p:cNvSpPr/>
          <p:nvPr/>
        </p:nvSpPr>
        <p:spPr>
          <a:xfrm>
            <a:off x="4672584" y="11704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ISO/IEC 42001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764024" y="18836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3A7E6E"/>
                </a:solidFill>
              </a:rPr>
              <a:t>AI Management System Standard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764024" y="22311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Oversight, logging, continual improvement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764024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AI governance documentation requirements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4764024" y="32552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Audit and accountability mechanisms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64024" y="37673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Compatible with ISO 27001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745736" y="459943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0A8"/>
                </a:solidFill>
              </a:rPr>
              <a:t>iso.org/standard/81230.html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6848856" y="1170432"/>
            <a:ext cx="2011680" cy="3749040"/>
          </a:xfrm>
          <a:prstGeom prst="rect">
            <a:avLst/>
          </a:prstGeom>
          <a:solidFill>
            <a:srgbClr val="2E5073">
              <a:alpha val="82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848856" y="1170432"/>
            <a:ext cx="2011680" cy="65836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33" name="Text 31"/>
          <p:cNvSpPr/>
          <p:nvPr/>
        </p:nvSpPr>
        <p:spPr>
          <a:xfrm>
            <a:off x="6848856" y="1170432"/>
            <a:ext cx="20116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CSA / Cloud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</a:rPr>
              <a:t>Security Alliance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6940296" y="1883664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i="1" dirty="0">
                <a:solidFill>
                  <a:srgbClr val="8096B0"/>
                </a:solidFill>
              </a:rPr>
              <a:t>Cloud-specific AI security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940296" y="2231136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Trait-based risk model for agents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6940296" y="27432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Agent identity in multi-cloud environments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6940296" y="3255264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Data residency and sovereignty controls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940296" y="3767328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D4E4F0"/>
                </a:solidFill>
              </a:rPr>
              <a:t>• Shared responsibility model for LLM APIs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6922008" y="4599432"/>
            <a:ext cx="18653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7A90A8"/>
                </a:solidFill>
              </a:rPr>
              <a:t>cloudsecurityalliance.org/ai</a:t>
            </a:r>
            <a:endParaRPr lang="en-US" sz="8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3F6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PRE-DEPLOYMENT SECURITY CHECKLIST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7A90A8"/>
                </a:solidFill>
              </a:rPr>
              <a:t>Run this before every agent goes to production. Every unchecked item is a known risk you’re accepting.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1170432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1704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Identity &amp; Access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" y="1645920"/>
            <a:ext cx="256032" cy="237744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9" name="Text 7"/>
          <p:cNvSpPr/>
          <p:nvPr/>
        </p:nvSpPr>
        <p:spPr>
          <a:xfrm>
            <a:off x="429768" y="164592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758952" y="16459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Agent has unique identity (not shared creds)?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429768" y="1956816"/>
            <a:ext cx="256032" cy="237744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12" name="Text 10"/>
          <p:cNvSpPr/>
          <p:nvPr/>
        </p:nvSpPr>
        <p:spPr>
          <a:xfrm>
            <a:off x="429768" y="195681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758952" y="19568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Least-privilege tool permissions applied?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9768" y="2267712"/>
            <a:ext cx="256032" cy="237744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15" name="Text 13"/>
          <p:cNvSpPr/>
          <p:nvPr/>
        </p:nvSpPr>
        <p:spPr>
          <a:xfrm>
            <a:off x="429768" y="226771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758952" y="22677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JIT provisioning (no standing admin rights)?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429768" y="2578608"/>
            <a:ext cx="256032" cy="237744"/>
          </a:xfrm>
          <a:prstGeom prst="rect">
            <a:avLst/>
          </a:prstGeom>
          <a:solidFill>
            <a:srgbClr val="3A7DC9">
              <a:alpha val="20000"/>
            </a:srgbClr>
          </a:solidFill>
          <a:ln/>
        </p:spPr>
      </p:sp>
      <p:sp>
        <p:nvSpPr>
          <p:cNvPr id="18" name="Text 16"/>
          <p:cNvSpPr/>
          <p:nvPr/>
        </p:nvSpPr>
        <p:spPr>
          <a:xfrm>
            <a:off x="429768" y="257860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DC9"/>
                </a:solidFill>
              </a:rPr>
              <a:t>□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758952" y="2578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Secrets in Vault/KMS (not in prompts/memory)?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709160" y="1170432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2" name="Text 20"/>
          <p:cNvSpPr/>
          <p:nvPr/>
        </p:nvSpPr>
        <p:spPr>
          <a:xfrm>
            <a:off x="4709160" y="117043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Sandboxing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4818888" y="1645920"/>
            <a:ext cx="256032" cy="237744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24" name="Text 22"/>
          <p:cNvSpPr/>
          <p:nvPr/>
        </p:nvSpPr>
        <p:spPr>
          <a:xfrm>
            <a:off x="4818888" y="164592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5148072" y="164592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Agent runs in isolated container?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4818888" y="1956816"/>
            <a:ext cx="256032" cy="237744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27" name="Text 25"/>
          <p:cNvSpPr/>
          <p:nvPr/>
        </p:nvSpPr>
        <p:spPr>
          <a:xfrm>
            <a:off x="4818888" y="195681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5148072" y="195681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Network egress allowlist configured?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4818888" y="2267712"/>
            <a:ext cx="256032" cy="237744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30" name="Text 28"/>
          <p:cNvSpPr/>
          <p:nvPr/>
        </p:nvSpPr>
        <p:spPr>
          <a:xfrm>
            <a:off x="4818888" y="226771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5148072" y="226771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Execution timeout defined and enforced?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4818888" y="2578608"/>
            <a:ext cx="256032" cy="237744"/>
          </a:xfrm>
          <a:prstGeom prst="rect">
            <a:avLst/>
          </a:prstGeom>
          <a:solidFill>
            <a:srgbClr val="4A7FA8">
              <a:alpha val="20000"/>
            </a:srgbClr>
          </a:solidFill>
          <a:ln/>
        </p:spPr>
      </p:sp>
      <p:sp>
        <p:nvSpPr>
          <p:cNvPr id="33" name="Text 31"/>
          <p:cNvSpPr/>
          <p:nvPr/>
        </p:nvSpPr>
        <p:spPr>
          <a:xfrm>
            <a:off x="4818888" y="257860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7FA8"/>
                </a:solidFill>
              </a:rPr>
              <a:t>□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5148072" y="257860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Binary allowlist minimised?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320040" y="3044952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6" name="Shape 34"/>
          <p:cNvSpPr/>
          <p:nvPr/>
        </p:nvSpPr>
        <p:spPr>
          <a:xfrm>
            <a:off x="320040" y="3044952"/>
            <a:ext cx="4206240" cy="38404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37" name="Text 35"/>
          <p:cNvSpPr/>
          <p:nvPr/>
        </p:nvSpPr>
        <p:spPr>
          <a:xfrm>
            <a:off x="320040" y="30449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Threat Mitigations</a:t>
            </a:r>
            <a:endParaRPr lang="en-US" sz="1200" dirty="0"/>
          </a:p>
        </p:txBody>
      </p:sp>
      <p:sp>
        <p:nvSpPr>
          <p:cNvPr id="38" name="Shape 36"/>
          <p:cNvSpPr/>
          <p:nvPr/>
        </p:nvSpPr>
        <p:spPr>
          <a:xfrm>
            <a:off x="429768" y="3520440"/>
            <a:ext cx="256032" cy="237744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39" name="Text 37"/>
          <p:cNvSpPr/>
          <p:nvPr/>
        </p:nvSpPr>
        <p:spPr>
          <a:xfrm>
            <a:off x="429768" y="352044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0" name="Text 38"/>
          <p:cNvSpPr/>
          <p:nvPr/>
        </p:nvSpPr>
        <p:spPr>
          <a:xfrm>
            <a:off x="758952" y="3520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Input validation for prompt injection?</a:t>
            </a:r>
            <a:endParaRPr lang="en-US" sz="1100" dirty="0"/>
          </a:p>
        </p:txBody>
      </p:sp>
      <p:sp>
        <p:nvSpPr>
          <p:cNvPr id="41" name="Shape 39"/>
          <p:cNvSpPr/>
          <p:nvPr/>
        </p:nvSpPr>
        <p:spPr>
          <a:xfrm>
            <a:off x="429768" y="3831336"/>
            <a:ext cx="256032" cy="237744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42" name="Text 40"/>
          <p:cNvSpPr/>
          <p:nvPr/>
        </p:nvSpPr>
        <p:spPr>
          <a:xfrm>
            <a:off x="429768" y="383133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758952" y="38313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Output sanitisation before shell/DB/browser?</a:t>
            </a:r>
            <a:endParaRPr lang="en-US" sz="1100" dirty="0"/>
          </a:p>
        </p:txBody>
      </p:sp>
      <p:sp>
        <p:nvSpPr>
          <p:cNvPr id="44" name="Shape 42"/>
          <p:cNvSpPr/>
          <p:nvPr/>
        </p:nvSpPr>
        <p:spPr>
          <a:xfrm>
            <a:off x="429768" y="4142232"/>
            <a:ext cx="256032" cy="237744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45" name="Text 43"/>
          <p:cNvSpPr/>
          <p:nvPr/>
        </p:nvSpPr>
        <p:spPr>
          <a:xfrm>
            <a:off x="429768" y="414223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6" name="Text 44"/>
          <p:cNvSpPr/>
          <p:nvPr/>
        </p:nvSpPr>
        <p:spPr>
          <a:xfrm>
            <a:off x="758952" y="4142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HITL gate for irreversible actions?</a:t>
            </a:r>
            <a:endParaRPr lang="en-US" sz="1100" dirty="0"/>
          </a:p>
        </p:txBody>
      </p:sp>
      <p:sp>
        <p:nvSpPr>
          <p:cNvPr id="47" name="Shape 45"/>
          <p:cNvSpPr/>
          <p:nvPr/>
        </p:nvSpPr>
        <p:spPr>
          <a:xfrm>
            <a:off x="429768" y="4453128"/>
            <a:ext cx="256032" cy="237744"/>
          </a:xfrm>
          <a:prstGeom prst="rect">
            <a:avLst/>
          </a:prstGeom>
          <a:solidFill>
            <a:srgbClr val="3A7E6E">
              <a:alpha val="20000"/>
            </a:srgbClr>
          </a:solidFill>
          <a:ln/>
        </p:spPr>
      </p:sp>
      <p:sp>
        <p:nvSpPr>
          <p:cNvPr id="48" name="Text 46"/>
          <p:cNvSpPr/>
          <p:nvPr/>
        </p:nvSpPr>
        <p:spPr>
          <a:xfrm>
            <a:off x="429768" y="445312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3A7E6E"/>
                </a:solidFill>
              </a:rPr>
              <a:t>□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758952" y="44531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Cost budget and token limits set?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4709160" y="3044952"/>
            <a:ext cx="4206240" cy="17373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1" name="Shape 49"/>
          <p:cNvSpPr/>
          <p:nvPr/>
        </p:nvSpPr>
        <p:spPr>
          <a:xfrm>
            <a:off x="4709160" y="3044952"/>
            <a:ext cx="4206240" cy="384048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52" name="Text 50"/>
          <p:cNvSpPr/>
          <p:nvPr/>
        </p:nvSpPr>
        <p:spPr>
          <a:xfrm>
            <a:off x="4709160" y="3044952"/>
            <a:ext cx="42062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Audit &amp; Response</a:t>
            </a:r>
            <a:endParaRPr lang="en-US" sz="1200" dirty="0"/>
          </a:p>
        </p:txBody>
      </p:sp>
      <p:sp>
        <p:nvSpPr>
          <p:cNvPr id="53" name="Shape 51"/>
          <p:cNvSpPr/>
          <p:nvPr/>
        </p:nvSpPr>
        <p:spPr>
          <a:xfrm>
            <a:off x="4818888" y="3520440"/>
            <a:ext cx="256032" cy="237744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54" name="Text 52"/>
          <p:cNvSpPr/>
          <p:nvPr/>
        </p:nvSpPr>
        <p:spPr>
          <a:xfrm>
            <a:off x="4818888" y="3520440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5" name="Text 53"/>
          <p:cNvSpPr/>
          <p:nvPr/>
        </p:nvSpPr>
        <p:spPr>
          <a:xfrm>
            <a:off x="5148072" y="3520440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Full audit trail enabled (prompts, tools, outputs)?</a:t>
            </a:r>
            <a:endParaRPr lang="en-US" sz="1100" dirty="0"/>
          </a:p>
        </p:txBody>
      </p:sp>
      <p:sp>
        <p:nvSpPr>
          <p:cNvPr id="56" name="Shape 54"/>
          <p:cNvSpPr/>
          <p:nvPr/>
        </p:nvSpPr>
        <p:spPr>
          <a:xfrm>
            <a:off x="4818888" y="3831336"/>
            <a:ext cx="256032" cy="237744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57" name="Text 55"/>
          <p:cNvSpPr/>
          <p:nvPr/>
        </p:nvSpPr>
        <p:spPr>
          <a:xfrm>
            <a:off x="4818888" y="3831336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58" name="Text 56"/>
          <p:cNvSpPr/>
          <p:nvPr/>
        </p:nvSpPr>
        <p:spPr>
          <a:xfrm>
            <a:off x="5148072" y="3831336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Kill switch mechanism tested?</a:t>
            </a:r>
            <a:endParaRPr lang="en-US" sz="1100" dirty="0"/>
          </a:p>
        </p:txBody>
      </p:sp>
      <p:sp>
        <p:nvSpPr>
          <p:cNvPr id="59" name="Shape 57"/>
          <p:cNvSpPr/>
          <p:nvPr/>
        </p:nvSpPr>
        <p:spPr>
          <a:xfrm>
            <a:off x="4818888" y="4142232"/>
            <a:ext cx="256032" cy="237744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60" name="Text 58"/>
          <p:cNvSpPr/>
          <p:nvPr/>
        </p:nvSpPr>
        <p:spPr>
          <a:xfrm>
            <a:off x="4818888" y="4142232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1" name="Text 59"/>
          <p:cNvSpPr/>
          <p:nvPr/>
        </p:nvSpPr>
        <p:spPr>
          <a:xfrm>
            <a:off x="5148072" y="4142232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SIEM/SOAR alerts configured?</a:t>
            </a:r>
            <a:endParaRPr lang="en-US" sz="1100" dirty="0"/>
          </a:p>
        </p:txBody>
      </p:sp>
      <p:sp>
        <p:nvSpPr>
          <p:cNvPr id="62" name="Shape 60"/>
          <p:cNvSpPr/>
          <p:nvPr/>
        </p:nvSpPr>
        <p:spPr>
          <a:xfrm>
            <a:off x="4818888" y="4453128"/>
            <a:ext cx="256032" cy="237744"/>
          </a:xfrm>
          <a:prstGeom prst="rect">
            <a:avLst/>
          </a:prstGeom>
          <a:solidFill>
            <a:srgbClr val="8096B0">
              <a:alpha val="20000"/>
            </a:srgbClr>
          </a:solidFill>
          <a:ln/>
        </p:spPr>
      </p:sp>
      <p:sp>
        <p:nvSpPr>
          <p:cNvPr id="63" name="Text 61"/>
          <p:cNvSpPr/>
          <p:nvPr/>
        </p:nvSpPr>
        <p:spPr>
          <a:xfrm>
            <a:off x="4818888" y="4453128"/>
            <a:ext cx="25603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096B0"/>
                </a:solidFill>
              </a:rPr>
              <a:t>□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5148072" y="4453128"/>
            <a:ext cx="3657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Incident response runbook written?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1C3557"/>
          </a:solidFill>
          <a:ln/>
        </p:spPr>
      </p:sp>
      <p:sp>
        <p:nvSpPr>
          <p:cNvPr id="3" name="Shape 1"/>
          <p:cNvSpPr/>
          <p:nvPr/>
        </p:nvSpPr>
        <p:spPr>
          <a:xfrm>
            <a:off x="0" y="0"/>
            <a:ext cx="320040" cy="749808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4" name="Text 2"/>
          <p:cNvSpPr/>
          <p:nvPr/>
        </p:nvSpPr>
        <p:spPr>
          <a:xfrm>
            <a:off x="502920" y="0"/>
            <a:ext cx="8321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</a:rPr>
              <a:t>CASE STUDY  ·  SPOTIFY HONK  ·  SECURITY DESIGN DECISIONS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4160520" cy="2011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54864" cy="201168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7" name="Text 5"/>
          <p:cNvSpPr/>
          <p:nvPr/>
        </p:nvSpPr>
        <p:spPr>
          <a:xfrm>
            <a:off x="466344" y="960120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DC9"/>
                </a:solidFill>
              </a:rPr>
              <a:t>✓ Sandboxed container by design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66344" y="1344168"/>
            <a:ext cx="3922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Agent runs with limited permissions, few binaries, and virtually no access to surrounding systems. Not as an afterthought — as the primary design constraint.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9768" y="2185416"/>
            <a:ext cx="3959352" cy="594360"/>
          </a:xfrm>
          <a:prstGeom prst="rect">
            <a:avLst/>
          </a:prstGeom>
          <a:solidFill>
            <a:srgbClr val="3A7DC9">
              <a:alpha val="12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02920" y="2221992"/>
            <a:ext cx="38679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A7DC9"/>
                </a:solidFill>
              </a:rPr>
              <a:t>Result: Predictable behaviour AND security. Intentional flexibility reduction serves both goals simultaneously.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4663440" y="868680"/>
            <a:ext cx="4160520" cy="2011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4663440" y="868680"/>
            <a:ext cx="54864" cy="2011680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4809744" y="960120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4A7FA8"/>
                </a:solidFill>
              </a:rPr>
              <a:t>✓ Infrastructure outside the agent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4809744" y="1344168"/>
            <a:ext cx="3922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Slack interactions, git push, prompt authoring all happen OUTSIDE the agent boundary. The agent only touches code. The blast radius of any failure is contained.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4773168" y="2185416"/>
            <a:ext cx="3959352" cy="594360"/>
          </a:xfrm>
          <a:prstGeom prst="rect">
            <a:avLst/>
          </a:prstGeom>
          <a:solidFill>
            <a:srgbClr val="4A7FA8">
              <a:alpha val="12000"/>
            </a:srgbClr>
          </a:solidFill>
          <a:ln/>
        </p:spPr>
      </p:sp>
      <p:sp>
        <p:nvSpPr>
          <p:cNvPr id="16" name="Text 14"/>
          <p:cNvSpPr/>
          <p:nvPr/>
        </p:nvSpPr>
        <p:spPr>
          <a:xfrm>
            <a:off x="4846320" y="2221992"/>
            <a:ext cx="38679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A7FA8"/>
                </a:solidFill>
              </a:rPr>
              <a:t>Result: Even if the agent misbehaves, it cannot send unauthorised messages, push to wrong branches, or escalate beyond code changes.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20040" y="3044952"/>
            <a:ext cx="4160520" cy="2011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3044952"/>
            <a:ext cx="54864" cy="2011680"/>
          </a:xfrm>
          <a:prstGeom prst="rect">
            <a:avLst/>
          </a:prstGeom>
          <a:solidFill>
            <a:srgbClr val="3A7E6E"/>
          </a:solidFill>
          <a:ln/>
        </p:spPr>
      </p:sp>
      <p:sp>
        <p:nvSpPr>
          <p:cNvPr id="19" name="Text 17"/>
          <p:cNvSpPr/>
          <p:nvPr/>
        </p:nvSpPr>
        <p:spPr>
          <a:xfrm>
            <a:off x="466344" y="313639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3A7E6E"/>
                </a:solidFill>
              </a:rPr>
              <a:t>✓ Audit logs for compliance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466344" y="3520440"/>
            <a:ext cx="3922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Every agent action is logged. Spotify maintains full audit trails for their automated PR pipeline, enabling compliance reporting and incident investigation.</a:t>
            </a:r>
            <a:endParaRPr lang="en-US" sz="1100" dirty="0"/>
          </a:p>
        </p:txBody>
      </p:sp>
      <p:sp>
        <p:nvSpPr>
          <p:cNvPr id="21" name="Shape 19"/>
          <p:cNvSpPr/>
          <p:nvPr/>
        </p:nvSpPr>
        <p:spPr>
          <a:xfrm>
            <a:off x="429768" y="4361688"/>
            <a:ext cx="3959352" cy="594360"/>
          </a:xfrm>
          <a:prstGeom prst="rect">
            <a:avLst/>
          </a:prstGeom>
          <a:solidFill>
            <a:srgbClr val="3A7E6E">
              <a:alpha val="12000"/>
            </a:srgbClr>
          </a:solidFill>
          <a:ln/>
        </p:spPr>
      </p:sp>
      <p:sp>
        <p:nvSpPr>
          <p:cNvPr id="22" name="Text 20"/>
          <p:cNvSpPr/>
          <p:nvPr/>
        </p:nvSpPr>
        <p:spPr>
          <a:xfrm>
            <a:off x="502920" y="4398264"/>
            <a:ext cx="38679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3A7E6E"/>
                </a:solidFill>
              </a:rPr>
              <a:t>Result: 1,500+ automated PRs merged with full traceability. Compliance teams can answer any question about who authorised what, when.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663440" y="3044952"/>
            <a:ext cx="4160520" cy="2011680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4663440" y="3044952"/>
            <a:ext cx="54864" cy="2011680"/>
          </a:xfrm>
          <a:prstGeom prst="rect">
            <a:avLst/>
          </a:prstGeom>
          <a:solidFill>
            <a:srgbClr val="8096B0"/>
          </a:solidFill>
          <a:ln/>
        </p:spPr>
      </p:sp>
      <p:sp>
        <p:nvSpPr>
          <p:cNvPr id="25" name="Text 23"/>
          <p:cNvSpPr/>
          <p:nvPr/>
        </p:nvSpPr>
        <p:spPr>
          <a:xfrm>
            <a:off x="4809744" y="3136392"/>
            <a:ext cx="3922776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8096B0"/>
                </a:solidFill>
              </a:rPr>
              <a:t>✓ Human merge gate (non-negotiable)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4809744" y="3520440"/>
            <a:ext cx="3922776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D3D"/>
                </a:solidFill>
              </a:rPr>
              <a:t>Agents open PRs. Humans merge. No agent ever directly commits to main without human approval. The HITL gate is hardcoded into the pipeline, not configurable.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4773168" y="4361688"/>
            <a:ext cx="3959352" cy="594360"/>
          </a:xfrm>
          <a:prstGeom prst="rect">
            <a:avLst/>
          </a:prstGeom>
          <a:solidFill>
            <a:srgbClr val="8096B0">
              <a:alpha val="12000"/>
            </a:srgbClr>
          </a:solidFill>
          <a:ln/>
        </p:spPr>
      </p:sp>
      <p:sp>
        <p:nvSpPr>
          <p:cNvPr id="28" name="Text 26"/>
          <p:cNvSpPr/>
          <p:nvPr/>
        </p:nvSpPr>
        <p:spPr>
          <a:xfrm>
            <a:off x="4846320" y="4398264"/>
            <a:ext cx="3867912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096B0"/>
                </a:solidFill>
              </a:rPr>
              <a:t>Result: ~50% of PRs automated, zero bypassing of human review. Speed AND governance coexist.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4980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0"/>
            <a:ext cx="822960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FFFFFF"/>
                </a:solidFill>
              </a:rPr>
              <a:t>LAB EXERCISE  ·  30 MINUTES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C3557"/>
                </a:solidFill>
              </a:rPr>
              <a:t>Security Design Review: Threat Model Your Module 2 Agent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20040" y="138988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138988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7" name="Text 5"/>
          <p:cNvSpPr/>
          <p:nvPr/>
        </p:nvSpPr>
        <p:spPr>
          <a:xfrm>
            <a:off x="320040" y="138988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1</a:t>
            </a:r>
            <a:endParaRPr lang="en-US" sz="2000" dirty="0"/>
          </a:p>
        </p:txBody>
      </p:sp>
      <p:sp>
        <p:nvSpPr>
          <p:cNvPr id="8" name="Text 6"/>
          <p:cNvSpPr/>
          <p:nvPr/>
        </p:nvSpPr>
        <p:spPr>
          <a:xfrm>
            <a:off x="886968" y="144475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Identity mapping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2898648" y="144475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86968" y="173736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For the agent you designed in Module 2: list every identity it needs. What tools does it call? What systems does it access? Assign one identity per distinct permission boundary.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320040" y="212140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212140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212140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2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886968" y="217627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OWASP threat pass</a:t>
            </a:r>
            <a:endParaRPr lang="en-US" sz="1250" dirty="0"/>
          </a:p>
        </p:txBody>
      </p:sp>
      <p:sp>
        <p:nvSpPr>
          <p:cNvPr id="15" name="Text 13"/>
          <p:cNvSpPr/>
          <p:nvPr/>
        </p:nvSpPr>
        <p:spPr>
          <a:xfrm>
            <a:off x="2898648" y="217627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(8 min)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86968" y="246888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Run your agent through the OWASP GenAI Top 10. For LLM01 (Prompt Injection) and LLM06 (Excessive Agency): what’s your specific risk? What mitigation applies?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320040" y="285292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5292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19" name="Text 17"/>
          <p:cNvSpPr/>
          <p:nvPr/>
        </p:nvSpPr>
        <p:spPr>
          <a:xfrm>
            <a:off x="320040" y="285292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3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886968" y="290779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Kill switch design</a:t>
            </a:r>
            <a:endParaRPr lang="en-US" sz="1250" dirty="0"/>
          </a:p>
        </p:txBody>
      </p:sp>
      <p:sp>
        <p:nvSpPr>
          <p:cNvPr id="21" name="Text 19"/>
          <p:cNvSpPr/>
          <p:nvPr/>
        </p:nvSpPr>
        <p:spPr>
          <a:xfrm>
            <a:off x="2898648" y="290779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(7 min)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886968" y="320040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Define the three conditions under which your agent must immediately stop. What triggers hard stop vs graceful pause vs HITL gate? Who has the authority to trigger each?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20040" y="358444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24" name="Shape 22"/>
          <p:cNvSpPr/>
          <p:nvPr/>
        </p:nvSpPr>
        <p:spPr>
          <a:xfrm>
            <a:off x="320040" y="358444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25" name="Text 23"/>
          <p:cNvSpPr/>
          <p:nvPr/>
        </p:nvSpPr>
        <p:spPr>
          <a:xfrm>
            <a:off x="320040" y="358444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4</a:t>
            </a:r>
            <a:endParaRPr lang="en-US" sz="2000" dirty="0"/>
          </a:p>
        </p:txBody>
      </p:sp>
      <p:sp>
        <p:nvSpPr>
          <p:cNvPr id="26" name="Text 24"/>
          <p:cNvSpPr/>
          <p:nvPr/>
        </p:nvSpPr>
        <p:spPr>
          <a:xfrm>
            <a:off x="886968" y="363931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Audit trail spec</a:t>
            </a:r>
            <a:endParaRPr lang="en-US" sz="1250" dirty="0"/>
          </a:p>
        </p:txBody>
      </p:sp>
      <p:sp>
        <p:nvSpPr>
          <p:cNvPr id="27" name="Text 25"/>
          <p:cNvSpPr/>
          <p:nvPr/>
        </p:nvSpPr>
        <p:spPr>
          <a:xfrm>
            <a:off x="2898648" y="363931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886968" y="393192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List the 5 most important things to log about your agent’s actions. For each: what format, what retention, who can access, and what alert fires if the log is missing?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320040" y="4315968"/>
            <a:ext cx="8503920" cy="658368"/>
          </a:xfrm>
          <a:prstGeom prst="rect">
            <a:avLst/>
          </a:prstGeom>
          <a:solidFill>
            <a:srgbClr val="F3F6F9"/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320040" y="4315968"/>
            <a:ext cx="475488" cy="658368"/>
          </a:xfrm>
          <a:prstGeom prst="rect">
            <a:avLst/>
          </a:prstGeom>
          <a:solidFill>
            <a:srgbClr val="4A7FA8"/>
          </a:solidFill>
          <a:ln/>
        </p:spPr>
      </p:sp>
      <p:sp>
        <p:nvSpPr>
          <p:cNvPr id="31" name="Text 29"/>
          <p:cNvSpPr/>
          <p:nvPr/>
        </p:nvSpPr>
        <p:spPr>
          <a:xfrm>
            <a:off x="320040" y="4315968"/>
            <a:ext cx="4754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5</a:t>
            </a:r>
            <a:endParaRPr lang="en-US" sz="2000" dirty="0"/>
          </a:p>
        </p:txBody>
      </p:sp>
      <p:sp>
        <p:nvSpPr>
          <p:cNvPr id="32" name="Text 30"/>
          <p:cNvSpPr/>
          <p:nvPr/>
        </p:nvSpPr>
        <p:spPr>
          <a:xfrm>
            <a:off x="886968" y="4370832"/>
            <a:ext cx="2011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4A7FA8"/>
                </a:solidFill>
              </a:rPr>
              <a:t>Pre-deployment checklist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2898648" y="4370832"/>
            <a:ext cx="731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7A90A8"/>
                </a:solidFill>
              </a:rPr>
              <a:t>(5 min)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886968" y="4663440"/>
            <a:ext cx="7818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A90A8"/>
                </a:solidFill>
              </a:rPr>
              <a:t>Work through the slide 9 checklist for your agent. Which boxes can you check today? Which require new infrastructure? Prioritise the top 3 gaps.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C355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79408" y="0"/>
            <a:ext cx="164592" cy="5143500"/>
          </a:xfrm>
          <a:prstGeom prst="rect">
            <a:avLst/>
          </a:prstGeom>
          <a:solidFill>
            <a:srgbClr val="3A7DC9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201168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rgbClr val="5B8DB8"/>
                </a:solidFill>
              </a:rPr>
              <a:t>DISCUSSION + MODULE SUMMARY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320040" y="749808"/>
            <a:ext cx="502920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solidFill>
            <a:srgbClr val="5B8DB8">
              <a:alpha val="85000"/>
            </a:srgbClr>
          </a:solidFill>
          <a:ln/>
        </p:spPr>
      </p:sp>
      <p:sp>
        <p:nvSpPr>
          <p:cNvPr id="6" name="Text 4"/>
          <p:cNvSpPr/>
          <p:nvPr/>
        </p:nvSpPr>
        <p:spPr>
          <a:xfrm>
            <a:off x="320040" y="749808"/>
            <a:ext cx="50292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DISCUSSION QUESTIONS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1280160"/>
            <a:ext cx="46634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Q1.  Which OWASP GenAI threat is your organisation least prepared for today? What would remediation require?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Q2.  Non-human identities outnumber humans 50:1. Does your current IAM system treat agents as first-class identities?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Q3.  Could you answer a compliance audit about every action your current agents took last week? What’s missing?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Q4.  Where in your organisation would a compromised agent cause the most damage? Is that pathway protected?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5532120" y="749808"/>
            <a:ext cx="3291840" cy="3493008"/>
          </a:xfrm>
          <a:prstGeom prst="rect">
            <a:avLst/>
          </a:prstGeom>
          <a:solidFill>
            <a:srgbClr val="2E5073">
              <a:alpha val="80000"/>
            </a:srgbClr>
          </a:solidFill>
          <a:ln/>
          <a:effectLst>
            <a:outerShdw sx="100000" sy="100000" kx="0" ky="0" algn="bl" rotWithShape="0" blurRad="101600" dist="38100" dir="8100000">
              <a:srgbClr val="000000">
                <a:alpha val="13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solidFill>
            <a:srgbClr val="3A7DC9">
              <a:alpha val="90000"/>
            </a:srgbClr>
          </a:solidFill>
          <a:ln/>
        </p:spPr>
      </p:sp>
      <p:sp>
        <p:nvSpPr>
          <p:cNvPr id="10" name="Text 8"/>
          <p:cNvSpPr/>
          <p:nvPr/>
        </p:nvSpPr>
        <p:spPr>
          <a:xfrm>
            <a:off x="5532120" y="749808"/>
            <a:ext cx="32918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FFFFF"/>
                </a:solidFill>
              </a:rPr>
              <a:t>KEY TAKEAWAYS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5669280" y="1280160"/>
            <a:ext cx="3063240" cy="2834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Agents are digital workers needing first-class identity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Default-deny: every tool is an escalation path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Sandbox intentionally — limits flexibility AND risk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OWASP GenAI Top 10: know your threats by name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Kill switches are non-negotiable in production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Audit everything: prompts, tools, outputs, permissions</a:t>
            </a:r>
            <a:endParaRPr lang="en-US" sz="1150" dirty="0"/>
          </a:p>
          <a:p>
            <a:pPr indent="0" marL="0">
              <a:buNone/>
            </a:pPr>
            <a:endParaRPr lang="en-US" sz="1150" dirty="0"/>
          </a:p>
          <a:p>
            <a:pPr indent="0" marL="0">
              <a:buNone/>
            </a:pPr>
            <a:r>
              <a:rPr lang="en-US" sz="1150" dirty="0">
                <a:solidFill>
                  <a:srgbClr val="D4E4F0"/>
                </a:solidFill>
              </a:rPr>
              <a:t>· Spotify: speed + governance coexist by design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solidFill>
            <a:srgbClr val="3A7DC9">
              <a:alpha val="82000"/>
            </a:srgbClr>
          </a:solidFill>
          <a:ln/>
        </p:spPr>
      </p:sp>
      <p:sp>
        <p:nvSpPr>
          <p:cNvPr id="13" name="Text 11"/>
          <p:cNvSpPr/>
          <p:nvPr/>
        </p:nvSpPr>
        <p:spPr>
          <a:xfrm>
            <a:off x="320040" y="4343400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</a:rPr>
              <a:t>NEXT  ·  Module 09: FinOps for Agentic Systems  —  Token economics, cost governance, model routing, and ROI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Module 8: Reliability &amp; Security Engineering</dc:title>
  <dc:subject>PptxGenJS Presentation</dc:subject>
  <dc:creator>PptxGenJS</dc:creator>
  <cp:lastModifiedBy>PptxGenJS</cp:lastModifiedBy>
  <cp:revision>1</cp:revision>
  <dcterms:created xsi:type="dcterms:W3CDTF">2026-04-05T18:24:10Z</dcterms:created>
  <dcterms:modified xsi:type="dcterms:W3CDTF">2026-04-05T18:24:10Z</dcterms:modified>
</cp:coreProperties>
</file>