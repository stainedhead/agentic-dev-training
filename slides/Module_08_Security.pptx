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Reliability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Security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Engineering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Building agents that are safe, sandboxed, and production-grade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58768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0507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29400" y="594360"/>
            <a:ext cx="2194560" cy="658368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29400" y="5943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Identity &amp; IAM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29400" y="1490472"/>
            <a:ext cx="2194560" cy="658368"/>
          </a:xfrm>
          <a:prstGeom prst="rect">
            <a:avLst/>
          </a:prstGeom>
          <a:solidFill>
            <a:srgbClr val="4A7FA8">
              <a:alpha val="9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29400" y="149047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Sandboxing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29400" y="2386584"/>
            <a:ext cx="2194560" cy="658368"/>
          </a:xfrm>
          <a:prstGeom prst="rect">
            <a:avLst/>
          </a:prstGeom>
          <a:solidFill>
            <a:srgbClr val="3A7E6E">
              <a:alpha val="84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29400" y="238658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Least Privilege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29400" y="3282696"/>
            <a:ext cx="2194560" cy="658368"/>
          </a:xfrm>
          <a:prstGeom prst="rect">
            <a:avLst/>
          </a:prstGeom>
          <a:solidFill>
            <a:srgbClr val="8096B0">
              <a:alpha val="76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29400" y="328269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Kill Switches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29400" y="4178808"/>
            <a:ext cx="2194560" cy="658368"/>
          </a:xfrm>
          <a:prstGeom prst="rect">
            <a:avLst/>
          </a:prstGeom>
          <a:solidFill>
            <a:srgbClr val="2E5073">
              <a:alpha val="68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29400" y="417880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Audit Logs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Manage Agent Identities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first-class identity governance to agents — service accounts, workload identities, just-in-time provisioning, and zero standing privileges.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Sandboxed Agents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Structure agents to run in containers with minimal permissions, few binaries, and intentionally reduced flexibility for predictability and security.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OWASP GenAI Top 10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Identify and mitigate the top threat classes: prompt injection, tool misuse, memory leakage, privilege escalation, and agent impersonation.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Kill Switches &amp; Audit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Design circuit breakers, emergency stop mechanisms, and full audit trails so every agent action is traceable and reversible where possible.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AGENTS AS DIGITAL WORKERS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Non-human identities outnumber humans ~50:1 in the average enterprise today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8872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801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identity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6344" y="170078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Unique service accounts, Kubernetes pod identities, or workload identities — not generic shared credentials. Each agent = one identity.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18872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8872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855464" y="12801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privileges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55464" y="170078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Strict, scoped permissions per tool. Default-deny, explicit-allow. Every tool is a potential escalation path.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10896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10896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2004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oversight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" y="362102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80% of IT leaders report agents acting outside expected behaviour (Strata, 2025). Legacy IAM was not designed for this scale.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310896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310896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32004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traceability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55464" y="362102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Every agent action must map to an identity, an intent, and a timestamp. Without audit trails, compliance fails and incidents can't be investigated.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Traditional IAM assumed long-lived human identities. Agents are ephemeral, delegated, and cross-boundary — a fundamentally different trust model.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ZERO TRUST FOR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Never trust, always verify — even when the request comes from your own agent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Least Privilege by Default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13816" y="1554480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Every tool is a potential escalation path. Default-deny; add explicit allow rules per agent persona. If you wouldn't give a junior contractor root access, don't give it to an agent.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38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Just-in-Time Provisioning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13816" y="2852928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Grant access only when the task requires it. Revoke immediately after. No standing admin rights. Agents that complete and terminate should leave no residual permissions.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38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Short-Lived Secrets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13816" y="4151376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Rotate credentials often. Store in Vault or cloud KMS. Never bake credentials into prompts, memory, or context files. Secrets in context = secrets in logs.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572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Signed Tools &amp; Plugins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157216" y="1554480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Require signature verification (Sigstore/Cosign) before an agent can load or invoke a tool. Prevents untrusted modules from entering your toolchain via MCP or plugin injection.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72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Zero Trust OAuth Scopes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157216" y="2852928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Enforce OAuth scopes at the MCP/tool boundary. Each tool call should be authorised by scope, not by the agent's general session token.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Network Egress Allowlists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157216" y="4151376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Agents should only be able to reach pre-approved endpoints. Spotify's Honk runs with virtually no access to surrounding systems — by design.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SANDBOXING  —  SPOTIFY’S DESIGN PHILOSOPHY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“Intentional flexibility reduction = more predictable behaviour + secondary security benefits”  — Spotify Engineering (Honk Part 3)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24358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Container with minimal permissions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153619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 runs as a non-root user in a gVisor/GKE Sandbox or Firecracker microVM. No host filesystem access.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96596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96596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202082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Few binaries available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" y="231343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Only the tools the agent needs to do its job. Every additional binary is an attack surface and an unpredictability vector.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74320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" y="279806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access to surrounding systems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" y="309067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cannot call internal APIs, databases, or services not in the explicit allowlist. Network egress via allowlist only.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52044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52044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" y="357530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Bounded execution time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" y="386791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Every agent run has a timeout. Unbounded execution enables resource exhaustion and runaway agentic loops.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429768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429768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" y="435254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Immutable infrastructure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" y="464515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run from verified, signed images. No in-place mutations. Each run is a fresh container from a known-good state.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66360" y="1170432"/>
            <a:ext cx="36576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66360" y="1170432"/>
            <a:ext cx="365760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7" name="Text 25"/>
          <p:cNvSpPr/>
          <p:nvPr/>
        </p:nvSpPr>
        <p:spPr>
          <a:xfrm>
            <a:off x="5166360" y="11704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LAYERED EXECUTION PLANE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76088" y="1664208"/>
            <a:ext cx="3438144" cy="685800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349240" y="1709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Assurance Plane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49240" y="198424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Sigstore/Cosign, SLSA, SBOMs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276088" y="2441448"/>
            <a:ext cx="3438144" cy="68580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349240" y="24871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Observability Plane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49240" y="27614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OTel spans, SIEM, SOAR playbooks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276088" y="3218688"/>
            <a:ext cx="3438144" cy="68580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349240" y="32644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Data/Memory Plane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49240" y="35387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Vector stores on private subnets, PII redaction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276088" y="3995928"/>
            <a:ext cx="3438144" cy="685800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349240" y="40416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Execution Plane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49240" y="43159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gVisor/Firecracker, WASI, egress allowlists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OWASP GENAI TOP 10 v2025  —  AGENT THREAT CLASSES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The exact failure modes your enterprise agents will face in production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17043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56616" y="117043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0" y="1243584"/>
            <a:ext cx="804672" cy="237744"/>
          </a:xfrm>
          <a:prstGeom prst="rect">
            <a:avLst/>
          </a:prstGeom>
          <a:solidFill>
            <a:srgbClr val="E05555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2435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CRITICAL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12252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Prompt Injection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1560" y="155448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Input validation, output filtering, sandboxed execution. Never trust external content as instructions.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213055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" y="213055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0" y="220370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0" y="22037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51560" y="218541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Insecure Output Handling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251460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Treat all LLM output as untrusted. Sanitise before passing to shell, DB, or browser.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309067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" y="309067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0" y="316382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0" y="31638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1560" y="314553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Training Data Poisoning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347472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For fine-tuned models: validate training data provenance. For RAG: validate retrieval sources.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0040" y="405079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56616" y="405079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0" y="4123944"/>
            <a:ext cx="804672" cy="237744"/>
          </a:xfrm>
          <a:prstGeom prst="rect">
            <a:avLst/>
          </a:prstGeom>
          <a:solidFill>
            <a:srgbClr val="E05555">
              <a:alpha val="8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0" y="41239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CRITICAL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51560" y="410565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Excessive Agency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443484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Least privilege. Require explicit HITL approval for irreversible actions. Kill switches required.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0916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709160" y="117043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745736" y="117043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LLM07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46720" y="1243584"/>
            <a:ext cx="804672" cy="237744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0" y="12435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MEDIUM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440680" y="12252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System Prompt Leakage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40680" y="155448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Never put secrets in system prompts. Assume all prompt content can be extracted by adversarial users.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09160" y="213055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745736" y="213055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LLM08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046720" y="2203704"/>
            <a:ext cx="804672" cy="237744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8046720" y="22037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MEDIUM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0680" y="218541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Vector / Embedding Attacks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51460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Validate and sanitise content before embedding. Monitor for retrieval anomalies in RAG pipelines.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0916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709160" y="309067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4745736" y="309067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LLM09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046720" y="316382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8046720" y="31638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440680" y="314553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Misinformation at Scale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40680" y="347472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Ground agents in validated sources. Implement citation requirements. Human review for high-stakes outputs.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70916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4709160" y="405079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4745736" y="405079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LLM10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046720" y="412394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8046720" y="41239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440680" y="410565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Unbounded Consumption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440680" y="443484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Hard token budgets, cost guardrails, rate limits at gateway level. Monitor cost per agent run.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KILL SWITCHES &amp; AUDIT TRAILS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Every production agent deployment needs a reliable mechanism to pause or stop it immediately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KILL SWITCH PATTERNS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64208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" y="1664208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719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Hard stop (immediate)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01168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Terminate agent container. Revoke all credentials. Quarantine the agent namespace. Use when: unexpected behaviour detected or security incident.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2468880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" y="2468880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Graceful pause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28163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 completes current tool call, saves state to NOTES.md, awaits human instruction. Use when: review needed before proceeding.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273552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768" y="3273552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328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HITL escalation gate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6210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 reaches a pre-defined checkpoint and cannot proceed without explicit human approval. Use when: irreversible action required.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4078224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29768" y="4078224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4133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Budget exhaustion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44256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 automatically stops when token/cost budget is exceeded. Prevents runaway loops from burning compute. Use as a secondary safety net.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AUDIT TRAIL REQUIREMENTS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73168" y="1664208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166420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User prompts and model responses — full fidelity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73168" y="2039112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20391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Retrieval provenance (what was fetched and from where)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73168" y="2414016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241401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Every tool invocation: name, arguments, output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73168" y="2788920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278892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Permissions in effect at time of each action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3163824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316382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Agent identity and session token for each call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73168" y="3538728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353872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Diff / output before human approval gate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73168" y="3913632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391363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Compaction events (what was summarised and discarded)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73168" y="4288536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2" name="Text 40"/>
          <p:cNvSpPr/>
          <p:nvPr/>
        </p:nvSpPr>
        <p:spPr>
          <a:xfrm>
            <a:off x="4846320" y="428853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Cost and token usage per run and per tool call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ENTERPRISE SECURITY FRAMEWORKS FOR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Align to existing frameworks — don't reinvent. Agents extend existing risk surfaces, not create new categories.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2011680" cy="6583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NIST AI RMF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3A7DC9"/>
                </a:solidFill>
              </a:rPr>
              <a:t>AI Risk Management Framework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Role-based access controls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Continuous monitoring &amp; adversarial testing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Lifecycle logging for traceability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Govern, Map, Measure, Manage lifecycle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93192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nist.gov/artificial-intelligence/ai-rmf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96312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96312" y="1170432"/>
            <a:ext cx="2011680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2496312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OWASP GenAI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 10 v2025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87752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4A7FA8"/>
                </a:solidFill>
              </a:rPr>
              <a:t>Application-level threat catalogue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87752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15 agent-specific threat categories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87752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Prompt injection, tool misuse, memory leakage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87752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Mitigation checklists per threat class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87752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Quarterly incident round-ups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9464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owasp.org/www-project-top-10-for-llm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72584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72584" y="1170432"/>
            <a:ext cx="2011680" cy="65836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4" name="Text 22"/>
          <p:cNvSpPr/>
          <p:nvPr/>
        </p:nvSpPr>
        <p:spPr>
          <a:xfrm>
            <a:off x="4672584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ISO/IEC 42001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64024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3A7E6E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64024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Oversight, logging, continual improvement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64024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AI governance documentation requirements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64024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Audit and accountability mechanisms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64024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Compatible with ISO 27001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45736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iso.org/standard/81230.html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848856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848856" y="1170432"/>
            <a:ext cx="2011680" cy="65836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3" name="Text 31"/>
          <p:cNvSpPr/>
          <p:nvPr/>
        </p:nvSpPr>
        <p:spPr>
          <a:xfrm>
            <a:off x="6848856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CSA / Cloud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Security Alliance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40296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8096B0"/>
                </a:solidFill>
              </a:rPr>
              <a:t>Cloud-specific AI security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40296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Trait-based risk model for agents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40296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Agent identity in multi-cloud environments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940296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Data residency and sovereignty controls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0296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Shared responsibility model for LLM APIs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922008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cloudsecurityalliance.org/ai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PRE-DEPLOYMENT SECURITY CHECKLIST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Run this before every agent goes to production. Every unchecked item is a known risk you’re accepting.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Identity &amp; Access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" y="1645920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29768" y="16459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8952" y="1645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has unique identity (not shared creds)?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" y="1956816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" y="195681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19568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Least-privilege tool permissions applied?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" y="2267712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" y="226771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22677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JIT provisioning (no standing admin rights)?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" y="2578608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" y="257860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" y="2578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Secrets in Vault/KMS (not in prompts/memory)?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117043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Sandboxing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18888" y="1645920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16459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48072" y="1645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runs in isolated container?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18888" y="1956816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818888" y="195681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48072" y="19568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Network egress allowlist configured?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18888" y="2267712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818888" y="226771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48072" y="22677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Execution timeout defined and enforced?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18888" y="2578608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4818888" y="257860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48072" y="2578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Binary allowlist minimised?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0040" y="304495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Threat Mitigations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29768" y="3520440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429768" y="35204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58952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Input validation for prompt injection?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29768" y="3831336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429768" y="383133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58952" y="38313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Output sanitisation before shell/DB/browser?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29768" y="4142232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429768" y="41422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8952" y="4142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HITL gate for irreversible actions?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29768" y="4453128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429768" y="44531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58952" y="4453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Cost budget and token limits set?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09160" y="304495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52" name="Text 50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Audit &amp; Response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818888" y="3520440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4818888" y="35204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148072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Full audit trail enabled (prompts, tools, outputs)?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818888" y="3831336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4818888" y="383133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148072" y="38313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Kill switch mechanism tested?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818888" y="4142232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4818888" y="41422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148072" y="4142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SIEM/SOAR alerts configured?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818888" y="4453128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4818888" y="44531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148072" y="4453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Incident response runbook written?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CASE STUDY  ·  SPOTIFY HONK  ·  SECURITY DESIGN DECISIONS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54864" cy="2011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96012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✓ Sandboxed container by design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344168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runs with limited permissions, few binaries, and virtually no access to surrounding systems. Not as an afterthought — as the primary design constraint.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" y="2185416"/>
            <a:ext cx="3959352" cy="594360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221992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A7DC9"/>
                </a:solidFill>
              </a:rPr>
              <a:t>Result: Predictable behaviour AND security. Intentional flexibility reduction serves both goals simultaneously.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868680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868680"/>
            <a:ext cx="54864" cy="2011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4809744" y="96012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✓ Infrastructure outside the agent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9744" y="1344168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Slack interactions, git push, prompt authoring all happen OUTSIDE the agent boundary. The agent only touches code. The blast radius of any failure is contained.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73168" y="2185416"/>
            <a:ext cx="3959352" cy="594360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221992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7FA8"/>
                </a:solidFill>
              </a:rPr>
              <a:t>Result: Even if the agent misbehaves, it cannot send unauthorised messages, push to wrong branches, or escalate beyond code changes.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044952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044952"/>
            <a:ext cx="54864" cy="2011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" y="313639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✓ Audit logs for compliance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" y="3520440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Every agent action is logged. Spotify maintains full audit trails for their automated PR pipeline, enabling compliance reporting and incident investigation.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" y="4361688"/>
            <a:ext cx="3959352" cy="594360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398264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A7E6E"/>
                </a:solidFill>
              </a:rPr>
              <a:t>Result: 1,500+ automated PRs merged with full traceability. Compliance teams can answer any question about who authorised what, when.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044952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044952"/>
            <a:ext cx="54864" cy="201168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313639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✓ Human merge gate (non-negotiable)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9744" y="3520440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Agents open PRs. Humans merge. No agent ever directly commits to main without human approval. The HITL gate is hardcoded into the pipeline, not configurable.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73168" y="4361688"/>
            <a:ext cx="3959352" cy="594360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4398264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096B0"/>
                </a:solidFill>
              </a:rPr>
              <a:t>Result: ~50% of PRs automated, zero bypassing of human review. Speed AND governance coexist.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557"/>
                </a:solidFill>
              </a:rPr>
              <a:t>Security Design Review: Threat Model Your Module 2 Agent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Identity mapping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98648" y="144475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3736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For the agent you designed in Module 2: list every identity it needs. What tools does it call? What systems does it access? Assign one identity per distinct permission boundary.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2140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86968" y="2176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OWASP threat pass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898648" y="21762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46888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Run your agent through the OWASP GenAI Top 10. For LLM01 (Prompt Injection) and LLM06 (Excessive Agency): what’s your specific risk? What mitigation applies?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85292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86968" y="29077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Kill switch design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98648" y="29077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20040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Define the three conditions under which your agent must immediately stop. What triggers hard stop vs graceful pause vs HITL gate? Who has the authority to trigger each?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58444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86968" y="36393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Audit trail spec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898648" y="363931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93192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List the 5 most important things to log about your agent’s actions. For each: what format, what retention, who can access, and what alert fires if the log is missing?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431596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" y="43708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Pre-deployment checklist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898648" y="4370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66344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Work through the slide 9 checklist for your agent. Which boxes can you check today? Which require new infrastructure? Prioritise the top 3 gaps.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Which OWASP GenAI threat is your organisation least prepared for today? What would remediation require?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Non-human identities outnumber humans 50:1. Does your current IAM system treat agents as first-class identities?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Could you answer a compliance audit about every action your current agents took last week? What’s missing?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Where in your organisation would a compromised agent cause the most damage? Is that pathway protected?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Agents are digital workers needing first-class identity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Default-deny: every tool is an escalation path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Sandbox intentionally — limits flexibility AND risk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OWASP GenAI Top 10: know your threats by name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Kill switches are non-negotiable in production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Audit everything: prompts, tools, outputs, permissions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Spotify: speed + governance coexist by design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09: FinOps for Agentic Systems  —  Token economics, cost governance, model routing, and ROI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Reliability &amp; Security Engineering</dc:title>
  <dc:subject>PptxGenJS Presentation</dc:subject>
  <dc:creator>PptxGenJS</dc:creator>
  <cp:lastModifiedBy>PptxGenJS</cp:lastModifiedBy>
  <cp:revision>1</cp:revision>
  <dcterms:created xsi:type="dcterms:W3CDTF">2026-04-05T20:07:01Z</dcterms:created>
  <dcterms:modified xsi:type="dcterms:W3CDTF">2026-04-05T20:07:01Z</dcterms:modified>
</cp:coreProperties>
</file>