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Product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Documentation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30906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8DB8"/>
                </a:solidFill>
              </a:rPr>
              <a:t>The documentation layer that makes agents contextually aware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703320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886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60–75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Foundational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502920"/>
            <a:ext cx="2331720" cy="4389120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5669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8DB8"/>
                </a:solidFill>
              </a:rPr>
              <a:t>THE DOC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8DB8"/>
                </a:solidFill>
              </a:rPr>
              <a:t>LAYER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01968" y="1261872"/>
            <a:ext cx="2112264" cy="621792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01968" y="12984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01968" y="159105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4F0"/>
                </a:solidFill>
              </a:rPr>
              <a:t>Rules File — Agent's Standing Orders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601968" y="1920240"/>
            <a:ext cx="2112264" cy="621792"/>
          </a:xfrm>
          <a:prstGeom prst="rect">
            <a:avLst/>
          </a:prstGeom>
          <a:solidFill>
            <a:srgbClr val="4A7FA8">
              <a:alpha val="8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01968" y="195681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1968" y="224942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4F0"/>
                </a:solidFill>
              </a:rPr>
              <a:t>Vision · Users · Non-Negotiables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01968" y="2578608"/>
            <a:ext cx="2112264" cy="621792"/>
          </a:xfrm>
          <a:prstGeom prst="rect">
            <a:avLst/>
          </a:prstGeom>
          <a:solidFill>
            <a:srgbClr val="3A7E6E">
              <a:alpha val="8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01968" y="261518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product-details.md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01968" y="290779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4F0"/>
                </a:solidFill>
              </a:rPr>
              <a:t>Features · Requirements · Personas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601968" y="3236976"/>
            <a:ext cx="2112264" cy="621792"/>
          </a:xfrm>
          <a:prstGeom prst="rect">
            <a:avLst/>
          </a:prstGeom>
          <a:solidFill>
            <a:srgbClr val="4A7FA8">
              <a:alpha val="8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01968" y="327355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technical-details.md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01968" y="356616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4F0"/>
                </a:solidFill>
              </a:rPr>
              <a:t>Architecture · Patterns · Stack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01968" y="3895344"/>
            <a:ext cx="2112264" cy="621792"/>
          </a:xfrm>
          <a:prstGeom prst="rect">
            <a:avLst/>
          </a:prstGeom>
          <a:solidFill>
            <a:srgbClr val="8096B0">
              <a:alpha val="8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601968" y="393192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01968" y="422452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4F0"/>
                </a:solidFill>
              </a:rPr>
              <a:t>Architecture Decision Records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Write a rules file that works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Instruct the agent to read product docs before any change, update them when architecture shifts, and reference ADRs before proposing design changes.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Build the product documentation layer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Create PRODUCT.md, product-details.md, technical-details.md, and an adr/ folder — the context layer that makes all subsequent modules work.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Keep docs in sync automatically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Apply the auto-update pattern: the PR that changes the code also changes the docs. Never let context drift.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Apply greenfield and brownfield patterns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Write docs upfront for new repos. Use the agent-generate, team-review, commit pattern to retrofit documentation to existing codebases.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WHY PRODUCT DOCUMENTATION MATTERS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4160520" cy="40690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49808"/>
            <a:ext cx="4160520" cy="402336"/>
          </a:xfrm>
          <a:prstGeom prst="rect">
            <a:avLst/>
          </a:prstGeom>
          <a:solidFill>
            <a:srgbClr val="B03040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7498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WITHOUT PRODUCT DOCS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261872"/>
            <a:ext cx="73152" cy="73152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25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820"/>
                </a:solidFill>
              </a:rPr>
              <a:t>Starts from scratch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5361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Every session: agent reconstructs the system from raw code. The reconstruction is incomplete.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2048256"/>
            <a:ext cx="73152" cy="73152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820"/>
                </a:solidFill>
              </a:rPr>
              <a:t>Wrong product, right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322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Agent optimises technically and misses product intent. Correct implementation of the wrong thing.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834640"/>
            <a:ext cx="73152" cy="73152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798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820"/>
                </a:solidFill>
              </a:rPr>
              <a:t>Undoes settled decisions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31089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Agent reverses architectural choices it doesn't know were made. Confident, plausible, expensive mistakes.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3621024"/>
            <a:ext cx="73152" cy="73152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584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820"/>
                </a:solidFill>
              </a:rPr>
              <a:t>Context drift accumulates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8953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Each PR the agent makes slightly less consistent with what the product is actually for.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749808"/>
            <a:ext cx="4160520" cy="40690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749808"/>
            <a:ext cx="4160520" cy="402336"/>
          </a:xfrm>
          <a:prstGeom prst="rect">
            <a:avLst/>
          </a:prstGeom>
          <a:solidFill>
            <a:srgbClr val="3A7E6E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7498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WITH PRODUCT DOCS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82312" y="1261872"/>
            <a:ext cx="73152" cy="7315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1225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Context from the first message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15361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Agent loads PRODUCT.md and technical-details.md. It knows the system before it touches 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82312" y="2048256"/>
            <a:ext cx="73152" cy="7315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Architecturally consistent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2322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Every change is proposed within the frame of what the product is actually for and how it is built.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82312" y="2834640"/>
            <a:ext cx="73152" cy="7315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2798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ADRs protect settled decisions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31089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Agent checks the adr/ folder. It knows what is off-limits and why. It does not revisit closed questions.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82312" y="3621024"/>
            <a:ext cx="73152" cy="7315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3584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Self-updating context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38953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Code change and doc update are the same PR. Context never drifts. The agent always works with current information.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RULES FILES  —  THE AGENT'S OPERATING MANUAL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0A8"/>
                </a:solidFill>
              </a:rPr>
              <a:t>CLAUDE.md · .cursorrules  —  loaded into every session, applies to every task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892040" cy="3639312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89204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</a:rPr>
              <a:t>THREE MANDATORY SECTIONS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591056"/>
            <a:ext cx="4709160" cy="3145536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3677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Context Loading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333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any change, read: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PRODUCT.md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22656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technical-details.md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4231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Relevant ADRs in adr/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61975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81635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Definition of Done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01294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[ ] Tests pass in CI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20954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7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[ ] Affected docs updated in same PR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40614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7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[ ] ADRs created for decisions made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60273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79933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Architecture Decision Records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99592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proposing architectural changes,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19252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all ADRs in adr/.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3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proceed past a prohibition.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76672" y="1170432"/>
            <a:ext cx="3447288" cy="11155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76672" y="1170432"/>
            <a:ext cx="54864" cy="111556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6" name="Shape 24"/>
          <p:cNvSpPr/>
          <p:nvPr/>
        </p:nvSpPr>
        <p:spPr>
          <a:xfrm>
            <a:off x="5522976" y="1316736"/>
            <a:ext cx="310896" cy="31089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7" name="Text 25"/>
          <p:cNvSpPr/>
          <p:nvPr/>
        </p:nvSpPr>
        <p:spPr>
          <a:xfrm>
            <a:off x="5522976" y="1316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12618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Keep it under 300 lines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16093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Longer files are read but not absorbed. Move task-specific standards to referenced docs loaded just-in-time.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76672" y="2404872"/>
            <a:ext cx="3447288" cy="11155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76672" y="2404872"/>
            <a:ext cx="54864" cy="11155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2" name="Shape 30"/>
          <p:cNvSpPr/>
          <p:nvPr/>
        </p:nvSpPr>
        <p:spPr>
          <a:xfrm>
            <a:off x="5522976" y="2551176"/>
            <a:ext cx="310896" cy="31089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3" name="Text 31"/>
          <p:cNvSpPr/>
          <p:nvPr/>
        </p:nvSpPr>
        <p:spPr>
          <a:xfrm>
            <a:off x="5522976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24963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Version-control as code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284378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Every change through PR review. A DoD change is a policy change — it deserves the same scrutiny as a code change.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76672" y="3639312"/>
            <a:ext cx="3447288" cy="11155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76672" y="3639312"/>
            <a:ext cx="54864" cy="111556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8" name="Shape 36"/>
          <p:cNvSpPr/>
          <p:nvPr/>
        </p:nvSpPr>
        <p:spPr>
          <a:xfrm>
            <a:off x="5522976" y="3785616"/>
            <a:ext cx="310896" cy="310896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9" name="Text 37"/>
          <p:cNvSpPr/>
          <p:nvPr/>
        </p:nvSpPr>
        <p:spPr>
          <a:xfrm>
            <a:off x="5522976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0" y="37307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Universal rules only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0" y="407822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Only what is true for every session. Task-specific guidance goes in referenced documents.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DOCUMENTATION LAYER  —  FOUR FILES, ONE COHERENT CONTEXT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0A8"/>
                </a:solidFill>
              </a:rPr>
              <a:t>Every repository — new or existing — needs this layer. The rules file tells the agent to use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91640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53312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261872"/>
            <a:ext cx="1828800" cy="256032"/>
          </a:xfrm>
          <a:prstGeom prst="rect">
            <a:avLst/>
          </a:prstGeom>
          <a:solidFill>
            <a:srgbClr val="3A7DC9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41832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7D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PRODUCT.md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862072" y="12984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Vision &amp; Goals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1832" y="1591056"/>
            <a:ext cx="3410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What the product is for, who uses it, and what it must never do. The agent reads this first, before any task.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60120" y="2176272"/>
            <a:ext cx="64008" cy="640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3" name="Text 10"/>
          <p:cNvSpPr/>
          <p:nvPr/>
        </p:nvSpPr>
        <p:spPr>
          <a:xfrm>
            <a:off x="1124712" y="2121408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Product purpose and primary users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60120" y="2350008"/>
            <a:ext cx="64008" cy="640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5" name="Text 12"/>
          <p:cNvSpPr/>
          <p:nvPr/>
        </p:nvSpPr>
        <p:spPr>
          <a:xfrm>
            <a:off x="1124712" y="2295144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3–5 non-negotiables: what must never happen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60120" y="2523744"/>
            <a:ext cx="64008" cy="640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7" name="Text 14"/>
          <p:cNvSpPr/>
          <p:nvPr/>
        </p:nvSpPr>
        <p:spPr>
          <a:xfrm>
            <a:off x="1124712" y="2468880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Current state and explicit out-of-scope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60120" y="2697480"/>
            <a:ext cx="64008" cy="640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9" name="Text 16"/>
          <p:cNvSpPr/>
          <p:nvPr/>
        </p:nvSpPr>
        <p:spPr>
          <a:xfrm>
            <a:off x="1124712" y="2642616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Key stakeholders and approval contacts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1170432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1170432"/>
            <a:ext cx="64008" cy="1691640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53312"/>
            <a:ext cx="329184" cy="32918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257800" y="1261872"/>
            <a:ext cx="1828800" cy="256032"/>
          </a:xfrm>
          <a:prstGeom prst="rect">
            <a:avLst/>
          </a:prstGeom>
          <a:solidFill>
            <a:srgbClr val="4A7FA8">
              <a:alpha val="15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285232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product-details.md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205472" y="12984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Features &amp; Requirements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285232" y="1591056"/>
            <a:ext cx="3410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How the product works. User personas, feature behaviour, integrations, and accepted trade-offs.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303520" y="2176272"/>
            <a:ext cx="64008" cy="640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8" name="Text 24"/>
          <p:cNvSpPr/>
          <p:nvPr/>
        </p:nvSpPr>
        <p:spPr>
          <a:xfrm>
            <a:off x="5468112" y="2121408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User personas and primary workflows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303520" y="2350008"/>
            <a:ext cx="64008" cy="640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0" name="Text 26"/>
          <p:cNvSpPr/>
          <p:nvPr/>
        </p:nvSpPr>
        <p:spPr>
          <a:xfrm>
            <a:off x="5468112" y="2295144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Feature behaviour and edge cases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5303520" y="2523744"/>
            <a:ext cx="64008" cy="640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2" name="Text 28"/>
          <p:cNvSpPr/>
          <p:nvPr/>
        </p:nvSpPr>
        <p:spPr>
          <a:xfrm>
            <a:off x="5468112" y="2468880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Integration constraints and rate limits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303520" y="2697480"/>
            <a:ext cx="64008" cy="640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4" name="Text 30"/>
          <p:cNvSpPr/>
          <p:nvPr/>
        </p:nvSpPr>
        <p:spPr>
          <a:xfrm>
            <a:off x="5468112" y="2642616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Known limitations and their trade-offs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20040" y="2999232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320040" y="2999232"/>
            <a:ext cx="64008" cy="1691640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182112"/>
            <a:ext cx="329184" cy="329184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914400" y="3090672"/>
            <a:ext cx="1828800" cy="256032"/>
          </a:xfrm>
          <a:prstGeom prst="rect">
            <a:avLst/>
          </a:prstGeom>
          <a:solidFill>
            <a:srgbClr val="3A7E6E">
              <a:alpha val="15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941832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7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technical-details.md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2862072" y="31272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Architecture &amp; Patterns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941832" y="3419856"/>
            <a:ext cx="3410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How the system is built. Components, patterns, tech choices, security model. What a new senior engineer reads in week one.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960120" y="4005072"/>
            <a:ext cx="64008" cy="640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3" name="Text 38"/>
          <p:cNvSpPr/>
          <p:nvPr/>
        </p:nvSpPr>
        <p:spPr>
          <a:xfrm>
            <a:off x="1124712" y="3950208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Architecture overview and bounded contexts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960120" y="4178808"/>
            <a:ext cx="64008" cy="640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5" name="Text 40"/>
          <p:cNvSpPr/>
          <p:nvPr/>
        </p:nvSpPr>
        <p:spPr>
          <a:xfrm>
            <a:off x="1124712" y="4123944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Required patterns the agent must follow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960120" y="4352544"/>
            <a:ext cx="64008" cy="640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7" name="Text 42"/>
          <p:cNvSpPr/>
          <p:nvPr/>
        </p:nvSpPr>
        <p:spPr>
          <a:xfrm>
            <a:off x="1124712" y="4297680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Technology choices and the reasons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960120" y="4526280"/>
            <a:ext cx="64008" cy="640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9" name="Text 44"/>
          <p:cNvSpPr/>
          <p:nvPr/>
        </p:nvSpPr>
        <p:spPr>
          <a:xfrm>
            <a:off x="1124712" y="4471416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Security model and data classification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4663440" y="2999232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4663440" y="2999232"/>
            <a:ext cx="64008" cy="1691640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182112"/>
            <a:ext cx="329184" cy="329184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5257800" y="3090672"/>
            <a:ext cx="1828800" cy="256032"/>
          </a:xfrm>
          <a:prstGeom prst="rect">
            <a:avLst/>
          </a:prstGeom>
          <a:solidFill>
            <a:srgbClr val="8096B0">
              <a:alpha val="15000"/>
            </a:srgbClr>
          </a:solidFill>
          <a:ln/>
        </p:spPr>
      </p:sp>
      <p:sp>
        <p:nvSpPr>
          <p:cNvPr id="54" name="Text 48"/>
          <p:cNvSpPr/>
          <p:nvPr/>
        </p:nvSpPr>
        <p:spPr>
          <a:xfrm>
            <a:off x="5285232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adr/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7205472" y="31272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Decision Records</a:t>
            </a:r>
            <a:endParaRPr lang="en-US" sz="1100" dirty="0"/>
          </a:p>
        </p:txBody>
      </p:sp>
      <p:sp>
        <p:nvSpPr>
          <p:cNvPr id="56" name="Text 50"/>
          <p:cNvSpPr/>
          <p:nvPr/>
        </p:nvSpPr>
        <p:spPr>
          <a:xfrm>
            <a:off x="5285232" y="3419856"/>
            <a:ext cx="3410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What was decided and why. The agent checks these before proposing architectural changes. Closed questions stay closed.</a:t>
            </a:r>
            <a:endParaRPr lang="en-US" sz="950" dirty="0"/>
          </a:p>
        </p:txBody>
      </p:sp>
      <p:sp>
        <p:nvSpPr>
          <p:cNvPr id="57" name="Shape 51"/>
          <p:cNvSpPr/>
          <p:nvPr/>
        </p:nvSpPr>
        <p:spPr>
          <a:xfrm>
            <a:off x="5303520" y="4005072"/>
            <a:ext cx="64008" cy="6400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58" name="Text 52"/>
          <p:cNvSpPr/>
          <p:nvPr/>
        </p:nvSpPr>
        <p:spPr>
          <a:xfrm>
            <a:off x="5468112" y="3950208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One file per architectural decision</a:t>
            </a:r>
            <a:endParaRPr lang="en-US" sz="950" dirty="0"/>
          </a:p>
        </p:txBody>
      </p:sp>
      <p:sp>
        <p:nvSpPr>
          <p:cNvPr id="59" name="Shape 53"/>
          <p:cNvSpPr/>
          <p:nvPr/>
        </p:nvSpPr>
        <p:spPr>
          <a:xfrm>
            <a:off x="5303520" y="4178808"/>
            <a:ext cx="64008" cy="6400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60" name="Text 54"/>
          <p:cNvSpPr/>
          <p:nvPr/>
        </p:nvSpPr>
        <p:spPr>
          <a:xfrm>
            <a:off x="5468112" y="4123944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Status: Accepted / Deprecated / Superseded</a:t>
            </a:r>
            <a:endParaRPr lang="en-US" sz="950" dirty="0"/>
          </a:p>
        </p:txBody>
      </p:sp>
      <p:sp>
        <p:nvSpPr>
          <p:cNvPr id="61" name="Shape 55"/>
          <p:cNvSpPr/>
          <p:nvPr/>
        </p:nvSpPr>
        <p:spPr>
          <a:xfrm>
            <a:off x="5303520" y="4352544"/>
            <a:ext cx="64008" cy="6400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62" name="Text 56"/>
          <p:cNvSpPr/>
          <p:nvPr/>
        </p:nvSpPr>
        <p:spPr>
          <a:xfrm>
            <a:off x="5468112" y="4297680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Alternatives considered and why rejected</a:t>
            </a:r>
            <a:endParaRPr lang="en-US" sz="950" dirty="0"/>
          </a:p>
        </p:txBody>
      </p:sp>
      <p:sp>
        <p:nvSpPr>
          <p:cNvPr id="63" name="Shape 57"/>
          <p:cNvSpPr/>
          <p:nvPr/>
        </p:nvSpPr>
        <p:spPr>
          <a:xfrm>
            <a:off x="5303520" y="4526280"/>
            <a:ext cx="64008" cy="6400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64" name="Text 58"/>
          <p:cNvSpPr/>
          <p:nvPr/>
        </p:nvSpPr>
        <p:spPr>
          <a:xfrm>
            <a:off x="5468112" y="4471416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What is now explicitly prohibited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README.md  —  GENERATED FROM CODE, KEPT CURRENT BY 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0A8"/>
                </a:solidFill>
              </a:rPr>
              <a:t>A README that is wrong is worse than no README. The agent that changes the architecture also updates the README.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3639312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</a:rPr>
              <a:t>WHAT A GOOD README CONTAINS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" y="1609344"/>
            <a:ext cx="3913632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1609344"/>
            <a:ext cx="54864" cy="54864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645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What This Does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" y="19019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→ generated from PRODUCT.md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267712"/>
            <a:ext cx="3913632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267712"/>
            <a:ext cx="54864" cy="54864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2304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" y="25603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→ verified by agent on each update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2926080"/>
            <a:ext cx="3913632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2926080"/>
            <a:ext cx="54864" cy="54864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29626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Architecture Overview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" y="32186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→ generated from technical-details.md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3584448"/>
            <a:ext cx="3913632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584448"/>
            <a:ext cx="54864" cy="54864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6210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Key Documentation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" y="38770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→ links to the full doc layer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4242816"/>
            <a:ext cx="3913632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" y="4242816"/>
            <a:ext cx="54864" cy="54864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4279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Development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" y="45354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→ how to test, CI, contribution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solidFill>
            <a:srgbClr val="3A7E6E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3557"/>
                </a:solidFill>
              </a:rPr>
              <a:t>UPDATE README WHEN…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73168" y="1664208"/>
            <a:ext cx="82296" cy="82296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1591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 new component or service is added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73168" y="1938528"/>
            <a:ext cx="82296" cy="82296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4" name="Text 32"/>
          <p:cNvSpPr/>
          <p:nvPr/>
        </p:nvSpPr>
        <p:spPr>
          <a:xfrm>
            <a:off x="4956048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The tech stack changes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73168" y="2212848"/>
            <a:ext cx="82296" cy="82296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The architecture boundary shifts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73168" y="2487168"/>
            <a:ext cx="82296" cy="82296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8" name="Text 36"/>
          <p:cNvSpPr/>
          <p:nvPr/>
        </p:nvSpPr>
        <p:spPr>
          <a:xfrm>
            <a:off x="4956048" y="2414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The getting-started steps change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2944368"/>
            <a:ext cx="4160520" cy="166420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944368"/>
            <a:ext cx="4160520" cy="347472"/>
          </a:xfrm>
          <a:prstGeom prst="rect">
            <a:avLst/>
          </a:prstGeom>
          <a:solidFill>
            <a:srgbClr val="B03040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29443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3557"/>
                </a:solidFill>
              </a:rPr>
              <a:t>DO NOT CREATE SEPARATE DOC PRs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73168" y="3438144"/>
            <a:ext cx="82296" cy="82296"/>
          </a:xfrm>
          <a:prstGeom prst="rect">
            <a:avLst/>
          </a:prstGeom>
          <a:solidFill>
            <a:srgbClr val="B87820"/>
          </a:solidFill>
          <a:ln/>
        </p:spPr>
      </p:sp>
      <p:sp>
        <p:nvSpPr>
          <p:cNvPr id="43" name="Text 41"/>
          <p:cNvSpPr/>
          <p:nvPr/>
        </p:nvSpPr>
        <p:spPr>
          <a:xfrm>
            <a:off x="4956048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Docs update in the same PR as code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73168" y="3712464"/>
            <a:ext cx="82296" cy="82296"/>
          </a:xfrm>
          <a:prstGeom prst="rect">
            <a:avLst/>
          </a:prstGeom>
          <a:solidFill>
            <a:srgbClr val="B87820"/>
          </a:solidFill>
          <a:ln/>
        </p:spPr>
      </p:sp>
      <p:sp>
        <p:nvSpPr>
          <p:cNvPr id="45" name="Text 43"/>
          <p:cNvSpPr/>
          <p:nvPr/>
        </p:nvSpPr>
        <p:spPr>
          <a:xfrm>
            <a:off x="4956048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Reviewer checks accuracy, not just presence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73168" y="3986784"/>
            <a:ext cx="82296" cy="82296"/>
          </a:xfrm>
          <a:prstGeom prst="rect">
            <a:avLst/>
          </a:prstGeom>
          <a:solidFill>
            <a:srgbClr val="B87820"/>
          </a:solidFill>
          <a:ln/>
        </p:spPr>
      </p:sp>
      <p:sp>
        <p:nvSpPr>
          <p:cNvPr id="47" name="Text 45"/>
          <p:cNvSpPr/>
          <p:nvPr/>
        </p:nvSpPr>
        <p:spPr>
          <a:xfrm>
            <a:off x="4956048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Never a separate docs sprint — that is drift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73168" y="4261104"/>
            <a:ext cx="82296" cy="82296"/>
          </a:xfrm>
          <a:prstGeom prst="rect">
            <a:avLst/>
          </a:prstGeom>
          <a:solidFill>
            <a:srgbClr val="B87820"/>
          </a:solidFill>
          <a:ln/>
        </p:spPr>
      </p:sp>
      <p:sp>
        <p:nvSpPr>
          <p:cNvPr id="49" name="Text 47"/>
          <p:cNvSpPr/>
          <p:nvPr/>
        </p:nvSpPr>
        <p:spPr>
          <a:xfrm>
            <a:off x="4956048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If docs need updating: update them now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ARCHITECTURE DECISION RECORDS  —  WHAT THE AGENT MUST NOT UNDO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68580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76809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E4F0"/>
                </a:solidFill>
              </a:rPr>
              <a:t>An agent that doesn't know about ADR-012 will see the Redis session code and consider migrating it back to the database.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D4E4F0"/>
                </a:solidFill>
              </a:rPr>
              <a:t>It doesn't know this was settled. Without the ADR, it makes a confident, plausible, and expensive mistake.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536192"/>
            <a:ext cx="4297680" cy="3328416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36192"/>
            <a:ext cx="429768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361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ADR TEMPLATE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938528"/>
            <a:ext cx="4114800" cy="285292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75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ADR-[n]: Short Title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136953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Accepted | Deprecated | Superseded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29880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46065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Context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622499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situation forced this decision?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27843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2946197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Decision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10804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was chosen and why?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326989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431743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Alternatives Considered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was rejected and why?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3755441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391729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Consequences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407913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now easier? What is prohibited?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4240987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44028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Review Trigger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4564685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should this be revisited?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64608" y="1536192"/>
            <a:ext cx="3959352" cy="73152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64608" y="1536192"/>
            <a:ext cx="54864" cy="731520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624" y="1700784"/>
            <a:ext cx="310896" cy="3108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394960" y="159105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FA8"/>
                </a:solidFill>
              </a:rPr>
              <a:t>Store in adr/ folder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394960" y="188366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Version-controlled alongside the code. Referenced from the rules file so the agent always checks them.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64608" y="2359152"/>
            <a:ext cx="3959352" cy="73152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64608" y="2359152"/>
            <a:ext cx="54864" cy="731520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2523744"/>
            <a:ext cx="310896" cy="3108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394960" y="241401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E6E"/>
                </a:solidFill>
              </a:rPr>
              <a:t>Never delete — deprecate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5394960" y="270662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Superseded ADRs link forward to the replacement. The history of why matters as much as the decision itself.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864608" y="3182112"/>
            <a:ext cx="3959352" cy="73152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864608" y="3182112"/>
            <a:ext cx="54864" cy="731520"/>
          </a:xfrm>
          <a:prstGeom prst="rect">
            <a:avLst/>
          </a:prstGeom>
          <a:solidFill>
            <a:srgbClr val="B87820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3346704"/>
            <a:ext cx="310896" cy="31089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394960" y="32369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820"/>
                </a:solidFill>
              </a:rPr>
              <a:t>One decision per ADR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5394960" y="352958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Compound decisions are harder to read and harder to reference. Keep them atomic.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864608" y="4005072"/>
            <a:ext cx="3959352" cy="73152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864608" y="4005072"/>
            <a:ext cx="54864" cy="731520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4169664"/>
            <a:ext cx="310896" cy="310896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394960" y="40599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Agent-assisted drafting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5394960" y="435254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Discuss the decision. Agent drafts the ADR. Team reviews and merges. Minutes not hours.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BROWNFIELD PATTERN  —  RETROFITTING EXISTING REPOSITORIES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0A8"/>
                </a:solidFill>
              </a:rPr>
              <a:t>Don't write docs from memory. Generate them from the code, review them with the team, commit them.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2996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029968" cy="457200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93192" y="1225296"/>
            <a:ext cx="347472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" y="120700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557"/>
                </a:solidFill>
              </a:rPr>
              <a:t>Agent reads codebase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700784"/>
            <a:ext cx="182880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Prompt the agent to read the entire repository and produce draft PRODUCT.md, product-details.md, and technical-details.md. Note confidence level for each claim.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50008" y="2395728"/>
            <a:ext cx="146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7DC9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96312" y="1170432"/>
            <a:ext cx="202996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170432"/>
            <a:ext cx="2029968" cy="457200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69464" y="1225296"/>
            <a:ext cx="347472" cy="347472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2569464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90088" y="120700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557"/>
                </a:solidFill>
              </a:rPr>
              <a:t>Team reviews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1700784"/>
            <a:ext cx="182880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Correct wrong inferences. Add context the agent cannot see from code (business history, rejected alternatives, compliance context). Editing is faster than authoring.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2395728"/>
            <a:ext cx="146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7FA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72584" y="1170432"/>
            <a:ext cx="202996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170432"/>
            <a:ext cx="2029968" cy="457200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45736" y="1225296"/>
            <a:ext cx="347472" cy="34747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2" name="Text 20"/>
          <p:cNvSpPr/>
          <p:nvPr/>
        </p:nvSpPr>
        <p:spPr>
          <a:xfrm>
            <a:off x="4745736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120700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557"/>
                </a:solidFill>
              </a:rPr>
              <a:t>ADR generation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82312" y="1700784"/>
            <a:ext cx="182880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Agent lists 5–10 architectural decisions inferred from the code. Team confirms or corrects. Agent drafts each ADR. Team fills in the alternatives considered sections.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02552" y="2395728"/>
            <a:ext cx="146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7E6E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48856" y="1170432"/>
            <a:ext cx="202996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48856" y="1170432"/>
            <a:ext cx="2029968" cy="457200"/>
          </a:xfrm>
          <a:prstGeom prst="rect">
            <a:avLst/>
          </a:prstGeom>
          <a:solidFill>
            <a:srgbClr val="8096B0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922008" y="1225296"/>
            <a:ext cx="347472" cy="347472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9" name="Text 27"/>
          <p:cNvSpPr/>
          <p:nvPr/>
        </p:nvSpPr>
        <p:spPr>
          <a:xfrm>
            <a:off x="6922008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42632" y="120700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557"/>
                </a:solidFill>
              </a:rPr>
              <a:t>Commit with rules file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58584" y="1700784"/>
            <a:ext cx="182880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Documentation layer and rules file are committed together. From this point the agent has a context layer and instructions to maintain 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1C355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D3D"/>
                </a:solidFill>
              </a:rPr>
              <a:t>Typical timeline: 30–60 min agent generation  ·  half-day team review  ·  one PR to commit. Medium-complexity repo: 2–4 days total.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AUTO-UPDATING DOCS  —  THE WORKFLOW THAT PREVENTS DRIFT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E4F0"/>
                </a:solidFill>
              </a:rPr>
              <a:t>The PR that changes the code also changes the docs. One review, both things.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60704"/>
            <a:ext cx="8503920" cy="65836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60704"/>
            <a:ext cx="1920240" cy="658368"/>
          </a:xfrm>
          <a:prstGeom prst="rect">
            <a:avLst/>
          </a:prstGeom>
          <a:solidFill>
            <a:srgbClr val="8096B0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607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received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060704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096B0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97480" y="1060704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 receives a task via PRD or direct instruction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8503920" cy="658368"/>
          </a:xfrm>
          <a:prstGeom prst="rect">
            <a:avLst/>
          </a:prstGeom>
          <a:solidFill>
            <a:srgbClr val="2E5073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810512"/>
            <a:ext cx="1920240" cy="658368"/>
          </a:xfrm>
          <a:prstGeom prst="rect">
            <a:avLst/>
          </a:prstGeom>
          <a:solidFill>
            <a:srgbClr val="3A7DC9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105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 loaded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810512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7DC9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1810512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 reads PRODUCT.md, technical-details.md, relevant ADRs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8503920" cy="65836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560320"/>
            <a:ext cx="1920240" cy="658368"/>
          </a:xfrm>
          <a:prstGeom prst="rect">
            <a:avLst/>
          </a:prstGeom>
          <a:solidFill>
            <a:srgbClr val="4A7FA8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03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Change implemented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56032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7FA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97480" y="2560320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 writes code, tests, and verifies against Definition of Done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310128"/>
            <a:ext cx="8503920" cy="658368"/>
          </a:xfrm>
          <a:prstGeom prst="rect">
            <a:avLst/>
          </a:prstGeom>
          <a:solidFill>
            <a:srgbClr val="2E5073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310128"/>
            <a:ext cx="1920240" cy="658368"/>
          </a:xfrm>
          <a:prstGeom prst="rect">
            <a:avLst/>
          </a:prstGeom>
          <a:solidFill>
            <a:srgbClr val="3A7E6E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101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Docs updated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310128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7E6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97480" y="3310128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 re-reads affected doc sections and updates them in the same branch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8503920" cy="65836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59936"/>
            <a:ext cx="1920240" cy="658368"/>
          </a:xfrm>
          <a:prstGeom prst="rect">
            <a:avLst/>
          </a:prstGeom>
          <a:solidFill>
            <a:srgbClr val="B87820">
              <a:alpha val="7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59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 raised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059936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7820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697480" y="4059936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PR includes code changes AND documentation updates. Reviewer validates accuracy.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3A7DC9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Doc update triggers: new component  ·  changed interface  ·  new dependency  ·  architectural decision  ·  behaviour change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ENTERPRISE CONSIDERATIONS  —  GOVERNANCE, COMPLIANCE, SCALE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0A8"/>
                </a:solidFill>
              </a:rPr>
              <a:t>Product documentation serves compliance, audit, and multi-repo consistency — not just individual agent sessions.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430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143000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3502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2618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Baseline rules file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6968" y="155448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Maintain a corporate-level baseline (security rules, data handling policy, approved tech) that all project rules files inherit. Project rules extend — they do not override the baseline. Owned by the platform or EA team.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1430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143000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3502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2618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Documentation as a compliance artefact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230368" y="155448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In regulated industries, PRODUCT.md's non-negotiables and ADRs are evidence of what the team knew and intended. Store in source control — not a separate doc system — so they cannot be separated from the code they describe.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2432304"/>
            <a:ext cx="4160520" cy="11430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432304"/>
            <a:ext cx="64008" cy="1143000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59689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" y="252374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Multi-repo consistency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86968" y="2816352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Establish a documentation template owned by EA. All repositories use it as a starting point. This makes cross-repo agent sessions coherent: the agent finds the same doc structure in every repo it touches.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63440" y="2432304"/>
            <a:ext cx="4160520" cy="11430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432304"/>
            <a:ext cx="64008" cy="1143000"/>
          </a:xfrm>
          <a:prstGeom prst="rect">
            <a:avLst/>
          </a:prstGeom>
          <a:solidFill>
            <a:srgbClr val="B8782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59689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30368" y="252374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Stale documentation risk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230368" y="2816352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Inaccurate docs are worse than no docs. An agent with inaccurate context builds on false premises. Add a documentation accuracy check to your PR review checklist: does the documentation accurately reflect this change?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3694176"/>
            <a:ext cx="4160520" cy="11430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694176"/>
            <a:ext cx="64008" cy="1143000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85876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6968" y="37856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Multi-agent concurrency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886968" y="4078224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Multiple agents working on the same repo read the same docs — consistent context, consistent decisions. Manage doc-section ownership during concurrent workstreams the same way you manage schema migrations.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663440" y="3694176"/>
            <a:ext cx="4160520" cy="11430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63440" y="3694176"/>
            <a:ext cx="64008" cy="1143000"/>
          </a:xfrm>
          <a:prstGeom prst="rect">
            <a:avLst/>
          </a:prstGeom>
          <a:solidFill>
            <a:srgbClr val="B0304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85876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30368" y="37856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Documentation debt is technical debt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230368" y="4078224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Teams that deferred ADRs and product docs encounter them now as a productivity tax. Every session an agent works without this layer costs human intervention to correct the inconsistency.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0A8"/>
                </a:solidFill>
              </a:rPr>
              <a:t>Build the documentation layer for a real repository — your codebase, a representative project, or the sample repo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8229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75488" cy="82296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Write a rules file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1517904"/>
            <a:ext cx="685800" cy="201168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15179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C9"/>
                </a:solidFill>
              </a:rPr>
              <a:t>10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00784" y="1225296"/>
            <a:ext cx="7022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Write a CLAUDE.md with three required sections: (a) context loading — which docs to read before any task; (b) doc update requirements — when to update in the same PR; (c) ADR instructions — when to check adr/ before proposing a change. Swap with a neighbour: is the doc requirement unambiguous?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8503920" cy="8229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84832"/>
            <a:ext cx="475488" cy="82296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08483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Generate a PRODUCT.md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" y="2432304"/>
            <a:ext cx="685800" cy="201168"/>
          </a:xfrm>
          <a:prstGeom prst="rect">
            <a:avLst/>
          </a:prstGeom>
          <a:solidFill>
            <a:srgbClr val="4A7FA8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24323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A8"/>
                </a:solidFill>
              </a:rPr>
              <a:t>12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00784" y="2139696"/>
            <a:ext cx="7022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Write one for a system you know well, or run: "Read this repository and produce a draft PRODUCT.md covering: what the system does, who uses it, three non-negotiables, current state. Note confidence level for each claim." Review the output: what is correct, what needs revision, what is missing?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8503920" cy="8229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99232"/>
            <a:ext cx="475488" cy="82296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9923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" y="3035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Identify your top three ADRs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" y="3346704"/>
            <a:ext cx="685800" cy="201168"/>
          </a:xfrm>
          <a:prstGeom prst="rect">
            <a:avLst/>
          </a:prstGeom>
          <a:solidFill>
            <a:srgbClr val="3A7E6E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33467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E6E"/>
                </a:solidFill>
              </a:rPr>
              <a:t>10 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00784" y="3054096"/>
            <a:ext cx="7022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List the three architectural decisions in your system that an agent would be most likely to reverse or violate without knowing they had been made. For each: what is the decision, why was it made, and what would a well-intentioned agent get wrong without knowing it? These are your first three ADRs.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13632"/>
            <a:ext cx="8503920" cy="8229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913632"/>
            <a:ext cx="475488" cy="82296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91363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96112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Write a README update prompt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6112" y="4261104"/>
            <a:ext cx="685800" cy="201168"/>
          </a:xfrm>
          <a:prstGeom prst="rect">
            <a:avLst/>
          </a:prstGeom>
          <a:solidFill>
            <a:srgbClr val="8096B0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" y="42611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96B0"/>
                </a:solidFill>
              </a:rPr>
              <a:t>8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00784" y="3968496"/>
            <a:ext cx="7022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Write the exact prompt you would give an agent to generate an accurate README from your documentation layer. Be specific: which files to read first, what sections must appear, what to verify before writing. The quality of this prompt reveals how clearly you understand your own codebase.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MODULE 04  —  DISCUSSION &amp; KEY TAKEAWAYS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39136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8DB8"/>
                </a:solidFill>
              </a:rPr>
              <a:t>DISCUSSION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256032" cy="2560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35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335024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If an agent joined your project today and read only the files in your repository, what would it get wrong? What context is missing that would prevent it from making a good architectural decision?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56032" cy="2560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What is the one architectural decision in your codebase that, if reversed by an agent, would take the longest to fix? Is there an ADR for it?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256032" cy="2560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054096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Which of your team's implicit standards — the things everyone knows but nobody has written down — would surprise an agent? Which of those should be in the rules file?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256032" cy="2560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913632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How would you know if a documentation update in a PR was inaccurate? What does your code review look like for a doc-heavy PR?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804672"/>
            <a:ext cx="4160520" cy="39136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8DB8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335024"/>
            <a:ext cx="54864" cy="59436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13350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Without product docs, every agent interaction starts from scratch. The agent reconstructs from code — incompletely.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029968"/>
            <a:ext cx="54864" cy="59436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0299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The rules file must tell the agent to read product docs before any change and update them in the same PR.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724912"/>
            <a:ext cx="54864" cy="59436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7249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ADRs protect settled decisions. What is not written down does not exist for the agent.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419856"/>
            <a:ext cx="54864" cy="594360"/>
          </a:xfrm>
          <a:prstGeom prst="rect">
            <a:avLst/>
          </a:prstGeom>
          <a:solidFill>
            <a:srgbClr val="B87820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34198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The brownfield pattern: agent generates, team reviews, commits. A half-day produces a usable documentation layer.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4114800"/>
            <a:ext cx="54864" cy="59436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Documentation debt is now technical debt. It has a direct, measurable impact on every agentic session.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  ·  Module 05: Automated Testing  —  TDD, test coverage, agents as test generators, E2E strategy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Product Documentation</dc:title>
  <dc:subject>PptxGenJS Presentation</dc:subject>
  <dc:creator>Enterprise Architect Training Series</dc:creator>
  <cp:lastModifiedBy>Enterprise Architect Training Series</cp:lastModifiedBy>
  <cp:revision>1</cp:revision>
  <dcterms:created xsi:type="dcterms:W3CDTF">2026-04-07T23:58:11Z</dcterms:created>
  <dcterms:modified xsi:type="dcterms:W3CDTF">2026-04-07T23:58:11Z</dcterms:modified>
</cp:coreProperties>
</file>