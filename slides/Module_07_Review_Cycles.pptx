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3557"/>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3A7DC9"/>
          </a:solidFill>
          <a:ln/>
        </p:spPr>
      </p:sp>
      <p:sp>
        <p:nvSpPr>
          <p:cNvPr id="3" name="Text 1"/>
          <p:cNvSpPr/>
          <p:nvPr/>
        </p:nvSpPr>
        <p:spPr>
          <a:xfrm>
            <a:off x="365760" y="292608"/>
            <a:ext cx="8412480" cy="320040"/>
          </a:xfrm>
          <a:prstGeom prst="rect">
            <a:avLst/>
          </a:prstGeom>
          <a:noFill/>
          <a:ln/>
        </p:spPr>
        <p:txBody>
          <a:bodyPr wrap="square" lIns="0" tIns="0" rIns="0" bIns="0" rtlCol="0" anchor="ctr"/>
          <a:lstStyle/>
          <a:p>
            <a:pPr indent="0" marL="0">
              <a:buNone/>
            </a:pPr>
            <a:r>
              <a:rPr lang="en-US" sz="1000" b="1" spc="400" kern="0" dirty="0">
                <a:solidFill>
                  <a:srgbClr val="5B8DB8"/>
                </a:solidFill>
              </a:rPr>
              <a:t>ENTERPRISE AGENTIC PRACTICES</a:t>
            </a:r>
            <a:endParaRPr lang="en-US" sz="1000" dirty="0"/>
          </a:p>
        </p:txBody>
      </p:sp>
      <p:sp>
        <p:nvSpPr>
          <p:cNvPr id="4" name="Shape 2"/>
          <p:cNvSpPr/>
          <p:nvPr/>
        </p:nvSpPr>
        <p:spPr>
          <a:xfrm>
            <a:off x="365760" y="749808"/>
            <a:ext cx="1371600" cy="347472"/>
          </a:xfrm>
          <a:prstGeom prst="rect">
            <a:avLst/>
          </a:prstGeom>
          <a:solidFill>
            <a:srgbClr val="3A7DC9"/>
          </a:solidFill>
          <a:ln/>
        </p:spPr>
      </p:sp>
      <p:sp>
        <p:nvSpPr>
          <p:cNvPr id="5" name="Text 3"/>
          <p:cNvSpPr/>
          <p:nvPr/>
        </p:nvSpPr>
        <p:spPr>
          <a:xfrm>
            <a:off x="365760" y="749808"/>
            <a:ext cx="1371600" cy="347472"/>
          </a:xfrm>
          <a:prstGeom prst="rect">
            <a:avLst/>
          </a:prstGeom>
          <a:noFill/>
          <a:ln/>
        </p:spPr>
        <p:txBody>
          <a:bodyPr wrap="square" lIns="0" tIns="0" rIns="0" bIns="0" rtlCol="0" anchor="ctr"/>
          <a:lstStyle/>
          <a:p>
            <a:pPr algn="ctr" indent="0" marL="0">
              <a:buNone/>
            </a:pPr>
            <a:r>
              <a:rPr lang="en-US" sz="1100" b="1" dirty="0">
                <a:solidFill>
                  <a:srgbClr val="FFFFFF"/>
                </a:solidFill>
              </a:rPr>
              <a:t>MODULE 07</a:t>
            </a:r>
            <a:endParaRPr lang="en-US" sz="1100" dirty="0"/>
          </a:p>
        </p:txBody>
      </p:sp>
      <p:sp>
        <p:nvSpPr>
          <p:cNvPr id="6" name="Text 4"/>
          <p:cNvSpPr/>
          <p:nvPr/>
        </p:nvSpPr>
        <p:spPr>
          <a:xfrm>
            <a:off x="365760" y="1115568"/>
            <a:ext cx="6583680" cy="2011680"/>
          </a:xfrm>
          <a:prstGeom prst="rect">
            <a:avLst/>
          </a:prstGeom>
          <a:noFill/>
          <a:ln/>
        </p:spPr>
        <p:txBody>
          <a:bodyPr wrap="square" lIns="0" tIns="0" rIns="0" bIns="0" rtlCol="0" anchor="ctr"/>
          <a:lstStyle/>
          <a:p>
            <a:pPr indent="0" marL="0">
              <a:buNone/>
            </a:pPr>
            <a:r>
              <a:rPr lang="en-US" sz="4000" b="1" dirty="0">
                <a:solidFill>
                  <a:srgbClr val="FFFFFF"/>
                </a:solidFill>
              </a:rPr>
              <a:t>Review Cycles,</a:t>
            </a:r>
            <a:endParaRPr lang="en-US" sz="4000" dirty="0"/>
          </a:p>
          <a:p>
            <a:pPr indent="0" marL="0">
              <a:buNone/>
            </a:pPr>
            <a:r>
              <a:rPr lang="en-US" sz="4000" b="1" dirty="0">
                <a:solidFill>
                  <a:srgbClr val="FFFFFF"/>
                </a:solidFill>
              </a:rPr>
              <a:t>Human-in-the-Loop</a:t>
            </a:r>
            <a:endParaRPr lang="en-US" sz="4000" dirty="0"/>
          </a:p>
          <a:p>
            <a:pPr indent="0" marL="0">
              <a:buNone/>
            </a:pPr>
            <a:r>
              <a:rPr lang="en-US" sz="4000" b="1" dirty="0">
                <a:solidFill>
                  <a:srgbClr val="FFFFFF"/>
                </a:solidFill>
              </a:rPr>
              <a:t>&amp; Agent-to-Agent</a:t>
            </a:r>
            <a:endParaRPr lang="en-US" sz="4000" dirty="0"/>
          </a:p>
        </p:txBody>
      </p:sp>
      <p:sp>
        <p:nvSpPr>
          <p:cNvPr id="7" name="Text 5"/>
          <p:cNvSpPr/>
          <p:nvPr/>
        </p:nvSpPr>
        <p:spPr>
          <a:xfrm>
            <a:off x="365760" y="3218688"/>
            <a:ext cx="6858000" cy="457200"/>
          </a:xfrm>
          <a:prstGeom prst="rect">
            <a:avLst/>
          </a:prstGeom>
          <a:noFill/>
          <a:ln/>
        </p:spPr>
        <p:txBody>
          <a:bodyPr wrap="square" lIns="0" tIns="0" rIns="0" bIns="0" rtlCol="0" anchor="ctr"/>
          <a:lstStyle/>
          <a:p>
            <a:pPr indent="0" marL="0">
              <a:buNone/>
            </a:pPr>
            <a:r>
              <a:rPr lang="en-US" sz="1700" i="1" dirty="0">
                <a:solidFill>
                  <a:srgbClr val="5B8DB8"/>
                </a:solidFill>
              </a:rPr>
              <a:t>Designing the oversight loops that keep agents reliable and teams informed</a:t>
            </a:r>
            <a:endParaRPr lang="en-US" sz="1700" dirty="0"/>
          </a:p>
        </p:txBody>
      </p:sp>
      <p:sp>
        <p:nvSpPr>
          <p:cNvPr id="8" name="Shape 6"/>
          <p:cNvSpPr/>
          <p:nvPr/>
        </p:nvSpPr>
        <p:spPr>
          <a:xfrm>
            <a:off x="365760" y="3767328"/>
            <a:ext cx="3200400" cy="36576"/>
          </a:xfrm>
          <a:prstGeom prst="rect">
            <a:avLst/>
          </a:prstGeom>
          <a:solidFill>
            <a:srgbClr val="3A7DC9"/>
          </a:solidFill>
          <a:ln/>
        </p:spPr>
      </p:sp>
      <p:sp>
        <p:nvSpPr>
          <p:cNvPr id="9" name="Text 7"/>
          <p:cNvSpPr/>
          <p:nvPr/>
        </p:nvSpPr>
        <p:spPr>
          <a:xfrm>
            <a:off x="365760" y="3931920"/>
            <a:ext cx="4572000" cy="347472"/>
          </a:xfrm>
          <a:prstGeom prst="rect">
            <a:avLst/>
          </a:prstGeom>
          <a:noFill/>
          <a:ln/>
        </p:spPr>
        <p:txBody>
          <a:bodyPr wrap="square" lIns="0" tIns="0" rIns="0" bIns="0" rtlCol="0" anchor="ctr"/>
          <a:lstStyle/>
          <a:p>
            <a:pPr indent="0" marL="0">
              <a:buNone/>
            </a:pPr>
            <a:r>
              <a:rPr lang="en-US" sz="1300" b="1" dirty="0">
                <a:solidFill>
                  <a:srgbClr val="7A90A8"/>
                </a:solidFill>
              </a:rPr>
              <a:t>Duration: </a:t>
            </a:r>
            <a:pPr indent="0" marL="0">
              <a:buNone/>
            </a:pPr>
            <a:r>
              <a:rPr lang="en-US" sz="1300" dirty="0">
                <a:solidFill>
                  <a:srgbClr val="7A90A8"/>
                </a:solidFill>
              </a:rPr>
              <a:t>75–90 min  </a:t>
            </a:r>
            <a:pPr indent="0" marL="0">
              <a:buNone/>
            </a:pPr>
            <a:r>
              <a:rPr lang="en-US" sz="1300" dirty="0">
                <a:solidFill>
                  <a:srgbClr val="7A90A8"/>
                </a:solidFill>
              </a:rPr>
              <a:t>  |  </a:t>
            </a:r>
            <a:pPr indent="0" marL="0">
              <a:buNone/>
            </a:pPr>
            <a:r>
              <a:rPr lang="en-US" sz="1300" b="1" dirty="0">
                <a:solidFill>
                  <a:srgbClr val="7A90A8"/>
                </a:solidFill>
              </a:rPr>
              <a:t>Level: </a:t>
            </a:r>
            <a:pPr indent="0" marL="0">
              <a:buNone/>
            </a:pPr>
            <a:r>
              <a:rPr lang="en-US" sz="1300" dirty="0">
                <a:solidFill>
                  <a:srgbClr val="7A90A8"/>
                </a:solidFill>
              </a:rPr>
              <a:t>Intermediate</a:t>
            </a:r>
            <a:endParaRPr lang="en-US" sz="1300" dirty="0"/>
          </a:p>
        </p:txBody>
      </p:sp>
      <p:sp>
        <p:nvSpPr>
          <p:cNvPr id="10" name="Shape 8"/>
          <p:cNvSpPr/>
          <p:nvPr/>
        </p:nvSpPr>
        <p:spPr>
          <a:xfrm>
            <a:off x="6949440" y="594360"/>
            <a:ext cx="1874520" cy="685800"/>
          </a:xfrm>
          <a:prstGeom prst="rect">
            <a:avLst/>
          </a:prstGeom>
          <a:solidFill>
            <a:srgbClr val="1C3557">
              <a:alpha val="80000"/>
            </a:srgbClr>
          </a:solidFill>
          <a:ln/>
          <a:effectLst>
            <a:outerShdw sx="100000" sy="100000" kx="0" ky="0" algn="bl" rotWithShape="0" blurRad="101600" dist="38100" dir="8100000">
              <a:srgbClr val="000000">
                <a:alpha val="13000"/>
              </a:srgbClr>
            </a:outerShdw>
          </a:effectLst>
        </p:spPr>
      </p:sp>
      <p:sp>
        <p:nvSpPr>
          <p:cNvPr id="11" name="Text 9"/>
          <p:cNvSpPr/>
          <p:nvPr/>
        </p:nvSpPr>
        <p:spPr>
          <a:xfrm>
            <a:off x="6949440" y="594360"/>
            <a:ext cx="1874520" cy="685800"/>
          </a:xfrm>
          <a:prstGeom prst="rect">
            <a:avLst/>
          </a:prstGeom>
          <a:noFill/>
          <a:ln/>
        </p:spPr>
        <p:txBody>
          <a:bodyPr wrap="square" lIns="0" tIns="0" rIns="0" bIns="0" rtlCol="0" anchor="ctr"/>
          <a:lstStyle/>
          <a:p>
            <a:pPr algn="ctr" indent="0" marL="0">
              <a:buNone/>
            </a:pPr>
            <a:r>
              <a:rPr lang="en-US" sz="1300" b="1" dirty="0">
                <a:solidFill>
                  <a:srgbClr val="FFFFFF"/>
                </a:solidFill>
              </a:rPr>
              <a:t>Artifact</a:t>
            </a:r>
            <a:endParaRPr lang="en-US" sz="1300" dirty="0"/>
          </a:p>
        </p:txBody>
      </p:sp>
      <p:sp>
        <p:nvSpPr>
          <p:cNvPr id="12" name="Text 10"/>
          <p:cNvSpPr/>
          <p:nvPr/>
        </p:nvSpPr>
        <p:spPr>
          <a:xfrm>
            <a:off x="7543800" y="1307592"/>
            <a:ext cx="502920" cy="228600"/>
          </a:xfrm>
          <a:prstGeom prst="rect">
            <a:avLst/>
          </a:prstGeom>
          <a:noFill/>
          <a:ln/>
        </p:spPr>
        <p:txBody>
          <a:bodyPr wrap="square" lIns="0" tIns="0" rIns="0" bIns="0" rtlCol="0" anchor="ctr"/>
          <a:lstStyle/>
          <a:p>
            <a:pPr algn="ctr" indent="0" marL="0">
              <a:buNone/>
            </a:pPr>
            <a:r>
              <a:rPr lang="en-US" sz="1400" dirty="0">
                <a:solidFill>
                  <a:srgbClr val="7A90A8"/>
                </a:solidFill>
              </a:rPr>
              <a:t>↓</a:t>
            </a:r>
            <a:endParaRPr lang="en-US" sz="1400" dirty="0"/>
          </a:p>
        </p:txBody>
      </p:sp>
      <p:sp>
        <p:nvSpPr>
          <p:cNvPr id="13" name="Shape 11"/>
          <p:cNvSpPr/>
          <p:nvPr/>
        </p:nvSpPr>
        <p:spPr>
          <a:xfrm>
            <a:off x="6949440" y="1463040"/>
            <a:ext cx="1874520" cy="685800"/>
          </a:xfrm>
          <a:prstGeom prst="rect">
            <a:avLst/>
          </a:prstGeom>
          <a:solidFill>
            <a:srgbClr val="4A7FA8">
              <a:alpha val="80000"/>
            </a:srgbClr>
          </a:solidFill>
          <a:ln/>
          <a:effectLst>
            <a:outerShdw sx="100000" sy="100000" kx="0" ky="0" algn="bl" rotWithShape="0" blurRad="101600" dist="38100" dir="8100000">
              <a:srgbClr val="000000">
                <a:alpha val="13000"/>
              </a:srgbClr>
            </a:outerShdw>
          </a:effectLst>
        </p:spPr>
      </p:sp>
      <p:sp>
        <p:nvSpPr>
          <p:cNvPr id="14" name="Text 12"/>
          <p:cNvSpPr/>
          <p:nvPr/>
        </p:nvSpPr>
        <p:spPr>
          <a:xfrm>
            <a:off x="6949440" y="1463040"/>
            <a:ext cx="1874520" cy="685800"/>
          </a:xfrm>
          <a:prstGeom prst="rect">
            <a:avLst/>
          </a:prstGeom>
          <a:noFill/>
          <a:ln/>
        </p:spPr>
        <p:txBody>
          <a:bodyPr wrap="square" lIns="0" tIns="0" rIns="0" bIns="0" rtlCol="0" anchor="ctr"/>
          <a:lstStyle/>
          <a:p>
            <a:pPr algn="ctr" indent="0" marL="0">
              <a:buNone/>
            </a:pPr>
            <a:r>
              <a:rPr lang="en-US" sz="1300" b="1" dirty="0">
                <a:solidFill>
                  <a:srgbClr val="FFFFFF"/>
                </a:solidFill>
              </a:rPr>
              <a:t>Agent Reviews</a:t>
            </a:r>
            <a:endParaRPr lang="en-US" sz="1300" dirty="0"/>
          </a:p>
        </p:txBody>
      </p:sp>
      <p:sp>
        <p:nvSpPr>
          <p:cNvPr id="15" name="Text 13"/>
          <p:cNvSpPr/>
          <p:nvPr/>
        </p:nvSpPr>
        <p:spPr>
          <a:xfrm>
            <a:off x="7543800" y="2176272"/>
            <a:ext cx="502920" cy="228600"/>
          </a:xfrm>
          <a:prstGeom prst="rect">
            <a:avLst/>
          </a:prstGeom>
          <a:noFill/>
          <a:ln/>
        </p:spPr>
        <p:txBody>
          <a:bodyPr wrap="square" lIns="0" tIns="0" rIns="0" bIns="0" rtlCol="0" anchor="ctr"/>
          <a:lstStyle/>
          <a:p>
            <a:pPr algn="ctr" indent="0" marL="0">
              <a:buNone/>
            </a:pPr>
            <a:r>
              <a:rPr lang="en-US" sz="1400" dirty="0">
                <a:solidFill>
                  <a:srgbClr val="7A90A8"/>
                </a:solidFill>
              </a:rPr>
              <a:t>↓</a:t>
            </a:r>
            <a:endParaRPr lang="en-US" sz="1400" dirty="0"/>
          </a:p>
        </p:txBody>
      </p:sp>
      <p:sp>
        <p:nvSpPr>
          <p:cNvPr id="16" name="Shape 14"/>
          <p:cNvSpPr/>
          <p:nvPr/>
        </p:nvSpPr>
        <p:spPr>
          <a:xfrm>
            <a:off x="6949440" y="2331720"/>
            <a:ext cx="1874520" cy="685800"/>
          </a:xfrm>
          <a:prstGeom prst="rect">
            <a:avLst/>
          </a:prstGeom>
          <a:solidFill>
            <a:srgbClr val="3A7DC9"/>
          </a:solidFill>
          <a:ln/>
          <a:effectLst>
            <a:outerShdw sx="100000" sy="100000" kx="0" ky="0" algn="bl" rotWithShape="0" blurRad="101600" dist="38100" dir="8100000">
              <a:srgbClr val="000000">
                <a:alpha val="13000"/>
              </a:srgbClr>
            </a:outerShdw>
          </a:effectLst>
        </p:spPr>
      </p:sp>
      <p:sp>
        <p:nvSpPr>
          <p:cNvPr id="17" name="Text 15"/>
          <p:cNvSpPr/>
          <p:nvPr/>
        </p:nvSpPr>
        <p:spPr>
          <a:xfrm>
            <a:off x="6949440" y="2331720"/>
            <a:ext cx="1874520" cy="685800"/>
          </a:xfrm>
          <a:prstGeom prst="rect">
            <a:avLst/>
          </a:prstGeom>
          <a:noFill/>
          <a:ln/>
        </p:spPr>
        <p:txBody>
          <a:bodyPr wrap="square" lIns="0" tIns="0" rIns="0" bIns="0" rtlCol="0" anchor="ctr"/>
          <a:lstStyle/>
          <a:p>
            <a:pPr algn="ctr" indent="0" marL="0">
              <a:buNone/>
            </a:pPr>
            <a:r>
              <a:rPr lang="en-US" sz="1300" b="1" dirty="0">
                <a:solidFill>
                  <a:srgbClr val="FFFFFF"/>
                </a:solidFill>
              </a:rPr>
              <a:t>Structured Output</a:t>
            </a:r>
            <a:endParaRPr lang="en-US" sz="1300" dirty="0"/>
          </a:p>
        </p:txBody>
      </p:sp>
      <p:sp>
        <p:nvSpPr>
          <p:cNvPr id="18" name="Text 16"/>
          <p:cNvSpPr/>
          <p:nvPr/>
        </p:nvSpPr>
        <p:spPr>
          <a:xfrm>
            <a:off x="7543800" y="3044952"/>
            <a:ext cx="502920" cy="228600"/>
          </a:xfrm>
          <a:prstGeom prst="rect">
            <a:avLst/>
          </a:prstGeom>
          <a:noFill/>
          <a:ln/>
        </p:spPr>
        <p:txBody>
          <a:bodyPr wrap="square" lIns="0" tIns="0" rIns="0" bIns="0" rtlCol="0" anchor="ctr"/>
          <a:lstStyle/>
          <a:p>
            <a:pPr algn="ctr" indent="0" marL="0">
              <a:buNone/>
            </a:pPr>
            <a:r>
              <a:rPr lang="en-US" sz="1400" dirty="0">
                <a:solidFill>
                  <a:srgbClr val="7A90A8"/>
                </a:solidFill>
              </a:rPr>
              <a:t>↓</a:t>
            </a:r>
            <a:endParaRPr lang="en-US" sz="1400" dirty="0"/>
          </a:p>
        </p:txBody>
      </p:sp>
      <p:sp>
        <p:nvSpPr>
          <p:cNvPr id="19" name="Shape 17"/>
          <p:cNvSpPr/>
          <p:nvPr/>
        </p:nvSpPr>
        <p:spPr>
          <a:xfrm>
            <a:off x="6949440" y="3200400"/>
            <a:ext cx="1874520" cy="685800"/>
          </a:xfrm>
          <a:prstGeom prst="rect">
            <a:avLst/>
          </a:prstGeom>
          <a:solidFill>
            <a:srgbClr val="3A7E6E">
              <a:alpha val="80000"/>
            </a:srgbClr>
          </a:solidFill>
          <a:ln/>
          <a:effectLst>
            <a:outerShdw sx="100000" sy="100000" kx="0" ky="0" algn="bl" rotWithShape="0" blurRad="101600" dist="38100" dir="8100000">
              <a:srgbClr val="000000">
                <a:alpha val="13000"/>
              </a:srgbClr>
            </a:outerShdw>
          </a:effectLst>
        </p:spPr>
      </p:sp>
      <p:sp>
        <p:nvSpPr>
          <p:cNvPr id="20" name="Text 18"/>
          <p:cNvSpPr/>
          <p:nvPr/>
        </p:nvSpPr>
        <p:spPr>
          <a:xfrm>
            <a:off x="6949440" y="3200400"/>
            <a:ext cx="1874520" cy="685800"/>
          </a:xfrm>
          <a:prstGeom prst="rect">
            <a:avLst/>
          </a:prstGeom>
          <a:noFill/>
          <a:ln/>
        </p:spPr>
        <p:txBody>
          <a:bodyPr wrap="square" lIns="0" tIns="0" rIns="0" bIns="0" rtlCol="0" anchor="ctr"/>
          <a:lstStyle/>
          <a:p>
            <a:pPr algn="ctr" indent="0" marL="0">
              <a:buNone/>
            </a:pPr>
            <a:r>
              <a:rPr lang="en-US" sz="1300" b="1" dirty="0">
                <a:solidFill>
                  <a:srgbClr val="FFFFFF"/>
                </a:solidFill>
              </a:rPr>
              <a:t>Human Gate</a:t>
            </a:r>
            <a:endParaRPr lang="en-US" sz="1300" dirty="0"/>
          </a:p>
        </p:txBody>
      </p:sp>
      <p:sp>
        <p:nvSpPr>
          <p:cNvPr id="21" name="Text 19"/>
          <p:cNvSpPr/>
          <p:nvPr/>
        </p:nvSpPr>
        <p:spPr>
          <a:xfrm>
            <a:off x="7543800" y="3913632"/>
            <a:ext cx="502920" cy="228600"/>
          </a:xfrm>
          <a:prstGeom prst="rect">
            <a:avLst/>
          </a:prstGeom>
          <a:noFill/>
          <a:ln/>
        </p:spPr>
        <p:txBody>
          <a:bodyPr wrap="square" lIns="0" tIns="0" rIns="0" bIns="0" rtlCol="0" anchor="ctr"/>
          <a:lstStyle/>
          <a:p>
            <a:pPr algn="ctr" indent="0" marL="0">
              <a:buNone/>
            </a:pPr>
            <a:r>
              <a:rPr lang="en-US" sz="1400" dirty="0">
                <a:solidFill>
                  <a:srgbClr val="7A90A8"/>
                </a:solidFill>
              </a:rPr>
              <a:t>↓</a:t>
            </a:r>
            <a:endParaRPr lang="en-US" sz="1400" dirty="0"/>
          </a:p>
        </p:txBody>
      </p:sp>
      <p:sp>
        <p:nvSpPr>
          <p:cNvPr id="22" name="Shape 20"/>
          <p:cNvSpPr/>
          <p:nvPr/>
        </p:nvSpPr>
        <p:spPr>
          <a:xfrm>
            <a:off x="6949440" y="4069080"/>
            <a:ext cx="1874520" cy="685800"/>
          </a:xfrm>
          <a:prstGeom prst="rect">
            <a:avLst/>
          </a:prstGeom>
          <a:solidFill>
            <a:srgbClr val="8096B0">
              <a:alpha val="80000"/>
            </a:srgbClr>
          </a:solidFill>
          <a:ln/>
          <a:effectLst>
            <a:outerShdw sx="100000" sy="100000" kx="0" ky="0" algn="bl" rotWithShape="0" blurRad="101600" dist="38100" dir="8100000">
              <a:srgbClr val="000000">
                <a:alpha val="13000"/>
              </a:srgbClr>
            </a:outerShdw>
          </a:effectLst>
        </p:spPr>
      </p:sp>
      <p:sp>
        <p:nvSpPr>
          <p:cNvPr id="23" name="Text 21"/>
          <p:cNvSpPr/>
          <p:nvPr/>
        </p:nvSpPr>
        <p:spPr>
          <a:xfrm>
            <a:off x="6949440" y="4069080"/>
            <a:ext cx="1874520" cy="685800"/>
          </a:xfrm>
          <a:prstGeom prst="rect">
            <a:avLst/>
          </a:prstGeom>
          <a:noFill/>
          <a:ln/>
        </p:spPr>
        <p:txBody>
          <a:bodyPr wrap="square" lIns="0" tIns="0" rIns="0" bIns="0" rtlCol="0" anchor="ctr"/>
          <a:lstStyle/>
          <a:p>
            <a:pPr algn="ctr" indent="0" marL="0">
              <a:buNone/>
            </a:pPr>
            <a:r>
              <a:rPr lang="en-US" sz="1300" b="1" dirty="0">
                <a:solidFill>
                  <a:srgbClr val="FFFFFF"/>
                </a:solidFill>
              </a:rPr>
              <a:t>✓ Proceed / ↺ Revise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6F9"/>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C3557"/>
          </a:solidFill>
          <a:ln/>
        </p:spPr>
      </p:sp>
      <p:sp>
        <p:nvSpPr>
          <p:cNvPr id="3" name="Text 1"/>
          <p:cNvSpPr/>
          <p:nvPr/>
        </p:nvSpPr>
        <p:spPr>
          <a:xfrm>
            <a:off x="365760" y="0"/>
            <a:ext cx="8412480" cy="749808"/>
          </a:xfrm>
          <a:prstGeom prst="rect">
            <a:avLst/>
          </a:prstGeom>
          <a:noFill/>
          <a:ln/>
        </p:spPr>
        <p:txBody>
          <a:bodyPr wrap="square" lIns="0" tIns="0" rIns="0" bIns="0" rtlCol="0" anchor="ctr"/>
          <a:lstStyle/>
          <a:p>
            <a:pPr indent="0" marL="0">
              <a:buNone/>
            </a:pPr>
            <a:r>
              <a:rPr lang="en-US" sz="1300" b="1" spc="300" kern="0" dirty="0">
                <a:solidFill>
                  <a:srgbClr val="FFFFFF"/>
                </a:solidFill>
              </a:rPr>
              <a:t>LEARNING OBJECTIVES</a:t>
            </a:r>
            <a:endParaRPr lang="en-US" sz="1300" dirty="0"/>
          </a:p>
        </p:txBody>
      </p:sp>
      <p:sp>
        <p:nvSpPr>
          <p:cNvPr id="4" name="Text 2"/>
          <p:cNvSpPr/>
          <p:nvPr/>
        </p:nvSpPr>
        <p:spPr>
          <a:xfrm>
            <a:off x="320040" y="822960"/>
            <a:ext cx="8503920" cy="256032"/>
          </a:xfrm>
          <a:prstGeom prst="rect">
            <a:avLst/>
          </a:prstGeom>
          <a:noFill/>
          <a:ln/>
        </p:spPr>
        <p:txBody>
          <a:bodyPr wrap="square" lIns="0" tIns="0" rIns="0" bIns="0" rtlCol="0" anchor="ctr"/>
          <a:lstStyle/>
          <a:p>
            <a:pPr indent="0" marL="0">
              <a:buNone/>
            </a:pPr>
            <a:r>
              <a:rPr lang="en-US" sz="1100" i="1" dirty="0">
                <a:solidFill>
                  <a:srgbClr val="7A90A8"/>
                </a:solidFill>
              </a:rPr>
              <a:t>By the end of this module you will be able to:</a:t>
            </a:r>
            <a:endParaRPr lang="en-US" sz="1100" dirty="0"/>
          </a:p>
        </p:txBody>
      </p:sp>
      <p:sp>
        <p:nvSpPr>
          <p:cNvPr id="5" name="Shape 3"/>
          <p:cNvSpPr/>
          <p:nvPr/>
        </p:nvSpPr>
        <p:spPr>
          <a:xfrm>
            <a:off x="320040" y="1170432"/>
            <a:ext cx="4160520" cy="1664208"/>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6" name="Shape 4"/>
          <p:cNvSpPr/>
          <p:nvPr/>
        </p:nvSpPr>
        <p:spPr>
          <a:xfrm>
            <a:off x="320040" y="1170432"/>
            <a:ext cx="64008" cy="1664208"/>
          </a:xfrm>
          <a:prstGeom prst="rect">
            <a:avLst/>
          </a:prstGeom>
          <a:solidFill>
            <a:srgbClr val="3A7DC9"/>
          </a:solidFill>
          <a:ln/>
        </p:spPr>
      </p:sp>
      <p:pic>
        <p:nvPicPr>
          <p:cNvPr id="7" name="Image 0" descr="preencoded.png">    </p:cNvPr>
          <p:cNvPicPr>
            <a:picLocks noChangeAspect="1"/>
          </p:cNvPicPr>
          <p:nvPr/>
        </p:nvPicPr>
        <p:blipFill>
          <a:blip r:embed="rId1"/>
          <a:stretch>
            <a:fillRect/>
          </a:stretch>
        </p:blipFill>
        <p:spPr>
          <a:xfrm>
            <a:off x="484632" y="1371600"/>
            <a:ext cx="365760" cy="365760"/>
          </a:xfrm>
          <a:prstGeom prst="rect">
            <a:avLst/>
          </a:prstGeom>
        </p:spPr>
      </p:pic>
      <p:sp>
        <p:nvSpPr>
          <p:cNvPr id="8" name="Text 5"/>
          <p:cNvSpPr/>
          <p:nvPr/>
        </p:nvSpPr>
        <p:spPr>
          <a:xfrm>
            <a:off x="960120" y="1335024"/>
            <a:ext cx="3383280" cy="384048"/>
          </a:xfrm>
          <a:prstGeom prst="rect">
            <a:avLst/>
          </a:prstGeom>
          <a:noFill/>
          <a:ln/>
        </p:spPr>
        <p:txBody>
          <a:bodyPr wrap="square" lIns="0" tIns="0" rIns="0" bIns="0" rtlCol="0" anchor="ctr"/>
          <a:lstStyle/>
          <a:p>
            <a:pPr indent="0" marL="0">
              <a:buNone/>
            </a:pPr>
            <a:r>
              <a:rPr lang="en-US" sz="1300" b="1" dirty="0">
                <a:solidFill>
                  <a:srgbClr val="1C3557"/>
                </a:solidFill>
              </a:rPr>
              <a:t>Review Across All SDLC Artifacts</a:t>
            </a:r>
            <a:endParaRPr lang="en-US" sz="1300" dirty="0"/>
          </a:p>
        </p:txBody>
      </p:sp>
      <p:sp>
        <p:nvSpPr>
          <p:cNvPr id="9" name="Text 6"/>
          <p:cNvSpPr/>
          <p:nvPr/>
        </p:nvSpPr>
        <p:spPr>
          <a:xfrm>
            <a:off x="960120" y="1755648"/>
            <a:ext cx="3383280" cy="960120"/>
          </a:xfrm>
          <a:prstGeom prst="rect">
            <a:avLst/>
          </a:prstGeom>
          <a:noFill/>
          <a:ln/>
        </p:spPr>
        <p:txBody>
          <a:bodyPr wrap="square" lIns="0" tIns="0" rIns="0" bIns="0" rtlCol="0" anchor="ctr"/>
          <a:lstStyle/>
          <a:p>
            <a:pPr indent="0" marL="0">
              <a:buNone/>
            </a:pPr>
            <a:r>
              <a:rPr lang="en-US" sz="1150" dirty="0">
                <a:solidFill>
                  <a:srgbClr val="7A90A8"/>
                </a:solidFill>
              </a:rPr>
              <a:t>Understand that coding agents are reviewers across ALL artifacts — not just code. PRDs, specs, architecture proposals, docs, and ADRs are all in scope.</a:t>
            </a:r>
            <a:endParaRPr lang="en-US" sz="1150" dirty="0"/>
          </a:p>
        </p:txBody>
      </p:sp>
      <p:sp>
        <p:nvSpPr>
          <p:cNvPr id="10" name="Shape 7"/>
          <p:cNvSpPr/>
          <p:nvPr/>
        </p:nvSpPr>
        <p:spPr>
          <a:xfrm>
            <a:off x="4663440" y="1170432"/>
            <a:ext cx="4160520" cy="1664208"/>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11" name="Shape 8"/>
          <p:cNvSpPr/>
          <p:nvPr/>
        </p:nvSpPr>
        <p:spPr>
          <a:xfrm>
            <a:off x="4663440" y="1170432"/>
            <a:ext cx="64008" cy="1664208"/>
          </a:xfrm>
          <a:prstGeom prst="rect">
            <a:avLst/>
          </a:prstGeom>
          <a:solidFill>
            <a:srgbClr val="4A7FA8"/>
          </a:solidFill>
          <a:ln/>
        </p:spPr>
      </p:sp>
      <p:pic>
        <p:nvPicPr>
          <p:cNvPr id="12" name="Image 1" descr="preencoded.png">    </p:cNvPr>
          <p:cNvPicPr>
            <a:picLocks noChangeAspect="1"/>
          </p:cNvPicPr>
          <p:nvPr/>
        </p:nvPicPr>
        <p:blipFill>
          <a:blip r:embed="rId2"/>
          <a:stretch>
            <a:fillRect/>
          </a:stretch>
        </p:blipFill>
        <p:spPr>
          <a:xfrm>
            <a:off x="4828032" y="1371600"/>
            <a:ext cx="365760" cy="365760"/>
          </a:xfrm>
          <a:prstGeom prst="rect">
            <a:avLst/>
          </a:prstGeom>
        </p:spPr>
      </p:pic>
      <p:sp>
        <p:nvSpPr>
          <p:cNvPr id="13" name="Text 9"/>
          <p:cNvSpPr/>
          <p:nvPr/>
        </p:nvSpPr>
        <p:spPr>
          <a:xfrm>
            <a:off x="5303520" y="1335024"/>
            <a:ext cx="3383280" cy="384048"/>
          </a:xfrm>
          <a:prstGeom prst="rect">
            <a:avLst/>
          </a:prstGeom>
          <a:noFill/>
          <a:ln/>
        </p:spPr>
        <p:txBody>
          <a:bodyPr wrap="square" lIns="0" tIns="0" rIns="0" bIns="0" rtlCol="0" anchor="ctr"/>
          <a:lstStyle/>
          <a:p>
            <a:pPr indent="0" marL="0">
              <a:buNone/>
            </a:pPr>
            <a:r>
              <a:rPr lang="en-US" sz="1300" b="1" dirty="0">
                <a:solidFill>
                  <a:srgbClr val="1C3557"/>
                </a:solidFill>
              </a:rPr>
              <a:t>Design HITL Review Cycles</a:t>
            </a:r>
            <a:endParaRPr lang="en-US" sz="1300" dirty="0"/>
          </a:p>
        </p:txBody>
      </p:sp>
      <p:sp>
        <p:nvSpPr>
          <p:cNvPr id="14" name="Text 10"/>
          <p:cNvSpPr/>
          <p:nvPr/>
        </p:nvSpPr>
        <p:spPr>
          <a:xfrm>
            <a:off x="5303520" y="1755648"/>
            <a:ext cx="3383280" cy="960120"/>
          </a:xfrm>
          <a:prstGeom prst="rect">
            <a:avLst/>
          </a:prstGeom>
          <a:noFill/>
          <a:ln/>
        </p:spPr>
        <p:txBody>
          <a:bodyPr wrap="square" lIns="0" tIns="0" rIns="0" bIns="0" rtlCol="0" anchor="ctr"/>
          <a:lstStyle/>
          <a:p>
            <a:pPr indent="0" marL="0">
              <a:buNone/>
            </a:pPr>
            <a:r>
              <a:rPr lang="en-US" sz="1150" dirty="0">
                <a:solidFill>
                  <a:srgbClr val="7A90A8"/>
                </a:solidFill>
              </a:rPr>
              <a:t>Apply human-in-the-loop patterns (approval gate, checkpoint, exception escalation, spot check) at the right granularity for each artifact and risk level.</a:t>
            </a:r>
            <a:endParaRPr lang="en-US" sz="1150" dirty="0"/>
          </a:p>
        </p:txBody>
      </p:sp>
      <p:sp>
        <p:nvSpPr>
          <p:cNvPr id="15" name="Shape 11"/>
          <p:cNvSpPr/>
          <p:nvPr/>
        </p:nvSpPr>
        <p:spPr>
          <a:xfrm>
            <a:off x="320040" y="2999232"/>
            <a:ext cx="4160520" cy="1664208"/>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16" name="Shape 12"/>
          <p:cNvSpPr/>
          <p:nvPr/>
        </p:nvSpPr>
        <p:spPr>
          <a:xfrm>
            <a:off x="320040" y="2999232"/>
            <a:ext cx="64008" cy="1664208"/>
          </a:xfrm>
          <a:prstGeom prst="rect">
            <a:avLst/>
          </a:prstGeom>
          <a:solidFill>
            <a:srgbClr val="3A7E6E"/>
          </a:solidFill>
          <a:ln/>
        </p:spPr>
      </p:sp>
      <p:pic>
        <p:nvPicPr>
          <p:cNvPr id="17" name="Image 2" descr="preencoded.png">    </p:cNvPr>
          <p:cNvPicPr>
            <a:picLocks noChangeAspect="1"/>
          </p:cNvPicPr>
          <p:nvPr/>
        </p:nvPicPr>
        <p:blipFill>
          <a:blip r:embed="rId3"/>
          <a:stretch>
            <a:fillRect/>
          </a:stretch>
        </p:blipFill>
        <p:spPr>
          <a:xfrm>
            <a:off x="484632" y="3200400"/>
            <a:ext cx="365760" cy="365760"/>
          </a:xfrm>
          <a:prstGeom prst="rect">
            <a:avLst/>
          </a:prstGeom>
        </p:spPr>
      </p:pic>
      <p:sp>
        <p:nvSpPr>
          <p:cNvPr id="18" name="Text 13"/>
          <p:cNvSpPr/>
          <p:nvPr/>
        </p:nvSpPr>
        <p:spPr>
          <a:xfrm>
            <a:off x="960120" y="3163824"/>
            <a:ext cx="3383280" cy="384048"/>
          </a:xfrm>
          <a:prstGeom prst="rect">
            <a:avLst/>
          </a:prstGeom>
          <a:noFill/>
          <a:ln/>
        </p:spPr>
        <p:txBody>
          <a:bodyPr wrap="square" lIns="0" tIns="0" rIns="0" bIns="0" rtlCol="0" anchor="ctr"/>
          <a:lstStyle/>
          <a:p>
            <a:pPr indent="0" marL="0">
              <a:buNone/>
            </a:pPr>
            <a:r>
              <a:rPr lang="en-US" sz="1300" b="1" dirty="0">
                <a:solidFill>
                  <a:srgbClr val="1C3557"/>
                </a:solidFill>
              </a:rPr>
              <a:t>Implement Agent-to-Agent Review</a:t>
            </a:r>
            <a:endParaRPr lang="en-US" sz="1300" dirty="0"/>
          </a:p>
        </p:txBody>
      </p:sp>
      <p:sp>
        <p:nvSpPr>
          <p:cNvPr id="19" name="Text 14"/>
          <p:cNvSpPr/>
          <p:nvPr/>
        </p:nvSpPr>
        <p:spPr>
          <a:xfrm>
            <a:off x="960120" y="3584448"/>
            <a:ext cx="3383280" cy="960120"/>
          </a:xfrm>
          <a:prstGeom prst="rect">
            <a:avLst/>
          </a:prstGeom>
          <a:noFill/>
          <a:ln/>
        </p:spPr>
        <p:txBody>
          <a:bodyPr wrap="square" lIns="0" tIns="0" rIns="0" bIns="0" rtlCol="0" anchor="ctr"/>
          <a:lstStyle/>
          <a:p>
            <a:pPr indent="0" marL="0">
              <a:buNone/>
            </a:pPr>
            <a:r>
              <a:rPr lang="en-US" sz="1150" dirty="0">
                <a:solidFill>
                  <a:srgbClr val="7A90A8"/>
                </a:solidFill>
              </a:rPr>
              <a:t>Use a dedicated evaluator agent to review generator agent output before it reaches a human — catching pattern failures at scale.</a:t>
            </a:r>
            <a:endParaRPr lang="en-US" sz="1150" dirty="0"/>
          </a:p>
        </p:txBody>
      </p:sp>
      <p:sp>
        <p:nvSpPr>
          <p:cNvPr id="20" name="Shape 15"/>
          <p:cNvSpPr/>
          <p:nvPr/>
        </p:nvSpPr>
        <p:spPr>
          <a:xfrm>
            <a:off x="4663440" y="2999232"/>
            <a:ext cx="4160520" cy="1664208"/>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21" name="Shape 16"/>
          <p:cNvSpPr/>
          <p:nvPr/>
        </p:nvSpPr>
        <p:spPr>
          <a:xfrm>
            <a:off x="4663440" y="2999232"/>
            <a:ext cx="64008" cy="1664208"/>
          </a:xfrm>
          <a:prstGeom prst="rect">
            <a:avLst/>
          </a:prstGeom>
          <a:solidFill>
            <a:srgbClr val="8096B0"/>
          </a:solidFill>
          <a:ln/>
        </p:spPr>
      </p:sp>
      <p:pic>
        <p:nvPicPr>
          <p:cNvPr id="22" name="Image 3" descr="preencoded.png">    </p:cNvPr>
          <p:cNvPicPr>
            <a:picLocks noChangeAspect="1"/>
          </p:cNvPicPr>
          <p:nvPr/>
        </p:nvPicPr>
        <p:blipFill>
          <a:blip r:embed="rId4"/>
          <a:stretch>
            <a:fillRect/>
          </a:stretch>
        </p:blipFill>
        <p:spPr>
          <a:xfrm>
            <a:off x="4828032" y="3200400"/>
            <a:ext cx="365760" cy="365760"/>
          </a:xfrm>
          <a:prstGeom prst="rect">
            <a:avLst/>
          </a:prstGeom>
        </p:spPr>
      </p:pic>
      <p:sp>
        <p:nvSpPr>
          <p:cNvPr id="23" name="Text 17"/>
          <p:cNvSpPr/>
          <p:nvPr/>
        </p:nvSpPr>
        <p:spPr>
          <a:xfrm>
            <a:off x="5303520" y="3163824"/>
            <a:ext cx="3383280" cy="384048"/>
          </a:xfrm>
          <a:prstGeom prst="rect">
            <a:avLst/>
          </a:prstGeom>
          <a:noFill/>
          <a:ln/>
        </p:spPr>
        <p:txBody>
          <a:bodyPr wrap="square" lIns="0" tIns="0" rIns="0" bIns="0" rtlCol="0" anchor="ctr"/>
          <a:lstStyle/>
          <a:p>
            <a:pPr indent="0" marL="0">
              <a:buNone/>
            </a:pPr>
            <a:r>
              <a:rPr lang="en-US" sz="1300" b="1" dirty="0">
                <a:solidFill>
                  <a:srgbClr val="1C3557"/>
                </a:solidFill>
              </a:rPr>
              <a:t>Use Agents as Educators</a:t>
            </a:r>
            <a:endParaRPr lang="en-US" sz="1300" dirty="0"/>
          </a:p>
        </p:txBody>
      </p:sp>
      <p:sp>
        <p:nvSpPr>
          <p:cNvPr id="24" name="Text 18"/>
          <p:cNvSpPr/>
          <p:nvPr/>
        </p:nvSpPr>
        <p:spPr>
          <a:xfrm>
            <a:off x="5303520" y="3584448"/>
            <a:ext cx="3383280" cy="960120"/>
          </a:xfrm>
          <a:prstGeom prst="rect">
            <a:avLst/>
          </a:prstGeom>
          <a:noFill/>
          <a:ln/>
        </p:spPr>
        <p:txBody>
          <a:bodyPr wrap="square" lIns="0" tIns="0" rIns="0" bIns="0" rtlCol="0" anchor="ctr"/>
          <a:lstStyle/>
          <a:p>
            <a:pPr indent="0" marL="0">
              <a:buNone/>
            </a:pPr>
            <a:r>
              <a:rPr lang="en-US" sz="1150" dirty="0">
                <a:solidFill>
                  <a:srgbClr val="7A90A8"/>
                </a:solidFill>
              </a:rPr>
              <a:t>Leverage agents to explain codebase, design decisions, and team processes to new team members on demand — without interrupting senior developers.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C3557"/>
          </a:solidFill>
          <a:ln/>
        </p:spPr>
      </p:sp>
      <p:sp>
        <p:nvSpPr>
          <p:cNvPr id="3" name="Text 1"/>
          <p:cNvSpPr/>
          <p:nvPr/>
        </p:nvSpPr>
        <p:spPr>
          <a:xfrm>
            <a:off x="365760" y="0"/>
            <a:ext cx="8229600" cy="749808"/>
          </a:xfrm>
          <a:prstGeom prst="rect">
            <a:avLst/>
          </a:prstGeom>
          <a:noFill/>
          <a:ln/>
        </p:spPr>
        <p:txBody>
          <a:bodyPr wrap="square" lIns="0" tIns="0" rIns="0" bIns="0" rtlCol="0" anchor="ctr"/>
          <a:lstStyle/>
          <a:p>
            <a:pPr indent="0" marL="0">
              <a:buNone/>
            </a:pPr>
            <a:r>
              <a:rPr lang="en-US" sz="1300" b="1" spc="300" kern="0" dirty="0">
                <a:solidFill>
                  <a:srgbClr val="FFFFFF"/>
                </a:solidFill>
              </a:rPr>
              <a:t>THE FULL SCOPE OF AGENT REVIEW</a:t>
            </a:r>
            <a:endParaRPr lang="en-US" sz="1300" dirty="0"/>
          </a:p>
        </p:txBody>
      </p:sp>
      <p:sp>
        <p:nvSpPr>
          <p:cNvPr id="4" name="Text 2"/>
          <p:cNvSpPr/>
          <p:nvPr/>
        </p:nvSpPr>
        <p:spPr>
          <a:xfrm>
            <a:off x="365760" y="822960"/>
            <a:ext cx="8412480" cy="274320"/>
          </a:xfrm>
          <a:prstGeom prst="rect">
            <a:avLst/>
          </a:prstGeom>
          <a:noFill/>
          <a:ln/>
        </p:spPr>
        <p:txBody>
          <a:bodyPr wrap="square" lIns="0" tIns="0" rIns="0" bIns="0" rtlCol="0" anchor="ctr"/>
          <a:lstStyle/>
          <a:p>
            <a:pPr indent="0" marL="0">
              <a:buNone/>
            </a:pPr>
            <a:r>
              <a:rPr lang="en-US" sz="1200" i="1" dirty="0">
                <a:solidFill>
                  <a:srgbClr val="7A90A8"/>
                </a:solidFill>
              </a:rPr>
              <a:t>Any artifact expressible in text and evaluable against criteria is reviewable by an agent</a:t>
            </a:r>
            <a:endParaRPr lang="en-US" sz="1200" dirty="0"/>
          </a:p>
        </p:txBody>
      </p:sp>
      <p:sp>
        <p:nvSpPr>
          <p:cNvPr id="5" name="Shape 3"/>
          <p:cNvSpPr/>
          <p:nvPr/>
        </p:nvSpPr>
        <p:spPr>
          <a:xfrm>
            <a:off x="320040" y="1170432"/>
            <a:ext cx="1920240" cy="402336"/>
          </a:xfrm>
          <a:prstGeom prst="rect">
            <a:avLst/>
          </a:prstGeom>
          <a:solidFill>
            <a:srgbClr val="1C3557"/>
          </a:solidFill>
          <a:ln/>
        </p:spPr>
      </p:sp>
      <p:sp>
        <p:nvSpPr>
          <p:cNvPr id="6" name="Text 4"/>
          <p:cNvSpPr/>
          <p:nvPr/>
        </p:nvSpPr>
        <p:spPr>
          <a:xfrm>
            <a:off x="429768" y="1170432"/>
            <a:ext cx="1792224" cy="402336"/>
          </a:xfrm>
          <a:prstGeom prst="rect">
            <a:avLst/>
          </a:prstGeom>
          <a:noFill/>
          <a:ln/>
        </p:spPr>
        <p:txBody>
          <a:bodyPr wrap="square" lIns="0" tIns="0" rIns="0" bIns="0" rtlCol="0" anchor="ctr"/>
          <a:lstStyle/>
          <a:p>
            <a:pPr indent="0" marL="0">
              <a:buNone/>
            </a:pPr>
            <a:r>
              <a:rPr lang="en-US" sz="1150" b="1" spc="200" kern="0" dirty="0">
                <a:solidFill>
                  <a:srgbClr val="FFFFFF"/>
                </a:solidFill>
              </a:rPr>
              <a:t>Artifact</a:t>
            </a:r>
            <a:endParaRPr lang="en-US" sz="1150" dirty="0"/>
          </a:p>
        </p:txBody>
      </p:sp>
      <p:sp>
        <p:nvSpPr>
          <p:cNvPr id="7" name="Shape 5"/>
          <p:cNvSpPr/>
          <p:nvPr/>
        </p:nvSpPr>
        <p:spPr>
          <a:xfrm>
            <a:off x="2331720" y="1170432"/>
            <a:ext cx="3063240" cy="402336"/>
          </a:xfrm>
          <a:prstGeom prst="rect">
            <a:avLst/>
          </a:prstGeom>
          <a:solidFill>
            <a:srgbClr val="1C3557"/>
          </a:solidFill>
          <a:ln/>
        </p:spPr>
      </p:sp>
      <p:sp>
        <p:nvSpPr>
          <p:cNvPr id="8" name="Text 6"/>
          <p:cNvSpPr/>
          <p:nvPr/>
        </p:nvSpPr>
        <p:spPr>
          <a:xfrm>
            <a:off x="2441448" y="1170432"/>
            <a:ext cx="2935224" cy="402336"/>
          </a:xfrm>
          <a:prstGeom prst="rect">
            <a:avLst/>
          </a:prstGeom>
          <a:noFill/>
          <a:ln/>
        </p:spPr>
        <p:txBody>
          <a:bodyPr wrap="square" lIns="0" tIns="0" rIns="0" bIns="0" rtlCol="0" anchor="ctr"/>
          <a:lstStyle/>
          <a:p>
            <a:pPr indent="0" marL="0">
              <a:buNone/>
            </a:pPr>
            <a:r>
              <a:rPr lang="en-US" sz="1150" b="1" spc="200" kern="0" dirty="0">
                <a:solidFill>
                  <a:srgbClr val="FFFFFF"/>
                </a:solidFill>
              </a:rPr>
              <a:t>Reviewed against</a:t>
            </a:r>
            <a:endParaRPr lang="en-US" sz="1150" dirty="0"/>
          </a:p>
        </p:txBody>
      </p:sp>
      <p:sp>
        <p:nvSpPr>
          <p:cNvPr id="9" name="Shape 7"/>
          <p:cNvSpPr/>
          <p:nvPr/>
        </p:nvSpPr>
        <p:spPr>
          <a:xfrm>
            <a:off x="5486400" y="1170432"/>
            <a:ext cx="3291840" cy="402336"/>
          </a:xfrm>
          <a:prstGeom prst="rect">
            <a:avLst/>
          </a:prstGeom>
          <a:solidFill>
            <a:srgbClr val="1C3557"/>
          </a:solidFill>
          <a:ln/>
        </p:spPr>
      </p:sp>
      <p:sp>
        <p:nvSpPr>
          <p:cNvPr id="10" name="Text 8"/>
          <p:cNvSpPr/>
          <p:nvPr/>
        </p:nvSpPr>
        <p:spPr>
          <a:xfrm>
            <a:off x="5596128" y="1170432"/>
            <a:ext cx="3163824" cy="402336"/>
          </a:xfrm>
          <a:prstGeom prst="rect">
            <a:avLst/>
          </a:prstGeom>
          <a:noFill/>
          <a:ln/>
        </p:spPr>
        <p:txBody>
          <a:bodyPr wrap="square" lIns="0" tIns="0" rIns="0" bIns="0" rtlCol="0" anchor="ctr"/>
          <a:lstStyle/>
          <a:p>
            <a:pPr indent="0" marL="0">
              <a:buNone/>
            </a:pPr>
            <a:r>
              <a:rPr lang="en-US" sz="1150" b="1" spc="200" kern="0" dirty="0">
                <a:solidFill>
                  <a:srgbClr val="FFFFFF"/>
                </a:solidFill>
              </a:rPr>
              <a:t>Typical output</a:t>
            </a:r>
            <a:endParaRPr lang="en-US" sz="1150" dirty="0"/>
          </a:p>
        </p:txBody>
      </p:sp>
      <p:sp>
        <p:nvSpPr>
          <p:cNvPr id="11" name="Shape 9"/>
          <p:cNvSpPr/>
          <p:nvPr/>
        </p:nvSpPr>
        <p:spPr>
          <a:xfrm>
            <a:off x="320040" y="1600200"/>
            <a:ext cx="1920240" cy="438912"/>
          </a:xfrm>
          <a:prstGeom prst="rect">
            <a:avLst/>
          </a:prstGeom>
          <a:solidFill>
            <a:srgbClr val="D4E4F0"/>
          </a:solidFill>
          <a:ln/>
        </p:spPr>
      </p:sp>
      <p:sp>
        <p:nvSpPr>
          <p:cNvPr id="12" name="Shape 10"/>
          <p:cNvSpPr/>
          <p:nvPr/>
        </p:nvSpPr>
        <p:spPr>
          <a:xfrm>
            <a:off x="2331720" y="1600200"/>
            <a:ext cx="3063240" cy="438912"/>
          </a:xfrm>
          <a:prstGeom prst="rect">
            <a:avLst/>
          </a:prstGeom>
          <a:solidFill>
            <a:srgbClr val="FFFFFF"/>
          </a:solidFill>
          <a:ln/>
        </p:spPr>
      </p:sp>
      <p:sp>
        <p:nvSpPr>
          <p:cNvPr id="13" name="Shape 11"/>
          <p:cNvSpPr/>
          <p:nvPr/>
        </p:nvSpPr>
        <p:spPr>
          <a:xfrm>
            <a:off x="5486400" y="1600200"/>
            <a:ext cx="3291840" cy="438912"/>
          </a:xfrm>
          <a:prstGeom prst="rect">
            <a:avLst/>
          </a:prstGeom>
          <a:solidFill>
            <a:srgbClr val="FFFFFF"/>
          </a:solidFill>
          <a:ln/>
        </p:spPr>
      </p:sp>
      <p:sp>
        <p:nvSpPr>
          <p:cNvPr id="14" name="Text 12"/>
          <p:cNvSpPr/>
          <p:nvPr/>
        </p:nvSpPr>
        <p:spPr>
          <a:xfrm>
            <a:off x="429768" y="1600200"/>
            <a:ext cx="1792224" cy="438912"/>
          </a:xfrm>
          <a:prstGeom prst="rect">
            <a:avLst/>
          </a:prstGeom>
          <a:noFill/>
          <a:ln/>
        </p:spPr>
        <p:txBody>
          <a:bodyPr wrap="square" lIns="0" tIns="0" rIns="0" bIns="0" rtlCol="0" anchor="ctr"/>
          <a:lstStyle/>
          <a:p>
            <a:pPr indent="0" marL="0">
              <a:buNone/>
            </a:pPr>
            <a:r>
              <a:rPr lang="en-US" sz="1100" b="1" dirty="0">
                <a:solidFill>
                  <a:srgbClr val="1C3557"/>
                </a:solidFill>
              </a:rPr>
              <a:t>PRD</a:t>
            </a:r>
            <a:endParaRPr lang="en-US" sz="1100" dirty="0"/>
          </a:p>
        </p:txBody>
      </p:sp>
      <p:sp>
        <p:nvSpPr>
          <p:cNvPr id="15" name="Text 13"/>
          <p:cNvSpPr/>
          <p:nvPr/>
        </p:nvSpPr>
        <p:spPr>
          <a:xfrm>
            <a:off x="2441448" y="1600200"/>
            <a:ext cx="2935224" cy="438912"/>
          </a:xfrm>
          <a:prstGeom prst="rect">
            <a:avLst/>
          </a:prstGeom>
          <a:noFill/>
          <a:ln/>
        </p:spPr>
        <p:txBody>
          <a:bodyPr wrap="square" lIns="0" tIns="0" rIns="0" bIns="0" rtlCol="0" anchor="ctr"/>
          <a:lstStyle/>
          <a:p>
            <a:pPr indent="0" marL="0">
              <a:buNone/>
            </a:pPr>
            <a:r>
              <a:rPr lang="en-US" sz="1050" dirty="0">
                <a:solidFill>
                  <a:srgbClr val="7A90A8"/>
                </a:solidFill>
              </a:rPr>
              <a:t>Completeness checklist, existing system constraints, prior ADRs</a:t>
            </a:r>
            <a:endParaRPr lang="en-US" sz="1050" dirty="0"/>
          </a:p>
        </p:txBody>
      </p:sp>
      <p:sp>
        <p:nvSpPr>
          <p:cNvPr id="16" name="Text 14"/>
          <p:cNvSpPr/>
          <p:nvPr/>
        </p:nvSpPr>
        <p:spPr>
          <a:xfrm>
            <a:off x="5596128" y="1600200"/>
            <a:ext cx="3163824" cy="438912"/>
          </a:xfrm>
          <a:prstGeom prst="rect">
            <a:avLst/>
          </a:prstGeom>
          <a:noFill/>
          <a:ln/>
        </p:spPr>
        <p:txBody>
          <a:bodyPr wrap="square" lIns="0" tIns="0" rIns="0" bIns="0" rtlCol="0" anchor="ctr"/>
          <a:lstStyle/>
          <a:p>
            <a:pPr indent="0" marL="0">
              <a:buNone/>
            </a:pPr>
            <a:r>
              <a:rPr lang="en-US" sz="1050" dirty="0">
                <a:solidFill>
                  <a:srgbClr val="1E2D3D"/>
                </a:solidFill>
              </a:rPr>
              <a:t>Gaps, conflicts, open questions</a:t>
            </a:r>
            <a:endParaRPr lang="en-US" sz="1050" dirty="0"/>
          </a:p>
        </p:txBody>
      </p:sp>
      <p:sp>
        <p:nvSpPr>
          <p:cNvPr id="17" name="Shape 15"/>
          <p:cNvSpPr/>
          <p:nvPr/>
        </p:nvSpPr>
        <p:spPr>
          <a:xfrm>
            <a:off x="320040" y="2075688"/>
            <a:ext cx="1920240" cy="438912"/>
          </a:xfrm>
          <a:prstGeom prst="rect">
            <a:avLst/>
          </a:prstGeom>
          <a:solidFill>
            <a:srgbClr val="D4E4F0"/>
          </a:solidFill>
          <a:ln/>
        </p:spPr>
      </p:sp>
      <p:sp>
        <p:nvSpPr>
          <p:cNvPr id="18" name="Shape 16"/>
          <p:cNvSpPr/>
          <p:nvPr/>
        </p:nvSpPr>
        <p:spPr>
          <a:xfrm>
            <a:off x="2331720" y="2075688"/>
            <a:ext cx="3063240" cy="438912"/>
          </a:xfrm>
          <a:prstGeom prst="rect">
            <a:avLst/>
          </a:prstGeom>
          <a:solidFill>
            <a:srgbClr val="F3F6F9"/>
          </a:solidFill>
          <a:ln/>
        </p:spPr>
      </p:sp>
      <p:sp>
        <p:nvSpPr>
          <p:cNvPr id="19" name="Shape 17"/>
          <p:cNvSpPr/>
          <p:nvPr/>
        </p:nvSpPr>
        <p:spPr>
          <a:xfrm>
            <a:off x="5486400" y="2075688"/>
            <a:ext cx="3291840" cy="438912"/>
          </a:xfrm>
          <a:prstGeom prst="rect">
            <a:avLst/>
          </a:prstGeom>
          <a:solidFill>
            <a:srgbClr val="F3F6F9"/>
          </a:solidFill>
          <a:ln/>
        </p:spPr>
      </p:sp>
      <p:sp>
        <p:nvSpPr>
          <p:cNvPr id="20" name="Text 18"/>
          <p:cNvSpPr/>
          <p:nvPr/>
        </p:nvSpPr>
        <p:spPr>
          <a:xfrm>
            <a:off x="429768" y="2075688"/>
            <a:ext cx="1792224" cy="438912"/>
          </a:xfrm>
          <a:prstGeom prst="rect">
            <a:avLst/>
          </a:prstGeom>
          <a:noFill/>
          <a:ln/>
        </p:spPr>
        <p:txBody>
          <a:bodyPr wrap="square" lIns="0" tIns="0" rIns="0" bIns="0" rtlCol="0" anchor="ctr"/>
          <a:lstStyle/>
          <a:p>
            <a:pPr indent="0" marL="0">
              <a:buNone/>
            </a:pPr>
            <a:r>
              <a:rPr lang="en-US" sz="1100" b="1" dirty="0">
                <a:solidFill>
                  <a:srgbClr val="1C3557"/>
                </a:solidFill>
              </a:rPr>
              <a:t>Design / architecture</a:t>
            </a:r>
            <a:endParaRPr lang="en-US" sz="1100" dirty="0"/>
          </a:p>
        </p:txBody>
      </p:sp>
      <p:sp>
        <p:nvSpPr>
          <p:cNvPr id="21" name="Text 19"/>
          <p:cNvSpPr/>
          <p:nvPr/>
        </p:nvSpPr>
        <p:spPr>
          <a:xfrm>
            <a:off x="2441448" y="2075688"/>
            <a:ext cx="2935224" cy="438912"/>
          </a:xfrm>
          <a:prstGeom prst="rect">
            <a:avLst/>
          </a:prstGeom>
          <a:noFill/>
          <a:ln/>
        </p:spPr>
        <p:txBody>
          <a:bodyPr wrap="square" lIns="0" tIns="0" rIns="0" bIns="0" rtlCol="0" anchor="ctr"/>
          <a:lstStyle/>
          <a:p>
            <a:pPr indent="0" marL="0">
              <a:buNone/>
            </a:pPr>
            <a:r>
              <a:rPr lang="en-US" sz="1050" dirty="0">
                <a:solidFill>
                  <a:srgbClr val="7A90A8"/>
                </a:solidFill>
              </a:rPr>
              <a:t>Existing codebase, architecture principles, security patterns</a:t>
            </a:r>
            <a:endParaRPr lang="en-US" sz="1050" dirty="0"/>
          </a:p>
        </p:txBody>
      </p:sp>
      <p:sp>
        <p:nvSpPr>
          <p:cNvPr id="22" name="Text 20"/>
          <p:cNvSpPr/>
          <p:nvPr/>
        </p:nvSpPr>
        <p:spPr>
          <a:xfrm>
            <a:off x="5596128" y="2075688"/>
            <a:ext cx="3163824" cy="438912"/>
          </a:xfrm>
          <a:prstGeom prst="rect">
            <a:avLst/>
          </a:prstGeom>
          <a:noFill/>
          <a:ln/>
        </p:spPr>
        <p:txBody>
          <a:bodyPr wrap="square" lIns="0" tIns="0" rIns="0" bIns="0" rtlCol="0" anchor="ctr"/>
          <a:lstStyle/>
          <a:p>
            <a:pPr indent="0" marL="0">
              <a:buNone/>
            </a:pPr>
            <a:r>
              <a:rPr lang="en-US" sz="1050" dirty="0">
                <a:solidFill>
                  <a:srgbClr val="1E2D3D"/>
                </a:solidFill>
              </a:rPr>
              <a:t>Violations, missing considerations, alternatives</a:t>
            </a:r>
            <a:endParaRPr lang="en-US" sz="1050" dirty="0"/>
          </a:p>
        </p:txBody>
      </p:sp>
      <p:sp>
        <p:nvSpPr>
          <p:cNvPr id="23" name="Shape 21"/>
          <p:cNvSpPr/>
          <p:nvPr/>
        </p:nvSpPr>
        <p:spPr>
          <a:xfrm>
            <a:off x="320040" y="2551176"/>
            <a:ext cx="1920240" cy="438912"/>
          </a:xfrm>
          <a:prstGeom prst="rect">
            <a:avLst/>
          </a:prstGeom>
          <a:solidFill>
            <a:srgbClr val="D4E4F0"/>
          </a:solidFill>
          <a:ln/>
        </p:spPr>
      </p:sp>
      <p:sp>
        <p:nvSpPr>
          <p:cNvPr id="24" name="Shape 22"/>
          <p:cNvSpPr/>
          <p:nvPr/>
        </p:nvSpPr>
        <p:spPr>
          <a:xfrm>
            <a:off x="2331720" y="2551176"/>
            <a:ext cx="3063240" cy="438912"/>
          </a:xfrm>
          <a:prstGeom prst="rect">
            <a:avLst/>
          </a:prstGeom>
          <a:solidFill>
            <a:srgbClr val="FFFFFF"/>
          </a:solidFill>
          <a:ln/>
        </p:spPr>
      </p:sp>
      <p:sp>
        <p:nvSpPr>
          <p:cNvPr id="25" name="Shape 23"/>
          <p:cNvSpPr/>
          <p:nvPr/>
        </p:nvSpPr>
        <p:spPr>
          <a:xfrm>
            <a:off x="5486400" y="2551176"/>
            <a:ext cx="3291840" cy="438912"/>
          </a:xfrm>
          <a:prstGeom prst="rect">
            <a:avLst/>
          </a:prstGeom>
          <a:solidFill>
            <a:srgbClr val="FFFFFF"/>
          </a:solidFill>
          <a:ln/>
        </p:spPr>
      </p:sp>
      <p:sp>
        <p:nvSpPr>
          <p:cNvPr id="26" name="Text 24"/>
          <p:cNvSpPr/>
          <p:nvPr/>
        </p:nvSpPr>
        <p:spPr>
          <a:xfrm>
            <a:off x="429768" y="2551176"/>
            <a:ext cx="1792224" cy="438912"/>
          </a:xfrm>
          <a:prstGeom prst="rect">
            <a:avLst/>
          </a:prstGeom>
          <a:noFill/>
          <a:ln/>
        </p:spPr>
        <p:txBody>
          <a:bodyPr wrap="square" lIns="0" tIns="0" rIns="0" bIns="0" rtlCol="0" anchor="ctr"/>
          <a:lstStyle/>
          <a:p>
            <a:pPr indent="0" marL="0">
              <a:buNone/>
            </a:pPr>
            <a:r>
              <a:rPr lang="en-US" sz="1100" b="1" dirty="0">
                <a:solidFill>
                  <a:srgbClr val="1C3557"/>
                </a:solidFill>
              </a:rPr>
              <a:t>Technical spec</a:t>
            </a:r>
            <a:endParaRPr lang="en-US" sz="1100" dirty="0"/>
          </a:p>
        </p:txBody>
      </p:sp>
      <p:sp>
        <p:nvSpPr>
          <p:cNvPr id="27" name="Text 25"/>
          <p:cNvSpPr/>
          <p:nvPr/>
        </p:nvSpPr>
        <p:spPr>
          <a:xfrm>
            <a:off x="2441448" y="2551176"/>
            <a:ext cx="2935224" cy="438912"/>
          </a:xfrm>
          <a:prstGeom prst="rect">
            <a:avLst/>
          </a:prstGeom>
          <a:noFill/>
          <a:ln/>
        </p:spPr>
        <p:txBody>
          <a:bodyPr wrap="square" lIns="0" tIns="0" rIns="0" bIns="0" rtlCol="0" anchor="ctr"/>
          <a:lstStyle/>
          <a:p>
            <a:pPr indent="0" marL="0">
              <a:buNone/>
            </a:pPr>
            <a:r>
              <a:rPr lang="en-US" sz="1050" dirty="0">
                <a:solidFill>
                  <a:srgbClr val="7A90A8"/>
                </a:solidFill>
              </a:rPr>
              <a:t>PRD requirements, coding standards, test strategy</a:t>
            </a:r>
            <a:endParaRPr lang="en-US" sz="1050" dirty="0"/>
          </a:p>
        </p:txBody>
      </p:sp>
      <p:sp>
        <p:nvSpPr>
          <p:cNvPr id="28" name="Text 26"/>
          <p:cNvSpPr/>
          <p:nvPr/>
        </p:nvSpPr>
        <p:spPr>
          <a:xfrm>
            <a:off x="5596128" y="2551176"/>
            <a:ext cx="3163824" cy="438912"/>
          </a:xfrm>
          <a:prstGeom prst="rect">
            <a:avLst/>
          </a:prstGeom>
          <a:noFill/>
          <a:ln/>
        </p:spPr>
        <p:txBody>
          <a:bodyPr wrap="square" lIns="0" tIns="0" rIns="0" bIns="0" rtlCol="0" anchor="ctr"/>
          <a:lstStyle/>
          <a:p>
            <a:pPr indent="0" marL="0">
              <a:buNone/>
            </a:pPr>
            <a:r>
              <a:rPr lang="en-US" sz="1050" dirty="0">
                <a:solidFill>
                  <a:srgbClr val="1E2D3D"/>
                </a:solidFill>
              </a:rPr>
              <a:t>Requirement gaps, ambiguities, missing edge cases</a:t>
            </a:r>
            <a:endParaRPr lang="en-US" sz="1050" dirty="0"/>
          </a:p>
        </p:txBody>
      </p:sp>
      <p:sp>
        <p:nvSpPr>
          <p:cNvPr id="29" name="Shape 27"/>
          <p:cNvSpPr/>
          <p:nvPr/>
        </p:nvSpPr>
        <p:spPr>
          <a:xfrm>
            <a:off x="320040" y="3026664"/>
            <a:ext cx="1920240" cy="438912"/>
          </a:xfrm>
          <a:prstGeom prst="rect">
            <a:avLst/>
          </a:prstGeom>
          <a:solidFill>
            <a:srgbClr val="D4E4F0"/>
          </a:solidFill>
          <a:ln/>
        </p:spPr>
      </p:sp>
      <p:sp>
        <p:nvSpPr>
          <p:cNvPr id="30" name="Shape 28"/>
          <p:cNvSpPr/>
          <p:nvPr/>
        </p:nvSpPr>
        <p:spPr>
          <a:xfrm>
            <a:off x="2331720" y="3026664"/>
            <a:ext cx="3063240" cy="438912"/>
          </a:xfrm>
          <a:prstGeom prst="rect">
            <a:avLst/>
          </a:prstGeom>
          <a:solidFill>
            <a:srgbClr val="F3F6F9"/>
          </a:solidFill>
          <a:ln/>
        </p:spPr>
      </p:sp>
      <p:sp>
        <p:nvSpPr>
          <p:cNvPr id="31" name="Shape 29"/>
          <p:cNvSpPr/>
          <p:nvPr/>
        </p:nvSpPr>
        <p:spPr>
          <a:xfrm>
            <a:off x="5486400" y="3026664"/>
            <a:ext cx="3291840" cy="438912"/>
          </a:xfrm>
          <a:prstGeom prst="rect">
            <a:avLst/>
          </a:prstGeom>
          <a:solidFill>
            <a:srgbClr val="F3F6F9"/>
          </a:solidFill>
          <a:ln/>
        </p:spPr>
      </p:sp>
      <p:sp>
        <p:nvSpPr>
          <p:cNvPr id="32" name="Text 30"/>
          <p:cNvSpPr/>
          <p:nvPr/>
        </p:nvSpPr>
        <p:spPr>
          <a:xfrm>
            <a:off x="429768" y="3026664"/>
            <a:ext cx="1792224" cy="438912"/>
          </a:xfrm>
          <a:prstGeom prst="rect">
            <a:avLst/>
          </a:prstGeom>
          <a:noFill/>
          <a:ln/>
        </p:spPr>
        <p:txBody>
          <a:bodyPr wrap="square" lIns="0" tIns="0" rIns="0" bIns="0" rtlCol="0" anchor="ctr"/>
          <a:lstStyle/>
          <a:p>
            <a:pPr indent="0" marL="0">
              <a:buNone/>
            </a:pPr>
            <a:r>
              <a:rPr lang="en-US" sz="1100" b="1" dirty="0">
                <a:solidFill>
                  <a:srgbClr val="1C3557"/>
                </a:solidFill>
              </a:rPr>
              <a:t>Code (PR)</a:t>
            </a:r>
            <a:endParaRPr lang="en-US" sz="1100" dirty="0"/>
          </a:p>
        </p:txBody>
      </p:sp>
      <p:sp>
        <p:nvSpPr>
          <p:cNvPr id="33" name="Text 31"/>
          <p:cNvSpPr/>
          <p:nvPr/>
        </p:nvSpPr>
        <p:spPr>
          <a:xfrm>
            <a:off x="2441448" y="3026664"/>
            <a:ext cx="2935224" cy="438912"/>
          </a:xfrm>
          <a:prstGeom prst="rect">
            <a:avLst/>
          </a:prstGeom>
          <a:noFill/>
          <a:ln/>
        </p:spPr>
        <p:txBody>
          <a:bodyPr wrap="square" lIns="0" tIns="0" rIns="0" bIns="0" rtlCol="0" anchor="ctr"/>
          <a:lstStyle/>
          <a:p>
            <a:pPr indent="0" marL="0">
              <a:buNone/>
            </a:pPr>
            <a:r>
              <a:rPr lang="en-US" sz="1050" dirty="0">
                <a:solidFill>
                  <a:srgbClr val="7A90A8"/>
                </a:solidFill>
              </a:rPr>
              <a:t>Spec, coding standards, test coverage, security checklist</a:t>
            </a:r>
            <a:endParaRPr lang="en-US" sz="1050" dirty="0"/>
          </a:p>
        </p:txBody>
      </p:sp>
      <p:sp>
        <p:nvSpPr>
          <p:cNvPr id="34" name="Text 32"/>
          <p:cNvSpPr/>
          <p:nvPr/>
        </p:nvSpPr>
        <p:spPr>
          <a:xfrm>
            <a:off x="5596128" y="3026664"/>
            <a:ext cx="3163824" cy="438912"/>
          </a:xfrm>
          <a:prstGeom prst="rect">
            <a:avLst/>
          </a:prstGeom>
          <a:noFill/>
          <a:ln/>
        </p:spPr>
        <p:txBody>
          <a:bodyPr wrap="square" lIns="0" tIns="0" rIns="0" bIns="0" rtlCol="0" anchor="ctr"/>
          <a:lstStyle/>
          <a:p>
            <a:pPr indent="0" marL="0">
              <a:buNone/>
            </a:pPr>
            <a:r>
              <a:rPr lang="en-US" sz="1050" dirty="0">
                <a:solidFill>
                  <a:srgbClr val="1E2D3D"/>
                </a:solidFill>
              </a:rPr>
              <a:t>Failing requirements, style issues, coverage gaps</a:t>
            </a:r>
            <a:endParaRPr lang="en-US" sz="1050" dirty="0"/>
          </a:p>
        </p:txBody>
      </p:sp>
      <p:sp>
        <p:nvSpPr>
          <p:cNvPr id="35" name="Shape 33"/>
          <p:cNvSpPr/>
          <p:nvPr/>
        </p:nvSpPr>
        <p:spPr>
          <a:xfrm>
            <a:off x="320040" y="3502152"/>
            <a:ext cx="1920240" cy="438912"/>
          </a:xfrm>
          <a:prstGeom prst="rect">
            <a:avLst/>
          </a:prstGeom>
          <a:solidFill>
            <a:srgbClr val="D4E4F0"/>
          </a:solidFill>
          <a:ln/>
        </p:spPr>
      </p:sp>
      <p:sp>
        <p:nvSpPr>
          <p:cNvPr id="36" name="Shape 34"/>
          <p:cNvSpPr/>
          <p:nvPr/>
        </p:nvSpPr>
        <p:spPr>
          <a:xfrm>
            <a:off x="2331720" y="3502152"/>
            <a:ext cx="3063240" cy="438912"/>
          </a:xfrm>
          <a:prstGeom prst="rect">
            <a:avLst/>
          </a:prstGeom>
          <a:solidFill>
            <a:srgbClr val="FFFFFF"/>
          </a:solidFill>
          <a:ln/>
        </p:spPr>
      </p:sp>
      <p:sp>
        <p:nvSpPr>
          <p:cNvPr id="37" name="Shape 35"/>
          <p:cNvSpPr/>
          <p:nvPr/>
        </p:nvSpPr>
        <p:spPr>
          <a:xfrm>
            <a:off x="5486400" y="3502152"/>
            <a:ext cx="3291840" cy="438912"/>
          </a:xfrm>
          <a:prstGeom prst="rect">
            <a:avLst/>
          </a:prstGeom>
          <a:solidFill>
            <a:srgbClr val="FFFFFF"/>
          </a:solidFill>
          <a:ln/>
        </p:spPr>
      </p:sp>
      <p:sp>
        <p:nvSpPr>
          <p:cNvPr id="38" name="Text 36"/>
          <p:cNvSpPr/>
          <p:nvPr/>
        </p:nvSpPr>
        <p:spPr>
          <a:xfrm>
            <a:off x="429768" y="3502152"/>
            <a:ext cx="1792224" cy="438912"/>
          </a:xfrm>
          <a:prstGeom prst="rect">
            <a:avLst/>
          </a:prstGeom>
          <a:noFill/>
          <a:ln/>
        </p:spPr>
        <p:txBody>
          <a:bodyPr wrap="square" lIns="0" tIns="0" rIns="0" bIns="0" rtlCol="0" anchor="ctr"/>
          <a:lstStyle/>
          <a:p>
            <a:pPr indent="0" marL="0">
              <a:buNone/>
            </a:pPr>
            <a:r>
              <a:rPr lang="en-US" sz="1100" b="1" dirty="0">
                <a:solidFill>
                  <a:srgbClr val="1C3557"/>
                </a:solidFill>
              </a:rPr>
              <a:t>Tests</a:t>
            </a:r>
            <a:endParaRPr lang="en-US" sz="1100" dirty="0"/>
          </a:p>
        </p:txBody>
      </p:sp>
      <p:sp>
        <p:nvSpPr>
          <p:cNvPr id="39" name="Text 37"/>
          <p:cNvSpPr/>
          <p:nvPr/>
        </p:nvSpPr>
        <p:spPr>
          <a:xfrm>
            <a:off x="2441448" y="3502152"/>
            <a:ext cx="2935224" cy="438912"/>
          </a:xfrm>
          <a:prstGeom prst="rect">
            <a:avLst/>
          </a:prstGeom>
          <a:noFill/>
          <a:ln/>
        </p:spPr>
        <p:txBody>
          <a:bodyPr wrap="square" lIns="0" tIns="0" rIns="0" bIns="0" rtlCol="0" anchor="ctr"/>
          <a:lstStyle/>
          <a:p>
            <a:pPr indent="0" marL="0">
              <a:buNone/>
            </a:pPr>
            <a:r>
              <a:rPr lang="en-US" sz="1050" dirty="0">
                <a:solidFill>
                  <a:srgbClr val="7A90A8"/>
                </a:solidFill>
              </a:rPr>
              <a:t>Spec acceptance criteria, coverage targets</a:t>
            </a:r>
            <a:endParaRPr lang="en-US" sz="1050" dirty="0"/>
          </a:p>
        </p:txBody>
      </p:sp>
      <p:sp>
        <p:nvSpPr>
          <p:cNvPr id="40" name="Text 38"/>
          <p:cNvSpPr/>
          <p:nvPr/>
        </p:nvSpPr>
        <p:spPr>
          <a:xfrm>
            <a:off x="5596128" y="3502152"/>
            <a:ext cx="3163824" cy="438912"/>
          </a:xfrm>
          <a:prstGeom prst="rect">
            <a:avLst/>
          </a:prstGeom>
          <a:noFill/>
          <a:ln/>
        </p:spPr>
        <p:txBody>
          <a:bodyPr wrap="square" lIns="0" tIns="0" rIns="0" bIns="0" rtlCol="0" anchor="ctr"/>
          <a:lstStyle/>
          <a:p>
            <a:pPr indent="0" marL="0">
              <a:buNone/>
            </a:pPr>
            <a:r>
              <a:rPr lang="en-US" sz="1050" dirty="0">
                <a:solidFill>
                  <a:srgbClr val="1E2D3D"/>
                </a:solidFill>
              </a:rPr>
              <a:t>Missing cases, untested paths</a:t>
            </a:r>
            <a:endParaRPr lang="en-US" sz="1050" dirty="0"/>
          </a:p>
        </p:txBody>
      </p:sp>
      <p:sp>
        <p:nvSpPr>
          <p:cNvPr id="41" name="Shape 39"/>
          <p:cNvSpPr/>
          <p:nvPr/>
        </p:nvSpPr>
        <p:spPr>
          <a:xfrm>
            <a:off x="320040" y="3977640"/>
            <a:ext cx="1920240" cy="438912"/>
          </a:xfrm>
          <a:prstGeom prst="rect">
            <a:avLst/>
          </a:prstGeom>
          <a:solidFill>
            <a:srgbClr val="D4E4F0"/>
          </a:solidFill>
          <a:ln/>
        </p:spPr>
      </p:sp>
      <p:sp>
        <p:nvSpPr>
          <p:cNvPr id="42" name="Shape 40"/>
          <p:cNvSpPr/>
          <p:nvPr/>
        </p:nvSpPr>
        <p:spPr>
          <a:xfrm>
            <a:off x="2331720" y="3977640"/>
            <a:ext cx="3063240" cy="438912"/>
          </a:xfrm>
          <a:prstGeom prst="rect">
            <a:avLst/>
          </a:prstGeom>
          <a:solidFill>
            <a:srgbClr val="F3F6F9"/>
          </a:solidFill>
          <a:ln/>
        </p:spPr>
      </p:sp>
      <p:sp>
        <p:nvSpPr>
          <p:cNvPr id="43" name="Shape 41"/>
          <p:cNvSpPr/>
          <p:nvPr/>
        </p:nvSpPr>
        <p:spPr>
          <a:xfrm>
            <a:off x="5486400" y="3977640"/>
            <a:ext cx="3291840" cy="438912"/>
          </a:xfrm>
          <a:prstGeom prst="rect">
            <a:avLst/>
          </a:prstGeom>
          <a:solidFill>
            <a:srgbClr val="F3F6F9"/>
          </a:solidFill>
          <a:ln/>
        </p:spPr>
      </p:sp>
      <p:sp>
        <p:nvSpPr>
          <p:cNvPr id="44" name="Text 42"/>
          <p:cNvSpPr/>
          <p:nvPr/>
        </p:nvSpPr>
        <p:spPr>
          <a:xfrm>
            <a:off x="429768" y="3977640"/>
            <a:ext cx="1792224" cy="438912"/>
          </a:xfrm>
          <a:prstGeom prst="rect">
            <a:avLst/>
          </a:prstGeom>
          <a:noFill/>
          <a:ln/>
        </p:spPr>
        <p:txBody>
          <a:bodyPr wrap="square" lIns="0" tIns="0" rIns="0" bIns="0" rtlCol="0" anchor="ctr"/>
          <a:lstStyle/>
          <a:p>
            <a:pPr indent="0" marL="0">
              <a:buNone/>
            </a:pPr>
            <a:r>
              <a:rPr lang="en-US" sz="1100" b="1" dirty="0">
                <a:solidFill>
                  <a:srgbClr val="1C3557"/>
                </a:solidFill>
              </a:rPr>
              <a:t>Documentation</a:t>
            </a:r>
            <a:endParaRPr lang="en-US" sz="1100" dirty="0"/>
          </a:p>
        </p:txBody>
      </p:sp>
      <p:sp>
        <p:nvSpPr>
          <p:cNvPr id="45" name="Text 43"/>
          <p:cNvSpPr/>
          <p:nvPr/>
        </p:nvSpPr>
        <p:spPr>
          <a:xfrm>
            <a:off x="2441448" y="3977640"/>
            <a:ext cx="2935224" cy="438912"/>
          </a:xfrm>
          <a:prstGeom prst="rect">
            <a:avLst/>
          </a:prstGeom>
          <a:noFill/>
          <a:ln/>
        </p:spPr>
        <p:txBody>
          <a:bodyPr wrap="square" lIns="0" tIns="0" rIns="0" bIns="0" rtlCol="0" anchor="ctr"/>
          <a:lstStyle/>
          <a:p>
            <a:pPr indent="0" marL="0">
              <a:buNone/>
            </a:pPr>
            <a:r>
              <a:rPr lang="en-US" sz="1050" dirty="0">
                <a:solidFill>
                  <a:srgbClr val="7A90A8"/>
                </a:solidFill>
              </a:rPr>
              <a:t>Current implementation, API contracts</a:t>
            </a:r>
            <a:endParaRPr lang="en-US" sz="1050" dirty="0"/>
          </a:p>
        </p:txBody>
      </p:sp>
      <p:sp>
        <p:nvSpPr>
          <p:cNvPr id="46" name="Text 44"/>
          <p:cNvSpPr/>
          <p:nvPr/>
        </p:nvSpPr>
        <p:spPr>
          <a:xfrm>
            <a:off x="5596128" y="3977640"/>
            <a:ext cx="3163824" cy="438912"/>
          </a:xfrm>
          <a:prstGeom prst="rect">
            <a:avLst/>
          </a:prstGeom>
          <a:noFill/>
          <a:ln/>
        </p:spPr>
        <p:txBody>
          <a:bodyPr wrap="square" lIns="0" tIns="0" rIns="0" bIns="0" rtlCol="0" anchor="ctr"/>
          <a:lstStyle/>
          <a:p>
            <a:pPr indent="0" marL="0">
              <a:buNone/>
            </a:pPr>
            <a:r>
              <a:rPr lang="en-US" sz="1050" dirty="0">
                <a:solidFill>
                  <a:srgbClr val="1E2D3D"/>
                </a:solidFill>
              </a:rPr>
              <a:t>Stale content, missing sections, accuracy errors</a:t>
            </a:r>
            <a:endParaRPr lang="en-US" sz="1050" dirty="0"/>
          </a:p>
        </p:txBody>
      </p:sp>
      <p:sp>
        <p:nvSpPr>
          <p:cNvPr id="47" name="Shape 45"/>
          <p:cNvSpPr/>
          <p:nvPr/>
        </p:nvSpPr>
        <p:spPr>
          <a:xfrm>
            <a:off x="320040" y="4453128"/>
            <a:ext cx="1920240" cy="438912"/>
          </a:xfrm>
          <a:prstGeom prst="rect">
            <a:avLst/>
          </a:prstGeom>
          <a:solidFill>
            <a:srgbClr val="D4E4F0"/>
          </a:solidFill>
          <a:ln/>
        </p:spPr>
      </p:sp>
      <p:sp>
        <p:nvSpPr>
          <p:cNvPr id="48" name="Shape 46"/>
          <p:cNvSpPr/>
          <p:nvPr/>
        </p:nvSpPr>
        <p:spPr>
          <a:xfrm>
            <a:off x="2331720" y="4453128"/>
            <a:ext cx="3063240" cy="438912"/>
          </a:xfrm>
          <a:prstGeom prst="rect">
            <a:avLst/>
          </a:prstGeom>
          <a:solidFill>
            <a:srgbClr val="FFFFFF"/>
          </a:solidFill>
          <a:ln/>
        </p:spPr>
      </p:sp>
      <p:sp>
        <p:nvSpPr>
          <p:cNvPr id="49" name="Shape 47"/>
          <p:cNvSpPr/>
          <p:nvPr/>
        </p:nvSpPr>
        <p:spPr>
          <a:xfrm>
            <a:off x="5486400" y="4453128"/>
            <a:ext cx="3291840" cy="438912"/>
          </a:xfrm>
          <a:prstGeom prst="rect">
            <a:avLst/>
          </a:prstGeom>
          <a:solidFill>
            <a:srgbClr val="FFFFFF"/>
          </a:solidFill>
          <a:ln/>
        </p:spPr>
      </p:sp>
      <p:sp>
        <p:nvSpPr>
          <p:cNvPr id="50" name="Text 48"/>
          <p:cNvSpPr/>
          <p:nvPr/>
        </p:nvSpPr>
        <p:spPr>
          <a:xfrm>
            <a:off x="429768" y="4453128"/>
            <a:ext cx="1792224" cy="438912"/>
          </a:xfrm>
          <a:prstGeom prst="rect">
            <a:avLst/>
          </a:prstGeom>
          <a:noFill/>
          <a:ln/>
        </p:spPr>
        <p:txBody>
          <a:bodyPr wrap="square" lIns="0" tIns="0" rIns="0" bIns="0" rtlCol="0" anchor="ctr"/>
          <a:lstStyle/>
          <a:p>
            <a:pPr indent="0" marL="0">
              <a:buNone/>
            </a:pPr>
            <a:r>
              <a:rPr lang="en-US" sz="1100" b="1" dirty="0">
                <a:solidFill>
                  <a:srgbClr val="1C3557"/>
                </a:solidFill>
              </a:rPr>
              <a:t>ADRs</a:t>
            </a:r>
            <a:endParaRPr lang="en-US" sz="1100" dirty="0"/>
          </a:p>
        </p:txBody>
      </p:sp>
      <p:sp>
        <p:nvSpPr>
          <p:cNvPr id="51" name="Text 49"/>
          <p:cNvSpPr/>
          <p:nvPr/>
        </p:nvSpPr>
        <p:spPr>
          <a:xfrm>
            <a:off x="2441448" y="4453128"/>
            <a:ext cx="2935224" cy="438912"/>
          </a:xfrm>
          <a:prstGeom prst="rect">
            <a:avLst/>
          </a:prstGeom>
          <a:noFill/>
          <a:ln/>
        </p:spPr>
        <p:txBody>
          <a:bodyPr wrap="square" lIns="0" tIns="0" rIns="0" bIns="0" rtlCol="0" anchor="ctr"/>
          <a:lstStyle/>
          <a:p>
            <a:pPr indent="0" marL="0">
              <a:buNone/>
            </a:pPr>
            <a:r>
              <a:rPr lang="en-US" sz="1050" dirty="0">
                <a:solidFill>
                  <a:srgbClr val="7A90A8"/>
                </a:solidFill>
              </a:rPr>
              <a:t>Consistency with existing decisions, current architecture</a:t>
            </a:r>
            <a:endParaRPr lang="en-US" sz="1050" dirty="0"/>
          </a:p>
        </p:txBody>
      </p:sp>
      <p:sp>
        <p:nvSpPr>
          <p:cNvPr id="52" name="Text 50"/>
          <p:cNvSpPr/>
          <p:nvPr/>
        </p:nvSpPr>
        <p:spPr>
          <a:xfrm>
            <a:off x="5596128" y="4453128"/>
            <a:ext cx="3163824" cy="438912"/>
          </a:xfrm>
          <a:prstGeom prst="rect">
            <a:avLst/>
          </a:prstGeom>
          <a:noFill/>
          <a:ln/>
        </p:spPr>
        <p:txBody>
          <a:bodyPr wrap="square" lIns="0" tIns="0" rIns="0" bIns="0" rtlCol="0" anchor="ctr"/>
          <a:lstStyle/>
          <a:p>
            <a:pPr indent="0" marL="0">
              <a:buNone/>
            </a:pPr>
            <a:r>
              <a:rPr lang="en-US" sz="1050" dirty="0">
                <a:solidFill>
                  <a:srgbClr val="1E2D3D"/>
                </a:solidFill>
              </a:rPr>
              <a:t>Conflicts, superseded assumptions</a:t>
            </a:r>
            <a:endParaRPr lang="en-US" sz="1050" dirty="0"/>
          </a:p>
        </p:txBody>
      </p:sp>
      <p:sp>
        <p:nvSpPr>
          <p:cNvPr id="53" name="Text 51"/>
          <p:cNvSpPr/>
          <p:nvPr/>
        </p:nvSpPr>
        <p:spPr>
          <a:xfrm>
            <a:off x="320040" y="4892040"/>
            <a:ext cx="8503920" cy="219456"/>
          </a:xfrm>
          <a:prstGeom prst="rect">
            <a:avLst/>
          </a:prstGeom>
          <a:noFill/>
          <a:ln/>
        </p:spPr>
        <p:txBody>
          <a:bodyPr wrap="square" lIns="0" tIns="0" rIns="0" bIns="0" rtlCol="0" anchor="ctr"/>
          <a:lstStyle/>
          <a:p>
            <a:pPr indent="0" marL="0">
              <a:buNone/>
            </a:pPr>
            <a:r>
              <a:rPr lang="en-US" sz="950" i="1" dirty="0">
                <a:solidFill>
                  <a:srgbClr val="7A90A8"/>
                </a:solidFill>
              </a:rPr>
              <a:t>The same HITL patterns apply to all of these. The agent reviews, produces structured feedback, and a human makes the final call on anything consequential.</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C3557"/>
        </a:solidFill>
      </p:bgPr>
    </p:bg>
    <p:spTree>
      <p:nvGrpSpPr>
        <p:cNvPr id="1" name=""/>
        <p:cNvGrpSpPr/>
        <p:nvPr/>
      </p:nvGrpSpPr>
      <p:grpSpPr>
        <a:xfrm>
          <a:off x="0" y="0"/>
          <a:ext cx="0" cy="0"/>
          <a:chOff x="0" y="0"/>
          <a:chExt cx="0" cy="0"/>
        </a:xfrm>
      </p:grpSpPr>
      <p:sp>
        <p:nvSpPr>
          <p:cNvPr id="2" name="Text 0"/>
          <p:cNvSpPr/>
          <p:nvPr/>
        </p:nvSpPr>
        <p:spPr>
          <a:xfrm>
            <a:off x="365760" y="201168"/>
            <a:ext cx="8229600" cy="411480"/>
          </a:xfrm>
          <a:prstGeom prst="rect">
            <a:avLst/>
          </a:prstGeom>
          <a:noFill/>
          <a:ln/>
        </p:spPr>
        <p:txBody>
          <a:bodyPr wrap="square" lIns="0" tIns="0" rIns="0" bIns="0" rtlCol="0" anchor="ctr"/>
          <a:lstStyle/>
          <a:p>
            <a:pPr indent="0" marL="0">
              <a:buNone/>
            </a:pPr>
            <a:r>
              <a:rPr lang="en-US" sz="1300" b="1" spc="300" kern="0" dirty="0">
                <a:solidFill>
                  <a:srgbClr val="5B8DB8"/>
                </a:solidFill>
              </a:rPr>
              <a:t>AGENTS AS EDUCATORS AND ONBOARDING GUIDES</a:t>
            </a:r>
            <a:endParaRPr lang="en-US" sz="1300" dirty="0"/>
          </a:p>
        </p:txBody>
      </p:sp>
      <p:sp>
        <p:nvSpPr>
          <p:cNvPr id="3" name="Text 1"/>
          <p:cNvSpPr/>
          <p:nvPr/>
        </p:nvSpPr>
        <p:spPr>
          <a:xfrm>
            <a:off x="365760" y="658368"/>
            <a:ext cx="8229600" cy="329184"/>
          </a:xfrm>
          <a:prstGeom prst="rect">
            <a:avLst/>
          </a:prstGeom>
          <a:noFill/>
          <a:ln/>
        </p:spPr>
        <p:txBody>
          <a:bodyPr wrap="square" lIns="0" tIns="0" rIns="0" bIns="0" rtlCol="0" anchor="ctr"/>
          <a:lstStyle/>
          <a:p>
            <a:pPr indent="0" marL="0">
              <a:buNone/>
            </a:pPr>
            <a:r>
              <a:rPr lang="en-US" sz="1300" i="1" dirty="0">
                <a:solidFill>
                  <a:srgbClr val="FFFFFF"/>
                </a:solidFill>
              </a:rPr>
              <a:t>Agents explain codebase, design decisions, and processes on demand — at any depth, without interrupting the team</a:t>
            </a:r>
            <a:endParaRPr lang="en-US" sz="1300" dirty="0"/>
          </a:p>
        </p:txBody>
      </p:sp>
      <p:sp>
        <p:nvSpPr>
          <p:cNvPr id="4" name="Shape 2"/>
          <p:cNvSpPr/>
          <p:nvPr/>
        </p:nvSpPr>
        <p:spPr>
          <a:xfrm>
            <a:off x="320040" y="1115568"/>
            <a:ext cx="5120640" cy="1170432"/>
          </a:xfrm>
          <a:prstGeom prst="rect">
            <a:avLst/>
          </a:prstGeom>
          <a:solidFill>
            <a:srgbClr val="2E5073">
              <a:alpha val="82000"/>
            </a:srgbClr>
          </a:solidFill>
          <a:ln/>
          <a:effectLst>
            <a:outerShdw sx="100000" sy="100000" kx="0" ky="0" algn="bl" rotWithShape="0" blurRad="101600" dist="38100" dir="8100000">
              <a:srgbClr val="000000">
                <a:alpha val="13000"/>
              </a:srgbClr>
            </a:outerShdw>
          </a:effectLst>
        </p:spPr>
      </p:sp>
      <p:sp>
        <p:nvSpPr>
          <p:cNvPr id="5" name="Shape 3"/>
          <p:cNvSpPr/>
          <p:nvPr/>
        </p:nvSpPr>
        <p:spPr>
          <a:xfrm>
            <a:off x="320040" y="1115568"/>
            <a:ext cx="54864" cy="1170432"/>
          </a:xfrm>
          <a:prstGeom prst="rect">
            <a:avLst/>
          </a:prstGeom>
          <a:solidFill>
            <a:srgbClr val="3A7DC9"/>
          </a:solidFill>
          <a:ln/>
        </p:spPr>
      </p:sp>
      <p:sp>
        <p:nvSpPr>
          <p:cNvPr id="6" name="Text 4"/>
          <p:cNvSpPr/>
          <p:nvPr/>
        </p:nvSpPr>
        <p:spPr>
          <a:xfrm>
            <a:off x="457200" y="1170432"/>
            <a:ext cx="4846320" cy="256032"/>
          </a:xfrm>
          <a:prstGeom prst="rect">
            <a:avLst/>
          </a:prstGeom>
          <a:noFill/>
          <a:ln/>
        </p:spPr>
        <p:txBody>
          <a:bodyPr wrap="square" lIns="0" tIns="0" rIns="0" bIns="0" rtlCol="0" anchor="ctr"/>
          <a:lstStyle/>
          <a:p>
            <a:pPr indent="0" marL="0">
              <a:buNone/>
            </a:pPr>
            <a:r>
              <a:rPr lang="en-US" sz="1200" b="1" dirty="0">
                <a:solidFill>
                  <a:srgbClr val="3A7DC9"/>
                </a:solidFill>
              </a:rPr>
              <a:t>Codebase education</a:t>
            </a:r>
            <a:endParaRPr lang="en-US" sz="1200" dirty="0"/>
          </a:p>
        </p:txBody>
      </p:sp>
      <p:sp>
        <p:nvSpPr>
          <p:cNvPr id="7" name="Text 5"/>
          <p:cNvSpPr/>
          <p:nvPr/>
        </p:nvSpPr>
        <p:spPr>
          <a:xfrm>
            <a:off x="457200" y="1444752"/>
            <a:ext cx="4846320" cy="310896"/>
          </a:xfrm>
          <a:prstGeom prst="rect">
            <a:avLst/>
          </a:prstGeom>
          <a:noFill/>
          <a:ln/>
        </p:spPr>
        <p:txBody>
          <a:bodyPr wrap="square" lIns="0" tIns="0" rIns="0" bIns="0" rtlCol="0" anchor="ctr"/>
          <a:lstStyle/>
          <a:p>
            <a:pPr indent="0" marL="0">
              <a:buNone/>
            </a:pPr>
            <a:r>
              <a:rPr lang="en-US" sz="1000" i="1" dirty="0">
                <a:solidFill>
                  <a:srgbClr val="D4E4F0"/>
                </a:solidFill>
                <a:latin typeface="Consolas" pitchFamily="34" charset="0"/>
                <a:ea typeface="Consolas" pitchFamily="34" charset="-122"/>
                <a:cs typeface="Consolas" pitchFamily="34" charset="-120"/>
              </a:rPr>
              <a:t>"Walk me through how a payment request flows from the API endpoint to the bank."</a:t>
            </a:r>
            <a:endParaRPr lang="en-US" sz="1000" dirty="0"/>
          </a:p>
        </p:txBody>
      </p:sp>
      <p:sp>
        <p:nvSpPr>
          <p:cNvPr id="8" name="Text 6"/>
          <p:cNvSpPr/>
          <p:nvPr/>
        </p:nvSpPr>
        <p:spPr>
          <a:xfrm>
            <a:off x="457200" y="1810512"/>
            <a:ext cx="4846320" cy="402336"/>
          </a:xfrm>
          <a:prstGeom prst="rect">
            <a:avLst/>
          </a:prstGeom>
          <a:noFill/>
          <a:ln/>
        </p:spPr>
        <p:txBody>
          <a:bodyPr wrap="square" lIns="0" tIns="0" rIns="0" bIns="0" rtlCol="0" anchor="ctr"/>
          <a:lstStyle/>
          <a:p>
            <a:pPr indent="0" marL="0">
              <a:buNone/>
            </a:pPr>
            <a:r>
              <a:rPr lang="en-US" sz="1050" dirty="0">
                <a:solidFill>
                  <a:srgbClr val="D4E4F0"/>
                </a:solidFill>
              </a:rPr>
              <a:t>Agent reads PaymentController, PaymentService, BankAdapter and traces the actual code path — not stale documentation.</a:t>
            </a:r>
            <a:endParaRPr lang="en-US" sz="1050" dirty="0"/>
          </a:p>
        </p:txBody>
      </p:sp>
      <p:sp>
        <p:nvSpPr>
          <p:cNvPr id="9" name="Shape 7"/>
          <p:cNvSpPr/>
          <p:nvPr/>
        </p:nvSpPr>
        <p:spPr>
          <a:xfrm>
            <a:off x="320040" y="2414016"/>
            <a:ext cx="5120640" cy="1170432"/>
          </a:xfrm>
          <a:prstGeom prst="rect">
            <a:avLst/>
          </a:prstGeom>
          <a:solidFill>
            <a:srgbClr val="2E5073">
              <a:alpha val="82000"/>
            </a:srgbClr>
          </a:solidFill>
          <a:ln/>
          <a:effectLst>
            <a:outerShdw sx="100000" sy="100000" kx="0" ky="0" algn="bl" rotWithShape="0" blurRad="101600" dist="38100" dir="8100000">
              <a:srgbClr val="000000">
                <a:alpha val="13000"/>
              </a:srgbClr>
            </a:outerShdw>
          </a:effectLst>
        </p:spPr>
      </p:sp>
      <p:sp>
        <p:nvSpPr>
          <p:cNvPr id="10" name="Shape 8"/>
          <p:cNvSpPr/>
          <p:nvPr/>
        </p:nvSpPr>
        <p:spPr>
          <a:xfrm>
            <a:off x="320040" y="2414016"/>
            <a:ext cx="54864" cy="1170432"/>
          </a:xfrm>
          <a:prstGeom prst="rect">
            <a:avLst/>
          </a:prstGeom>
          <a:solidFill>
            <a:srgbClr val="4A7FA8"/>
          </a:solidFill>
          <a:ln/>
        </p:spPr>
      </p:sp>
      <p:sp>
        <p:nvSpPr>
          <p:cNvPr id="11" name="Text 9"/>
          <p:cNvSpPr/>
          <p:nvPr/>
        </p:nvSpPr>
        <p:spPr>
          <a:xfrm>
            <a:off x="457200" y="2468880"/>
            <a:ext cx="4846320" cy="256032"/>
          </a:xfrm>
          <a:prstGeom prst="rect">
            <a:avLst/>
          </a:prstGeom>
          <a:noFill/>
          <a:ln/>
        </p:spPr>
        <p:txBody>
          <a:bodyPr wrap="square" lIns="0" tIns="0" rIns="0" bIns="0" rtlCol="0" anchor="ctr"/>
          <a:lstStyle/>
          <a:p>
            <a:pPr indent="0" marL="0">
              <a:buNone/>
            </a:pPr>
            <a:r>
              <a:rPr lang="en-US" sz="1200" b="1" dirty="0">
                <a:solidFill>
                  <a:srgbClr val="4A7FA8"/>
                </a:solidFill>
              </a:rPr>
              <a:t>Design decision education</a:t>
            </a:r>
            <a:endParaRPr lang="en-US" sz="1200" dirty="0"/>
          </a:p>
        </p:txBody>
      </p:sp>
      <p:sp>
        <p:nvSpPr>
          <p:cNvPr id="12" name="Text 10"/>
          <p:cNvSpPr/>
          <p:nvPr/>
        </p:nvSpPr>
        <p:spPr>
          <a:xfrm>
            <a:off x="457200" y="2743200"/>
            <a:ext cx="4846320" cy="310896"/>
          </a:xfrm>
          <a:prstGeom prst="rect">
            <a:avLst/>
          </a:prstGeom>
          <a:noFill/>
          <a:ln/>
        </p:spPr>
        <p:txBody>
          <a:bodyPr wrap="square" lIns="0" tIns="0" rIns="0" bIns="0" rtlCol="0" anchor="ctr"/>
          <a:lstStyle/>
          <a:p>
            <a:pPr indent="0" marL="0">
              <a:buNone/>
            </a:pPr>
            <a:r>
              <a:rPr lang="en-US" sz="1000" i="1" dirty="0">
                <a:solidFill>
                  <a:srgbClr val="D4E4F0"/>
                </a:solidFill>
                <a:latin typeface="Consolas" pitchFamily="34" charset="0"/>
                <a:ea typeface="Consolas" pitchFamily="34" charset="-122"/>
                <a:cs typeface="Consolas" pitchFamily="34" charset="-120"/>
              </a:rPr>
              <a:t>"Why is the session token stored in Redis rather than the database?"</a:t>
            </a:r>
            <a:endParaRPr lang="en-US" sz="1000" dirty="0"/>
          </a:p>
        </p:txBody>
      </p:sp>
      <p:sp>
        <p:nvSpPr>
          <p:cNvPr id="13" name="Text 11"/>
          <p:cNvSpPr/>
          <p:nvPr/>
        </p:nvSpPr>
        <p:spPr>
          <a:xfrm>
            <a:off x="457200" y="3108960"/>
            <a:ext cx="4846320" cy="402336"/>
          </a:xfrm>
          <a:prstGeom prst="rect">
            <a:avLst/>
          </a:prstGeom>
          <a:noFill/>
          <a:ln/>
        </p:spPr>
        <p:txBody>
          <a:bodyPr wrap="square" lIns="0" tIns="0" rIns="0" bIns="0" rtlCol="0" anchor="ctr"/>
          <a:lstStyle/>
          <a:p>
            <a:pPr indent="0" marL="0">
              <a:buNone/>
            </a:pPr>
            <a:r>
              <a:rPr lang="en-US" sz="1050" dirty="0">
                <a:solidFill>
                  <a:srgbClr val="D4E4F0"/>
                </a:solidFill>
              </a:rPr>
              <a:t>Agent reads ADR-004, SessionService, deployment config and surfaces the documented rationale with full context.</a:t>
            </a:r>
            <a:endParaRPr lang="en-US" sz="1050" dirty="0"/>
          </a:p>
        </p:txBody>
      </p:sp>
      <p:sp>
        <p:nvSpPr>
          <p:cNvPr id="14" name="Shape 12"/>
          <p:cNvSpPr/>
          <p:nvPr/>
        </p:nvSpPr>
        <p:spPr>
          <a:xfrm>
            <a:off x="320040" y="3712464"/>
            <a:ext cx="5120640" cy="1170432"/>
          </a:xfrm>
          <a:prstGeom prst="rect">
            <a:avLst/>
          </a:prstGeom>
          <a:solidFill>
            <a:srgbClr val="2E5073">
              <a:alpha val="82000"/>
            </a:srgbClr>
          </a:solidFill>
          <a:ln/>
          <a:effectLst>
            <a:outerShdw sx="100000" sy="100000" kx="0" ky="0" algn="bl" rotWithShape="0" blurRad="101600" dist="38100" dir="8100000">
              <a:srgbClr val="000000">
                <a:alpha val="13000"/>
              </a:srgbClr>
            </a:outerShdw>
          </a:effectLst>
        </p:spPr>
      </p:sp>
      <p:sp>
        <p:nvSpPr>
          <p:cNvPr id="15" name="Shape 13"/>
          <p:cNvSpPr/>
          <p:nvPr/>
        </p:nvSpPr>
        <p:spPr>
          <a:xfrm>
            <a:off x="320040" y="3712464"/>
            <a:ext cx="54864" cy="1170432"/>
          </a:xfrm>
          <a:prstGeom prst="rect">
            <a:avLst/>
          </a:prstGeom>
          <a:solidFill>
            <a:srgbClr val="3A7E6E"/>
          </a:solidFill>
          <a:ln/>
        </p:spPr>
      </p:sp>
      <p:sp>
        <p:nvSpPr>
          <p:cNvPr id="16" name="Text 14"/>
          <p:cNvSpPr/>
          <p:nvPr/>
        </p:nvSpPr>
        <p:spPr>
          <a:xfrm>
            <a:off x="457200" y="3767328"/>
            <a:ext cx="4846320" cy="256032"/>
          </a:xfrm>
          <a:prstGeom prst="rect">
            <a:avLst/>
          </a:prstGeom>
          <a:noFill/>
          <a:ln/>
        </p:spPr>
        <p:txBody>
          <a:bodyPr wrap="square" lIns="0" tIns="0" rIns="0" bIns="0" rtlCol="0" anchor="ctr"/>
          <a:lstStyle/>
          <a:p>
            <a:pPr indent="0" marL="0">
              <a:buNone/>
            </a:pPr>
            <a:r>
              <a:rPr lang="en-US" sz="1200" b="1" dirty="0">
                <a:solidFill>
                  <a:srgbClr val="3A7E6E"/>
                </a:solidFill>
              </a:rPr>
              <a:t>Process education</a:t>
            </a:r>
            <a:endParaRPr lang="en-US" sz="1200" dirty="0"/>
          </a:p>
        </p:txBody>
      </p:sp>
      <p:sp>
        <p:nvSpPr>
          <p:cNvPr id="17" name="Text 15"/>
          <p:cNvSpPr/>
          <p:nvPr/>
        </p:nvSpPr>
        <p:spPr>
          <a:xfrm>
            <a:off x="457200" y="4041648"/>
            <a:ext cx="4846320" cy="310896"/>
          </a:xfrm>
          <a:prstGeom prst="rect">
            <a:avLst/>
          </a:prstGeom>
          <a:noFill/>
          <a:ln/>
        </p:spPr>
        <p:txBody>
          <a:bodyPr wrap="square" lIns="0" tIns="0" rIns="0" bIns="0" rtlCol="0" anchor="ctr"/>
          <a:lstStyle/>
          <a:p>
            <a:pPr indent="0" marL="0">
              <a:buNone/>
            </a:pPr>
            <a:r>
              <a:rPr lang="en-US" sz="1000" i="1" dirty="0">
                <a:solidFill>
                  <a:srgbClr val="D4E4F0"/>
                </a:solidFill>
                <a:latin typeface="Consolas" pitchFamily="34" charset="0"/>
                <a:ea typeface="Consolas" pitchFamily="34" charset="-122"/>
                <a:cs typeface="Consolas" pitchFamily="34" charset="-120"/>
              </a:rPr>
              <a:t>"How does this team run a sprint? What’s the review process for a new feature?"</a:t>
            </a:r>
            <a:endParaRPr lang="en-US" sz="1000" dirty="0"/>
          </a:p>
        </p:txBody>
      </p:sp>
      <p:sp>
        <p:nvSpPr>
          <p:cNvPr id="18" name="Text 16"/>
          <p:cNvSpPr/>
          <p:nvPr/>
        </p:nvSpPr>
        <p:spPr>
          <a:xfrm>
            <a:off x="457200" y="4407408"/>
            <a:ext cx="4846320" cy="402336"/>
          </a:xfrm>
          <a:prstGeom prst="rect">
            <a:avLst/>
          </a:prstGeom>
          <a:noFill/>
          <a:ln/>
        </p:spPr>
        <p:txBody>
          <a:bodyPr wrap="square" lIns="0" tIns="0" rIns="0" bIns="0" rtlCol="0" anchor="ctr"/>
          <a:lstStyle/>
          <a:p>
            <a:pPr indent="0" marL="0">
              <a:buNone/>
            </a:pPr>
            <a:r>
              <a:rPr lang="en-US" sz="1050" dirty="0">
                <a:solidFill>
                  <a:srgbClr val="D4E4F0"/>
                </a:solidFill>
              </a:rPr>
              <a:t>Agent reads CLAUDE.md, PRODUCT.md, and task structure and gives an accurate answer grounded in working documents.</a:t>
            </a:r>
            <a:endParaRPr lang="en-US" sz="1050" dirty="0"/>
          </a:p>
        </p:txBody>
      </p:sp>
      <p:sp>
        <p:nvSpPr>
          <p:cNvPr id="19" name="Shape 17"/>
          <p:cNvSpPr/>
          <p:nvPr/>
        </p:nvSpPr>
        <p:spPr>
          <a:xfrm>
            <a:off x="5669280" y="1115568"/>
            <a:ext cx="3154680" cy="3602736"/>
          </a:xfrm>
          <a:prstGeom prst="rect">
            <a:avLst/>
          </a:prstGeom>
          <a:solidFill>
            <a:srgbClr val="2E5073">
              <a:alpha val="82000"/>
            </a:srgbClr>
          </a:solidFill>
          <a:ln/>
          <a:effectLst>
            <a:outerShdw sx="100000" sy="100000" kx="0" ky="0" algn="bl" rotWithShape="0" blurRad="101600" dist="38100" dir="8100000">
              <a:srgbClr val="000000">
                <a:alpha val="13000"/>
              </a:srgbClr>
            </a:outerShdw>
          </a:effectLst>
        </p:spPr>
      </p:sp>
      <p:sp>
        <p:nvSpPr>
          <p:cNvPr id="20" name="Shape 18"/>
          <p:cNvSpPr/>
          <p:nvPr/>
        </p:nvSpPr>
        <p:spPr>
          <a:xfrm>
            <a:off x="5669280" y="1115568"/>
            <a:ext cx="3154680" cy="402336"/>
          </a:xfrm>
          <a:prstGeom prst="rect">
            <a:avLst/>
          </a:prstGeom>
          <a:solidFill>
            <a:srgbClr val="3A7DC9">
              <a:alpha val="90000"/>
            </a:srgbClr>
          </a:solidFill>
          <a:ln/>
        </p:spPr>
      </p:sp>
      <p:sp>
        <p:nvSpPr>
          <p:cNvPr id="21" name="Text 19"/>
          <p:cNvSpPr/>
          <p:nvPr/>
        </p:nvSpPr>
        <p:spPr>
          <a:xfrm>
            <a:off x="5669280" y="1115568"/>
            <a:ext cx="3154680" cy="402336"/>
          </a:xfrm>
          <a:prstGeom prst="rect">
            <a:avLst/>
          </a:prstGeom>
          <a:noFill/>
          <a:ln/>
        </p:spPr>
        <p:txBody>
          <a:bodyPr wrap="square" lIns="0" tIns="0" rIns="0" bIns="0" rtlCol="0" anchor="ctr"/>
          <a:lstStyle/>
          <a:p>
            <a:pPr algn="ctr" indent="0" marL="0">
              <a:buNone/>
            </a:pPr>
            <a:r>
              <a:rPr lang="en-US" sz="1100" b="1" spc="200" kern="0" dirty="0">
                <a:solidFill>
                  <a:srgbClr val="FFFFFF"/>
                </a:solidFill>
              </a:rPr>
              <a:t>AGENT vs. HUMAN</a:t>
            </a:r>
            <a:endParaRPr lang="en-US" sz="1100" dirty="0"/>
          </a:p>
        </p:txBody>
      </p:sp>
      <p:sp>
        <p:nvSpPr>
          <p:cNvPr id="22" name="Shape 20"/>
          <p:cNvSpPr/>
          <p:nvPr/>
        </p:nvSpPr>
        <p:spPr>
          <a:xfrm>
            <a:off x="5669280" y="1517904"/>
            <a:ext cx="1572768" cy="274320"/>
          </a:xfrm>
          <a:prstGeom prst="rect">
            <a:avLst/>
          </a:prstGeom>
          <a:solidFill>
            <a:srgbClr val="4A7FA8"/>
          </a:solidFill>
          <a:ln/>
        </p:spPr>
      </p:sp>
      <p:sp>
        <p:nvSpPr>
          <p:cNvPr id="23" name="Shape 21"/>
          <p:cNvSpPr/>
          <p:nvPr/>
        </p:nvSpPr>
        <p:spPr>
          <a:xfrm>
            <a:off x="7242048" y="1517904"/>
            <a:ext cx="786384" cy="274320"/>
          </a:xfrm>
          <a:prstGeom prst="rect">
            <a:avLst/>
          </a:prstGeom>
          <a:solidFill>
            <a:srgbClr val="4A7FA8"/>
          </a:solidFill>
          <a:ln/>
        </p:spPr>
      </p:sp>
      <p:sp>
        <p:nvSpPr>
          <p:cNvPr id="24" name="Shape 22"/>
          <p:cNvSpPr/>
          <p:nvPr/>
        </p:nvSpPr>
        <p:spPr>
          <a:xfrm>
            <a:off x="8028432" y="1517904"/>
            <a:ext cx="795528" cy="274320"/>
          </a:xfrm>
          <a:prstGeom prst="rect">
            <a:avLst/>
          </a:prstGeom>
          <a:solidFill>
            <a:srgbClr val="4A7FA8"/>
          </a:solidFill>
          <a:ln/>
        </p:spPr>
      </p:sp>
      <p:sp>
        <p:nvSpPr>
          <p:cNvPr id="25" name="Text 23"/>
          <p:cNvSpPr/>
          <p:nvPr/>
        </p:nvSpPr>
        <p:spPr>
          <a:xfrm>
            <a:off x="5705856" y="1517904"/>
            <a:ext cx="1536192" cy="274320"/>
          </a:xfrm>
          <a:prstGeom prst="rect">
            <a:avLst/>
          </a:prstGeom>
          <a:noFill/>
          <a:ln/>
        </p:spPr>
        <p:txBody>
          <a:bodyPr wrap="square" lIns="0" tIns="0" rIns="0" bIns="0" rtlCol="0" anchor="ctr"/>
          <a:lstStyle/>
          <a:p>
            <a:pPr indent="0" marL="0">
              <a:buNone/>
            </a:pPr>
            <a:r>
              <a:rPr lang="en-US" sz="900" b="1" dirty="0">
                <a:solidFill>
                  <a:srgbClr val="FFFFFF"/>
                </a:solidFill>
              </a:rPr>
              <a:t>Situation</a:t>
            </a:r>
            <a:endParaRPr lang="en-US" sz="900" dirty="0"/>
          </a:p>
        </p:txBody>
      </p:sp>
      <p:sp>
        <p:nvSpPr>
          <p:cNvPr id="26" name="Text 24"/>
          <p:cNvSpPr/>
          <p:nvPr/>
        </p:nvSpPr>
        <p:spPr>
          <a:xfrm>
            <a:off x="7242048" y="1517904"/>
            <a:ext cx="786384" cy="274320"/>
          </a:xfrm>
          <a:prstGeom prst="rect">
            <a:avLst/>
          </a:prstGeom>
          <a:noFill/>
          <a:ln/>
        </p:spPr>
        <p:txBody>
          <a:bodyPr wrap="square" lIns="0" tIns="0" rIns="0" bIns="0" rtlCol="0" anchor="ctr"/>
          <a:lstStyle/>
          <a:p>
            <a:pPr algn="ctr" indent="0" marL="0">
              <a:buNone/>
            </a:pPr>
            <a:r>
              <a:rPr lang="en-US" sz="900" b="1" dirty="0">
                <a:solidFill>
                  <a:srgbClr val="FFFFFF"/>
                </a:solidFill>
              </a:rPr>
              <a:t>Agent</a:t>
            </a:r>
            <a:endParaRPr lang="en-US" sz="900" dirty="0"/>
          </a:p>
        </p:txBody>
      </p:sp>
      <p:sp>
        <p:nvSpPr>
          <p:cNvPr id="27" name="Text 25"/>
          <p:cNvSpPr/>
          <p:nvPr/>
        </p:nvSpPr>
        <p:spPr>
          <a:xfrm>
            <a:off x="8028432" y="1517904"/>
            <a:ext cx="795528" cy="274320"/>
          </a:xfrm>
          <a:prstGeom prst="rect">
            <a:avLst/>
          </a:prstGeom>
          <a:noFill/>
          <a:ln/>
        </p:spPr>
        <p:txBody>
          <a:bodyPr wrap="square" lIns="0" tIns="0" rIns="0" bIns="0" rtlCol="0" anchor="ctr"/>
          <a:lstStyle/>
          <a:p>
            <a:pPr algn="ctr" indent="0" marL="0">
              <a:buNone/>
            </a:pPr>
            <a:r>
              <a:rPr lang="en-US" sz="900" b="1" dirty="0">
                <a:solidFill>
                  <a:srgbClr val="FFFFFF"/>
                </a:solidFill>
              </a:rPr>
              <a:t>Human</a:t>
            </a:r>
            <a:endParaRPr lang="en-US" sz="900" dirty="0"/>
          </a:p>
        </p:txBody>
      </p:sp>
      <p:sp>
        <p:nvSpPr>
          <p:cNvPr id="28" name="Shape 26"/>
          <p:cNvSpPr/>
          <p:nvPr/>
        </p:nvSpPr>
        <p:spPr>
          <a:xfrm>
            <a:off x="5669280" y="1810512"/>
            <a:ext cx="1572768" cy="438912"/>
          </a:xfrm>
          <a:prstGeom prst="rect">
            <a:avLst/>
          </a:prstGeom>
          <a:solidFill>
            <a:srgbClr val="253A52"/>
          </a:solidFill>
          <a:ln/>
        </p:spPr>
      </p:sp>
      <p:sp>
        <p:nvSpPr>
          <p:cNvPr id="29" name="Shape 27"/>
          <p:cNvSpPr/>
          <p:nvPr/>
        </p:nvSpPr>
        <p:spPr>
          <a:xfrm>
            <a:off x="7242048" y="1810512"/>
            <a:ext cx="786384" cy="438912"/>
          </a:xfrm>
          <a:prstGeom prst="rect">
            <a:avLst/>
          </a:prstGeom>
          <a:solidFill>
            <a:srgbClr val="253A52"/>
          </a:solidFill>
          <a:ln/>
        </p:spPr>
      </p:sp>
      <p:sp>
        <p:nvSpPr>
          <p:cNvPr id="30" name="Shape 28"/>
          <p:cNvSpPr/>
          <p:nvPr/>
        </p:nvSpPr>
        <p:spPr>
          <a:xfrm>
            <a:off x="8028432" y="1810512"/>
            <a:ext cx="795528" cy="438912"/>
          </a:xfrm>
          <a:prstGeom prst="rect">
            <a:avLst/>
          </a:prstGeom>
          <a:solidFill>
            <a:srgbClr val="253A52"/>
          </a:solidFill>
          <a:ln/>
        </p:spPr>
      </p:sp>
      <p:sp>
        <p:nvSpPr>
          <p:cNvPr id="31" name="Text 29"/>
          <p:cNvSpPr/>
          <p:nvPr/>
        </p:nvSpPr>
        <p:spPr>
          <a:xfrm>
            <a:off x="5705856" y="1810512"/>
            <a:ext cx="1536192" cy="438912"/>
          </a:xfrm>
          <a:prstGeom prst="rect">
            <a:avLst/>
          </a:prstGeom>
          <a:noFill/>
          <a:ln/>
        </p:spPr>
        <p:txBody>
          <a:bodyPr wrap="square" lIns="0" tIns="0" rIns="0" bIns="0" rtlCol="0" anchor="ctr"/>
          <a:lstStyle/>
          <a:p>
            <a:pPr indent="0" marL="0">
              <a:buNone/>
            </a:pPr>
            <a:r>
              <a:rPr lang="en-US" sz="850" dirty="0">
                <a:solidFill>
                  <a:srgbClr val="D4E4F0"/>
                </a:solidFill>
              </a:rPr>
              <a:t>"How does this code work?"</a:t>
            </a:r>
            <a:endParaRPr lang="en-US" sz="850" dirty="0"/>
          </a:p>
        </p:txBody>
      </p:sp>
      <p:sp>
        <p:nvSpPr>
          <p:cNvPr id="32" name="Text 30"/>
          <p:cNvSpPr/>
          <p:nvPr/>
        </p:nvSpPr>
        <p:spPr>
          <a:xfrm>
            <a:off x="7242048" y="1810512"/>
            <a:ext cx="786384" cy="438912"/>
          </a:xfrm>
          <a:prstGeom prst="rect">
            <a:avLst/>
          </a:prstGeom>
          <a:noFill/>
          <a:ln/>
        </p:spPr>
        <p:txBody>
          <a:bodyPr wrap="square" lIns="0" tIns="0" rIns="0" bIns="0" rtlCol="0" anchor="ctr"/>
          <a:lstStyle/>
          <a:p>
            <a:pPr algn="ctr" indent="0" marL="0">
              <a:buNone/>
            </a:pPr>
            <a:r>
              <a:rPr lang="en-US" sz="1100" dirty="0">
                <a:solidFill>
                  <a:srgbClr val="000000"/>
                </a:solidFill>
              </a:rPr>
              <a:t>✅</a:t>
            </a:r>
            <a:endParaRPr lang="en-US" sz="1100" dirty="0"/>
          </a:p>
        </p:txBody>
      </p:sp>
      <p:sp>
        <p:nvSpPr>
          <p:cNvPr id="33" name="Text 31"/>
          <p:cNvSpPr/>
          <p:nvPr/>
        </p:nvSpPr>
        <p:spPr>
          <a:xfrm>
            <a:off x="8028432" y="1810512"/>
            <a:ext cx="795528" cy="438912"/>
          </a:xfrm>
          <a:prstGeom prst="rect">
            <a:avLst/>
          </a:prstGeom>
          <a:noFill/>
          <a:ln/>
        </p:spPr>
        <p:txBody>
          <a:bodyPr wrap="square" lIns="0" tIns="0" rIns="0" bIns="0" rtlCol="0" anchor="ctr"/>
          <a:lstStyle/>
          <a:p>
            <a:pPr algn="ctr" indent="0" marL="0">
              <a:buNone/>
            </a:pPr>
            <a:r>
              <a:rPr lang="en-US" sz="1100" dirty="0">
                <a:solidFill>
                  <a:srgbClr val="8096B0"/>
                </a:solidFill>
              </a:rPr>
              <a:t>—</a:t>
            </a:r>
            <a:endParaRPr lang="en-US" sz="1100" dirty="0"/>
          </a:p>
        </p:txBody>
      </p:sp>
      <p:sp>
        <p:nvSpPr>
          <p:cNvPr id="34" name="Shape 32"/>
          <p:cNvSpPr/>
          <p:nvPr/>
        </p:nvSpPr>
        <p:spPr>
          <a:xfrm>
            <a:off x="5669280" y="2286000"/>
            <a:ext cx="1572768" cy="438912"/>
          </a:xfrm>
          <a:prstGeom prst="rect">
            <a:avLst/>
          </a:prstGeom>
          <a:solidFill>
            <a:srgbClr val="1C3557"/>
          </a:solidFill>
          <a:ln/>
        </p:spPr>
      </p:sp>
      <p:sp>
        <p:nvSpPr>
          <p:cNvPr id="35" name="Shape 33"/>
          <p:cNvSpPr/>
          <p:nvPr/>
        </p:nvSpPr>
        <p:spPr>
          <a:xfrm>
            <a:off x="7242048" y="2286000"/>
            <a:ext cx="786384" cy="438912"/>
          </a:xfrm>
          <a:prstGeom prst="rect">
            <a:avLst/>
          </a:prstGeom>
          <a:solidFill>
            <a:srgbClr val="1C3557"/>
          </a:solidFill>
          <a:ln/>
        </p:spPr>
      </p:sp>
      <p:sp>
        <p:nvSpPr>
          <p:cNvPr id="36" name="Shape 34"/>
          <p:cNvSpPr/>
          <p:nvPr/>
        </p:nvSpPr>
        <p:spPr>
          <a:xfrm>
            <a:off x="8028432" y="2286000"/>
            <a:ext cx="795528" cy="438912"/>
          </a:xfrm>
          <a:prstGeom prst="rect">
            <a:avLst/>
          </a:prstGeom>
          <a:solidFill>
            <a:srgbClr val="1C3557"/>
          </a:solidFill>
          <a:ln/>
        </p:spPr>
      </p:sp>
      <p:sp>
        <p:nvSpPr>
          <p:cNvPr id="37" name="Text 35"/>
          <p:cNvSpPr/>
          <p:nvPr/>
        </p:nvSpPr>
        <p:spPr>
          <a:xfrm>
            <a:off x="5705856" y="2286000"/>
            <a:ext cx="1536192" cy="438912"/>
          </a:xfrm>
          <a:prstGeom prst="rect">
            <a:avLst/>
          </a:prstGeom>
          <a:noFill/>
          <a:ln/>
        </p:spPr>
        <p:txBody>
          <a:bodyPr wrap="square" lIns="0" tIns="0" rIns="0" bIns="0" rtlCol="0" anchor="ctr"/>
          <a:lstStyle/>
          <a:p>
            <a:pPr indent="0" marL="0">
              <a:buNone/>
            </a:pPr>
            <a:r>
              <a:rPr lang="en-US" sz="850" dirty="0">
                <a:solidFill>
                  <a:srgbClr val="D4E4F0"/>
                </a:solidFill>
              </a:rPr>
              <a:t>"Why was this design decision made?"</a:t>
            </a:r>
            <a:endParaRPr lang="en-US" sz="850" dirty="0"/>
          </a:p>
        </p:txBody>
      </p:sp>
      <p:sp>
        <p:nvSpPr>
          <p:cNvPr id="38" name="Text 36"/>
          <p:cNvSpPr/>
          <p:nvPr/>
        </p:nvSpPr>
        <p:spPr>
          <a:xfrm>
            <a:off x="7242048" y="2286000"/>
            <a:ext cx="786384" cy="438912"/>
          </a:xfrm>
          <a:prstGeom prst="rect">
            <a:avLst/>
          </a:prstGeom>
          <a:noFill/>
          <a:ln/>
        </p:spPr>
        <p:txBody>
          <a:bodyPr wrap="square" lIns="0" tIns="0" rIns="0" bIns="0" rtlCol="0" anchor="ctr"/>
          <a:lstStyle/>
          <a:p>
            <a:pPr algn="ctr" indent="0" marL="0">
              <a:buNone/>
            </a:pPr>
            <a:r>
              <a:rPr lang="en-US" sz="1100" dirty="0">
                <a:solidFill>
                  <a:srgbClr val="000000"/>
                </a:solidFill>
              </a:rPr>
              <a:t>✅</a:t>
            </a:r>
            <a:endParaRPr lang="en-US" sz="1100" dirty="0"/>
          </a:p>
        </p:txBody>
      </p:sp>
      <p:sp>
        <p:nvSpPr>
          <p:cNvPr id="39" name="Text 37"/>
          <p:cNvSpPr/>
          <p:nvPr/>
        </p:nvSpPr>
        <p:spPr>
          <a:xfrm>
            <a:off x="8028432" y="2286000"/>
            <a:ext cx="795528" cy="438912"/>
          </a:xfrm>
          <a:prstGeom prst="rect">
            <a:avLst/>
          </a:prstGeom>
          <a:noFill/>
          <a:ln/>
        </p:spPr>
        <p:txBody>
          <a:bodyPr wrap="square" lIns="0" tIns="0" rIns="0" bIns="0" rtlCol="0" anchor="ctr"/>
          <a:lstStyle/>
          <a:p>
            <a:pPr algn="ctr" indent="0" marL="0">
              <a:buNone/>
            </a:pPr>
            <a:r>
              <a:rPr lang="en-US" sz="1100" dirty="0">
                <a:solidFill>
                  <a:srgbClr val="8096B0"/>
                </a:solidFill>
              </a:rPr>
              <a:t>—</a:t>
            </a:r>
            <a:endParaRPr lang="en-US" sz="1100" dirty="0"/>
          </a:p>
        </p:txBody>
      </p:sp>
      <p:sp>
        <p:nvSpPr>
          <p:cNvPr id="40" name="Shape 38"/>
          <p:cNvSpPr/>
          <p:nvPr/>
        </p:nvSpPr>
        <p:spPr>
          <a:xfrm>
            <a:off x="5669280" y="2761488"/>
            <a:ext cx="1572768" cy="438912"/>
          </a:xfrm>
          <a:prstGeom prst="rect">
            <a:avLst/>
          </a:prstGeom>
          <a:solidFill>
            <a:srgbClr val="253A52"/>
          </a:solidFill>
          <a:ln/>
        </p:spPr>
      </p:sp>
      <p:sp>
        <p:nvSpPr>
          <p:cNvPr id="41" name="Shape 39"/>
          <p:cNvSpPr/>
          <p:nvPr/>
        </p:nvSpPr>
        <p:spPr>
          <a:xfrm>
            <a:off x="7242048" y="2761488"/>
            <a:ext cx="786384" cy="438912"/>
          </a:xfrm>
          <a:prstGeom prst="rect">
            <a:avLst/>
          </a:prstGeom>
          <a:solidFill>
            <a:srgbClr val="253A52"/>
          </a:solidFill>
          <a:ln/>
        </p:spPr>
      </p:sp>
      <p:sp>
        <p:nvSpPr>
          <p:cNvPr id="42" name="Shape 40"/>
          <p:cNvSpPr/>
          <p:nvPr/>
        </p:nvSpPr>
        <p:spPr>
          <a:xfrm>
            <a:off x="8028432" y="2761488"/>
            <a:ext cx="795528" cy="438912"/>
          </a:xfrm>
          <a:prstGeom prst="rect">
            <a:avLst/>
          </a:prstGeom>
          <a:solidFill>
            <a:srgbClr val="253A52"/>
          </a:solidFill>
          <a:ln/>
        </p:spPr>
      </p:sp>
      <p:sp>
        <p:nvSpPr>
          <p:cNvPr id="43" name="Text 41"/>
          <p:cNvSpPr/>
          <p:nvPr/>
        </p:nvSpPr>
        <p:spPr>
          <a:xfrm>
            <a:off x="5705856" y="2761488"/>
            <a:ext cx="1536192" cy="438912"/>
          </a:xfrm>
          <a:prstGeom prst="rect">
            <a:avLst/>
          </a:prstGeom>
          <a:noFill/>
          <a:ln/>
        </p:spPr>
        <p:txBody>
          <a:bodyPr wrap="square" lIns="0" tIns="0" rIns="0" bIns="0" rtlCol="0" anchor="ctr"/>
          <a:lstStyle/>
          <a:p>
            <a:pPr indent="0" marL="0">
              <a:buNone/>
            </a:pPr>
            <a:r>
              <a:rPr lang="en-US" sz="850" dirty="0">
                <a:solidFill>
                  <a:srgbClr val="D4E4F0"/>
                </a:solidFill>
              </a:rPr>
              <a:t>"What does this team value in reviews?"</a:t>
            </a:r>
            <a:endParaRPr lang="en-US" sz="850" dirty="0"/>
          </a:p>
        </p:txBody>
      </p:sp>
      <p:sp>
        <p:nvSpPr>
          <p:cNvPr id="44" name="Text 42"/>
          <p:cNvSpPr/>
          <p:nvPr/>
        </p:nvSpPr>
        <p:spPr>
          <a:xfrm>
            <a:off x="7242048" y="2761488"/>
            <a:ext cx="786384" cy="438912"/>
          </a:xfrm>
          <a:prstGeom prst="rect">
            <a:avLst/>
          </a:prstGeom>
          <a:noFill/>
          <a:ln/>
        </p:spPr>
        <p:txBody>
          <a:bodyPr wrap="square" lIns="0" tIns="0" rIns="0" bIns="0" rtlCol="0" anchor="ctr"/>
          <a:lstStyle/>
          <a:p>
            <a:pPr algn="ctr" indent="0" marL="0">
              <a:buNone/>
            </a:pPr>
            <a:r>
              <a:rPr lang="en-US" sz="1100" dirty="0">
                <a:solidFill>
                  <a:srgbClr val="000000"/>
                </a:solidFill>
              </a:rPr>
              <a:t>✅</a:t>
            </a:r>
            <a:endParaRPr lang="en-US" sz="1100" dirty="0"/>
          </a:p>
        </p:txBody>
      </p:sp>
      <p:sp>
        <p:nvSpPr>
          <p:cNvPr id="45" name="Text 43"/>
          <p:cNvSpPr/>
          <p:nvPr/>
        </p:nvSpPr>
        <p:spPr>
          <a:xfrm>
            <a:off x="8028432" y="2761488"/>
            <a:ext cx="795528" cy="438912"/>
          </a:xfrm>
          <a:prstGeom prst="rect">
            <a:avLst/>
          </a:prstGeom>
          <a:noFill/>
          <a:ln/>
        </p:spPr>
        <p:txBody>
          <a:bodyPr wrap="square" lIns="0" tIns="0" rIns="0" bIns="0" rtlCol="0" anchor="ctr"/>
          <a:lstStyle/>
          <a:p>
            <a:pPr algn="ctr" indent="0" marL="0">
              <a:buNone/>
            </a:pPr>
            <a:r>
              <a:rPr lang="en-US" sz="1100" dirty="0">
                <a:solidFill>
                  <a:srgbClr val="8096B0"/>
                </a:solidFill>
              </a:rPr>
              <a:t>—</a:t>
            </a:r>
            <a:endParaRPr lang="en-US" sz="1100" dirty="0"/>
          </a:p>
        </p:txBody>
      </p:sp>
      <p:sp>
        <p:nvSpPr>
          <p:cNvPr id="46" name="Shape 44"/>
          <p:cNvSpPr/>
          <p:nvPr/>
        </p:nvSpPr>
        <p:spPr>
          <a:xfrm>
            <a:off x="5669280" y="3236976"/>
            <a:ext cx="1572768" cy="438912"/>
          </a:xfrm>
          <a:prstGeom prst="rect">
            <a:avLst/>
          </a:prstGeom>
          <a:solidFill>
            <a:srgbClr val="1C3557"/>
          </a:solidFill>
          <a:ln/>
        </p:spPr>
      </p:sp>
      <p:sp>
        <p:nvSpPr>
          <p:cNvPr id="47" name="Shape 45"/>
          <p:cNvSpPr/>
          <p:nvPr/>
        </p:nvSpPr>
        <p:spPr>
          <a:xfrm>
            <a:off x="7242048" y="3236976"/>
            <a:ext cx="786384" cy="438912"/>
          </a:xfrm>
          <a:prstGeom prst="rect">
            <a:avLst/>
          </a:prstGeom>
          <a:solidFill>
            <a:srgbClr val="1C3557"/>
          </a:solidFill>
          <a:ln/>
        </p:spPr>
      </p:sp>
      <p:sp>
        <p:nvSpPr>
          <p:cNvPr id="48" name="Shape 46"/>
          <p:cNvSpPr/>
          <p:nvPr/>
        </p:nvSpPr>
        <p:spPr>
          <a:xfrm>
            <a:off x="8028432" y="3236976"/>
            <a:ext cx="795528" cy="438912"/>
          </a:xfrm>
          <a:prstGeom prst="rect">
            <a:avLst/>
          </a:prstGeom>
          <a:solidFill>
            <a:srgbClr val="1C3557"/>
          </a:solidFill>
          <a:ln/>
        </p:spPr>
      </p:sp>
      <p:sp>
        <p:nvSpPr>
          <p:cNvPr id="49" name="Text 47"/>
          <p:cNvSpPr/>
          <p:nvPr/>
        </p:nvSpPr>
        <p:spPr>
          <a:xfrm>
            <a:off x="5705856" y="3236976"/>
            <a:ext cx="1536192" cy="438912"/>
          </a:xfrm>
          <a:prstGeom prst="rect">
            <a:avLst/>
          </a:prstGeom>
          <a:noFill/>
          <a:ln/>
        </p:spPr>
        <p:txBody>
          <a:bodyPr wrap="square" lIns="0" tIns="0" rIns="0" bIns="0" rtlCol="0" anchor="ctr"/>
          <a:lstStyle/>
          <a:p>
            <a:pPr indent="0" marL="0">
              <a:buNone/>
            </a:pPr>
            <a:r>
              <a:rPr lang="en-US" sz="850" dirty="0">
                <a:solidFill>
                  <a:srgbClr val="D4E4F0"/>
                </a:solidFill>
              </a:rPr>
              <a:t>"How do I grow in this org?"</a:t>
            </a:r>
            <a:endParaRPr lang="en-US" sz="850" dirty="0"/>
          </a:p>
        </p:txBody>
      </p:sp>
      <p:sp>
        <p:nvSpPr>
          <p:cNvPr id="50" name="Text 48"/>
          <p:cNvSpPr/>
          <p:nvPr/>
        </p:nvSpPr>
        <p:spPr>
          <a:xfrm>
            <a:off x="7242048" y="3236976"/>
            <a:ext cx="786384" cy="438912"/>
          </a:xfrm>
          <a:prstGeom prst="rect">
            <a:avLst/>
          </a:prstGeom>
          <a:noFill/>
          <a:ln/>
        </p:spPr>
        <p:txBody>
          <a:bodyPr wrap="square" lIns="0" tIns="0" rIns="0" bIns="0" rtlCol="0" anchor="ctr"/>
          <a:lstStyle/>
          <a:p>
            <a:pPr algn="ctr" indent="0" marL="0">
              <a:buNone/>
            </a:pPr>
            <a:r>
              <a:rPr lang="en-US" sz="1100" dirty="0">
                <a:solidFill>
                  <a:srgbClr val="000000"/>
                </a:solidFill>
              </a:rPr>
              <a:t>❌</a:t>
            </a:r>
            <a:endParaRPr lang="en-US" sz="1100" dirty="0"/>
          </a:p>
        </p:txBody>
      </p:sp>
      <p:sp>
        <p:nvSpPr>
          <p:cNvPr id="51" name="Text 49"/>
          <p:cNvSpPr/>
          <p:nvPr/>
        </p:nvSpPr>
        <p:spPr>
          <a:xfrm>
            <a:off x="8028432" y="3236976"/>
            <a:ext cx="795528" cy="438912"/>
          </a:xfrm>
          <a:prstGeom prst="rect">
            <a:avLst/>
          </a:prstGeom>
          <a:noFill/>
          <a:ln/>
        </p:spPr>
        <p:txBody>
          <a:bodyPr wrap="square" lIns="0" tIns="0" rIns="0" bIns="0" rtlCol="0" anchor="ctr"/>
          <a:lstStyle/>
          <a:p>
            <a:pPr algn="ctr" indent="0" marL="0">
              <a:buNone/>
            </a:pPr>
            <a:r>
              <a:rPr lang="en-US" sz="1100" dirty="0">
                <a:solidFill>
                  <a:srgbClr val="3A7E6E"/>
                </a:solidFill>
              </a:rPr>
              <a:t>✅</a:t>
            </a:r>
            <a:endParaRPr lang="en-US" sz="1100" dirty="0"/>
          </a:p>
        </p:txBody>
      </p:sp>
      <p:sp>
        <p:nvSpPr>
          <p:cNvPr id="52" name="Shape 50"/>
          <p:cNvSpPr/>
          <p:nvPr/>
        </p:nvSpPr>
        <p:spPr>
          <a:xfrm>
            <a:off x="5669280" y="3712464"/>
            <a:ext cx="1572768" cy="438912"/>
          </a:xfrm>
          <a:prstGeom prst="rect">
            <a:avLst/>
          </a:prstGeom>
          <a:solidFill>
            <a:srgbClr val="253A52"/>
          </a:solidFill>
          <a:ln/>
        </p:spPr>
      </p:sp>
      <p:sp>
        <p:nvSpPr>
          <p:cNvPr id="53" name="Shape 51"/>
          <p:cNvSpPr/>
          <p:nvPr/>
        </p:nvSpPr>
        <p:spPr>
          <a:xfrm>
            <a:off x="7242048" y="3712464"/>
            <a:ext cx="786384" cy="438912"/>
          </a:xfrm>
          <a:prstGeom prst="rect">
            <a:avLst/>
          </a:prstGeom>
          <a:solidFill>
            <a:srgbClr val="253A52"/>
          </a:solidFill>
          <a:ln/>
        </p:spPr>
      </p:sp>
      <p:sp>
        <p:nvSpPr>
          <p:cNvPr id="54" name="Shape 52"/>
          <p:cNvSpPr/>
          <p:nvPr/>
        </p:nvSpPr>
        <p:spPr>
          <a:xfrm>
            <a:off x="8028432" y="3712464"/>
            <a:ext cx="795528" cy="438912"/>
          </a:xfrm>
          <a:prstGeom prst="rect">
            <a:avLst/>
          </a:prstGeom>
          <a:solidFill>
            <a:srgbClr val="253A52"/>
          </a:solidFill>
          <a:ln/>
        </p:spPr>
      </p:sp>
      <p:sp>
        <p:nvSpPr>
          <p:cNvPr id="55" name="Text 53"/>
          <p:cNvSpPr/>
          <p:nvPr/>
        </p:nvSpPr>
        <p:spPr>
          <a:xfrm>
            <a:off x="5705856" y="3712464"/>
            <a:ext cx="1536192" cy="438912"/>
          </a:xfrm>
          <a:prstGeom prst="rect">
            <a:avLst/>
          </a:prstGeom>
          <a:noFill/>
          <a:ln/>
        </p:spPr>
        <p:txBody>
          <a:bodyPr wrap="square" lIns="0" tIns="0" rIns="0" bIns="0" rtlCol="0" anchor="ctr"/>
          <a:lstStyle/>
          <a:p>
            <a:pPr indent="0" marL="0">
              <a:buNone/>
            </a:pPr>
            <a:r>
              <a:rPr lang="en-US" sz="850" dirty="0">
                <a:solidFill>
                  <a:srgbClr val="D4E4F0"/>
                </a:solidFill>
              </a:rPr>
              <a:t>"What should I work on next?"</a:t>
            </a:r>
            <a:endParaRPr lang="en-US" sz="850" dirty="0"/>
          </a:p>
        </p:txBody>
      </p:sp>
      <p:sp>
        <p:nvSpPr>
          <p:cNvPr id="56" name="Text 54"/>
          <p:cNvSpPr/>
          <p:nvPr/>
        </p:nvSpPr>
        <p:spPr>
          <a:xfrm>
            <a:off x="7242048" y="3712464"/>
            <a:ext cx="786384" cy="438912"/>
          </a:xfrm>
          <a:prstGeom prst="rect">
            <a:avLst/>
          </a:prstGeom>
          <a:noFill/>
          <a:ln/>
        </p:spPr>
        <p:txBody>
          <a:bodyPr wrap="square" lIns="0" tIns="0" rIns="0" bIns="0" rtlCol="0" anchor="ctr"/>
          <a:lstStyle/>
          <a:p>
            <a:pPr algn="ctr" indent="0" marL="0">
              <a:buNone/>
            </a:pPr>
            <a:r>
              <a:rPr lang="en-US" sz="1100" dirty="0">
                <a:solidFill>
                  <a:srgbClr val="000000"/>
                </a:solidFill>
              </a:rPr>
              <a:t>❌</a:t>
            </a:r>
            <a:endParaRPr lang="en-US" sz="1100" dirty="0"/>
          </a:p>
        </p:txBody>
      </p:sp>
      <p:sp>
        <p:nvSpPr>
          <p:cNvPr id="57" name="Text 55"/>
          <p:cNvSpPr/>
          <p:nvPr/>
        </p:nvSpPr>
        <p:spPr>
          <a:xfrm>
            <a:off x="8028432" y="3712464"/>
            <a:ext cx="795528" cy="438912"/>
          </a:xfrm>
          <a:prstGeom prst="rect">
            <a:avLst/>
          </a:prstGeom>
          <a:noFill/>
          <a:ln/>
        </p:spPr>
        <p:txBody>
          <a:bodyPr wrap="square" lIns="0" tIns="0" rIns="0" bIns="0" rtlCol="0" anchor="ctr"/>
          <a:lstStyle/>
          <a:p>
            <a:pPr algn="ctr" indent="0" marL="0">
              <a:buNone/>
            </a:pPr>
            <a:r>
              <a:rPr lang="en-US" sz="1100" dirty="0">
                <a:solidFill>
                  <a:srgbClr val="3A7E6E"/>
                </a:solidFill>
              </a:rPr>
              <a:t>✅</a:t>
            </a:r>
            <a:endParaRPr lang="en-US" sz="1100" dirty="0"/>
          </a:p>
        </p:txBody>
      </p:sp>
      <p:sp>
        <p:nvSpPr>
          <p:cNvPr id="58" name="Shape 56"/>
          <p:cNvSpPr/>
          <p:nvPr/>
        </p:nvSpPr>
        <p:spPr>
          <a:xfrm>
            <a:off x="5669280" y="4187952"/>
            <a:ext cx="1572768" cy="438912"/>
          </a:xfrm>
          <a:prstGeom prst="rect">
            <a:avLst/>
          </a:prstGeom>
          <a:solidFill>
            <a:srgbClr val="1C3557"/>
          </a:solidFill>
          <a:ln/>
        </p:spPr>
      </p:sp>
      <p:sp>
        <p:nvSpPr>
          <p:cNvPr id="59" name="Shape 57"/>
          <p:cNvSpPr/>
          <p:nvPr/>
        </p:nvSpPr>
        <p:spPr>
          <a:xfrm>
            <a:off x="7242048" y="4187952"/>
            <a:ext cx="786384" cy="438912"/>
          </a:xfrm>
          <a:prstGeom prst="rect">
            <a:avLst/>
          </a:prstGeom>
          <a:solidFill>
            <a:srgbClr val="1C3557"/>
          </a:solidFill>
          <a:ln/>
        </p:spPr>
      </p:sp>
      <p:sp>
        <p:nvSpPr>
          <p:cNvPr id="60" name="Shape 58"/>
          <p:cNvSpPr/>
          <p:nvPr/>
        </p:nvSpPr>
        <p:spPr>
          <a:xfrm>
            <a:off x="8028432" y="4187952"/>
            <a:ext cx="795528" cy="438912"/>
          </a:xfrm>
          <a:prstGeom prst="rect">
            <a:avLst/>
          </a:prstGeom>
          <a:solidFill>
            <a:srgbClr val="1C3557"/>
          </a:solidFill>
          <a:ln/>
        </p:spPr>
      </p:sp>
      <p:sp>
        <p:nvSpPr>
          <p:cNvPr id="61" name="Text 59"/>
          <p:cNvSpPr/>
          <p:nvPr/>
        </p:nvSpPr>
        <p:spPr>
          <a:xfrm>
            <a:off x="5705856" y="4187952"/>
            <a:ext cx="1536192" cy="438912"/>
          </a:xfrm>
          <a:prstGeom prst="rect">
            <a:avLst/>
          </a:prstGeom>
          <a:noFill/>
          <a:ln/>
        </p:spPr>
        <p:txBody>
          <a:bodyPr wrap="square" lIns="0" tIns="0" rIns="0" bIns="0" rtlCol="0" anchor="ctr"/>
          <a:lstStyle/>
          <a:p>
            <a:pPr indent="0" marL="0">
              <a:buNone/>
            </a:pPr>
            <a:r>
              <a:rPr lang="en-US" sz="850" dirty="0">
                <a:solidFill>
                  <a:srgbClr val="D4E4F0"/>
                </a:solidFill>
              </a:rPr>
              <a:t>"Is my approach right?"</a:t>
            </a:r>
            <a:endParaRPr lang="en-US" sz="850" dirty="0"/>
          </a:p>
        </p:txBody>
      </p:sp>
      <p:sp>
        <p:nvSpPr>
          <p:cNvPr id="62" name="Text 60"/>
          <p:cNvSpPr/>
          <p:nvPr/>
        </p:nvSpPr>
        <p:spPr>
          <a:xfrm>
            <a:off x="7242048" y="4187952"/>
            <a:ext cx="786384" cy="438912"/>
          </a:xfrm>
          <a:prstGeom prst="rect">
            <a:avLst/>
          </a:prstGeom>
          <a:noFill/>
          <a:ln/>
        </p:spPr>
        <p:txBody>
          <a:bodyPr wrap="square" lIns="0" tIns="0" rIns="0" bIns="0" rtlCol="0" anchor="ctr"/>
          <a:lstStyle/>
          <a:p>
            <a:pPr algn="ctr" indent="0" marL="0">
              <a:buNone/>
            </a:pPr>
            <a:r>
              <a:rPr lang="en-US" sz="1100" dirty="0">
                <a:solidFill>
                  <a:srgbClr val="000000"/>
                </a:solidFill>
              </a:rPr>
              <a:t>✅</a:t>
            </a:r>
            <a:endParaRPr lang="en-US" sz="1100" dirty="0"/>
          </a:p>
        </p:txBody>
      </p:sp>
      <p:sp>
        <p:nvSpPr>
          <p:cNvPr id="63" name="Text 61"/>
          <p:cNvSpPr/>
          <p:nvPr/>
        </p:nvSpPr>
        <p:spPr>
          <a:xfrm>
            <a:off x="8028432" y="4187952"/>
            <a:ext cx="795528" cy="438912"/>
          </a:xfrm>
          <a:prstGeom prst="rect">
            <a:avLst/>
          </a:prstGeom>
          <a:noFill/>
          <a:ln/>
        </p:spPr>
        <p:txBody>
          <a:bodyPr wrap="square" lIns="0" tIns="0" rIns="0" bIns="0" rtlCol="0" anchor="ctr"/>
          <a:lstStyle/>
          <a:p>
            <a:pPr algn="ctr" indent="0" marL="0">
              <a:buNone/>
            </a:pPr>
            <a:r>
              <a:rPr lang="en-US" sz="1100" dirty="0">
                <a:solidFill>
                  <a:srgbClr val="3A7E6E"/>
                </a:solidFill>
              </a:rPr>
              <a:t>✅</a:t>
            </a:r>
            <a:endParaRPr lang="en-US" sz="1100" dirty="0"/>
          </a:p>
        </p:txBody>
      </p:sp>
      <p:sp>
        <p:nvSpPr>
          <p:cNvPr id="64" name="Text 62"/>
          <p:cNvSpPr/>
          <p:nvPr/>
        </p:nvSpPr>
        <p:spPr>
          <a:xfrm>
            <a:off x="320040" y="4892040"/>
            <a:ext cx="8503920" cy="219456"/>
          </a:xfrm>
          <a:prstGeom prst="rect">
            <a:avLst/>
          </a:prstGeom>
          <a:noFill/>
          <a:ln/>
        </p:spPr>
        <p:txBody>
          <a:bodyPr wrap="square" lIns="0" tIns="0" rIns="0" bIns="0" rtlCol="0" anchor="ctr"/>
          <a:lstStyle/>
          <a:p>
            <a:pPr indent="0" marL="0">
              <a:buNone/>
            </a:pPr>
            <a:r>
              <a:rPr lang="en-US" sz="950" i="1" dirty="0">
                <a:solidFill>
                  <a:srgbClr val="7A90A8"/>
                </a:solidFill>
              </a:rPr>
              <a:t>Faster and more accurate than asking a colleague. The agent reads actual code — not documentation that may be out of date.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C3557"/>
        </a:solidFill>
      </p:bgPr>
    </p:bg>
    <p:spTree>
      <p:nvGrpSpPr>
        <p:cNvPr id="1" name=""/>
        <p:cNvGrpSpPr/>
        <p:nvPr/>
      </p:nvGrpSpPr>
      <p:grpSpPr>
        <a:xfrm>
          <a:off x="0" y="0"/>
          <a:ext cx="0" cy="0"/>
          <a:chOff x="0" y="0"/>
          <a:chExt cx="0" cy="0"/>
        </a:xfrm>
      </p:grpSpPr>
      <p:sp>
        <p:nvSpPr>
          <p:cNvPr id="2" name="Text 0"/>
          <p:cNvSpPr/>
          <p:nvPr/>
        </p:nvSpPr>
        <p:spPr>
          <a:xfrm>
            <a:off x="365760" y="201168"/>
            <a:ext cx="8229600" cy="411480"/>
          </a:xfrm>
          <a:prstGeom prst="rect">
            <a:avLst/>
          </a:prstGeom>
          <a:noFill/>
          <a:ln/>
        </p:spPr>
        <p:txBody>
          <a:bodyPr wrap="square" lIns="0" tIns="0" rIns="0" bIns="0" rtlCol="0" anchor="ctr"/>
          <a:lstStyle/>
          <a:p>
            <a:pPr indent="0" marL="0">
              <a:buNone/>
            </a:pPr>
            <a:r>
              <a:rPr lang="en-US" sz="1300" b="1" spc="300" kern="0" dirty="0">
                <a:solidFill>
                  <a:srgbClr val="5B8DB8"/>
                </a:solidFill>
              </a:rPr>
              <a:t>THE 3 AGENT FAILURE MODES</a:t>
            </a:r>
            <a:endParaRPr lang="en-US" sz="1300" dirty="0"/>
          </a:p>
        </p:txBody>
      </p:sp>
      <p:sp>
        <p:nvSpPr>
          <p:cNvPr id="3" name="Text 1"/>
          <p:cNvSpPr/>
          <p:nvPr/>
        </p:nvSpPr>
        <p:spPr>
          <a:xfrm>
            <a:off x="365760" y="658368"/>
            <a:ext cx="8229600" cy="329184"/>
          </a:xfrm>
          <a:prstGeom prst="rect">
            <a:avLst/>
          </a:prstGeom>
          <a:noFill/>
          <a:ln/>
        </p:spPr>
        <p:txBody>
          <a:bodyPr wrap="square" lIns="0" tIns="0" rIns="0" bIns="0" rtlCol="0" anchor="ctr"/>
          <a:lstStyle/>
          <a:p>
            <a:pPr indent="0" marL="0">
              <a:buNone/>
            </a:pPr>
            <a:r>
              <a:rPr lang="en-US" sz="1300" i="1" dirty="0">
                <a:solidFill>
                  <a:srgbClr val="FFFFFF"/>
                </a:solidFill>
              </a:rPr>
              <a:t>Source: Spotify Engineering (Honk Part 3, 2025) — “Without feedback loops, agents often produce code that simply doesn’t work.”</a:t>
            </a:r>
            <a:endParaRPr lang="en-US" sz="1300" dirty="0"/>
          </a:p>
        </p:txBody>
      </p:sp>
      <p:sp>
        <p:nvSpPr>
          <p:cNvPr id="4" name="Shape 2"/>
          <p:cNvSpPr/>
          <p:nvPr/>
        </p:nvSpPr>
        <p:spPr>
          <a:xfrm>
            <a:off x="320040" y="1143000"/>
            <a:ext cx="2697480" cy="3794760"/>
          </a:xfrm>
          <a:prstGeom prst="rect">
            <a:avLst/>
          </a:prstGeom>
          <a:solidFill>
            <a:srgbClr val="2E5073">
              <a:alpha val="82000"/>
            </a:srgbClr>
          </a:solidFill>
          <a:ln/>
          <a:effectLst>
            <a:outerShdw sx="100000" sy="100000" kx="0" ky="0" algn="bl" rotWithShape="0" blurRad="101600" dist="38100" dir="8100000">
              <a:srgbClr val="000000">
                <a:alpha val="13000"/>
              </a:srgbClr>
            </a:outerShdw>
          </a:effectLst>
        </p:spPr>
      </p:sp>
      <p:sp>
        <p:nvSpPr>
          <p:cNvPr id="5" name="Shape 3"/>
          <p:cNvSpPr/>
          <p:nvPr/>
        </p:nvSpPr>
        <p:spPr>
          <a:xfrm>
            <a:off x="320040" y="1143000"/>
            <a:ext cx="2697480" cy="566928"/>
          </a:xfrm>
          <a:prstGeom prst="rect">
            <a:avLst/>
          </a:prstGeom>
          <a:solidFill>
            <a:srgbClr val="3A7E6E">
              <a:alpha val="90000"/>
            </a:srgbClr>
          </a:solidFill>
          <a:ln/>
        </p:spPr>
      </p:sp>
      <p:sp>
        <p:nvSpPr>
          <p:cNvPr id="6" name="Text 4"/>
          <p:cNvSpPr/>
          <p:nvPr/>
        </p:nvSpPr>
        <p:spPr>
          <a:xfrm>
            <a:off x="320040" y="1143000"/>
            <a:ext cx="475488" cy="566928"/>
          </a:xfrm>
          <a:prstGeom prst="rect">
            <a:avLst/>
          </a:prstGeom>
          <a:noFill/>
          <a:ln/>
        </p:spPr>
        <p:txBody>
          <a:bodyPr wrap="square" lIns="0" tIns="0" rIns="0" bIns="0" rtlCol="0" anchor="ctr"/>
          <a:lstStyle/>
          <a:p>
            <a:pPr algn="ctr" indent="0" marL="0">
              <a:buNone/>
            </a:pPr>
            <a:r>
              <a:rPr lang="en-US" sz="1800" b="1" dirty="0">
                <a:solidFill>
                  <a:srgbClr val="FFFFFF"/>
                </a:solidFill>
              </a:rPr>
              <a:t>01</a:t>
            </a:r>
            <a:endParaRPr lang="en-US" sz="1800" dirty="0"/>
          </a:p>
        </p:txBody>
      </p:sp>
      <p:sp>
        <p:nvSpPr>
          <p:cNvPr id="7" name="Text 5"/>
          <p:cNvSpPr/>
          <p:nvPr/>
        </p:nvSpPr>
        <p:spPr>
          <a:xfrm>
            <a:off x="822960" y="1143000"/>
            <a:ext cx="2121408" cy="566928"/>
          </a:xfrm>
          <a:prstGeom prst="rect">
            <a:avLst/>
          </a:prstGeom>
          <a:noFill/>
          <a:ln/>
        </p:spPr>
        <p:txBody>
          <a:bodyPr wrap="square" lIns="0" tIns="0" rIns="0" bIns="0" rtlCol="0" anchor="ctr"/>
          <a:lstStyle/>
          <a:p>
            <a:pPr indent="0" marL="0">
              <a:buNone/>
            </a:pPr>
            <a:r>
              <a:rPr lang="en-US" sz="1300" b="1" dirty="0">
                <a:solidFill>
                  <a:srgbClr val="FFFFFF"/>
                </a:solidFill>
              </a:rPr>
              <a:t>PR Fails CI</a:t>
            </a:r>
            <a:endParaRPr lang="en-US" sz="1300" dirty="0"/>
          </a:p>
        </p:txBody>
      </p:sp>
      <p:sp>
        <p:nvSpPr>
          <p:cNvPr id="8" name="Text 6"/>
          <p:cNvSpPr/>
          <p:nvPr/>
        </p:nvSpPr>
        <p:spPr>
          <a:xfrm>
            <a:off x="429768" y="1783080"/>
            <a:ext cx="2468880" cy="201168"/>
          </a:xfrm>
          <a:prstGeom prst="rect">
            <a:avLst/>
          </a:prstGeom>
          <a:noFill/>
          <a:ln/>
        </p:spPr>
        <p:txBody>
          <a:bodyPr wrap="square" lIns="0" tIns="0" rIns="0" bIns="0" rtlCol="0" anchor="ctr"/>
          <a:lstStyle/>
          <a:p>
            <a:pPr indent="0" marL="0">
              <a:buNone/>
            </a:pPr>
            <a:r>
              <a:rPr lang="en-US" sz="850" b="1" spc="200" kern="0" dirty="0">
                <a:solidFill>
                  <a:srgbClr val="3A7E6E"/>
                </a:solidFill>
              </a:rPr>
              <a:t>WHAT</a:t>
            </a:r>
            <a:endParaRPr lang="en-US" sz="850" dirty="0"/>
          </a:p>
        </p:txBody>
      </p:sp>
      <p:sp>
        <p:nvSpPr>
          <p:cNvPr id="9" name="Text 7"/>
          <p:cNvSpPr/>
          <p:nvPr/>
        </p:nvSpPr>
        <p:spPr>
          <a:xfrm>
            <a:off x="429768" y="1984248"/>
            <a:ext cx="2468880" cy="621792"/>
          </a:xfrm>
          <a:prstGeom prst="rect">
            <a:avLst/>
          </a:prstGeom>
          <a:noFill/>
          <a:ln/>
        </p:spPr>
        <p:txBody>
          <a:bodyPr wrap="square" lIns="0" tIns="0" rIns="0" bIns="0" rtlCol="0" anchor="ctr"/>
          <a:lstStyle/>
          <a:p>
            <a:pPr indent="0" marL="0">
              <a:buNone/>
            </a:pPr>
            <a:r>
              <a:rPr lang="en-US" sz="1050" dirty="0">
                <a:solidFill>
                  <a:srgbClr val="D4E4F0"/>
                </a:solidFill>
              </a:rPr>
              <a:t>The agent’s PR fails automated tests, linting, or the build. The simplest failure mode.</a:t>
            </a:r>
            <a:endParaRPr lang="en-US" sz="1050" dirty="0"/>
          </a:p>
        </p:txBody>
      </p:sp>
      <p:sp>
        <p:nvSpPr>
          <p:cNvPr id="10" name="Text 8"/>
          <p:cNvSpPr/>
          <p:nvPr/>
        </p:nvSpPr>
        <p:spPr>
          <a:xfrm>
            <a:off x="429768" y="2660904"/>
            <a:ext cx="2468880" cy="201168"/>
          </a:xfrm>
          <a:prstGeom prst="rect">
            <a:avLst/>
          </a:prstGeom>
          <a:noFill/>
          <a:ln/>
        </p:spPr>
        <p:txBody>
          <a:bodyPr wrap="square" lIns="0" tIns="0" rIns="0" bIns="0" rtlCol="0" anchor="ctr"/>
          <a:lstStyle/>
          <a:p>
            <a:pPr indent="0" marL="0">
              <a:buNone/>
            </a:pPr>
            <a:r>
              <a:rPr lang="en-US" sz="850" b="1" spc="200" kern="0" dirty="0">
                <a:solidFill>
                  <a:srgbClr val="3A7E6E"/>
                </a:solidFill>
              </a:rPr>
              <a:t>IMPACT</a:t>
            </a:r>
            <a:endParaRPr lang="en-US" sz="850" dirty="0"/>
          </a:p>
        </p:txBody>
      </p:sp>
      <p:sp>
        <p:nvSpPr>
          <p:cNvPr id="11" name="Text 9"/>
          <p:cNvSpPr/>
          <p:nvPr/>
        </p:nvSpPr>
        <p:spPr>
          <a:xfrm>
            <a:off x="429768" y="2862072"/>
            <a:ext cx="2468880" cy="566928"/>
          </a:xfrm>
          <a:prstGeom prst="rect">
            <a:avLst/>
          </a:prstGeom>
          <a:noFill/>
          <a:ln/>
        </p:spPr>
        <p:txBody>
          <a:bodyPr wrap="square" lIns="0" tIns="0" rIns="0" bIns="0" rtlCol="0" anchor="ctr"/>
          <a:lstStyle/>
          <a:p>
            <a:pPr indent="0" marL="0">
              <a:buNone/>
            </a:pPr>
            <a:r>
              <a:rPr lang="en-US" sz="1050" dirty="0">
                <a:solidFill>
                  <a:srgbClr val="D4E4F0"/>
                </a:solidFill>
              </a:rPr>
              <a:t>Low — CI catches it immediately. Engineer knows and can redirect the agent.</a:t>
            </a:r>
            <a:endParaRPr lang="en-US" sz="1050" dirty="0"/>
          </a:p>
        </p:txBody>
      </p:sp>
      <p:sp>
        <p:nvSpPr>
          <p:cNvPr id="12" name="Text 10"/>
          <p:cNvSpPr/>
          <p:nvPr/>
        </p:nvSpPr>
        <p:spPr>
          <a:xfrm>
            <a:off x="429768" y="3483864"/>
            <a:ext cx="2468880" cy="201168"/>
          </a:xfrm>
          <a:prstGeom prst="rect">
            <a:avLst/>
          </a:prstGeom>
          <a:noFill/>
          <a:ln/>
        </p:spPr>
        <p:txBody>
          <a:bodyPr wrap="square" lIns="0" tIns="0" rIns="0" bIns="0" rtlCol="0" anchor="ctr"/>
          <a:lstStyle/>
          <a:p>
            <a:pPr indent="0" marL="0">
              <a:buNone/>
            </a:pPr>
            <a:r>
              <a:rPr lang="en-US" sz="850" b="1" spc="200" kern="0" dirty="0">
                <a:solidFill>
                  <a:srgbClr val="3A7E6E"/>
                </a:solidFill>
              </a:rPr>
              <a:t>FIX</a:t>
            </a:r>
            <a:endParaRPr lang="en-US" sz="850" dirty="0"/>
          </a:p>
        </p:txBody>
      </p:sp>
      <p:sp>
        <p:nvSpPr>
          <p:cNvPr id="13" name="Text 11"/>
          <p:cNvSpPr/>
          <p:nvPr/>
        </p:nvSpPr>
        <p:spPr>
          <a:xfrm>
            <a:off x="429768" y="3685032"/>
            <a:ext cx="2468880" cy="1097280"/>
          </a:xfrm>
          <a:prstGeom prst="rect">
            <a:avLst/>
          </a:prstGeom>
          <a:noFill/>
          <a:ln/>
        </p:spPr>
        <p:txBody>
          <a:bodyPr wrap="square" lIns="0" tIns="0" rIns="0" bIns="0" rtlCol="0" anchor="ctr"/>
          <a:lstStyle/>
          <a:p>
            <a:pPr indent="0" marL="0">
              <a:buNone/>
            </a:pPr>
            <a:r>
              <a:rPr lang="en-US" sz="1050" dirty="0">
                <a:solidFill>
                  <a:srgbClr val="D4E4F0"/>
                </a:solidFill>
              </a:rPr>
              <a:t>Ensure CI runs fully before PR opens. Agent should run tests locally first via Verifier.</a:t>
            </a:r>
            <a:endParaRPr lang="en-US" sz="1050" dirty="0"/>
          </a:p>
        </p:txBody>
      </p:sp>
      <p:sp>
        <p:nvSpPr>
          <p:cNvPr id="14" name="Shape 12"/>
          <p:cNvSpPr/>
          <p:nvPr/>
        </p:nvSpPr>
        <p:spPr>
          <a:xfrm>
            <a:off x="3200400" y="1143000"/>
            <a:ext cx="2697480" cy="3794760"/>
          </a:xfrm>
          <a:prstGeom prst="rect">
            <a:avLst/>
          </a:prstGeom>
          <a:solidFill>
            <a:srgbClr val="2E5073">
              <a:alpha val="82000"/>
            </a:srgbClr>
          </a:solidFill>
          <a:ln/>
          <a:effectLst>
            <a:outerShdw sx="100000" sy="100000" kx="0" ky="0" algn="bl" rotWithShape="0" blurRad="101600" dist="38100" dir="8100000">
              <a:srgbClr val="000000">
                <a:alpha val="13000"/>
              </a:srgbClr>
            </a:outerShdw>
          </a:effectLst>
        </p:spPr>
      </p:sp>
      <p:sp>
        <p:nvSpPr>
          <p:cNvPr id="15" name="Shape 13"/>
          <p:cNvSpPr/>
          <p:nvPr/>
        </p:nvSpPr>
        <p:spPr>
          <a:xfrm>
            <a:off x="3200400" y="1143000"/>
            <a:ext cx="2697480" cy="566928"/>
          </a:xfrm>
          <a:prstGeom prst="rect">
            <a:avLst/>
          </a:prstGeom>
          <a:solidFill>
            <a:srgbClr val="B03040"/>
          </a:solidFill>
          <a:ln/>
        </p:spPr>
      </p:sp>
      <p:sp>
        <p:nvSpPr>
          <p:cNvPr id="16" name="Text 14"/>
          <p:cNvSpPr/>
          <p:nvPr/>
        </p:nvSpPr>
        <p:spPr>
          <a:xfrm>
            <a:off x="3200400" y="1143000"/>
            <a:ext cx="475488" cy="566928"/>
          </a:xfrm>
          <a:prstGeom prst="rect">
            <a:avLst/>
          </a:prstGeom>
          <a:noFill/>
          <a:ln/>
        </p:spPr>
        <p:txBody>
          <a:bodyPr wrap="square" lIns="0" tIns="0" rIns="0" bIns="0" rtlCol="0" anchor="ctr"/>
          <a:lstStyle/>
          <a:p>
            <a:pPr algn="ctr" indent="0" marL="0">
              <a:buNone/>
            </a:pPr>
            <a:r>
              <a:rPr lang="en-US" sz="1800" b="1" dirty="0">
                <a:solidFill>
                  <a:srgbClr val="FFFFFF"/>
                </a:solidFill>
              </a:rPr>
              <a:t>02</a:t>
            </a:r>
            <a:endParaRPr lang="en-US" sz="1800" dirty="0"/>
          </a:p>
        </p:txBody>
      </p:sp>
      <p:sp>
        <p:nvSpPr>
          <p:cNvPr id="17" name="Text 15"/>
          <p:cNvSpPr/>
          <p:nvPr/>
        </p:nvSpPr>
        <p:spPr>
          <a:xfrm>
            <a:off x="3703320" y="1143000"/>
            <a:ext cx="2121408" cy="566928"/>
          </a:xfrm>
          <a:prstGeom prst="rect">
            <a:avLst/>
          </a:prstGeom>
          <a:noFill/>
          <a:ln/>
        </p:spPr>
        <p:txBody>
          <a:bodyPr wrap="square" lIns="0" tIns="0" rIns="0" bIns="0" rtlCol="0" anchor="ctr"/>
          <a:lstStyle/>
          <a:p>
            <a:pPr indent="0" marL="0">
              <a:buNone/>
            </a:pPr>
            <a:r>
              <a:rPr lang="en-US" sz="1300" b="1" dirty="0">
                <a:solidFill>
                  <a:srgbClr val="FFFFFF"/>
                </a:solidFill>
              </a:rPr>
              <a:t>Passes CI but Functionally Wrong</a:t>
            </a:r>
            <a:endParaRPr lang="en-US" sz="1300" dirty="0"/>
          </a:p>
        </p:txBody>
      </p:sp>
      <p:sp>
        <p:nvSpPr>
          <p:cNvPr id="18" name="Text 16"/>
          <p:cNvSpPr/>
          <p:nvPr/>
        </p:nvSpPr>
        <p:spPr>
          <a:xfrm>
            <a:off x="3310128" y="1783080"/>
            <a:ext cx="2468880" cy="201168"/>
          </a:xfrm>
          <a:prstGeom prst="rect">
            <a:avLst/>
          </a:prstGeom>
          <a:noFill/>
          <a:ln/>
        </p:spPr>
        <p:txBody>
          <a:bodyPr wrap="square" lIns="0" tIns="0" rIns="0" bIns="0" rtlCol="0" anchor="ctr"/>
          <a:lstStyle/>
          <a:p>
            <a:pPr indent="0" marL="0">
              <a:buNone/>
            </a:pPr>
            <a:r>
              <a:rPr lang="en-US" sz="850" b="1" spc="200" kern="0" dirty="0">
                <a:solidFill>
                  <a:srgbClr val="E8A0A8"/>
                </a:solidFill>
              </a:rPr>
              <a:t>WHAT</a:t>
            </a:r>
            <a:endParaRPr lang="en-US" sz="850" dirty="0"/>
          </a:p>
        </p:txBody>
      </p:sp>
      <p:sp>
        <p:nvSpPr>
          <p:cNvPr id="19" name="Text 17"/>
          <p:cNvSpPr/>
          <p:nvPr/>
        </p:nvSpPr>
        <p:spPr>
          <a:xfrm>
            <a:off x="3310128" y="1984248"/>
            <a:ext cx="2468880" cy="621792"/>
          </a:xfrm>
          <a:prstGeom prst="rect">
            <a:avLst/>
          </a:prstGeom>
          <a:noFill/>
          <a:ln/>
        </p:spPr>
        <p:txBody>
          <a:bodyPr wrap="square" lIns="0" tIns="0" rIns="0" bIns="0" rtlCol="0" anchor="ctr"/>
          <a:lstStyle/>
          <a:p>
            <a:pPr indent="0" marL="0">
              <a:buNone/>
            </a:pPr>
            <a:r>
              <a:rPr lang="en-US" sz="1050" dirty="0">
                <a:solidFill>
                  <a:srgbClr val="D4E4F0"/>
                </a:solidFill>
              </a:rPr>
              <a:t>The PR merges successfully but the implementation is incorrect. Tests weren’t comprehensive enough to catch the bug.</a:t>
            </a:r>
            <a:endParaRPr lang="en-US" sz="1050" dirty="0"/>
          </a:p>
        </p:txBody>
      </p:sp>
      <p:sp>
        <p:nvSpPr>
          <p:cNvPr id="20" name="Text 18"/>
          <p:cNvSpPr/>
          <p:nvPr/>
        </p:nvSpPr>
        <p:spPr>
          <a:xfrm>
            <a:off x="3310128" y="2660904"/>
            <a:ext cx="2468880" cy="201168"/>
          </a:xfrm>
          <a:prstGeom prst="rect">
            <a:avLst/>
          </a:prstGeom>
          <a:noFill/>
          <a:ln/>
        </p:spPr>
        <p:txBody>
          <a:bodyPr wrap="square" lIns="0" tIns="0" rIns="0" bIns="0" rtlCol="0" anchor="ctr"/>
          <a:lstStyle/>
          <a:p>
            <a:pPr indent="0" marL="0">
              <a:buNone/>
            </a:pPr>
            <a:r>
              <a:rPr lang="en-US" sz="850" b="1" spc="200" kern="0" dirty="0">
                <a:solidFill>
                  <a:srgbClr val="E8A0A8"/>
                </a:solidFill>
              </a:rPr>
              <a:t>IMPACT</a:t>
            </a:r>
            <a:endParaRPr lang="en-US" sz="850" dirty="0"/>
          </a:p>
        </p:txBody>
      </p:sp>
      <p:sp>
        <p:nvSpPr>
          <p:cNvPr id="21" name="Text 19"/>
          <p:cNvSpPr/>
          <p:nvPr/>
        </p:nvSpPr>
        <p:spPr>
          <a:xfrm>
            <a:off x="3310128" y="2862072"/>
            <a:ext cx="2468880" cy="566928"/>
          </a:xfrm>
          <a:prstGeom prst="rect">
            <a:avLst/>
          </a:prstGeom>
          <a:noFill/>
          <a:ln/>
        </p:spPr>
        <p:txBody>
          <a:bodyPr wrap="square" lIns="0" tIns="0" rIns="0" bIns="0" rtlCol="0" anchor="ctr"/>
          <a:lstStyle/>
          <a:p>
            <a:pPr indent="0" marL="0">
              <a:buNone/>
            </a:pPr>
            <a:r>
              <a:rPr lang="en-US" sz="1050" dirty="0">
                <a:solidFill>
                  <a:srgbClr val="D4E4F0"/>
                </a:solidFill>
              </a:rPr>
              <a:t>HIGH — erodes trust in automation. Hard to detect in PR review across thousands of components.</a:t>
            </a:r>
            <a:endParaRPr lang="en-US" sz="1050" dirty="0"/>
          </a:p>
        </p:txBody>
      </p:sp>
      <p:sp>
        <p:nvSpPr>
          <p:cNvPr id="22" name="Text 20"/>
          <p:cNvSpPr/>
          <p:nvPr/>
        </p:nvSpPr>
        <p:spPr>
          <a:xfrm>
            <a:off x="3310128" y="3483864"/>
            <a:ext cx="2468880" cy="201168"/>
          </a:xfrm>
          <a:prstGeom prst="rect">
            <a:avLst/>
          </a:prstGeom>
          <a:noFill/>
          <a:ln/>
        </p:spPr>
        <p:txBody>
          <a:bodyPr wrap="square" lIns="0" tIns="0" rIns="0" bIns="0" rtlCol="0" anchor="ctr"/>
          <a:lstStyle/>
          <a:p>
            <a:pPr indent="0" marL="0">
              <a:buNone/>
            </a:pPr>
            <a:r>
              <a:rPr lang="en-US" sz="850" b="1" spc="200" kern="0" dirty="0">
                <a:solidFill>
                  <a:srgbClr val="E8A0A8"/>
                </a:solidFill>
              </a:rPr>
              <a:t>FIX</a:t>
            </a:r>
            <a:endParaRPr lang="en-US" sz="850" dirty="0"/>
          </a:p>
        </p:txBody>
      </p:sp>
      <p:sp>
        <p:nvSpPr>
          <p:cNvPr id="23" name="Text 21"/>
          <p:cNvSpPr/>
          <p:nvPr/>
        </p:nvSpPr>
        <p:spPr>
          <a:xfrm>
            <a:off x="3310128" y="3685032"/>
            <a:ext cx="2468880" cy="1097280"/>
          </a:xfrm>
          <a:prstGeom prst="rect">
            <a:avLst/>
          </a:prstGeom>
          <a:noFill/>
          <a:ln/>
        </p:spPr>
        <p:txBody>
          <a:bodyPr wrap="square" lIns="0" tIns="0" rIns="0" bIns="0" rtlCol="0" anchor="ctr"/>
          <a:lstStyle/>
          <a:p>
            <a:pPr indent="0" marL="0">
              <a:buNone/>
            </a:pPr>
            <a:r>
              <a:rPr lang="en-US" sz="1050" dirty="0">
                <a:solidFill>
                  <a:srgbClr val="D4E4F0"/>
                </a:solidFill>
              </a:rPr>
              <a:t>Write tests from AC before implementation. Judge LLM evaluates functional correctness, not just CI green.</a:t>
            </a:r>
            <a:endParaRPr lang="en-US" sz="1050" dirty="0"/>
          </a:p>
        </p:txBody>
      </p:sp>
      <p:sp>
        <p:nvSpPr>
          <p:cNvPr id="24" name="Shape 22"/>
          <p:cNvSpPr/>
          <p:nvPr/>
        </p:nvSpPr>
        <p:spPr>
          <a:xfrm>
            <a:off x="6080760" y="1143000"/>
            <a:ext cx="2697480" cy="3794760"/>
          </a:xfrm>
          <a:prstGeom prst="rect">
            <a:avLst/>
          </a:prstGeom>
          <a:solidFill>
            <a:srgbClr val="2E5073">
              <a:alpha val="82000"/>
            </a:srgbClr>
          </a:solidFill>
          <a:ln/>
          <a:effectLst>
            <a:outerShdw sx="100000" sy="100000" kx="0" ky="0" algn="bl" rotWithShape="0" blurRad="101600" dist="38100" dir="8100000">
              <a:srgbClr val="000000">
                <a:alpha val="13000"/>
              </a:srgbClr>
            </a:outerShdw>
          </a:effectLst>
        </p:spPr>
      </p:sp>
      <p:sp>
        <p:nvSpPr>
          <p:cNvPr id="25" name="Shape 23"/>
          <p:cNvSpPr/>
          <p:nvPr/>
        </p:nvSpPr>
        <p:spPr>
          <a:xfrm>
            <a:off x="6080760" y="1143000"/>
            <a:ext cx="2697480" cy="566928"/>
          </a:xfrm>
          <a:prstGeom prst="rect">
            <a:avLst/>
          </a:prstGeom>
          <a:solidFill>
            <a:srgbClr val="8096B0"/>
          </a:solidFill>
          <a:ln/>
        </p:spPr>
      </p:sp>
      <p:sp>
        <p:nvSpPr>
          <p:cNvPr id="26" name="Text 24"/>
          <p:cNvSpPr/>
          <p:nvPr/>
        </p:nvSpPr>
        <p:spPr>
          <a:xfrm>
            <a:off x="6080760" y="1143000"/>
            <a:ext cx="475488" cy="566928"/>
          </a:xfrm>
          <a:prstGeom prst="rect">
            <a:avLst/>
          </a:prstGeom>
          <a:noFill/>
          <a:ln/>
        </p:spPr>
        <p:txBody>
          <a:bodyPr wrap="square" lIns="0" tIns="0" rIns="0" bIns="0" rtlCol="0" anchor="ctr"/>
          <a:lstStyle/>
          <a:p>
            <a:pPr algn="ctr" indent="0" marL="0">
              <a:buNone/>
            </a:pPr>
            <a:r>
              <a:rPr lang="en-US" sz="1800" b="1" dirty="0">
                <a:solidFill>
                  <a:srgbClr val="FFFFFF"/>
                </a:solidFill>
              </a:rPr>
              <a:t>03</a:t>
            </a:r>
            <a:endParaRPr lang="en-US" sz="1800" dirty="0"/>
          </a:p>
        </p:txBody>
      </p:sp>
      <p:sp>
        <p:nvSpPr>
          <p:cNvPr id="27" name="Text 25"/>
          <p:cNvSpPr/>
          <p:nvPr/>
        </p:nvSpPr>
        <p:spPr>
          <a:xfrm>
            <a:off x="6583680" y="1143000"/>
            <a:ext cx="2121408" cy="566928"/>
          </a:xfrm>
          <a:prstGeom prst="rect">
            <a:avLst/>
          </a:prstGeom>
          <a:noFill/>
          <a:ln/>
        </p:spPr>
        <p:txBody>
          <a:bodyPr wrap="square" lIns="0" tIns="0" rIns="0" bIns="0" rtlCol="0" anchor="ctr"/>
          <a:lstStyle/>
          <a:p>
            <a:pPr indent="0" marL="0">
              <a:buNone/>
            </a:pPr>
            <a:r>
              <a:rPr lang="en-US" sz="1300" b="1" dirty="0">
                <a:solidFill>
                  <a:srgbClr val="FFFFFF"/>
                </a:solidFill>
              </a:rPr>
              <a:t>Nonsensical PR</a:t>
            </a:r>
            <a:endParaRPr lang="en-US" sz="1300" dirty="0"/>
          </a:p>
        </p:txBody>
      </p:sp>
      <p:sp>
        <p:nvSpPr>
          <p:cNvPr id="28" name="Text 26"/>
          <p:cNvSpPr/>
          <p:nvPr/>
        </p:nvSpPr>
        <p:spPr>
          <a:xfrm>
            <a:off x="6190488" y="1783080"/>
            <a:ext cx="2468880" cy="201168"/>
          </a:xfrm>
          <a:prstGeom prst="rect">
            <a:avLst/>
          </a:prstGeom>
          <a:noFill/>
          <a:ln/>
        </p:spPr>
        <p:txBody>
          <a:bodyPr wrap="square" lIns="0" tIns="0" rIns="0" bIns="0" rtlCol="0" anchor="ctr"/>
          <a:lstStyle/>
          <a:p>
            <a:pPr indent="0" marL="0">
              <a:buNone/>
            </a:pPr>
            <a:r>
              <a:rPr lang="en-US" sz="850" b="1" spc="200" kern="0" dirty="0">
                <a:solidFill>
                  <a:srgbClr val="8096B0"/>
                </a:solidFill>
              </a:rPr>
              <a:t>WHAT</a:t>
            </a:r>
            <a:endParaRPr lang="en-US" sz="850" dirty="0"/>
          </a:p>
        </p:txBody>
      </p:sp>
      <p:sp>
        <p:nvSpPr>
          <p:cNvPr id="29" name="Text 27"/>
          <p:cNvSpPr/>
          <p:nvPr/>
        </p:nvSpPr>
        <p:spPr>
          <a:xfrm>
            <a:off x="6190488" y="1984248"/>
            <a:ext cx="2468880" cy="621792"/>
          </a:xfrm>
          <a:prstGeom prst="rect">
            <a:avLst/>
          </a:prstGeom>
          <a:noFill/>
          <a:ln/>
        </p:spPr>
        <p:txBody>
          <a:bodyPr wrap="square" lIns="0" tIns="0" rIns="0" bIns="0" rtlCol="0" anchor="ctr"/>
          <a:lstStyle/>
          <a:p>
            <a:pPr indent="0" marL="0">
              <a:buNone/>
            </a:pPr>
            <a:r>
              <a:rPr lang="en-US" sz="1050" dirty="0">
                <a:solidFill>
                  <a:srgbClr val="D4E4F0"/>
                </a:solidFill>
              </a:rPr>
              <a:t>Agent couldn’t figure out how to run builds/tests, changed things outside scope, or got confused and produced garbage.</a:t>
            </a:r>
            <a:endParaRPr lang="en-US" sz="1050" dirty="0"/>
          </a:p>
        </p:txBody>
      </p:sp>
      <p:sp>
        <p:nvSpPr>
          <p:cNvPr id="30" name="Text 28"/>
          <p:cNvSpPr/>
          <p:nvPr/>
        </p:nvSpPr>
        <p:spPr>
          <a:xfrm>
            <a:off x="6190488" y="2660904"/>
            <a:ext cx="2468880" cy="201168"/>
          </a:xfrm>
          <a:prstGeom prst="rect">
            <a:avLst/>
          </a:prstGeom>
          <a:noFill/>
          <a:ln/>
        </p:spPr>
        <p:txBody>
          <a:bodyPr wrap="square" lIns="0" tIns="0" rIns="0" bIns="0" rtlCol="0" anchor="ctr"/>
          <a:lstStyle/>
          <a:p>
            <a:pPr indent="0" marL="0">
              <a:buNone/>
            </a:pPr>
            <a:r>
              <a:rPr lang="en-US" sz="850" b="1" spc="200" kern="0" dirty="0">
                <a:solidFill>
                  <a:srgbClr val="8096B0"/>
                </a:solidFill>
              </a:rPr>
              <a:t>IMPACT</a:t>
            </a:r>
            <a:endParaRPr lang="en-US" sz="850" dirty="0"/>
          </a:p>
        </p:txBody>
      </p:sp>
      <p:sp>
        <p:nvSpPr>
          <p:cNvPr id="31" name="Text 29"/>
          <p:cNvSpPr/>
          <p:nvPr/>
        </p:nvSpPr>
        <p:spPr>
          <a:xfrm>
            <a:off x="6190488" y="2862072"/>
            <a:ext cx="2468880" cy="566928"/>
          </a:xfrm>
          <a:prstGeom prst="rect">
            <a:avLst/>
          </a:prstGeom>
          <a:noFill/>
          <a:ln/>
        </p:spPr>
        <p:txBody>
          <a:bodyPr wrap="square" lIns="0" tIns="0" rIns="0" bIns="0" rtlCol="0" anchor="ctr"/>
          <a:lstStyle/>
          <a:p>
            <a:pPr indent="0" marL="0">
              <a:buNone/>
            </a:pPr>
            <a:r>
              <a:rPr lang="en-US" sz="1050" dirty="0">
                <a:solidFill>
                  <a:srgbClr val="D4E4F0"/>
                </a:solidFill>
              </a:rPr>
              <a:t>MEDIUM — wastes engineer review time. Expensive at scale across hundreds of PRs.</a:t>
            </a:r>
            <a:endParaRPr lang="en-US" sz="1050" dirty="0"/>
          </a:p>
        </p:txBody>
      </p:sp>
      <p:sp>
        <p:nvSpPr>
          <p:cNvPr id="32" name="Text 30"/>
          <p:cNvSpPr/>
          <p:nvPr/>
        </p:nvSpPr>
        <p:spPr>
          <a:xfrm>
            <a:off x="6190488" y="3483864"/>
            <a:ext cx="2468880" cy="201168"/>
          </a:xfrm>
          <a:prstGeom prst="rect">
            <a:avLst/>
          </a:prstGeom>
          <a:noFill/>
          <a:ln/>
        </p:spPr>
        <p:txBody>
          <a:bodyPr wrap="square" lIns="0" tIns="0" rIns="0" bIns="0" rtlCol="0" anchor="ctr"/>
          <a:lstStyle/>
          <a:p>
            <a:pPr indent="0" marL="0">
              <a:buNone/>
            </a:pPr>
            <a:r>
              <a:rPr lang="en-US" sz="850" b="1" spc="200" kern="0" dirty="0">
                <a:solidFill>
                  <a:srgbClr val="8096B0"/>
                </a:solidFill>
              </a:rPr>
              <a:t>FIX</a:t>
            </a:r>
            <a:endParaRPr lang="en-US" sz="850" dirty="0"/>
          </a:p>
        </p:txBody>
      </p:sp>
      <p:sp>
        <p:nvSpPr>
          <p:cNvPr id="33" name="Text 31"/>
          <p:cNvSpPr/>
          <p:nvPr/>
        </p:nvSpPr>
        <p:spPr>
          <a:xfrm>
            <a:off x="6190488" y="3685032"/>
            <a:ext cx="2468880" cy="1097280"/>
          </a:xfrm>
          <a:prstGeom prst="rect">
            <a:avLst/>
          </a:prstGeom>
          <a:noFill/>
          <a:ln/>
        </p:spPr>
        <p:txBody>
          <a:bodyPr wrap="square" lIns="0" tIns="0" rIns="0" bIns="0" rtlCol="0" anchor="ctr"/>
          <a:lstStyle/>
          <a:p>
            <a:pPr indent="0" marL="0">
              <a:buNone/>
            </a:pPr>
            <a:r>
              <a:rPr lang="en-US" sz="1050" dirty="0">
                <a:solidFill>
                  <a:srgbClr val="D4E4F0"/>
                </a:solidFill>
              </a:rPr>
              <a:t>Tight scope in prompt. Verifier detects when agent changed files outside the specified scope.</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C3557"/>
          </a:solidFill>
          <a:ln/>
        </p:spPr>
      </p:sp>
      <p:sp>
        <p:nvSpPr>
          <p:cNvPr id="3" name="Text 1"/>
          <p:cNvSpPr/>
          <p:nvPr/>
        </p:nvSpPr>
        <p:spPr>
          <a:xfrm>
            <a:off x="365760" y="0"/>
            <a:ext cx="8229600" cy="749808"/>
          </a:xfrm>
          <a:prstGeom prst="rect">
            <a:avLst/>
          </a:prstGeom>
          <a:noFill/>
          <a:ln/>
        </p:spPr>
        <p:txBody>
          <a:bodyPr wrap="square" lIns="0" tIns="0" rIns="0" bIns="0" rtlCol="0" anchor="ctr"/>
          <a:lstStyle/>
          <a:p>
            <a:pPr indent="0" marL="0">
              <a:buNone/>
            </a:pPr>
            <a:r>
              <a:rPr lang="en-US" sz="1300" b="1" spc="300" kern="0" dirty="0">
                <a:solidFill>
                  <a:srgbClr val="FFFFFF"/>
                </a:solidFill>
              </a:rPr>
              <a:t>HUMAN-IN-THE-LOOP PATTERNS</a:t>
            </a:r>
            <a:endParaRPr lang="en-US" sz="1300" dirty="0"/>
          </a:p>
        </p:txBody>
      </p:sp>
      <p:sp>
        <p:nvSpPr>
          <p:cNvPr id="4" name="Text 2"/>
          <p:cNvSpPr/>
          <p:nvPr/>
        </p:nvSpPr>
        <p:spPr>
          <a:xfrm>
            <a:off x="365760" y="822960"/>
            <a:ext cx="8412480" cy="274320"/>
          </a:xfrm>
          <a:prstGeom prst="rect">
            <a:avLst/>
          </a:prstGeom>
          <a:noFill/>
          <a:ln/>
        </p:spPr>
        <p:txBody>
          <a:bodyPr wrap="square" lIns="0" tIns="0" rIns="0" bIns="0" rtlCol="0" anchor="ctr"/>
          <a:lstStyle/>
          <a:p>
            <a:pPr indent="0" marL="0">
              <a:buNone/>
            </a:pPr>
            <a:r>
              <a:rPr lang="en-US" sz="1200" i="1" dirty="0">
                <a:solidFill>
                  <a:srgbClr val="7A90A8"/>
                </a:solidFill>
              </a:rPr>
              <a:t>Match the pattern to the risk level and reversibility of the action</a:t>
            </a:r>
            <a:endParaRPr lang="en-US" sz="1200" dirty="0"/>
          </a:p>
        </p:txBody>
      </p:sp>
      <p:sp>
        <p:nvSpPr>
          <p:cNvPr id="5" name="Shape 3"/>
          <p:cNvSpPr/>
          <p:nvPr/>
        </p:nvSpPr>
        <p:spPr>
          <a:xfrm>
            <a:off x="320040" y="1170432"/>
            <a:ext cx="4160520" cy="1664208"/>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6" name="Shape 4"/>
          <p:cNvSpPr/>
          <p:nvPr/>
        </p:nvSpPr>
        <p:spPr>
          <a:xfrm>
            <a:off x="320040" y="1170432"/>
            <a:ext cx="402336" cy="1664208"/>
          </a:xfrm>
          <a:prstGeom prst="rect">
            <a:avLst/>
          </a:prstGeom>
          <a:solidFill>
            <a:srgbClr val="3A7DC9"/>
          </a:solidFill>
          <a:ln/>
        </p:spPr>
      </p:sp>
      <p:sp>
        <p:nvSpPr>
          <p:cNvPr id="7" name="Text 5"/>
          <p:cNvSpPr/>
          <p:nvPr/>
        </p:nvSpPr>
        <p:spPr>
          <a:xfrm>
            <a:off x="320040" y="1170432"/>
            <a:ext cx="402336" cy="512064"/>
          </a:xfrm>
          <a:prstGeom prst="rect">
            <a:avLst/>
          </a:prstGeom>
          <a:noFill/>
          <a:ln/>
        </p:spPr>
        <p:txBody>
          <a:bodyPr wrap="square" lIns="0" tIns="0" rIns="0" bIns="0" rtlCol="0" anchor="ctr"/>
          <a:lstStyle/>
          <a:p>
            <a:pPr algn="ctr" indent="0" marL="0">
              <a:buNone/>
            </a:pPr>
            <a:r>
              <a:rPr lang="en-US" sz="2200" b="1" dirty="0">
                <a:solidFill>
                  <a:srgbClr val="FFFFFF"/>
                </a:solidFill>
              </a:rPr>
              <a:t>A</a:t>
            </a:r>
            <a:endParaRPr lang="en-US" sz="2200" dirty="0"/>
          </a:p>
        </p:txBody>
      </p:sp>
      <p:sp>
        <p:nvSpPr>
          <p:cNvPr id="8" name="Text 6"/>
          <p:cNvSpPr/>
          <p:nvPr/>
        </p:nvSpPr>
        <p:spPr>
          <a:xfrm>
            <a:off x="813816" y="1225296"/>
            <a:ext cx="3575304" cy="329184"/>
          </a:xfrm>
          <a:prstGeom prst="rect">
            <a:avLst/>
          </a:prstGeom>
          <a:noFill/>
          <a:ln/>
        </p:spPr>
        <p:txBody>
          <a:bodyPr wrap="square" lIns="0" tIns="0" rIns="0" bIns="0" rtlCol="0" anchor="ctr"/>
          <a:lstStyle/>
          <a:p>
            <a:pPr indent="0" marL="0">
              <a:buNone/>
            </a:pPr>
            <a:r>
              <a:rPr lang="en-US" sz="1300" b="1" dirty="0">
                <a:solidFill>
                  <a:srgbClr val="1C3557"/>
                </a:solidFill>
              </a:rPr>
              <a:t>Approval Gate</a:t>
            </a:r>
            <a:endParaRPr lang="en-US" sz="1300" dirty="0"/>
          </a:p>
        </p:txBody>
      </p:sp>
      <p:sp>
        <p:nvSpPr>
          <p:cNvPr id="9" name="Shape 7"/>
          <p:cNvSpPr/>
          <p:nvPr/>
        </p:nvSpPr>
        <p:spPr>
          <a:xfrm>
            <a:off x="429768" y="1645920"/>
            <a:ext cx="3977640" cy="566928"/>
          </a:xfrm>
          <a:prstGeom prst="rect">
            <a:avLst/>
          </a:prstGeom>
          <a:solidFill>
            <a:srgbClr val="3A7DC9">
              <a:alpha val="12000"/>
            </a:srgbClr>
          </a:solidFill>
          <a:ln/>
        </p:spPr>
      </p:sp>
      <p:sp>
        <p:nvSpPr>
          <p:cNvPr id="10" name="Text 8"/>
          <p:cNvSpPr/>
          <p:nvPr/>
        </p:nvSpPr>
        <p:spPr>
          <a:xfrm>
            <a:off x="484632" y="1664208"/>
            <a:ext cx="3886200" cy="530352"/>
          </a:xfrm>
          <a:prstGeom prst="rect">
            <a:avLst/>
          </a:prstGeom>
          <a:noFill/>
          <a:ln/>
        </p:spPr>
        <p:txBody>
          <a:bodyPr wrap="square" lIns="0" tIns="0" rIns="0" bIns="0" rtlCol="0" anchor="ctr"/>
          <a:lstStyle/>
          <a:p>
            <a:pPr indent="0" marL="0">
              <a:buNone/>
            </a:pPr>
            <a:r>
              <a:rPr lang="en-US" sz="950" i="1" dirty="0">
                <a:solidFill>
                  <a:srgbClr val="3A7DC9"/>
                </a:solidFill>
              </a:rPr>
              <a:t>Agent completes task → Creates PR/ticket → Human approves → Agent proceeds</a:t>
            </a:r>
            <a:endParaRPr lang="en-US" sz="950" dirty="0"/>
          </a:p>
        </p:txBody>
      </p:sp>
      <p:sp>
        <p:nvSpPr>
          <p:cNvPr id="11" name="Text 9"/>
          <p:cNvSpPr/>
          <p:nvPr/>
        </p:nvSpPr>
        <p:spPr>
          <a:xfrm>
            <a:off x="813816" y="2304288"/>
            <a:ext cx="3575304" cy="457200"/>
          </a:xfrm>
          <a:prstGeom prst="rect">
            <a:avLst/>
          </a:prstGeom>
          <a:noFill/>
          <a:ln/>
        </p:spPr>
        <p:txBody>
          <a:bodyPr wrap="square" lIns="0" tIns="0" rIns="0" bIns="0" rtlCol="0" anchor="ctr"/>
          <a:lstStyle/>
          <a:p>
            <a:pPr indent="0" marL="0">
              <a:buNone/>
            </a:pPr>
            <a:r>
              <a:rPr lang="en-US" sz="1050" dirty="0">
                <a:solidFill>
                  <a:srgbClr val="7A90A8"/>
                </a:solidFill>
              </a:rPr>
              <a:t>Use when: The next step is irreversible or high-blast-radius.</a:t>
            </a:r>
            <a:endParaRPr lang="en-US" sz="1050" dirty="0"/>
          </a:p>
        </p:txBody>
      </p:sp>
      <p:sp>
        <p:nvSpPr>
          <p:cNvPr id="12" name="Shape 10"/>
          <p:cNvSpPr/>
          <p:nvPr/>
        </p:nvSpPr>
        <p:spPr>
          <a:xfrm>
            <a:off x="4663440" y="1170432"/>
            <a:ext cx="4160520" cy="1664208"/>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13" name="Shape 11"/>
          <p:cNvSpPr/>
          <p:nvPr/>
        </p:nvSpPr>
        <p:spPr>
          <a:xfrm>
            <a:off x="4663440" y="1170432"/>
            <a:ext cx="402336" cy="1664208"/>
          </a:xfrm>
          <a:prstGeom prst="rect">
            <a:avLst/>
          </a:prstGeom>
          <a:solidFill>
            <a:srgbClr val="4A7FA8"/>
          </a:solidFill>
          <a:ln/>
        </p:spPr>
      </p:sp>
      <p:sp>
        <p:nvSpPr>
          <p:cNvPr id="14" name="Text 12"/>
          <p:cNvSpPr/>
          <p:nvPr/>
        </p:nvSpPr>
        <p:spPr>
          <a:xfrm>
            <a:off x="4663440" y="1170432"/>
            <a:ext cx="402336" cy="512064"/>
          </a:xfrm>
          <a:prstGeom prst="rect">
            <a:avLst/>
          </a:prstGeom>
          <a:noFill/>
          <a:ln/>
        </p:spPr>
        <p:txBody>
          <a:bodyPr wrap="square" lIns="0" tIns="0" rIns="0" bIns="0" rtlCol="0" anchor="ctr"/>
          <a:lstStyle/>
          <a:p>
            <a:pPr algn="ctr" indent="0" marL="0">
              <a:buNone/>
            </a:pPr>
            <a:r>
              <a:rPr lang="en-US" sz="2200" b="1" dirty="0">
                <a:solidFill>
                  <a:srgbClr val="FFFFFF"/>
                </a:solidFill>
              </a:rPr>
              <a:t>B</a:t>
            </a:r>
            <a:endParaRPr lang="en-US" sz="2200" dirty="0"/>
          </a:p>
        </p:txBody>
      </p:sp>
      <p:sp>
        <p:nvSpPr>
          <p:cNvPr id="15" name="Text 13"/>
          <p:cNvSpPr/>
          <p:nvPr/>
        </p:nvSpPr>
        <p:spPr>
          <a:xfrm>
            <a:off x="5157216" y="1225296"/>
            <a:ext cx="3575304" cy="329184"/>
          </a:xfrm>
          <a:prstGeom prst="rect">
            <a:avLst/>
          </a:prstGeom>
          <a:noFill/>
          <a:ln/>
        </p:spPr>
        <p:txBody>
          <a:bodyPr wrap="square" lIns="0" tIns="0" rIns="0" bIns="0" rtlCol="0" anchor="ctr"/>
          <a:lstStyle/>
          <a:p>
            <a:pPr indent="0" marL="0">
              <a:buNone/>
            </a:pPr>
            <a:r>
              <a:rPr lang="en-US" sz="1300" b="1" dirty="0">
                <a:solidFill>
                  <a:srgbClr val="1C3557"/>
                </a:solidFill>
              </a:rPr>
              <a:t>Checkpoint Review</a:t>
            </a:r>
            <a:endParaRPr lang="en-US" sz="1300" dirty="0"/>
          </a:p>
        </p:txBody>
      </p:sp>
      <p:sp>
        <p:nvSpPr>
          <p:cNvPr id="16" name="Shape 14"/>
          <p:cNvSpPr/>
          <p:nvPr/>
        </p:nvSpPr>
        <p:spPr>
          <a:xfrm>
            <a:off x="4773168" y="1645920"/>
            <a:ext cx="3977640" cy="566928"/>
          </a:xfrm>
          <a:prstGeom prst="rect">
            <a:avLst/>
          </a:prstGeom>
          <a:solidFill>
            <a:srgbClr val="4A7FA8">
              <a:alpha val="12000"/>
            </a:srgbClr>
          </a:solidFill>
          <a:ln/>
        </p:spPr>
      </p:sp>
      <p:sp>
        <p:nvSpPr>
          <p:cNvPr id="17" name="Text 15"/>
          <p:cNvSpPr/>
          <p:nvPr/>
        </p:nvSpPr>
        <p:spPr>
          <a:xfrm>
            <a:off x="4828032" y="1664208"/>
            <a:ext cx="3886200" cy="530352"/>
          </a:xfrm>
          <a:prstGeom prst="rect">
            <a:avLst/>
          </a:prstGeom>
          <a:noFill/>
          <a:ln/>
        </p:spPr>
        <p:txBody>
          <a:bodyPr wrap="square" lIns="0" tIns="0" rIns="0" bIns="0" rtlCol="0" anchor="ctr"/>
          <a:lstStyle/>
          <a:p>
            <a:pPr indent="0" marL="0">
              <a:buNone/>
            </a:pPr>
            <a:r>
              <a:rPr lang="en-US" sz="950" i="1" dirty="0">
                <a:solidFill>
                  <a:srgbClr val="4A7FA8"/>
                </a:solidFill>
              </a:rPr>
              <a:t>Agent completes phase 1 → Human reviews output → [If approved] Agent proceeds to phase 2 → ...</a:t>
            </a:r>
            <a:endParaRPr lang="en-US" sz="950" dirty="0"/>
          </a:p>
        </p:txBody>
      </p:sp>
      <p:sp>
        <p:nvSpPr>
          <p:cNvPr id="18" name="Text 16"/>
          <p:cNvSpPr/>
          <p:nvPr/>
        </p:nvSpPr>
        <p:spPr>
          <a:xfrm>
            <a:off x="5157216" y="2304288"/>
            <a:ext cx="3575304" cy="457200"/>
          </a:xfrm>
          <a:prstGeom prst="rect">
            <a:avLst/>
          </a:prstGeom>
          <a:noFill/>
          <a:ln/>
        </p:spPr>
        <p:txBody>
          <a:bodyPr wrap="square" lIns="0" tIns="0" rIns="0" bIns="0" rtlCol="0" anchor="ctr"/>
          <a:lstStyle/>
          <a:p>
            <a:pPr indent="0" marL="0">
              <a:buNone/>
            </a:pPr>
            <a:r>
              <a:rPr lang="en-US" sz="1050" dirty="0">
                <a:solidFill>
                  <a:srgbClr val="7A90A8"/>
                </a:solidFill>
              </a:rPr>
              <a:t>Use when: A long task has natural breakpoints where direction could be wrong.</a:t>
            </a:r>
            <a:endParaRPr lang="en-US" sz="1050" dirty="0"/>
          </a:p>
        </p:txBody>
      </p:sp>
      <p:sp>
        <p:nvSpPr>
          <p:cNvPr id="19" name="Shape 17"/>
          <p:cNvSpPr/>
          <p:nvPr/>
        </p:nvSpPr>
        <p:spPr>
          <a:xfrm>
            <a:off x="320040" y="2999232"/>
            <a:ext cx="4160520" cy="1664208"/>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20" name="Shape 18"/>
          <p:cNvSpPr/>
          <p:nvPr/>
        </p:nvSpPr>
        <p:spPr>
          <a:xfrm>
            <a:off x="320040" y="2999232"/>
            <a:ext cx="402336" cy="1664208"/>
          </a:xfrm>
          <a:prstGeom prst="rect">
            <a:avLst/>
          </a:prstGeom>
          <a:solidFill>
            <a:srgbClr val="3A7E6E"/>
          </a:solidFill>
          <a:ln/>
        </p:spPr>
      </p:sp>
      <p:sp>
        <p:nvSpPr>
          <p:cNvPr id="21" name="Text 19"/>
          <p:cNvSpPr/>
          <p:nvPr/>
        </p:nvSpPr>
        <p:spPr>
          <a:xfrm>
            <a:off x="320040" y="2999232"/>
            <a:ext cx="402336" cy="512064"/>
          </a:xfrm>
          <a:prstGeom prst="rect">
            <a:avLst/>
          </a:prstGeom>
          <a:noFill/>
          <a:ln/>
        </p:spPr>
        <p:txBody>
          <a:bodyPr wrap="square" lIns="0" tIns="0" rIns="0" bIns="0" rtlCol="0" anchor="ctr"/>
          <a:lstStyle/>
          <a:p>
            <a:pPr algn="ctr" indent="0" marL="0">
              <a:buNone/>
            </a:pPr>
            <a:r>
              <a:rPr lang="en-US" sz="2200" b="1" dirty="0">
                <a:solidFill>
                  <a:srgbClr val="FFFFFF"/>
                </a:solidFill>
              </a:rPr>
              <a:t>C</a:t>
            </a:r>
            <a:endParaRPr lang="en-US" sz="2200" dirty="0"/>
          </a:p>
        </p:txBody>
      </p:sp>
      <p:sp>
        <p:nvSpPr>
          <p:cNvPr id="22" name="Text 20"/>
          <p:cNvSpPr/>
          <p:nvPr/>
        </p:nvSpPr>
        <p:spPr>
          <a:xfrm>
            <a:off x="813816" y="3054096"/>
            <a:ext cx="3575304" cy="329184"/>
          </a:xfrm>
          <a:prstGeom prst="rect">
            <a:avLst/>
          </a:prstGeom>
          <a:noFill/>
          <a:ln/>
        </p:spPr>
        <p:txBody>
          <a:bodyPr wrap="square" lIns="0" tIns="0" rIns="0" bIns="0" rtlCol="0" anchor="ctr"/>
          <a:lstStyle/>
          <a:p>
            <a:pPr indent="0" marL="0">
              <a:buNone/>
            </a:pPr>
            <a:r>
              <a:rPr lang="en-US" sz="1300" b="1" dirty="0">
                <a:solidFill>
                  <a:srgbClr val="1C3557"/>
                </a:solidFill>
              </a:rPr>
              <a:t>Exception Escalation</a:t>
            </a:r>
            <a:endParaRPr lang="en-US" sz="1300" dirty="0"/>
          </a:p>
        </p:txBody>
      </p:sp>
      <p:sp>
        <p:nvSpPr>
          <p:cNvPr id="23" name="Shape 21"/>
          <p:cNvSpPr/>
          <p:nvPr/>
        </p:nvSpPr>
        <p:spPr>
          <a:xfrm>
            <a:off x="429768" y="3474720"/>
            <a:ext cx="3977640" cy="566928"/>
          </a:xfrm>
          <a:prstGeom prst="rect">
            <a:avLst/>
          </a:prstGeom>
          <a:solidFill>
            <a:srgbClr val="3A7E6E">
              <a:alpha val="12000"/>
            </a:srgbClr>
          </a:solidFill>
          <a:ln/>
        </p:spPr>
      </p:sp>
      <p:sp>
        <p:nvSpPr>
          <p:cNvPr id="24" name="Text 22"/>
          <p:cNvSpPr/>
          <p:nvPr/>
        </p:nvSpPr>
        <p:spPr>
          <a:xfrm>
            <a:off x="484632" y="3493008"/>
            <a:ext cx="3886200" cy="530352"/>
          </a:xfrm>
          <a:prstGeom prst="rect">
            <a:avLst/>
          </a:prstGeom>
          <a:noFill/>
          <a:ln/>
        </p:spPr>
        <p:txBody>
          <a:bodyPr wrap="square" lIns="0" tIns="0" rIns="0" bIns="0" rtlCol="0" anchor="ctr"/>
          <a:lstStyle/>
          <a:p>
            <a:pPr indent="0" marL="0">
              <a:buNone/>
            </a:pPr>
            <a:r>
              <a:rPr lang="en-US" sz="950" i="1" dirty="0">
                <a:solidFill>
                  <a:srgbClr val="3A7E6E"/>
                </a:solidFill>
              </a:rPr>
              <a:t>Agent runs autonomously → Detects anomaly/uncertainty → Pauses and notifies human → Human resolves → Agent continues</a:t>
            </a:r>
            <a:endParaRPr lang="en-US" sz="950" dirty="0"/>
          </a:p>
        </p:txBody>
      </p:sp>
      <p:sp>
        <p:nvSpPr>
          <p:cNvPr id="25" name="Text 23"/>
          <p:cNvSpPr/>
          <p:nvPr/>
        </p:nvSpPr>
        <p:spPr>
          <a:xfrm>
            <a:off x="813816" y="4133088"/>
            <a:ext cx="3575304" cy="457200"/>
          </a:xfrm>
          <a:prstGeom prst="rect">
            <a:avLst/>
          </a:prstGeom>
          <a:noFill/>
          <a:ln/>
        </p:spPr>
        <p:txBody>
          <a:bodyPr wrap="square" lIns="0" tIns="0" rIns="0" bIns="0" rtlCol="0" anchor="ctr"/>
          <a:lstStyle/>
          <a:p>
            <a:pPr indent="0" marL="0">
              <a:buNone/>
            </a:pPr>
            <a:r>
              <a:rPr lang="en-US" sz="1050" dirty="0">
                <a:solidFill>
                  <a:srgbClr val="7A90A8"/>
                </a:solidFill>
              </a:rPr>
              <a:t>Use when: A well-understood task that may hit edge cases requiring human judgment.</a:t>
            </a:r>
            <a:endParaRPr lang="en-US" sz="1050" dirty="0"/>
          </a:p>
        </p:txBody>
      </p:sp>
      <p:sp>
        <p:nvSpPr>
          <p:cNvPr id="26" name="Shape 24"/>
          <p:cNvSpPr/>
          <p:nvPr/>
        </p:nvSpPr>
        <p:spPr>
          <a:xfrm>
            <a:off x="4663440" y="2999232"/>
            <a:ext cx="4160520" cy="1664208"/>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27" name="Shape 25"/>
          <p:cNvSpPr/>
          <p:nvPr/>
        </p:nvSpPr>
        <p:spPr>
          <a:xfrm>
            <a:off x="4663440" y="2999232"/>
            <a:ext cx="402336" cy="1664208"/>
          </a:xfrm>
          <a:prstGeom prst="rect">
            <a:avLst/>
          </a:prstGeom>
          <a:solidFill>
            <a:srgbClr val="8096B0"/>
          </a:solidFill>
          <a:ln/>
        </p:spPr>
      </p:sp>
      <p:sp>
        <p:nvSpPr>
          <p:cNvPr id="28" name="Text 26"/>
          <p:cNvSpPr/>
          <p:nvPr/>
        </p:nvSpPr>
        <p:spPr>
          <a:xfrm>
            <a:off x="4663440" y="2999232"/>
            <a:ext cx="402336" cy="512064"/>
          </a:xfrm>
          <a:prstGeom prst="rect">
            <a:avLst/>
          </a:prstGeom>
          <a:noFill/>
          <a:ln/>
        </p:spPr>
        <p:txBody>
          <a:bodyPr wrap="square" lIns="0" tIns="0" rIns="0" bIns="0" rtlCol="0" anchor="ctr"/>
          <a:lstStyle/>
          <a:p>
            <a:pPr algn="ctr" indent="0" marL="0">
              <a:buNone/>
            </a:pPr>
            <a:r>
              <a:rPr lang="en-US" sz="2200" b="1" dirty="0">
                <a:solidFill>
                  <a:srgbClr val="FFFFFF"/>
                </a:solidFill>
              </a:rPr>
              <a:t>D</a:t>
            </a:r>
            <a:endParaRPr lang="en-US" sz="2200" dirty="0"/>
          </a:p>
        </p:txBody>
      </p:sp>
      <p:sp>
        <p:nvSpPr>
          <p:cNvPr id="29" name="Text 27"/>
          <p:cNvSpPr/>
          <p:nvPr/>
        </p:nvSpPr>
        <p:spPr>
          <a:xfrm>
            <a:off x="5157216" y="3054096"/>
            <a:ext cx="3575304" cy="329184"/>
          </a:xfrm>
          <a:prstGeom prst="rect">
            <a:avLst/>
          </a:prstGeom>
          <a:noFill/>
          <a:ln/>
        </p:spPr>
        <p:txBody>
          <a:bodyPr wrap="square" lIns="0" tIns="0" rIns="0" bIns="0" rtlCol="0" anchor="ctr"/>
          <a:lstStyle/>
          <a:p>
            <a:pPr indent="0" marL="0">
              <a:buNone/>
            </a:pPr>
            <a:r>
              <a:rPr lang="en-US" sz="1300" b="1" dirty="0">
                <a:solidFill>
                  <a:srgbClr val="1C3557"/>
                </a:solidFill>
              </a:rPr>
              <a:t>Spot Check</a:t>
            </a:r>
            <a:endParaRPr lang="en-US" sz="1300" dirty="0"/>
          </a:p>
        </p:txBody>
      </p:sp>
      <p:sp>
        <p:nvSpPr>
          <p:cNvPr id="30" name="Shape 28"/>
          <p:cNvSpPr/>
          <p:nvPr/>
        </p:nvSpPr>
        <p:spPr>
          <a:xfrm>
            <a:off x="4773168" y="3474720"/>
            <a:ext cx="3977640" cy="566928"/>
          </a:xfrm>
          <a:prstGeom prst="rect">
            <a:avLst/>
          </a:prstGeom>
          <a:solidFill>
            <a:srgbClr val="8096B0">
              <a:alpha val="12000"/>
            </a:srgbClr>
          </a:solidFill>
          <a:ln/>
        </p:spPr>
      </p:sp>
      <p:sp>
        <p:nvSpPr>
          <p:cNvPr id="31" name="Text 29"/>
          <p:cNvSpPr/>
          <p:nvPr/>
        </p:nvSpPr>
        <p:spPr>
          <a:xfrm>
            <a:off x="4828032" y="3493008"/>
            <a:ext cx="3886200" cy="530352"/>
          </a:xfrm>
          <a:prstGeom prst="rect">
            <a:avLst/>
          </a:prstGeom>
          <a:noFill/>
          <a:ln/>
        </p:spPr>
        <p:txBody>
          <a:bodyPr wrap="square" lIns="0" tIns="0" rIns="0" bIns="0" rtlCol="0" anchor="ctr"/>
          <a:lstStyle/>
          <a:p>
            <a:pPr indent="0" marL="0">
              <a:buNone/>
            </a:pPr>
            <a:r>
              <a:rPr lang="en-US" sz="950" i="1" dirty="0">
                <a:solidFill>
                  <a:srgbClr val="8096B0"/>
                </a:solidFill>
              </a:rPr>
              <a:t>Agent runs autonomously → Random sample of outputs reviewed by human</a:t>
            </a:r>
            <a:endParaRPr lang="en-US" sz="950" dirty="0"/>
          </a:p>
        </p:txBody>
      </p:sp>
      <p:sp>
        <p:nvSpPr>
          <p:cNvPr id="32" name="Text 30"/>
          <p:cNvSpPr/>
          <p:nvPr/>
        </p:nvSpPr>
        <p:spPr>
          <a:xfrm>
            <a:off x="5157216" y="4133088"/>
            <a:ext cx="3575304" cy="457200"/>
          </a:xfrm>
          <a:prstGeom prst="rect">
            <a:avLst/>
          </a:prstGeom>
          <a:noFill/>
          <a:ln/>
        </p:spPr>
        <p:txBody>
          <a:bodyPr wrap="square" lIns="0" tIns="0" rIns="0" bIns="0" rtlCol="0" anchor="ctr"/>
          <a:lstStyle/>
          <a:p>
            <a:pPr indent="0" marL="0">
              <a:buNone/>
            </a:pPr>
            <a:r>
              <a:rPr lang="en-US" sz="1050" dirty="0">
                <a:solidFill>
                  <a:srgbClr val="7A90A8"/>
                </a:solidFill>
              </a:rPr>
              <a:t>Use when: Volume is high, individual items are low-risk, systematic quality assurance is needed.</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6F9"/>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4A7FA8"/>
          </a:solidFill>
          <a:ln/>
        </p:spPr>
      </p:sp>
      <p:sp>
        <p:nvSpPr>
          <p:cNvPr id="3" name="Shape 1"/>
          <p:cNvSpPr/>
          <p:nvPr/>
        </p:nvSpPr>
        <p:spPr>
          <a:xfrm>
            <a:off x="0" y="0"/>
            <a:ext cx="320040" cy="749808"/>
          </a:xfrm>
          <a:prstGeom prst="rect">
            <a:avLst/>
          </a:prstGeom>
          <a:solidFill>
            <a:srgbClr val="1C3557"/>
          </a:solidFill>
          <a:ln/>
        </p:spPr>
      </p:sp>
      <p:sp>
        <p:nvSpPr>
          <p:cNvPr id="4" name="Text 2"/>
          <p:cNvSpPr/>
          <p:nvPr/>
        </p:nvSpPr>
        <p:spPr>
          <a:xfrm>
            <a:off x="457200" y="0"/>
            <a:ext cx="8321040" cy="749808"/>
          </a:xfrm>
          <a:prstGeom prst="rect">
            <a:avLst/>
          </a:prstGeom>
          <a:noFill/>
          <a:ln/>
        </p:spPr>
        <p:txBody>
          <a:bodyPr wrap="square" lIns="0" tIns="0" rIns="0" bIns="0" rtlCol="0" anchor="ctr"/>
          <a:lstStyle/>
          <a:p>
            <a:pPr indent="0" marL="0">
              <a:buNone/>
            </a:pPr>
            <a:r>
              <a:rPr lang="en-US" sz="1200" b="1" spc="200" kern="0" dirty="0">
                <a:solidFill>
                  <a:srgbClr val="FFFFFF"/>
                </a:solidFill>
              </a:rPr>
              <a:t>AGENT-TO-AGENT REVIEW  ·  The Evaluator Pattern</a:t>
            </a:r>
            <a:endParaRPr lang="en-US" sz="1200" dirty="0"/>
          </a:p>
        </p:txBody>
      </p:sp>
      <p:sp>
        <p:nvSpPr>
          <p:cNvPr id="5" name="Text 3"/>
          <p:cNvSpPr/>
          <p:nvPr/>
        </p:nvSpPr>
        <p:spPr>
          <a:xfrm>
            <a:off x="365760" y="822960"/>
            <a:ext cx="8412480" cy="274320"/>
          </a:xfrm>
          <a:prstGeom prst="rect">
            <a:avLst/>
          </a:prstGeom>
          <a:noFill/>
          <a:ln/>
        </p:spPr>
        <p:txBody>
          <a:bodyPr wrap="square" lIns="0" tIns="0" rIns="0" bIns="0" rtlCol="0" anchor="ctr"/>
          <a:lstStyle/>
          <a:p>
            <a:pPr indent="0" marL="0">
              <a:buNone/>
            </a:pPr>
            <a:r>
              <a:rPr lang="en-US" sz="1100" i="1" dirty="0">
                <a:solidFill>
                  <a:srgbClr val="7A90A8"/>
                </a:solidFill>
              </a:rPr>
              <a:t>“Use a dedicated evaluator agent to review generator agent output before it reaches a human.”  — Anthropic &amp; Spotify Engineering</a:t>
            </a:r>
            <a:endParaRPr lang="en-US" sz="1100" dirty="0"/>
          </a:p>
        </p:txBody>
      </p:sp>
      <p:sp>
        <p:nvSpPr>
          <p:cNvPr id="6" name="Shape 4"/>
          <p:cNvSpPr/>
          <p:nvPr/>
        </p:nvSpPr>
        <p:spPr>
          <a:xfrm>
            <a:off x="457200" y="1234440"/>
            <a:ext cx="2286000" cy="2560320"/>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7" name="Shape 5"/>
          <p:cNvSpPr/>
          <p:nvPr/>
        </p:nvSpPr>
        <p:spPr>
          <a:xfrm>
            <a:off x="457200" y="1234440"/>
            <a:ext cx="2286000" cy="457200"/>
          </a:xfrm>
          <a:prstGeom prst="rect">
            <a:avLst/>
          </a:prstGeom>
          <a:solidFill>
            <a:srgbClr val="1C3557"/>
          </a:solidFill>
          <a:ln/>
        </p:spPr>
      </p:sp>
      <p:sp>
        <p:nvSpPr>
          <p:cNvPr id="8" name="Text 6"/>
          <p:cNvSpPr/>
          <p:nvPr/>
        </p:nvSpPr>
        <p:spPr>
          <a:xfrm>
            <a:off x="457200" y="1234440"/>
            <a:ext cx="2286000" cy="457200"/>
          </a:xfrm>
          <a:prstGeom prst="rect">
            <a:avLst/>
          </a:prstGeom>
          <a:noFill/>
          <a:ln/>
        </p:spPr>
        <p:txBody>
          <a:bodyPr wrap="square" lIns="0" tIns="0" rIns="0" bIns="0" rtlCol="0" anchor="ctr"/>
          <a:lstStyle/>
          <a:p>
            <a:pPr algn="ctr" indent="0" marL="0">
              <a:buNone/>
            </a:pPr>
            <a:r>
              <a:rPr lang="en-US" sz="1300" b="1" dirty="0">
                <a:solidFill>
                  <a:srgbClr val="FFFFFF"/>
                </a:solidFill>
              </a:rPr>
              <a:t>Generator</a:t>
            </a:r>
            <a:endParaRPr lang="en-US" sz="1300" dirty="0"/>
          </a:p>
          <a:p>
            <a:pPr algn="ctr" indent="0" marL="0">
              <a:buNone/>
            </a:pPr>
            <a:r>
              <a:rPr lang="en-US" sz="1300" b="1" dirty="0">
                <a:solidFill>
                  <a:srgbClr val="FFFFFF"/>
                </a:solidFill>
              </a:rPr>
              <a:t>Agent</a:t>
            </a:r>
            <a:endParaRPr lang="en-US" sz="1300" dirty="0"/>
          </a:p>
        </p:txBody>
      </p:sp>
      <p:sp>
        <p:nvSpPr>
          <p:cNvPr id="9" name="Text 7"/>
          <p:cNvSpPr/>
          <p:nvPr/>
        </p:nvSpPr>
        <p:spPr>
          <a:xfrm>
            <a:off x="566928" y="1755648"/>
            <a:ext cx="2066544" cy="1828800"/>
          </a:xfrm>
          <a:prstGeom prst="rect">
            <a:avLst/>
          </a:prstGeom>
          <a:noFill/>
          <a:ln/>
        </p:spPr>
        <p:txBody>
          <a:bodyPr wrap="square" lIns="0" tIns="0" rIns="0" bIns="0" rtlCol="0" anchor="ctr"/>
          <a:lstStyle/>
          <a:p>
            <a:pPr indent="0" marL="0">
              <a:buNone/>
            </a:pPr>
            <a:r>
              <a:rPr lang="en-US" sz="1100" dirty="0">
                <a:solidFill>
                  <a:srgbClr val="1E2D3D"/>
                </a:solidFill>
              </a:rPr>
              <a:t>• Reads spec and context</a:t>
            </a:r>
            <a:endParaRPr lang="en-US" sz="1100" dirty="0"/>
          </a:p>
          <a:p>
            <a:pPr indent="0" marL="0">
              <a:buNone/>
            </a:pPr>
            <a:r>
              <a:rPr lang="en-US" sz="1100" dirty="0">
                <a:solidFill>
                  <a:srgbClr val="1E2D3D"/>
                </a:solidFill>
              </a:rPr>
              <a:t>• Makes code changes</a:t>
            </a:r>
            <a:endParaRPr lang="en-US" sz="1100" dirty="0"/>
          </a:p>
          <a:p>
            <a:pPr indent="0" marL="0">
              <a:buNone/>
            </a:pPr>
            <a:r>
              <a:rPr lang="en-US" sz="1100" dirty="0">
                <a:solidFill>
                  <a:srgbClr val="1E2D3D"/>
                </a:solidFill>
              </a:rPr>
              <a:t>• Runs build locally</a:t>
            </a:r>
            <a:endParaRPr lang="en-US" sz="1100" dirty="0"/>
          </a:p>
          <a:p>
            <a:pPr indent="0" marL="0">
              <a:buNone/>
            </a:pPr>
            <a:r>
              <a:rPr lang="en-US" sz="1100" dirty="0">
                <a:solidFill>
                  <a:srgbClr val="1E2D3D"/>
                </a:solidFill>
              </a:rPr>
              <a:t>• Self-corrects on errors</a:t>
            </a:r>
            <a:endParaRPr lang="en-US" sz="1100" dirty="0"/>
          </a:p>
          <a:p>
            <a:pPr indent="0" marL="0">
              <a:buNone/>
            </a:pPr>
            <a:r>
              <a:rPr lang="en-US" sz="1100" dirty="0">
                <a:solidFill>
                  <a:srgbClr val="1E2D3D"/>
                </a:solidFill>
              </a:rPr>
              <a:t>• Bounded scope</a:t>
            </a:r>
            <a:endParaRPr lang="en-US" sz="1100" dirty="0"/>
          </a:p>
        </p:txBody>
      </p:sp>
      <p:sp>
        <p:nvSpPr>
          <p:cNvPr id="10" name="Text 8"/>
          <p:cNvSpPr/>
          <p:nvPr/>
        </p:nvSpPr>
        <p:spPr>
          <a:xfrm>
            <a:off x="2788920" y="2304288"/>
            <a:ext cx="457200" cy="411480"/>
          </a:xfrm>
          <a:prstGeom prst="rect">
            <a:avLst/>
          </a:prstGeom>
          <a:noFill/>
          <a:ln/>
        </p:spPr>
        <p:txBody>
          <a:bodyPr wrap="square" lIns="0" tIns="0" rIns="0" bIns="0" rtlCol="0" anchor="ctr"/>
          <a:lstStyle/>
          <a:p>
            <a:pPr algn="ctr" indent="0" marL="0">
              <a:buNone/>
            </a:pPr>
            <a:r>
              <a:rPr lang="en-US" sz="2200" dirty="0">
                <a:solidFill>
                  <a:srgbClr val="4A7FA8"/>
                </a:solidFill>
              </a:rPr>
              <a:t>→</a:t>
            </a:r>
            <a:endParaRPr lang="en-US" sz="2200" dirty="0"/>
          </a:p>
        </p:txBody>
      </p:sp>
      <p:sp>
        <p:nvSpPr>
          <p:cNvPr id="11" name="Shape 9"/>
          <p:cNvSpPr/>
          <p:nvPr/>
        </p:nvSpPr>
        <p:spPr>
          <a:xfrm>
            <a:off x="3291840" y="1234440"/>
            <a:ext cx="2560320" cy="2560320"/>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12" name="Shape 10"/>
          <p:cNvSpPr/>
          <p:nvPr/>
        </p:nvSpPr>
        <p:spPr>
          <a:xfrm>
            <a:off x="3291840" y="1234440"/>
            <a:ext cx="2560320" cy="457200"/>
          </a:xfrm>
          <a:prstGeom prst="rect">
            <a:avLst/>
          </a:prstGeom>
          <a:solidFill>
            <a:srgbClr val="4A7FA8"/>
          </a:solidFill>
          <a:ln/>
        </p:spPr>
      </p:sp>
      <p:sp>
        <p:nvSpPr>
          <p:cNvPr id="13" name="Text 11"/>
          <p:cNvSpPr/>
          <p:nvPr/>
        </p:nvSpPr>
        <p:spPr>
          <a:xfrm>
            <a:off x="3291840" y="1234440"/>
            <a:ext cx="2560320" cy="457200"/>
          </a:xfrm>
          <a:prstGeom prst="rect">
            <a:avLst/>
          </a:prstGeom>
          <a:noFill/>
          <a:ln/>
        </p:spPr>
        <p:txBody>
          <a:bodyPr wrap="square" lIns="0" tIns="0" rIns="0" bIns="0" rtlCol="0" anchor="ctr"/>
          <a:lstStyle/>
          <a:p>
            <a:pPr algn="ctr" indent="0" marL="0">
              <a:buNone/>
            </a:pPr>
            <a:r>
              <a:rPr lang="en-US" sz="1300" b="1" dirty="0">
                <a:solidFill>
                  <a:srgbClr val="FFFFFF"/>
                </a:solidFill>
              </a:rPr>
              <a:t>Evaluator Agent</a:t>
            </a:r>
            <a:endParaRPr lang="en-US" sz="1300" dirty="0"/>
          </a:p>
        </p:txBody>
      </p:sp>
      <p:sp>
        <p:nvSpPr>
          <p:cNvPr id="14" name="Text 12"/>
          <p:cNvSpPr/>
          <p:nvPr/>
        </p:nvSpPr>
        <p:spPr>
          <a:xfrm>
            <a:off x="3401568" y="1755648"/>
            <a:ext cx="2340864" cy="347472"/>
          </a:xfrm>
          <a:prstGeom prst="rect">
            <a:avLst/>
          </a:prstGeom>
          <a:noFill/>
          <a:ln/>
        </p:spPr>
        <p:txBody>
          <a:bodyPr wrap="square" lIns="0" tIns="0" rIns="0" bIns="0" rtlCol="0" anchor="ctr"/>
          <a:lstStyle/>
          <a:p>
            <a:pPr indent="0" marL="0">
              <a:buNone/>
            </a:pPr>
            <a:r>
              <a:rPr lang="en-US" sz="1050" dirty="0">
                <a:solidFill>
                  <a:srgbClr val="1E2D3D"/>
                </a:solidFill>
              </a:rPr>
              <a:t>✓  Functional requirements (from spec)</a:t>
            </a:r>
            <a:endParaRPr lang="en-US" sz="1050" dirty="0"/>
          </a:p>
        </p:txBody>
      </p:sp>
      <p:sp>
        <p:nvSpPr>
          <p:cNvPr id="15" name="Text 13"/>
          <p:cNvSpPr/>
          <p:nvPr/>
        </p:nvSpPr>
        <p:spPr>
          <a:xfrm>
            <a:off x="3401568" y="2139696"/>
            <a:ext cx="2340864" cy="347472"/>
          </a:xfrm>
          <a:prstGeom prst="rect">
            <a:avLst/>
          </a:prstGeom>
          <a:noFill/>
          <a:ln/>
        </p:spPr>
        <p:txBody>
          <a:bodyPr wrap="square" lIns="0" tIns="0" rIns="0" bIns="0" rtlCol="0" anchor="ctr"/>
          <a:lstStyle/>
          <a:p>
            <a:pPr indent="0" marL="0">
              <a:buNone/>
            </a:pPr>
            <a:r>
              <a:rPr lang="en-US" sz="1050" dirty="0">
                <a:solidFill>
                  <a:srgbClr val="1E2D3D"/>
                </a:solidFill>
              </a:rPr>
              <a:t>✓  Coding standards (from rules file)</a:t>
            </a:r>
            <a:endParaRPr lang="en-US" sz="1050" dirty="0"/>
          </a:p>
        </p:txBody>
      </p:sp>
      <p:sp>
        <p:nvSpPr>
          <p:cNvPr id="16" name="Text 14"/>
          <p:cNvSpPr/>
          <p:nvPr/>
        </p:nvSpPr>
        <p:spPr>
          <a:xfrm>
            <a:off x="3401568" y="2523744"/>
            <a:ext cx="2340864" cy="347472"/>
          </a:xfrm>
          <a:prstGeom prst="rect">
            <a:avLst/>
          </a:prstGeom>
          <a:noFill/>
          <a:ln/>
        </p:spPr>
        <p:txBody>
          <a:bodyPr wrap="square" lIns="0" tIns="0" rIns="0" bIns="0" rtlCol="0" anchor="ctr"/>
          <a:lstStyle/>
          <a:p>
            <a:pPr indent="0" marL="0">
              <a:buNone/>
            </a:pPr>
            <a:r>
              <a:rPr lang="en-US" sz="1050" dirty="0">
                <a:solidFill>
                  <a:srgbClr val="1E2D3D"/>
                </a:solidFill>
              </a:rPr>
              <a:t>✓  Test coverage (from DoD)</a:t>
            </a:r>
            <a:endParaRPr lang="en-US" sz="1050" dirty="0"/>
          </a:p>
        </p:txBody>
      </p:sp>
      <p:sp>
        <p:nvSpPr>
          <p:cNvPr id="17" name="Text 15"/>
          <p:cNvSpPr/>
          <p:nvPr/>
        </p:nvSpPr>
        <p:spPr>
          <a:xfrm>
            <a:off x="3401568" y="2907792"/>
            <a:ext cx="2340864" cy="347472"/>
          </a:xfrm>
          <a:prstGeom prst="rect">
            <a:avLst/>
          </a:prstGeom>
          <a:noFill/>
          <a:ln/>
        </p:spPr>
        <p:txBody>
          <a:bodyPr wrap="square" lIns="0" tIns="0" rIns="0" bIns="0" rtlCol="0" anchor="ctr"/>
          <a:lstStyle/>
          <a:p>
            <a:pPr indent="0" marL="0">
              <a:buNone/>
            </a:pPr>
            <a:r>
              <a:rPr lang="en-US" sz="1050" dirty="0">
                <a:solidFill>
                  <a:srgbClr val="1E2D3D"/>
                </a:solidFill>
              </a:rPr>
              <a:t>✓  Security checklist</a:t>
            </a:r>
            <a:endParaRPr lang="en-US" sz="1050" dirty="0"/>
          </a:p>
        </p:txBody>
      </p:sp>
      <p:sp>
        <p:nvSpPr>
          <p:cNvPr id="18" name="Text 16"/>
          <p:cNvSpPr/>
          <p:nvPr/>
        </p:nvSpPr>
        <p:spPr>
          <a:xfrm>
            <a:off x="3401568" y="3291840"/>
            <a:ext cx="2340864" cy="347472"/>
          </a:xfrm>
          <a:prstGeom prst="rect">
            <a:avLst/>
          </a:prstGeom>
          <a:noFill/>
          <a:ln/>
        </p:spPr>
        <p:txBody>
          <a:bodyPr wrap="square" lIns="0" tIns="0" rIns="0" bIns="0" rtlCol="0" anchor="ctr"/>
          <a:lstStyle/>
          <a:p>
            <a:pPr indent="0" marL="0">
              <a:buNone/>
            </a:pPr>
            <a:r>
              <a:rPr lang="en-US" sz="1050" dirty="0">
                <a:solidFill>
                  <a:srgbClr val="1E2D3D"/>
                </a:solidFill>
              </a:rPr>
              <a:t>✓  Performance constraints</a:t>
            </a:r>
            <a:endParaRPr lang="en-US" sz="1050" dirty="0"/>
          </a:p>
        </p:txBody>
      </p:sp>
      <p:sp>
        <p:nvSpPr>
          <p:cNvPr id="19" name="Text 17"/>
          <p:cNvSpPr/>
          <p:nvPr/>
        </p:nvSpPr>
        <p:spPr>
          <a:xfrm>
            <a:off x="5897880" y="2304288"/>
            <a:ext cx="457200" cy="411480"/>
          </a:xfrm>
          <a:prstGeom prst="rect">
            <a:avLst/>
          </a:prstGeom>
          <a:noFill/>
          <a:ln/>
        </p:spPr>
        <p:txBody>
          <a:bodyPr wrap="square" lIns="0" tIns="0" rIns="0" bIns="0" rtlCol="0" anchor="ctr"/>
          <a:lstStyle/>
          <a:p>
            <a:pPr algn="ctr" indent="0" marL="0">
              <a:buNone/>
            </a:pPr>
            <a:r>
              <a:rPr lang="en-US" sz="2200" dirty="0">
                <a:solidFill>
                  <a:srgbClr val="3A7E6E"/>
                </a:solidFill>
              </a:rPr>
              <a:t>→</a:t>
            </a:r>
            <a:endParaRPr lang="en-US" sz="2200" dirty="0"/>
          </a:p>
        </p:txBody>
      </p:sp>
      <p:sp>
        <p:nvSpPr>
          <p:cNvPr id="20" name="Shape 18"/>
          <p:cNvSpPr/>
          <p:nvPr/>
        </p:nvSpPr>
        <p:spPr>
          <a:xfrm>
            <a:off x="6400800" y="1234440"/>
            <a:ext cx="2423160" cy="2560320"/>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21" name="Shape 19"/>
          <p:cNvSpPr/>
          <p:nvPr/>
        </p:nvSpPr>
        <p:spPr>
          <a:xfrm>
            <a:off x="6400800" y="1234440"/>
            <a:ext cx="2423160" cy="457200"/>
          </a:xfrm>
          <a:prstGeom prst="rect">
            <a:avLst/>
          </a:prstGeom>
          <a:solidFill>
            <a:srgbClr val="3A7E6E"/>
          </a:solidFill>
          <a:ln/>
        </p:spPr>
      </p:sp>
      <p:sp>
        <p:nvSpPr>
          <p:cNvPr id="22" name="Text 20"/>
          <p:cNvSpPr/>
          <p:nvPr/>
        </p:nvSpPr>
        <p:spPr>
          <a:xfrm>
            <a:off x="6400800" y="1234440"/>
            <a:ext cx="2423160" cy="457200"/>
          </a:xfrm>
          <a:prstGeom prst="rect">
            <a:avLst/>
          </a:prstGeom>
          <a:noFill/>
          <a:ln/>
        </p:spPr>
        <p:txBody>
          <a:bodyPr wrap="square" lIns="0" tIns="0" rIns="0" bIns="0" rtlCol="0" anchor="ctr"/>
          <a:lstStyle/>
          <a:p>
            <a:pPr algn="ctr" indent="0" marL="0">
              <a:buNone/>
            </a:pPr>
            <a:r>
              <a:rPr lang="en-US" sz="1300" b="1" dirty="0">
                <a:solidFill>
                  <a:srgbClr val="FFFFFF"/>
                </a:solidFill>
              </a:rPr>
              <a:t>Outcome</a:t>
            </a:r>
            <a:endParaRPr lang="en-US" sz="1300" dirty="0"/>
          </a:p>
        </p:txBody>
      </p:sp>
      <p:sp>
        <p:nvSpPr>
          <p:cNvPr id="23" name="Shape 21"/>
          <p:cNvSpPr/>
          <p:nvPr/>
        </p:nvSpPr>
        <p:spPr>
          <a:xfrm>
            <a:off x="6492240" y="1755648"/>
            <a:ext cx="2240280" cy="914400"/>
          </a:xfrm>
          <a:prstGeom prst="rect">
            <a:avLst/>
          </a:prstGeom>
          <a:solidFill>
            <a:srgbClr val="3A7E6E">
              <a:alpha val="90000"/>
            </a:srgbClr>
          </a:solidFill>
          <a:ln/>
        </p:spPr>
      </p:sp>
      <p:sp>
        <p:nvSpPr>
          <p:cNvPr id="24" name="Text 22"/>
          <p:cNvSpPr/>
          <p:nvPr/>
        </p:nvSpPr>
        <p:spPr>
          <a:xfrm>
            <a:off x="6492240" y="1755648"/>
            <a:ext cx="2240280" cy="420624"/>
          </a:xfrm>
          <a:prstGeom prst="rect">
            <a:avLst/>
          </a:prstGeom>
          <a:noFill/>
          <a:ln/>
        </p:spPr>
        <p:txBody>
          <a:bodyPr wrap="square" lIns="0" tIns="0" rIns="0" bIns="0" rtlCol="0" anchor="ctr"/>
          <a:lstStyle/>
          <a:p>
            <a:pPr algn="ctr" indent="0" marL="0">
              <a:buNone/>
            </a:pPr>
            <a:r>
              <a:rPr lang="en-US" sz="1300" b="1" dirty="0">
                <a:solidFill>
                  <a:srgbClr val="FFFFFF"/>
                </a:solidFill>
              </a:rPr>
              <a:t>✓ Passes</a:t>
            </a:r>
            <a:endParaRPr lang="en-US" sz="1300" dirty="0"/>
          </a:p>
        </p:txBody>
      </p:sp>
      <p:sp>
        <p:nvSpPr>
          <p:cNvPr id="25" name="Text 23"/>
          <p:cNvSpPr/>
          <p:nvPr/>
        </p:nvSpPr>
        <p:spPr>
          <a:xfrm>
            <a:off x="6492240" y="2176272"/>
            <a:ext cx="2240280" cy="457200"/>
          </a:xfrm>
          <a:prstGeom prst="rect">
            <a:avLst/>
          </a:prstGeom>
          <a:noFill/>
          <a:ln/>
        </p:spPr>
        <p:txBody>
          <a:bodyPr wrap="square" lIns="0" tIns="0" rIns="0" bIns="0" rtlCol="0" anchor="ctr"/>
          <a:lstStyle/>
          <a:p>
            <a:pPr algn="ctr" indent="0" marL="0">
              <a:buNone/>
            </a:pPr>
            <a:r>
              <a:rPr lang="en-US" sz="1000" dirty="0">
                <a:solidFill>
                  <a:srgbClr val="D4E4F0"/>
                </a:solidFill>
              </a:rPr>
              <a:t>Moves to human review</a:t>
            </a:r>
            <a:endParaRPr lang="en-US" sz="1000" dirty="0"/>
          </a:p>
        </p:txBody>
      </p:sp>
      <p:sp>
        <p:nvSpPr>
          <p:cNvPr id="26" name="Shape 24"/>
          <p:cNvSpPr/>
          <p:nvPr/>
        </p:nvSpPr>
        <p:spPr>
          <a:xfrm>
            <a:off x="6492240" y="2834640"/>
            <a:ext cx="2240280" cy="914400"/>
          </a:xfrm>
          <a:prstGeom prst="rect">
            <a:avLst/>
          </a:prstGeom>
          <a:solidFill>
            <a:srgbClr val="3A7DC9">
              <a:alpha val="80000"/>
            </a:srgbClr>
          </a:solidFill>
          <a:ln/>
        </p:spPr>
      </p:sp>
      <p:sp>
        <p:nvSpPr>
          <p:cNvPr id="27" name="Text 25"/>
          <p:cNvSpPr/>
          <p:nvPr/>
        </p:nvSpPr>
        <p:spPr>
          <a:xfrm>
            <a:off x="6492240" y="2834640"/>
            <a:ext cx="2240280" cy="420624"/>
          </a:xfrm>
          <a:prstGeom prst="rect">
            <a:avLst/>
          </a:prstGeom>
          <a:noFill/>
          <a:ln/>
        </p:spPr>
        <p:txBody>
          <a:bodyPr wrap="square" lIns="0" tIns="0" rIns="0" bIns="0" rtlCol="0" anchor="ctr"/>
          <a:lstStyle/>
          <a:p>
            <a:pPr algn="ctr" indent="0" marL="0">
              <a:buNone/>
            </a:pPr>
            <a:r>
              <a:rPr lang="en-US" sz="1300" b="1" dirty="0">
                <a:solidFill>
                  <a:srgbClr val="FFFFFF"/>
                </a:solidFill>
              </a:rPr>
              <a:t>↺ Fails</a:t>
            </a:r>
            <a:endParaRPr lang="en-US" sz="1300" dirty="0"/>
          </a:p>
        </p:txBody>
      </p:sp>
      <p:sp>
        <p:nvSpPr>
          <p:cNvPr id="28" name="Text 26"/>
          <p:cNvSpPr/>
          <p:nvPr/>
        </p:nvSpPr>
        <p:spPr>
          <a:xfrm>
            <a:off x="6492240" y="3255264"/>
            <a:ext cx="2240280" cy="457200"/>
          </a:xfrm>
          <a:prstGeom prst="rect">
            <a:avLst/>
          </a:prstGeom>
          <a:noFill/>
          <a:ln/>
        </p:spPr>
        <p:txBody>
          <a:bodyPr wrap="square" lIns="0" tIns="0" rIns="0" bIns="0" rtlCol="0" anchor="ctr"/>
          <a:lstStyle/>
          <a:p>
            <a:pPr algn="ctr" indent="0" marL="0">
              <a:buNone/>
            </a:pPr>
            <a:r>
              <a:rPr lang="en-US" sz="1000" dirty="0">
                <a:solidFill>
                  <a:srgbClr val="D4E4F0"/>
                </a:solidFill>
              </a:rPr>
              <a:t>Returns to generator</a:t>
            </a:r>
            <a:endParaRPr lang="en-US" sz="1000" dirty="0"/>
          </a:p>
          <a:p>
            <a:pPr algn="ctr" indent="0" marL="0">
              <a:buNone/>
            </a:pPr>
            <a:r>
              <a:rPr lang="en-US" sz="1000" dirty="0">
                <a:solidFill>
                  <a:srgbClr val="D4E4F0"/>
                </a:solidFill>
              </a:rPr>
              <a:t>with specific critique</a:t>
            </a:r>
            <a:endParaRPr lang="en-US" sz="1000" dirty="0"/>
          </a:p>
        </p:txBody>
      </p:sp>
      <p:sp>
        <p:nvSpPr>
          <p:cNvPr id="29" name="Shape 27"/>
          <p:cNvSpPr/>
          <p:nvPr/>
        </p:nvSpPr>
        <p:spPr>
          <a:xfrm>
            <a:off x="320040" y="3950208"/>
            <a:ext cx="8503920" cy="1005840"/>
          </a:xfrm>
          <a:prstGeom prst="rect">
            <a:avLst/>
          </a:prstGeom>
          <a:solidFill>
            <a:srgbClr val="1C3557"/>
          </a:solidFill>
          <a:ln/>
          <a:effectLst>
            <a:outerShdw sx="100000" sy="100000" kx="0" ky="0" algn="bl" rotWithShape="0" blurRad="101600" dist="38100" dir="8100000">
              <a:srgbClr val="000000">
                <a:alpha val="13000"/>
              </a:srgbClr>
            </a:outerShdw>
          </a:effectLst>
        </p:spPr>
      </p:sp>
      <p:sp>
        <p:nvSpPr>
          <p:cNvPr id="30" name="Text 28"/>
          <p:cNvSpPr/>
          <p:nvPr/>
        </p:nvSpPr>
        <p:spPr>
          <a:xfrm>
            <a:off x="457200" y="3986784"/>
            <a:ext cx="1828800" cy="256032"/>
          </a:xfrm>
          <a:prstGeom prst="rect">
            <a:avLst/>
          </a:prstGeom>
          <a:noFill/>
          <a:ln/>
        </p:spPr>
        <p:txBody>
          <a:bodyPr wrap="square" lIns="0" tIns="0" rIns="0" bIns="0" rtlCol="0" anchor="ctr"/>
          <a:lstStyle/>
          <a:p>
            <a:pPr indent="0" marL="0">
              <a:buNone/>
            </a:pPr>
            <a:r>
              <a:rPr lang="en-US" sz="1000" b="1" spc="200" kern="0" dirty="0">
                <a:solidFill>
                  <a:srgbClr val="5B8DB8"/>
                </a:solidFill>
              </a:rPr>
              <a:t>WHY THIS WORKS</a:t>
            </a:r>
            <a:endParaRPr lang="en-US" sz="1000" dirty="0"/>
          </a:p>
        </p:txBody>
      </p:sp>
      <p:sp>
        <p:nvSpPr>
          <p:cNvPr id="31" name="Text 29"/>
          <p:cNvSpPr/>
          <p:nvPr/>
        </p:nvSpPr>
        <p:spPr>
          <a:xfrm>
            <a:off x="457200" y="4261104"/>
            <a:ext cx="8229600" cy="621792"/>
          </a:xfrm>
          <a:prstGeom prst="rect">
            <a:avLst/>
          </a:prstGeom>
          <a:noFill/>
          <a:ln/>
        </p:spPr>
        <p:txBody>
          <a:bodyPr wrap="square" lIns="0" tIns="0" rIns="0" bIns="0" rtlCol="0" anchor="ctr"/>
          <a:lstStyle/>
          <a:p>
            <a:pPr indent="0" marL="0">
              <a:buNone/>
            </a:pPr>
            <a:r>
              <a:rPr lang="en-US" sz="1050" dirty="0">
                <a:solidFill>
                  <a:srgbClr val="D4E4F0"/>
                </a:solidFill>
              </a:rPr>
              <a:t>Evaluator agents apply checklists consistently at scale. They catch pattern-matching failures (missed tests, lint issues, missing error handling) before the human reviewer ever sees the PR. Human reviewers spend their time on architectural and business logic questions — not mechanical checks.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C3557"/>
        </a:solidFill>
      </p:bgPr>
    </p:bg>
    <p:spTree>
      <p:nvGrpSpPr>
        <p:cNvPr id="1" name=""/>
        <p:cNvGrpSpPr/>
        <p:nvPr/>
      </p:nvGrpSpPr>
      <p:grpSpPr>
        <a:xfrm>
          <a:off x="0" y="0"/>
          <a:ext cx="0" cy="0"/>
          <a:chOff x="0" y="0"/>
          <a:chExt cx="0" cy="0"/>
        </a:xfrm>
      </p:grpSpPr>
      <p:sp>
        <p:nvSpPr>
          <p:cNvPr id="2" name="Text 0"/>
          <p:cNvSpPr/>
          <p:nvPr/>
        </p:nvSpPr>
        <p:spPr>
          <a:xfrm>
            <a:off x="365760" y="201168"/>
            <a:ext cx="8229600" cy="411480"/>
          </a:xfrm>
          <a:prstGeom prst="rect">
            <a:avLst/>
          </a:prstGeom>
          <a:noFill/>
          <a:ln/>
        </p:spPr>
        <p:txBody>
          <a:bodyPr wrap="square" lIns="0" tIns="0" rIns="0" bIns="0" rtlCol="0" anchor="ctr"/>
          <a:lstStyle/>
          <a:p>
            <a:pPr indent="0" marL="0">
              <a:buNone/>
            </a:pPr>
            <a:r>
              <a:rPr lang="en-US" sz="1300" b="1" spc="300" kern="0" dirty="0">
                <a:solidFill>
                  <a:srgbClr val="5B8DB8"/>
                </a:solidFill>
              </a:rPr>
              <a:t>INTERRUPT CONDITIONS  ·  PR STANDARDS</a:t>
            </a:r>
            <a:endParaRPr lang="en-US" sz="1300" dirty="0"/>
          </a:p>
        </p:txBody>
      </p:sp>
      <p:sp>
        <p:nvSpPr>
          <p:cNvPr id="3" name="Text 1"/>
          <p:cNvSpPr/>
          <p:nvPr/>
        </p:nvSpPr>
        <p:spPr>
          <a:xfrm>
            <a:off x="365760" y="658368"/>
            <a:ext cx="8229600" cy="329184"/>
          </a:xfrm>
          <a:prstGeom prst="rect">
            <a:avLst/>
          </a:prstGeom>
          <a:noFill/>
          <a:ln/>
        </p:spPr>
        <p:txBody>
          <a:bodyPr wrap="square" lIns="0" tIns="0" rIns="0" bIns="0" rtlCol="0" anchor="ctr"/>
          <a:lstStyle/>
          <a:p>
            <a:pPr indent="0" marL="0">
              <a:buNone/>
            </a:pPr>
            <a:r>
              <a:rPr lang="en-US" sz="1300" i="1" dirty="0">
                <a:solidFill>
                  <a:srgbClr val="FFFFFF"/>
                </a:solidFill>
              </a:rPr>
              <a:t>Define when an agent must stop before deployment — and what every agent PR must contain</a:t>
            </a:r>
            <a:endParaRPr lang="en-US" sz="1300" dirty="0"/>
          </a:p>
        </p:txBody>
      </p:sp>
      <p:sp>
        <p:nvSpPr>
          <p:cNvPr id="4" name="Shape 2"/>
          <p:cNvSpPr/>
          <p:nvPr/>
        </p:nvSpPr>
        <p:spPr>
          <a:xfrm>
            <a:off x="320040" y="1097280"/>
            <a:ext cx="4206240" cy="3886200"/>
          </a:xfrm>
          <a:prstGeom prst="rect">
            <a:avLst/>
          </a:prstGeom>
          <a:solidFill>
            <a:srgbClr val="2E5073">
              <a:alpha val="82000"/>
            </a:srgbClr>
          </a:solidFill>
          <a:ln/>
          <a:effectLst>
            <a:outerShdw sx="100000" sy="100000" kx="0" ky="0" algn="bl" rotWithShape="0" blurRad="101600" dist="38100" dir="8100000">
              <a:srgbClr val="000000">
                <a:alpha val="13000"/>
              </a:srgbClr>
            </a:outerShdw>
          </a:effectLst>
        </p:spPr>
      </p:sp>
      <p:sp>
        <p:nvSpPr>
          <p:cNvPr id="5" name="Shape 3"/>
          <p:cNvSpPr/>
          <p:nvPr/>
        </p:nvSpPr>
        <p:spPr>
          <a:xfrm>
            <a:off x="320040" y="1097280"/>
            <a:ext cx="4206240" cy="438912"/>
          </a:xfrm>
          <a:prstGeom prst="rect">
            <a:avLst/>
          </a:prstGeom>
          <a:solidFill>
            <a:srgbClr val="3A7DC9">
              <a:alpha val="90000"/>
            </a:srgbClr>
          </a:solidFill>
          <a:ln/>
        </p:spPr>
      </p:sp>
      <p:sp>
        <p:nvSpPr>
          <p:cNvPr id="6" name="Text 4"/>
          <p:cNvSpPr/>
          <p:nvPr/>
        </p:nvSpPr>
        <p:spPr>
          <a:xfrm>
            <a:off x="320040" y="1097280"/>
            <a:ext cx="4206240" cy="438912"/>
          </a:xfrm>
          <a:prstGeom prst="rect">
            <a:avLst/>
          </a:prstGeom>
          <a:noFill/>
          <a:ln/>
        </p:spPr>
        <p:txBody>
          <a:bodyPr wrap="square" lIns="0" tIns="0" rIns="0" bIns="0" rtlCol="0" anchor="ctr"/>
          <a:lstStyle/>
          <a:p>
            <a:pPr algn="ctr" indent="0" marL="0">
              <a:buNone/>
            </a:pPr>
            <a:r>
              <a:rPr lang="en-US" sz="1100" b="1" spc="200" kern="0" dirty="0">
                <a:solidFill>
                  <a:srgbClr val="FFFFFF"/>
                </a:solidFill>
              </a:rPr>
              <a:t>INTERRUPT CONDITIONS</a:t>
            </a:r>
            <a:endParaRPr lang="en-US" sz="1100" dirty="0"/>
          </a:p>
        </p:txBody>
      </p:sp>
      <p:sp>
        <p:nvSpPr>
          <p:cNvPr id="7" name="Shape 5"/>
          <p:cNvSpPr/>
          <p:nvPr/>
        </p:nvSpPr>
        <p:spPr>
          <a:xfrm>
            <a:off x="429768" y="1627632"/>
            <a:ext cx="3986784" cy="566928"/>
          </a:xfrm>
          <a:prstGeom prst="rect">
            <a:avLst/>
          </a:prstGeom>
          <a:solidFill>
            <a:srgbClr val="1C3557"/>
          </a:solidFill>
          <a:ln/>
        </p:spPr>
      </p:sp>
      <p:sp>
        <p:nvSpPr>
          <p:cNvPr id="8" name="Text 6"/>
          <p:cNvSpPr/>
          <p:nvPr/>
        </p:nvSpPr>
        <p:spPr>
          <a:xfrm>
            <a:off x="512064" y="1664208"/>
            <a:ext cx="3822192" cy="256032"/>
          </a:xfrm>
          <a:prstGeom prst="rect">
            <a:avLst/>
          </a:prstGeom>
          <a:noFill/>
          <a:ln/>
        </p:spPr>
        <p:txBody>
          <a:bodyPr wrap="square" lIns="0" tIns="0" rIns="0" bIns="0" rtlCol="0" anchor="ctr"/>
          <a:lstStyle/>
          <a:p>
            <a:pPr indent="0" marL="0">
              <a:buNone/>
            </a:pPr>
            <a:r>
              <a:rPr lang="en-US" sz="1000" dirty="0">
                <a:solidFill>
                  <a:srgbClr val="E8A0A8"/>
                </a:solidFill>
              </a:rPr>
              <a:t>⚠ Proposed change touches &gt; 50 files</a:t>
            </a:r>
            <a:endParaRPr lang="en-US" sz="1000" dirty="0"/>
          </a:p>
        </p:txBody>
      </p:sp>
      <p:sp>
        <p:nvSpPr>
          <p:cNvPr id="9" name="Text 7"/>
          <p:cNvSpPr/>
          <p:nvPr/>
        </p:nvSpPr>
        <p:spPr>
          <a:xfrm>
            <a:off x="512064" y="1920240"/>
            <a:ext cx="3822192" cy="237744"/>
          </a:xfrm>
          <a:prstGeom prst="rect">
            <a:avLst/>
          </a:prstGeom>
          <a:noFill/>
          <a:ln/>
        </p:spPr>
        <p:txBody>
          <a:bodyPr wrap="square" lIns="0" tIns="0" rIns="0" bIns="0" rtlCol="0" anchor="ctr"/>
          <a:lstStyle/>
          <a:p>
            <a:pPr indent="0" marL="0">
              <a:buNone/>
            </a:pPr>
            <a:r>
              <a:rPr lang="en-US" sz="950" dirty="0">
                <a:solidFill>
                  <a:srgbClr val="5B8DB8"/>
                </a:solidFill>
                <a:latin typeface="Consolas" pitchFamily="34" charset="0"/>
                <a:ea typeface="Consolas" pitchFamily="34" charset="-122"/>
                <a:cs typeface="Consolas" pitchFamily="34" charset="-120"/>
              </a:rPr>
              <a:t>↳ pause_and_notify_lead</a:t>
            </a:r>
            <a:endParaRPr lang="en-US" sz="950" dirty="0"/>
          </a:p>
        </p:txBody>
      </p:sp>
      <p:sp>
        <p:nvSpPr>
          <p:cNvPr id="10" name="Shape 8"/>
          <p:cNvSpPr/>
          <p:nvPr/>
        </p:nvSpPr>
        <p:spPr>
          <a:xfrm>
            <a:off x="429768" y="2286000"/>
            <a:ext cx="3986784" cy="566928"/>
          </a:xfrm>
          <a:prstGeom prst="rect">
            <a:avLst/>
          </a:prstGeom>
          <a:solidFill>
            <a:srgbClr val="1C3557"/>
          </a:solidFill>
          <a:ln/>
        </p:spPr>
      </p:sp>
      <p:sp>
        <p:nvSpPr>
          <p:cNvPr id="11" name="Text 9"/>
          <p:cNvSpPr/>
          <p:nvPr/>
        </p:nvSpPr>
        <p:spPr>
          <a:xfrm>
            <a:off x="512064" y="2322576"/>
            <a:ext cx="3822192" cy="256032"/>
          </a:xfrm>
          <a:prstGeom prst="rect">
            <a:avLst/>
          </a:prstGeom>
          <a:noFill/>
          <a:ln/>
        </p:spPr>
        <p:txBody>
          <a:bodyPr wrap="square" lIns="0" tIns="0" rIns="0" bIns="0" rtlCol="0" anchor="ctr"/>
          <a:lstStyle/>
          <a:p>
            <a:pPr indent="0" marL="0">
              <a:buNone/>
            </a:pPr>
            <a:r>
              <a:rPr lang="en-US" sz="1000" dirty="0">
                <a:solidFill>
                  <a:srgbClr val="E8A0A8"/>
                </a:solidFill>
              </a:rPr>
              <a:t>⚠ Test coverage drops below threshold</a:t>
            </a:r>
            <a:endParaRPr lang="en-US" sz="1000" dirty="0"/>
          </a:p>
        </p:txBody>
      </p:sp>
      <p:sp>
        <p:nvSpPr>
          <p:cNvPr id="12" name="Text 10"/>
          <p:cNvSpPr/>
          <p:nvPr/>
        </p:nvSpPr>
        <p:spPr>
          <a:xfrm>
            <a:off x="512064" y="2578608"/>
            <a:ext cx="3822192" cy="237744"/>
          </a:xfrm>
          <a:prstGeom prst="rect">
            <a:avLst/>
          </a:prstGeom>
          <a:noFill/>
          <a:ln/>
        </p:spPr>
        <p:txBody>
          <a:bodyPr wrap="square" lIns="0" tIns="0" rIns="0" bIns="0" rtlCol="0" anchor="ctr"/>
          <a:lstStyle/>
          <a:p>
            <a:pPr indent="0" marL="0">
              <a:buNone/>
            </a:pPr>
            <a:r>
              <a:rPr lang="en-US" sz="950" dirty="0">
                <a:solidFill>
                  <a:srgbClr val="5B8DB8"/>
                </a:solidFill>
                <a:latin typeface="Consolas" pitchFamily="34" charset="0"/>
                <a:ea typeface="Consolas" pitchFamily="34" charset="-122"/>
                <a:cs typeface="Consolas" pitchFamily="34" charset="-120"/>
              </a:rPr>
              <a:t>↳ pause_and_notify_engineer</a:t>
            </a:r>
            <a:endParaRPr lang="en-US" sz="950" dirty="0"/>
          </a:p>
        </p:txBody>
      </p:sp>
      <p:sp>
        <p:nvSpPr>
          <p:cNvPr id="13" name="Shape 11"/>
          <p:cNvSpPr/>
          <p:nvPr/>
        </p:nvSpPr>
        <p:spPr>
          <a:xfrm>
            <a:off x="429768" y="2944368"/>
            <a:ext cx="3986784" cy="566928"/>
          </a:xfrm>
          <a:prstGeom prst="rect">
            <a:avLst/>
          </a:prstGeom>
          <a:solidFill>
            <a:srgbClr val="1C3557"/>
          </a:solidFill>
          <a:ln/>
        </p:spPr>
      </p:sp>
      <p:sp>
        <p:nvSpPr>
          <p:cNvPr id="14" name="Text 12"/>
          <p:cNvSpPr/>
          <p:nvPr/>
        </p:nvSpPr>
        <p:spPr>
          <a:xfrm>
            <a:off x="512064" y="2980944"/>
            <a:ext cx="3822192" cy="256032"/>
          </a:xfrm>
          <a:prstGeom prst="rect">
            <a:avLst/>
          </a:prstGeom>
          <a:noFill/>
          <a:ln/>
        </p:spPr>
        <p:txBody>
          <a:bodyPr wrap="square" lIns="0" tIns="0" rIns="0" bIns="0" rtlCol="0" anchor="ctr"/>
          <a:lstStyle/>
          <a:p>
            <a:pPr indent="0" marL="0">
              <a:buNone/>
            </a:pPr>
            <a:r>
              <a:rPr lang="en-US" sz="1000" dirty="0">
                <a:solidFill>
                  <a:srgbClr val="E8A0A8"/>
                </a:solidFill>
              </a:rPr>
              <a:t>⚠ Change touches auth or authz code</a:t>
            </a:r>
            <a:endParaRPr lang="en-US" sz="1000" dirty="0"/>
          </a:p>
        </p:txBody>
      </p:sp>
      <p:sp>
        <p:nvSpPr>
          <p:cNvPr id="15" name="Text 13"/>
          <p:cNvSpPr/>
          <p:nvPr/>
        </p:nvSpPr>
        <p:spPr>
          <a:xfrm>
            <a:off x="512064" y="3236976"/>
            <a:ext cx="3822192" cy="237744"/>
          </a:xfrm>
          <a:prstGeom prst="rect">
            <a:avLst/>
          </a:prstGeom>
          <a:noFill/>
          <a:ln/>
        </p:spPr>
        <p:txBody>
          <a:bodyPr wrap="square" lIns="0" tIns="0" rIns="0" bIns="0" rtlCol="0" anchor="ctr"/>
          <a:lstStyle/>
          <a:p>
            <a:pPr indent="0" marL="0">
              <a:buNone/>
            </a:pPr>
            <a:r>
              <a:rPr lang="en-US" sz="950" dirty="0">
                <a:solidFill>
                  <a:srgbClr val="5B8DB8"/>
                </a:solidFill>
                <a:latin typeface="Consolas" pitchFamily="34" charset="0"/>
                <a:ea typeface="Consolas" pitchFamily="34" charset="-122"/>
                <a:cs typeface="Consolas" pitchFamily="34" charset="-120"/>
              </a:rPr>
              <a:t>↳ require_security_review</a:t>
            </a:r>
            <a:endParaRPr lang="en-US" sz="950" dirty="0"/>
          </a:p>
        </p:txBody>
      </p:sp>
      <p:sp>
        <p:nvSpPr>
          <p:cNvPr id="16" name="Shape 14"/>
          <p:cNvSpPr/>
          <p:nvPr/>
        </p:nvSpPr>
        <p:spPr>
          <a:xfrm>
            <a:off x="429768" y="3602736"/>
            <a:ext cx="3986784" cy="566928"/>
          </a:xfrm>
          <a:prstGeom prst="rect">
            <a:avLst/>
          </a:prstGeom>
          <a:solidFill>
            <a:srgbClr val="1C3557"/>
          </a:solidFill>
          <a:ln/>
        </p:spPr>
      </p:sp>
      <p:sp>
        <p:nvSpPr>
          <p:cNvPr id="17" name="Text 15"/>
          <p:cNvSpPr/>
          <p:nvPr/>
        </p:nvSpPr>
        <p:spPr>
          <a:xfrm>
            <a:off x="512064" y="3639312"/>
            <a:ext cx="3822192" cy="256032"/>
          </a:xfrm>
          <a:prstGeom prst="rect">
            <a:avLst/>
          </a:prstGeom>
          <a:noFill/>
          <a:ln/>
        </p:spPr>
        <p:txBody>
          <a:bodyPr wrap="square" lIns="0" tIns="0" rIns="0" bIns="0" rtlCol="0" anchor="ctr"/>
          <a:lstStyle/>
          <a:p>
            <a:pPr indent="0" marL="0">
              <a:buNone/>
            </a:pPr>
            <a:r>
              <a:rPr lang="en-US" sz="1000" dirty="0">
                <a:solidFill>
                  <a:srgbClr val="E8A0A8"/>
                </a:solidFill>
              </a:rPr>
              <a:t>⚠ External API call to non-allowlisted domain</a:t>
            </a:r>
            <a:endParaRPr lang="en-US" sz="1000" dirty="0"/>
          </a:p>
        </p:txBody>
      </p:sp>
      <p:sp>
        <p:nvSpPr>
          <p:cNvPr id="18" name="Text 16"/>
          <p:cNvSpPr/>
          <p:nvPr/>
        </p:nvSpPr>
        <p:spPr>
          <a:xfrm>
            <a:off x="512064" y="3895344"/>
            <a:ext cx="3822192" cy="237744"/>
          </a:xfrm>
          <a:prstGeom prst="rect">
            <a:avLst/>
          </a:prstGeom>
          <a:noFill/>
          <a:ln/>
        </p:spPr>
        <p:txBody>
          <a:bodyPr wrap="square" lIns="0" tIns="0" rIns="0" bIns="0" rtlCol="0" anchor="ctr"/>
          <a:lstStyle/>
          <a:p>
            <a:pPr indent="0" marL="0">
              <a:buNone/>
            </a:pPr>
            <a:r>
              <a:rPr lang="en-US" sz="950" dirty="0">
                <a:solidFill>
                  <a:srgbClr val="5B8DB8"/>
                </a:solidFill>
                <a:latin typeface="Consolas" pitchFamily="34" charset="0"/>
                <a:ea typeface="Consolas" pitchFamily="34" charset="-122"/>
                <a:cs typeface="Consolas" pitchFamily="34" charset="-120"/>
              </a:rPr>
              <a:t>↳ pause_and_notify_architect</a:t>
            </a:r>
            <a:endParaRPr lang="en-US" sz="950" dirty="0"/>
          </a:p>
        </p:txBody>
      </p:sp>
      <p:sp>
        <p:nvSpPr>
          <p:cNvPr id="19" name="Shape 17"/>
          <p:cNvSpPr/>
          <p:nvPr/>
        </p:nvSpPr>
        <p:spPr>
          <a:xfrm>
            <a:off x="429768" y="4261104"/>
            <a:ext cx="3986784" cy="566928"/>
          </a:xfrm>
          <a:prstGeom prst="rect">
            <a:avLst/>
          </a:prstGeom>
          <a:solidFill>
            <a:srgbClr val="1C3557"/>
          </a:solidFill>
          <a:ln/>
        </p:spPr>
      </p:sp>
      <p:sp>
        <p:nvSpPr>
          <p:cNvPr id="20" name="Text 18"/>
          <p:cNvSpPr/>
          <p:nvPr/>
        </p:nvSpPr>
        <p:spPr>
          <a:xfrm>
            <a:off x="512064" y="4297680"/>
            <a:ext cx="3822192" cy="256032"/>
          </a:xfrm>
          <a:prstGeom prst="rect">
            <a:avLst/>
          </a:prstGeom>
          <a:noFill/>
          <a:ln/>
        </p:spPr>
        <p:txBody>
          <a:bodyPr wrap="square" lIns="0" tIns="0" rIns="0" bIns="0" rtlCol="0" anchor="ctr"/>
          <a:lstStyle/>
          <a:p>
            <a:pPr indent="0" marL="0">
              <a:buNone/>
            </a:pPr>
            <a:r>
              <a:rPr lang="en-US" sz="1000" dirty="0">
                <a:solidFill>
                  <a:srgbClr val="E8A0A8"/>
                </a:solidFill>
              </a:rPr>
              <a:t>⚠ Agent confidence below 0.7 on any decision</a:t>
            </a:r>
            <a:endParaRPr lang="en-US" sz="1000" dirty="0"/>
          </a:p>
        </p:txBody>
      </p:sp>
      <p:sp>
        <p:nvSpPr>
          <p:cNvPr id="21" name="Text 19"/>
          <p:cNvSpPr/>
          <p:nvPr/>
        </p:nvSpPr>
        <p:spPr>
          <a:xfrm>
            <a:off x="512064" y="4553712"/>
            <a:ext cx="3822192" cy="237744"/>
          </a:xfrm>
          <a:prstGeom prst="rect">
            <a:avLst/>
          </a:prstGeom>
          <a:noFill/>
          <a:ln/>
        </p:spPr>
        <p:txBody>
          <a:bodyPr wrap="square" lIns="0" tIns="0" rIns="0" bIns="0" rtlCol="0" anchor="ctr"/>
          <a:lstStyle/>
          <a:p>
            <a:pPr indent="0" marL="0">
              <a:buNone/>
            </a:pPr>
            <a:r>
              <a:rPr lang="en-US" sz="950" dirty="0">
                <a:solidFill>
                  <a:srgbClr val="5B8DB8"/>
                </a:solidFill>
                <a:latin typeface="Consolas" pitchFamily="34" charset="0"/>
                <a:ea typeface="Consolas" pitchFamily="34" charset="-122"/>
                <a:cs typeface="Consolas" pitchFamily="34" charset="-120"/>
              </a:rPr>
              <a:t>↳ pause_and_request_clarification</a:t>
            </a:r>
            <a:endParaRPr lang="en-US" sz="950" dirty="0"/>
          </a:p>
        </p:txBody>
      </p:sp>
      <p:sp>
        <p:nvSpPr>
          <p:cNvPr id="22" name="Shape 20"/>
          <p:cNvSpPr/>
          <p:nvPr/>
        </p:nvSpPr>
        <p:spPr>
          <a:xfrm>
            <a:off x="4709160" y="1097280"/>
            <a:ext cx="4114800" cy="3886200"/>
          </a:xfrm>
          <a:prstGeom prst="rect">
            <a:avLst/>
          </a:prstGeom>
          <a:solidFill>
            <a:srgbClr val="2E5073">
              <a:alpha val="82000"/>
            </a:srgbClr>
          </a:solidFill>
          <a:ln/>
          <a:effectLst>
            <a:outerShdw sx="100000" sy="100000" kx="0" ky="0" algn="bl" rotWithShape="0" blurRad="101600" dist="38100" dir="8100000">
              <a:srgbClr val="000000">
                <a:alpha val="13000"/>
              </a:srgbClr>
            </a:outerShdw>
          </a:effectLst>
        </p:spPr>
      </p:sp>
      <p:sp>
        <p:nvSpPr>
          <p:cNvPr id="23" name="Shape 21"/>
          <p:cNvSpPr/>
          <p:nvPr/>
        </p:nvSpPr>
        <p:spPr>
          <a:xfrm>
            <a:off x="4709160" y="1097280"/>
            <a:ext cx="4114800" cy="438912"/>
          </a:xfrm>
          <a:prstGeom prst="rect">
            <a:avLst/>
          </a:prstGeom>
          <a:solidFill>
            <a:srgbClr val="4A7FA8">
              <a:alpha val="90000"/>
            </a:srgbClr>
          </a:solidFill>
          <a:ln/>
        </p:spPr>
      </p:sp>
      <p:sp>
        <p:nvSpPr>
          <p:cNvPr id="24" name="Text 22"/>
          <p:cNvSpPr/>
          <p:nvPr/>
        </p:nvSpPr>
        <p:spPr>
          <a:xfrm>
            <a:off x="4709160" y="1097280"/>
            <a:ext cx="4114800" cy="438912"/>
          </a:xfrm>
          <a:prstGeom prst="rect">
            <a:avLst/>
          </a:prstGeom>
          <a:noFill/>
          <a:ln/>
        </p:spPr>
        <p:txBody>
          <a:bodyPr wrap="square" lIns="0" tIns="0" rIns="0" bIns="0" rtlCol="0" anchor="ctr"/>
          <a:lstStyle/>
          <a:p>
            <a:pPr algn="ctr" indent="0" marL="0">
              <a:buNone/>
            </a:pPr>
            <a:r>
              <a:rPr lang="en-US" sz="1100" b="1" spc="200" kern="0" dirty="0">
                <a:solidFill>
                  <a:srgbClr val="FFFFFF"/>
                </a:solidFill>
              </a:rPr>
              <a:t>PR DESCRIPTION STANDARD</a:t>
            </a:r>
            <a:endParaRPr lang="en-US" sz="1100" dirty="0"/>
          </a:p>
        </p:txBody>
      </p:sp>
      <p:sp>
        <p:nvSpPr>
          <p:cNvPr id="25" name="Shape 23"/>
          <p:cNvSpPr/>
          <p:nvPr/>
        </p:nvSpPr>
        <p:spPr>
          <a:xfrm>
            <a:off x="4818888" y="1627632"/>
            <a:ext cx="3895344" cy="566928"/>
          </a:xfrm>
          <a:prstGeom prst="rect">
            <a:avLst/>
          </a:prstGeom>
          <a:solidFill>
            <a:srgbClr val="1C3557"/>
          </a:solidFill>
          <a:ln/>
        </p:spPr>
      </p:sp>
      <p:sp>
        <p:nvSpPr>
          <p:cNvPr id="26" name="Text 24"/>
          <p:cNvSpPr/>
          <p:nvPr/>
        </p:nvSpPr>
        <p:spPr>
          <a:xfrm>
            <a:off x="4901184" y="1664208"/>
            <a:ext cx="3730752" cy="237744"/>
          </a:xfrm>
          <a:prstGeom prst="rect">
            <a:avLst/>
          </a:prstGeom>
          <a:noFill/>
          <a:ln/>
        </p:spPr>
        <p:txBody>
          <a:bodyPr wrap="square" lIns="0" tIns="0" rIns="0" bIns="0" rtlCol="0" anchor="ctr"/>
          <a:lstStyle/>
          <a:p>
            <a:pPr indent="0" marL="0">
              <a:buNone/>
            </a:pPr>
            <a:r>
              <a:rPr lang="en-US" sz="1000" dirty="0">
                <a:solidFill>
                  <a:srgbClr val="5B8DB8"/>
                </a:solidFill>
                <a:latin typeface="Consolas" pitchFamily="34" charset="0"/>
                <a:ea typeface="Consolas" pitchFamily="34" charset="-122"/>
                <a:cs typeface="Consolas" pitchFamily="34" charset="-120"/>
              </a:rPr>
              <a:t>## What changed</a:t>
            </a:r>
            <a:endParaRPr lang="en-US" sz="1000" dirty="0"/>
          </a:p>
        </p:txBody>
      </p:sp>
      <p:sp>
        <p:nvSpPr>
          <p:cNvPr id="27" name="Text 25"/>
          <p:cNvSpPr/>
          <p:nvPr/>
        </p:nvSpPr>
        <p:spPr>
          <a:xfrm>
            <a:off x="4901184" y="1920240"/>
            <a:ext cx="3730752" cy="237744"/>
          </a:xfrm>
          <a:prstGeom prst="rect">
            <a:avLst/>
          </a:prstGeom>
          <a:noFill/>
          <a:ln/>
        </p:spPr>
        <p:txBody>
          <a:bodyPr wrap="square" lIns="0" tIns="0" rIns="0" bIns="0" rtlCol="0" anchor="ctr"/>
          <a:lstStyle/>
          <a:p>
            <a:pPr indent="0" marL="0">
              <a:buNone/>
            </a:pPr>
            <a:r>
              <a:rPr lang="en-US" sz="950" dirty="0">
                <a:solidFill>
                  <a:srgbClr val="D4E4F0"/>
                </a:solidFill>
              </a:rPr>
              <a:t>Plain English summary of what the code does differently</a:t>
            </a:r>
            <a:endParaRPr lang="en-US" sz="950" dirty="0"/>
          </a:p>
        </p:txBody>
      </p:sp>
      <p:sp>
        <p:nvSpPr>
          <p:cNvPr id="28" name="Shape 26"/>
          <p:cNvSpPr/>
          <p:nvPr/>
        </p:nvSpPr>
        <p:spPr>
          <a:xfrm>
            <a:off x="4818888" y="2286000"/>
            <a:ext cx="3895344" cy="566928"/>
          </a:xfrm>
          <a:prstGeom prst="rect">
            <a:avLst/>
          </a:prstGeom>
          <a:solidFill>
            <a:srgbClr val="1C3557"/>
          </a:solidFill>
          <a:ln/>
        </p:spPr>
      </p:sp>
      <p:sp>
        <p:nvSpPr>
          <p:cNvPr id="29" name="Text 27"/>
          <p:cNvSpPr/>
          <p:nvPr/>
        </p:nvSpPr>
        <p:spPr>
          <a:xfrm>
            <a:off x="4901184" y="2322576"/>
            <a:ext cx="3730752" cy="237744"/>
          </a:xfrm>
          <a:prstGeom prst="rect">
            <a:avLst/>
          </a:prstGeom>
          <a:noFill/>
          <a:ln/>
        </p:spPr>
        <p:txBody>
          <a:bodyPr wrap="square" lIns="0" tIns="0" rIns="0" bIns="0" rtlCol="0" anchor="ctr"/>
          <a:lstStyle/>
          <a:p>
            <a:pPr indent="0" marL="0">
              <a:buNone/>
            </a:pPr>
            <a:r>
              <a:rPr lang="en-US" sz="1000" dirty="0">
                <a:solidFill>
                  <a:srgbClr val="5B8DB8"/>
                </a:solidFill>
                <a:latin typeface="Consolas" pitchFamily="34" charset="0"/>
                <a:ea typeface="Consolas" pitchFamily="34" charset="-122"/>
                <a:cs typeface="Consolas" pitchFamily="34" charset="-120"/>
              </a:rPr>
              <a:t>## Why</a:t>
            </a:r>
            <a:endParaRPr lang="en-US" sz="1000" dirty="0"/>
          </a:p>
        </p:txBody>
      </p:sp>
      <p:sp>
        <p:nvSpPr>
          <p:cNvPr id="30" name="Text 28"/>
          <p:cNvSpPr/>
          <p:nvPr/>
        </p:nvSpPr>
        <p:spPr>
          <a:xfrm>
            <a:off x="4901184" y="2578608"/>
            <a:ext cx="3730752" cy="237744"/>
          </a:xfrm>
          <a:prstGeom prst="rect">
            <a:avLst/>
          </a:prstGeom>
          <a:noFill/>
          <a:ln/>
        </p:spPr>
        <p:txBody>
          <a:bodyPr wrap="square" lIns="0" tIns="0" rIns="0" bIns="0" rtlCol="0" anchor="ctr"/>
          <a:lstStyle/>
          <a:p>
            <a:pPr indent="0" marL="0">
              <a:buNone/>
            </a:pPr>
            <a:r>
              <a:rPr lang="en-US" sz="950" dirty="0">
                <a:solidFill>
                  <a:srgbClr val="D4E4F0"/>
                </a:solidFill>
              </a:rPr>
              <a:t>Link to PRD/ticket; business or technical rationale</a:t>
            </a:r>
            <a:endParaRPr lang="en-US" sz="950" dirty="0"/>
          </a:p>
        </p:txBody>
      </p:sp>
      <p:sp>
        <p:nvSpPr>
          <p:cNvPr id="31" name="Shape 29"/>
          <p:cNvSpPr/>
          <p:nvPr/>
        </p:nvSpPr>
        <p:spPr>
          <a:xfrm>
            <a:off x="4818888" y="2944368"/>
            <a:ext cx="3895344" cy="566928"/>
          </a:xfrm>
          <a:prstGeom prst="rect">
            <a:avLst/>
          </a:prstGeom>
          <a:solidFill>
            <a:srgbClr val="1C3557"/>
          </a:solidFill>
          <a:ln/>
        </p:spPr>
      </p:sp>
      <p:sp>
        <p:nvSpPr>
          <p:cNvPr id="32" name="Text 30"/>
          <p:cNvSpPr/>
          <p:nvPr/>
        </p:nvSpPr>
        <p:spPr>
          <a:xfrm>
            <a:off x="4901184" y="2980944"/>
            <a:ext cx="3730752" cy="237744"/>
          </a:xfrm>
          <a:prstGeom prst="rect">
            <a:avLst/>
          </a:prstGeom>
          <a:noFill/>
          <a:ln/>
        </p:spPr>
        <p:txBody>
          <a:bodyPr wrap="square" lIns="0" tIns="0" rIns="0" bIns="0" rtlCol="0" anchor="ctr"/>
          <a:lstStyle/>
          <a:p>
            <a:pPr indent="0" marL="0">
              <a:buNone/>
            </a:pPr>
            <a:r>
              <a:rPr lang="en-US" sz="1000" dirty="0">
                <a:solidFill>
                  <a:srgbClr val="5B8DB8"/>
                </a:solidFill>
                <a:latin typeface="Consolas" pitchFamily="34" charset="0"/>
                <a:ea typeface="Consolas" pitchFamily="34" charset="-122"/>
                <a:cs typeface="Consolas" pitchFamily="34" charset="-120"/>
              </a:rPr>
              <a:t>## Alternatives considered</a:t>
            </a:r>
            <a:endParaRPr lang="en-US" sz="1000" dirty="0"/>
          </a:p>
        </p:txBody>
      </p:sp>
      <p:sp>
        <p:nvSpPr>
          <p:cNvPr id="33" name="Text 31"/>
          <p:cNvSpPr/>
          <p:nvPr/>
        </p:nvSpPr>
        <p:spPr>
          <a:xfrm>
            <a:off x="4901184" y="3236976"/>
            <a:ext cx="3730752" cy="237744"/>
          </a:xfrm>
          <a:prstGeom prst="rect">
            <a:avLst/>
          </a:prstGeom>
          <a:noFill/>
          <a:ln/>
        </p:spPr>
        <p:txBody>
          <a:bodyPr wrap="square" lIns="0" tIns="0" rIns="0" bIns="0" rtlCol="0" anchor="ctr"/>
          <a:lstStyle/>
          <a:p>
            <a:pPr indent="0" marL="0">
              <a:buNone/>
            </a:pPr>
            <a:r>
              <a:rPr lang="en-US" sz="950" dirty="0">
                <a:solidFill>
                  <a:srgbClr val="D4E4F0"/>
                </a:solidFill>
              </a:rPr>
              <a:t>What other approaches were evaluated and why this one was chosen</a:t>
            </a:r>
            <a:endParaRPr lang="en-US" sz="950" dirty="0"/>
          </a:p>
        </p:txBody>
      </p:sp>
      <p:sp>
        <p:nvSpPr>
          <p:cNvPr id="34" name="Shape 32"/>
          <p:cNvSpPr/>
          <p:nvPr/>
        </p:nvSpPr>
        <p:spPr>
          <a:xfrm>
            <a:off x="4818888" y="3602736"/>
            <a:ext cx="3895344" cy="566928"/>
          </a:xfrm>
          <a:prstGeom prst="rect">
            <a:avLst/>
          </a:prstGeom>
          <a:solidFill>
            <a:srgbClr val="1C3557"/>
          </a:solidFill>
          <a:ln/>
        </p:spPr>
      </p:sp>
      <p:sp>
        <p:nvSpPr>
          <p:cNvPr id="35" name="Text 33"/>
          <p:cNvSpPr/>
          <p:nvPr/>
        </p:nvSpPr>
        <p:spPr>
          <a:xfrm>
            <a:off x="4901184" y="3639312"/>
            <a:ext cx="3730752" cy="237744"/>
          </a:xfrm>
          <a:prstGeom prst="rect">
            <a:avLst/>
          </a:prstGeom>
          <a:noFill/>
          <a:ln/>
        </p:spPr>
        <p:txBody>
          <a:bodyPr wrap="square" lIns="0" tIns="0" rIns="0" bIns="0" rtlCol="0" anchor="ctr"/>
          <a:lstStyle/>
          <a:p>
            <a:pPr indent="0" marL="0">
              <a:buNone/>
            </a:pPr>
            <a:r>
              <a:rPr lang="en-US" sz="1000" dirty="0">
                <a:solidFill>
                  <a:srgbClr val="5B8DB8"/>
                </a:solidFill>
                <a:latin typeface="Consolas" pitchFamily="34" charset="0"/>
                <a:ea typeface="Consolas" pitchFamily="34" charset="-122"/>
                <a:cs typeface="Consolas" pitchFamily="34" charset="-120"/>
              </a:rPr>
              <a:t>## Agent confidence</a:t>
            </a:r>
            <a:endParaRPr lang="en-US" sz="1000" dirty="0"/>
          </a:p>
        </p:txBody>
      </p:sp>
      <p:sp>
        <p:nvSpPr>
          <p:cNvPr id="36" name="Text 34"/>
          <p:cNvSpPr/>
          <p:nvPr/>
        </p:nvSpPr>
        <p:spPr>
          <a:xfrm>
            <a:off x="4901184" y="3895344"/>
            <a:ext cx="3730752" cy="237744"/>
          </a:xfrm>
          <a:prstGeom prst="rect">
            <a:avLst/>
          </a:prstGeom>
          <a:noFill/>
          <a:ln/>
        </p:spPr>
        <p:txBody>
          <a:bodyPr wrap="square" lIns="0" tIns="0" rIns="0" bIns="0" rtlCol="0" anchor="ctr"/>
          <a:lstStyle/>
          <a:p>
            <a:pPr indent="0" marL="0">
              <a:buNone/>
            </a:pPr>
            <a:r>
              <a:rPr lang="en-US" sz="950" dirty="0">
                <a:solidFill>
                  <a:srgbClr val="D4E4F0"/>
                </a:solidFill>
              </a:rPr>
              <a:t>[High/Medium/Low] — What the agent is uncertain about</a:t>
            </a:r>
            <a:endParaRPr lang="en-US" sz="950" dirty="0"/>
          </a:p>
        </p:txBody>
      </p:sp>
      <p:sp>
        <p:nvSpPr>
          <p:cNvPr id="37" name="Shape 35"/>
          <p:cNvSpPr/>
          <p:nvPr/>
        </p:nvSpPr>
        <p:spPr>
          <a:xfrm>
            <a:off x="4818888" y="4261104"/>
            <a:ext cx="3895344" cy="566928"/>
          </a:xfrm>
          <a:prstGeom prst="rect">
            <a:avLst/>
          </a:prstGeom>
          <a:solidFill>
            <a:srgbClr val="1C3557"/>
          </a:solidFill>
          <a:ln/>
        </p:spPr>
      </p:sp>
      <p:sp>
        <p:nvSpPr>
          <p:cNvPr id="38" name="Text 36"/>
          <p:cNvSpPr/>
          <p:nvPr/>
        </p:nvSpPr>
        <p:spPr>
          <a:xfrm>
            <a:off x="4901184" y="4297680"/>
            <a:ext cx="3730752" cy="237744"/>
          </a:xfrm>
          <a:prstGeom prst="rect">
            <a:avLst/>
          </a:prstGeom>
          <a:noFill/>
          <a:ln/>
        </p:spPr>
        <p:txBody>
          <a:bodyPr wrap="square" lIns="0" tIns="0" rIns="0" bIns="0" rtlCol="0" anchor="ctr"/>
          <a:lstStyle/>
          <a:p>
            <a:pPr indent="0" marL="0">
              <a:buNone/>
            </a:pPr>
            <a:r>
              <a:rPr lang="en-US" sz="1000" dirty="0">
                <a:solidFill>
                  <a:srgbClr val="5B8DB8"/>
                </a:solidFill>
                <a:latin typeface="Consolas" pitchFamily="34" charset="0"/>
                <a:ea typeface="Consolas" pitchFamily="34" charset="-122"/>
                <a:cs typeface="Consolas" pitchFamily="34" charset="-120"/>
              </a:rPr>
              <a:t>## Reviewer focus</a:t>
            </a:r>
            <a:endParaRPr lang="en-US" sz="1000" dirty="0"/>
          </a:p>
        </p:txBody>
      </p:sp>
      <p:sp>
        <p:nvSpPr>
          <p:cNvPr id="39" name="Text 37"/>
          <p:cNvSpPr/>
          <p:nvPr/>
        </p:nvSpPr>
        <p:spPr>
          <a:xfrm>
            <a:off x="4901184" y="4553712"/>
            <a:ext cx="3730752" cy="237744"/>
          </a:xfrm>
          <a:prstGeom prst="rect">
            <a:avLst/>
          </a:prstGeom>
          <a:noFill/>
          <a:ln/>
        </p:spPr>
        <p:txBody>
          <a:bodyPr wrap="square" lIns="0" tIns="0" rIns="0" bIns="0" rtlCol="0" anchor="ctr"/>
          <a:lstStyle/>
          <a:p>
            <a:pPr indent="0" marL="0">
              <a:buNone/>
            </a:pPr>
            <a:r>
              <a:rPr lang="en-US" sz="950" dirty="0">
                <a:solidFill>
                  <a:srgbClr val="D4E4F0"/>
                </a:solidFill>
              </a:rPr>
              <a:t>What the agent specifically wants the human reviewer to check</a:t>
            </a:r>
            <a:endParaRPr lang="en-US" sz="950" dirty="0"/>
          </a:p>
        </p:txBody>
      </p:sp>
      <p:sp>
        <p:nvSpPr>
          <p:cNvPr id="40" name="Text 38"/>
          <p:cNvSpPr/>
          <p:nvPr/>
        </p:nvSpPr>
        <p:spPr>
          <a:xfrm>
            <a:off x="320040" y="4892040"/>
            <a:ext cx="8503920" cy="219456"/>
          </a:xfrm>
          <a:prstGeom prst="rect">
            <a:avLst/>
          </a:prstGeom>
          <a:noFill/>
          <a:ln/>
        </p:spPr>
        <p:txBody>
          <a:bodyPr wrap="square" lIns="0" tIns="0" rIns="0" bIns="0" rtlCol="0" anchor="ctr"/>
          <a:lstStyle/>
          <a:p>
            <a:pPr indent="0" marL="0">
              <a:buNone/>
            </a:pPr>
            <a:r>
              <a:rPr lang="en-US" sz="950" i="1" dirty="0">
                <a:solidFill>
                  <a:srgbClr val="7A90A8"/>
                </a:solidFill>
              </a:rPr>
              <a:t>“Agent confidence” and “Reviewer focus” are the most important fields — they direct human attention to where it is most needed.</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C3557"/>
          </a:solidFill>
          <a:ln/>
        </p:spPr>
      </p:sp>
      <p:sp>
        <p:nvSpPr>
          <p:cNvPr id="3" name="Text 1"/>
          <p:cNvSpPr/>
          <p:nvPr/>
        </p:nvSpPr>
        <p:spPr>
          <a:xfrm>
            <a:off x="365760" y="0"/>
            <a:ext cx="8229600" cy="749808"/>
          </a:xfrm>
          <a:prstGeom prst="rect">
            <a:avLst/>
          </a:prstGeom>
          <a:noFill/>
          <a:ln/>
        </p:spPr>
        <p:txBody>
          <a:bodyPr wrap="square" lIns="0" tIns="0" rIns="0" bIns="0" rtlCol="0" anchor="ctr"/>
          <a:lstStyle/>
          <a:p>
            <a:pPr indent="0" marL="0">
              <a:buNone/>
            </a:pPr>
            <a:r>
              <a:rPr lang="en-US" sz="1300" b="1" spc="300" kern="0" dirty="0">
                <a:solidFill>
                  <a:srgbClr val="FFFFFF"/>
                </a:solidFill>
              </a:rPr>
              <a:t>REVIEW CYCLE DESIGN PRINCIPLES</a:t>
            </a:r>
            <a:endParaRPr lang="en-US" sz="1300" dirty="0"/>
          </a:p>
        </p:txBody>
      </p:sp>
      <p:sp>
        <p:nvSpPr>
          <p:cNvPr id="4" name="Text 2"/>
          <p:cNvSpPr/>
          <p:nvPr/>
        </p:nvSpPr>
        <p:spPr>
          <a:xfrm>
            <a:off x="365760" y="822960"/>
            <a:ext cx="8412480" cy="274320"/>
          </a:xfrm>
          <a:prstGeom prst="rect">
            <a:avLst/>
          </a:prstGeom>
          <a:noFill/>
          <a:ln/>
        </p:spPr>
        <p:txBody>
          <a:bodyPr wrap="square" lIns="0" tIns="0" rIns="0" bIns="0" rtlCol="0" anchor="ctr"/>
          <a:lstStyle/>
          <a:p>
            <a:pPr indent="0" marL="0">
              <a:buNone/>
            </a:pPr>
            <a:r>
              <a:rPr lang="en-US" sz="1200" i="1" dirty="0">
                <a:solidFill>
                  <a:srgbClr val="7A90A8"/>
                </a:solidFill>
              </a:rPr>
              <a:t>These principles apply whether you are reviewing code, specs, architecture documents, or documentation</a:t>
            </a:r>
            <a:endParaRPr lang="en-US" sz="1200" dirty="0"/>
          </a:p>
        </p:txBody>
      </p:sp>
      <p:sp>
        <p:nvSpPr>
          <p:cNvPr id="5" name="Shape 3"/>
          <p:cNvSpPr/>
          <p:nvPr/>
        </p:nvSpPr>
        <p:spPr>
          <a:xfrm>
            <a:off x="320040" y="1170432"/>
            <a:ext cx="4160520" cy="1188720"/>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6" name="Shape 4"/>
          <p:cNvSpPr/>
          <p:nvPr/>
        </p:nvSpPr>
        <p:spPr>
          <a:xfrm>
            <a:off x="320040" y="1170432"/>
            <a:ext cx="54864" cy="1188720"/>
          </a:xfrm>
          <a:prstGeom prst="rect">
            <a:avLst/>
          </a:prstGeom>
          <a:solidFill>
            <a:srgbClr val="4A7FA8"/>
          </a:solidFill>
          <a:ln/>
        </p:spPr>
      </p:sp>
      <p:sp>
        <p:nvSpPr>
          <p:cNvPr id="7" name="Text 5"/>
          <p:cNvSpPr/>
          <p:nvPr/>
        </p:nvSpPr>
        <p:spPr>
          <a:xfrm>
            <a:off x="466344" y="1243584"/>
            <a:ext cx="3959352" cy="329184"/>
          </a:xfrm>
          <a:prstGeom prst="rect">
            <a:avLst/>
          </a:prstGeom>
          <a:noFill/>
          <a:ln/>
        </p:spPr>
        <p:txBody>
          <a:bodyPr wrap="square" lIns="0" tIns="0" rIns="0" bIns="0" rtlCol="0" anchor="ctr"/>
          <a:lstStyle/>
          <a:p>
            <a:pPr indent="0" marL="0">
              <a:buNone/>
            </a:pPr>
            <a:r>
              <a:rPr lang="en-US" sz="1200" b="1" dirty="0">
                <a:solidFill>
                  <a:srgbClr val="1C3557"/>
                </a:solidFill>
              </a:rPr>
              <a:t>Match review granularity to risk</a:t>
            </a:r>
            <a:endParaRPr lang="en-US" sz="1200" dirty="0"/>
          </a:p>
        </p:txBody>
      </p:sp>
      <p:sp>
        <p:nvSpPr>
          <p:cNvPr id="8" name="Text 6"/>
          <p:cNvSpPr/>
          <p:nvPr/>
        </p:nvSpPr>
        <p:spPr>
          <a:xfrm>
            <a:off x="466344" y="1627632"/>
            <a:ext cx="3959352" cy="658368"/>
          </a:xfrm>
          <a:prstGeom prst="rect">
            <a:avLst/>
          </a:prstGeom>
          <a:noFill/>
          <a:ln/>
        </p:spPr>
        <p:txBody>
          <a:bodyPr wrap="square" lIns="0" tIns="0" rIns="0" bIns="0" rtlCol="0" anchor="ctr"/>
          <a:lstStyle/>
          <a:p>
            <a:pPr indent="0" marL="0">
              <a:buNone/>
            </a:pPr>
            <a:r>
              <a:rPr lang="en-US" sz="1100" dirty="0">
                <a:solidFill>
                  <a:srgbClr val="7A90A8"/>
                </a:solidFill>
              </a:rPr>
              <a:t>Low-risk, reversible changes (formatting, docs, test additions) can be auto-merged after agent review. High-risk, irreversible changes (schema migrations, security, public API) require human approval.</a:t>
            </a:r>
            <a:endParaRPr lang="en-US" sz="1100" dirty="0"/>
          </a:p>
        </p:txBody>
      </p:sp>
      <p:sp>
        <p:nvSpPr>
          <p:cNvPr id="9" name="Shape 7"/>
          <p:cNvSpPr/>
          <p:nvPr/>
        </p:nvSpPr>
        <p:spPr>
          <a:xfrm>
            <a:off x="4663440" y="1170432"/>
            <a:ext cx="4160520" cy="1188720"/>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10" name="Shape 8"/>
          <p:cNvSpPr/>
          <p:nvPr/>
        </p:nvSpPr>
        <p:spPr>
          <a:xfrm>
            <a:off x="4663440" y="1170432"/>
            <a:ext cx="54864" cy="1188720"/>
          </a:xfrm>
          <a:prstGeom prst="rect">
            <a:avLst/>
          </a:prstGeom>
          <a:solidFill>
            <a:srgbClr val="4A7FA8"/>
          </a:solidFill>
          <a:ln/>
        </p:spPr>
      </p:sp>
      <p:sp>
        <p:nvSpPr>
          <p:cNvPr id="11" name="Text 9"/>
          <p:cNvSpPr/>
          <p:nvPr/>
        </p:nvSpPr>
        <p:spPr>
          <a:xfrm>
            <a:off x="4809744" y="1243584"/>
            <a:ext cx="3959352" cy="329184"/>
          </a:xfrm>
          <a:prstGeom prst="rect">
            <a:avLst/>
          </a:prstGeom>
          <a:noFill/>
          <a:ln/>
        </p:spPr>
        <p:txBody>
          <a:bodyPr wrap="square" lIns="0" tIns="0" rIns="0" bIns="0" rtlCol="0" anchor="ctr"/>
          <a:lstStyle/>
          <a:p>
            <a:pPr indent="0" marL="0">
              <a:buNone/>
            </a:pPr>
            <a:r>
              <a:rPr lang="en-US" sz="1200" b="1" dirty="0">
                <a:solidFill>
                  <a:srgbClr val="1C3557"/>
                </a:solidFill>
              </a:rPr>
              <a:t>Humans review decisions, not diffs</a:t>
            </a:r>
            <a:endParaRPr lang="en-US" sz="1200" dirty="0"/>
          </a:p>
        </p:txBody>
      </p:sp>
      <p:sp>
        <p:nvSpPr>
          <p:cNvPr id="12" name="Text 10"/>
          <p:cNvSpPr/>
          <p:nvPr/>
        </p:nvSpPr>
        <p:spPr>
          <a:xfrm>
            <a:off x="4809744" y="1627632"/>
            <a:ext cx="3959352" cy="658368"/>
          </a:xfrm>
          <a:prstGeom prst="rect">
            <a:avLst/>
          </a:prstGeom>
          <a:noFill/>
          <a:ln/>
        </p:spPr>
        <p:txBody>
          <a:bodyPr wrap="square" lIns="0" tIns="0" rIns="0" bIns="0" rtlCol="0" anchor="ctr"/>
          <a:lstStyle/>
          <a:p>
            <a:pPr indent="0" marL="0">
              <a:buNone/>
            </a:pPr>
            <a:r>
              <a:rPr lang="en-US" sz="1100" dirty="0">
                <a:solidFill>
                  <a:srgbClr val="7A90A8"/>
                </a:solidFill>
              </a:rPr>
              <a:t>A human reviewer should be answering: “Is this the right approach?” — not “Did the agent make a typo?” Automated checks handle the latter.</a:t>
            </a:r>
            <a:endParaRPr lang="en-US" sz="1100" dirty="0"/>
          </a:p>
        </p:txBody>
      </p:sp>
      <p:sp>
        <p:nvSpPr>
          <p:cNvPr id="13" name="Shape 11"/>
          <p:cNvSpPr/>
          <p:nvPr/>
        </p:nvSpPr>
        <p:spPr>
          <a:xfrm>
            <a:off x="320040" y="2496312"/>
            <a:ext cx="4160520" cy="1188720"/>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14" name="Shape 12"/>
          <p:cNvSpPr/>
          <p:nvPr/>
        </p:nvSpPr>
        <p:spPr>
          <a:xfrm>
            <a:off x="320040" y="2496312"/>
            <a:ext cx="54864" cy="1188720"/>
          </a:xfrm>
          <a:prstGeom prst="rect">
            <a:avLst/>
          </a:prstGeom>
          <a:solidFill>
            <a:srgbClr val="4A7FA8"/>
          </a:solidFill>
          <a:ln/>
        </p:spPr>
      </p:sp>
      <p:sp>
        <p:nvSpPr>
          <p:cNvPr id="15" name="Text 13"/>
          <p:cNvSpPr/>
          <p:nvPr/>
        </p:nvSpPr>
        <p:spPr>
          <a:xfrm>
            <a:off x="466344" y="2569464"/>
            <a:ext cx="3959352" cy="329184"/>
          </a:xfrm>
          <a:prstGeom prst="rect">
            <a:avLst/>
          </a:prstGeom>
          <a:noFill/>
          <a:ln/>
        </p:spPr>
        <p:txBody>
          <a:bodyPr wrap="square" lIns="0" tIns="0" rIns="0" bIns="0" rtlCol="0" anchor="ctr"/>
          <a:lstStyle/>
          <a:p>
            <a:pPr indent="0" marL="0">
              <a:buNone/>
            </a:pPr>
            <a:r>
              <a:rPr lang="en-US" sz="1200" b="1" dirty="0">
                <a:solidFill>
                  <a:srgbClr val="1C3557"/>
                </a:solidFill>
              </a:rPr>
              <a:t>The agent must explain its reasoning</a:t>
            </a:r>
            <a:endParaRPr lang="en-US" sz="1200" dirty="0"/>
          </a:p>
        </p:txBody>
      </p:sp>
      <p:sp>
        <p:nvSpPr>
          <p:cNvPr id="16" name="Text 14"/>
          <p:cNvSpPr/>
          <p:nvPr/>
        </p:nvSpPr>
        <p:spPr>
          <a:xfrm>
            <a:off x="466344" y="2953512"/>
            <a:ext cx="3959352" cy="658368"/>
          </a:xfrm>
          <a:prstGeom prst="rect">
            <a:avLst/>
          </a:prstGeom>
          <a:noFill/>
          <a:ln/>
        </p:spPr>
        <p:txBody>
          <a:bodyPr wrap="square" lIns="0" tIns="0" rIns="0" bIns="0" rtlCol="0" anchor="ctr"/>
          <a:lstStyle/>
          <a:p>
            <a:pPr indent="0" marL="0">
              <a:buNone/>
            </a:pPr>
            <a:r>
              <a:rPr lang="en-US" sz="1100" dirty="0">
                <a:solidFill>
                  <a:srgbClr val="7A90A8"/>
                </a:solidFill>
              </a:rPr>
              <a:t>Every agent-generated PR must include what changed, why, what alternatives were considered, and what the agent is uncertain about. This is the context a human reviewer needs.</a:t>
            </a:r>
            <a:endParaRPr lang="en-US" sz="1100" dirty="0"/>
          </a:p>
        </p:txBody>
      </p:sp>
      <p:sp>
        <p:nvSpPr>
          <p:cNvPr id="17" name="Shape 15"/>
          <p:cNvSpPr/>
          <p:nvPr/>
        </p:nvSpPr>
        <p:spPr>
          <a:xfrm>
            <a:off x="4663440" y="2496312"/>
            <a:ext cx="4160520" cy="1188720"/>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18" name="Shape 16"/>
          <p:cNvSpPr/>
          <p:nvPr/>
        </p:nvSpPr>
        <p:spPr>
          <a:xfrm>
            <a:off x="4663440" y="2496312"/>
            <a:ext cx="54864" cy="1188720"/>
          </a:xfrm>
          <a:prstGeom prst="rect">
            <a:avLst/>
          </a:prstGeom>
          <a:solidFill>
            <a:srgbClr val="4A7FA8"/>
          </a:solidFill>
          <a:ln/>
        </p:spPr>
      </p:sp>
      <p:sp>
        <p:nvSpPr>
          <p:cNvPr id="19" name="Text 17"/>
          <p:cNvSpPr/>
          <p:nvPr/>
        </p:nvSpPr>
        <p:spPr>
          <a:xfrm>
            <a:off x="4809744" y="2569464"/>
            <a:ext cx="3959352" cy="329184"/>
          </a:xfrm>
          <a:prstGeom prst="rect">
            <a:avLst/>
          </a:prstGeom>
          <a:noFill/>
          <a:ln/>
        </p:spPr>
        <p:txBody>
          <a:bodyPr wrap="square" lIns="0" tIns="0" rIns="0" bIns="0" rtlCol="0" anchor="ctr"/>
          <a:lstStyle/>
          <a:p>
            <a:pPr indent="0" marL="0">
              <a:buNone/>
            </a:pPr>
            <a:r>
              <a:rPr lang="en-US" sz="1200" b="1" dirty="0">
                <a:solidFill>
                  <a:srgbClr val="1C3557"/>
                </a:solidFill>
              </a:rPr>
              <a:t>Never skip the gate for speed</a:t>
            </a:r>
            <a:endParaRPr lang="en-US" sz="1200" dirty="0"/>
          </a:p>
        </p:txBody>
      </p:sp>
      <p:sp>
        <p:nvSpPr>
          <p:cNvPr id="20" name="Text 18"/>
          <p:cNvSpPr/>
          <p:nvPr/>
        </p:nvSpPr>
        <p:spPr>
          <a:xfrm>
            <a:off x="4809744" y="2953512"/>
            <a:ext cx="3959352" cy="658368"/>
          </a:xfrm>
          <a:prstGeom prst="rect">
            <a:avLst/>
          </a:prstGeom>
          <a:noFill/>
          <a:ln/>
        </p:spPr>
        <p:txBody>
          <a:bodyPr wrap="square" lIns="0" tIns="0" rIns="0" bIns="0" rtlCol="0" anchor="ctr"/>
          <a:lstStyle/>
          <a:p>
            <a:pPr indent="0" marL="0">
              <a:buNone/>
            </a:pPr>
            <a:r>
              <a:rPr lang="en-US" sz="1100" dirty="0">
                <a:solidFill>
                  <a:srgbClr val="7A90A8"/>
                </a:solidFill>
              </a:rPr>
              <a:t>Speed pressure is the most common reason review gates get bypassed. Gates exist for production incidents, not convenience. If your gates are too slow, fix the gates — don’t remove them.</a:t>
            </a:r>
            <a:endParaRPr lang="en-US" sz="1100" dirty="0"/>
          </a:p>
        </p:txBody>
      </p:sp>
      <p:sp>
        <p:nvSpPr>
          <p:cNvPr id="21" name="Shape 19"/>
          <p:cNvSpPr/>
          <p:nvPr/>
        </p:nvSpPr>
        <p:spPr>
          <a:xfrm>
            <a:off x="320040" y="3822192"/>
            <a:ext cx="4160520" cy="1188720"/>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22" name="Shape 20"/>
          <p:cNvSpPr/>
          <p:nvPr/>
        </p:nvSpPr>
        <p:spPr>
          <a:xfrm>
            <a:off x="320040" y="3822192"/>
            <a:ext cx="54864" cy="1188720"/>
          </a:xfrm>
          <a:prstGeom prst="rect">
            <a:avLst/>
          </a:prstGeom>
          <a:solidFill>
            <a:srgbClr val="4A7FA8"/>
          </a:solidFill>
          <a:ln/>
        </p:spPr>
      </p:sp>
      <p:sp>
        <p:nvSpPr>
          <p:cNvPr id="23" name="Text 21"/>
          <p:cNvSpPr/>
          <p:nvPr/>
        </p:nvSpPr>
        <p:spPr>
          <a:xfrm>
            <a:off x="466344" y="3895344"/>
            <a:ext cx="3959352" cy="329184"/>
          </a:xfrm>
          <a:prstGeom prst="rect">
            <a:avLst/>
          </a:prstGeom>
          <a:noFill/>
          <a:ln/>
        </p:spPr>
        <p:txBody>
          <a:bodyPr wrap="square" lIns="0" tIns="0" rIns="0" bIns="0" rtlCol="0" anchor="ctr"/>
          <a:lstStyle/>
          <a:p>
            <a:pPr indent="0" marL="0">
              <a:buNone/>
            </a:pPr>
            <a:r>
              <a:rPr lang="en-US" sz="1200" b="1" dirty="0">
                <a:solidFill>
                  <a:srgbClr val="1C3557"/>
                </a:solidFill>
              </a:rPr>
              <a:t>Review SLAs prevent pipeline stalls</a:t>
            </a:r>
            <a:endParaRPr lang="en-US" sz="1200" dirty="0"/>
          </a:p>
        </p:txBody>
      </p:sp>
      <p:sp>
        <p:nvSpPr>
          <p:cNvPr id="24" name="Text 22"/>
          <p:cNvSpPr/>
          <p:nvPr/>
        </p:nvSpPr>
        <p:spPr>
          <a:xfrm>
            <a:off x="466344" y="4279392"/>
            <a:ext cx="3959352" cy="658368"/>
          </a:xfrm>
          <a:prstGeom prst="rect">
            <a:avLst/>
          </a:prstGeom>
          <a:noFill/>
          <a:ln/>
        </p:spPr>
        <p:txBody>
          <a:bodyPr wrap="square" lIns="0" tIns="0" rIns="0" bIns="0" rtlCol="0" anchor="ctr"/>
          <a:lstStyle/>
          <a:p>
            <a:pPr indent="0" marL="0">
              <a:buNone/>
            </a:pPr>
            <a:r>
              <a:rPr lang="en-US" sz="1100" dirty="0">
                <a:solidFill>
                  <a:srgbClr val="7A90A8"/>
                </a:solidFill>
              </a:rPr>
              <a:t>If human review is required, define SLAs. An agent waiting indefinitely for human approval blocks the pipeline. Escalate automatically after SLA breach.</a:t>
            </a:r>
            <a:endParaRPr lang="en-US" sz="1100" dirty="0"/>
          </a:p>
        </p:txBody>
      </p:sp>
      <p:sp>
        <p:nvSpPr>
          <p:cNvPr id="25" name="Shape 23"/>
          <p:cNvSpPr/>
          <p:nvPr/>
        </p:nvSpPr>
        <p:spPr>
          <a:xfrm>
            <a:off x="4663440" y="3822192"/>
            <a:ext cx="4160520" cy="1188720"/>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26" name="Shape 24"/>
          <p:cNvSpPr/>
          <p:nvPr/>
        </p:nvSpPr>
        <p:spPr>
          <a:xfrm>
            <a:off x="4663440" y="3822192"/>
            <a:ext cx="54864" cy="1188720"/>
          </a:xfrm>
          <a:prstGeom prst="rect">
            <a:avLst/>
          </a:prstGeom>
          <a:solidFill>
            <a:srgbClr val="4A7FA8"/>
          </a:solidFill>
          <a:ln/>
        </p:spPr>
      </p:sp>
      <p:sp>
        <p:nvSpPr>
          <p:cNvPr id="27" name="Text 25"/>
          <p:cNvSpPr/>
          <p:nvPr/>
        </p:nvSpPr>
        <p:spPr>
          <a:xfrm>
            <a:off x="4809744" y="3895344"/>
            <a:ext cx="3959352" cy="329184"/>
          </a:xfrm>
          <a:prstGeom prst="rect">
            <a:avLst/>
          </a:prstGeom>
          <a:noFill/>
          <a:ln/>
        </p:spPr>
        <p:txBody>
          <a:bodyPr wrap="square" lIns="0" tIns="0" rIns="0" bIns="0" rtlCol="0" anchor="ctr"/>
          <a:lstStyle/>
          <a:p>
            <a:pPr indent="0" marL="0">
              <a:buNone/>
            </a:pPr>
            <a:r>
              <a:rPr lang="en-US" sz="1200" b="1" dirty="0">
                <a:solidFill>
                  <a:srgbClr val="1C3557"/>
                </a:solidFill>
              </a:rPr>
              <a:t>Review audit log for regulated changes</a:t>
            </a:r>
            <a:endParaRPr lang="en-US" sz="1200" dirty="0"/>
          </a:p>
        </p:txBody>
      </p:sp>
      <p:sp>
        <p:nvSpPr>
          <p:cNvPr id="28" name="Text 26"/>
          <p:cNvSpPr/>
          <p:nvPr/>
        </p:nvSpPr>
        <p:spPr>
          <a:xfrm>
            <a:off x="4809744" y="4279392"/>
            <a:ext cx="3959352" cy="658368"/>
          </a:xfrm>
          <a:prstGeom prst="rect">
            <a:avLst/>
          </a:prstGeom>
          <a:noFill/>
          <a:ln/>
        </p:spPr>
        <p:txBody>
          <a:bodyPr wrap="square" lIns="0" tIns="0" rIns="0" bIns="0" rtlCol="0" anchor="ctr"/>
          <a:lstStyle/>
          <a:p>
            <a:pPr indent="0" marL="0">
              <a:buNone/>
            </a:pPr>
            <a:r>
              <a:rPr lang="en-US" sz="1100" dirty="0">
                <a:solidFill>
                  <a:srgbClr val="7A90A8"/>
                </a:solidFill>
              </a:rPr>
              <a:t>Log every review decision: who reviewed, when, what they approved/rejected, what comments were left. Required for change management in regulated environments.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C3557"/>
        </a:solidFill>
      </p:bgPr>
    </p:bg>
    <p:spTree>
      <p:nvGrpSpPr>
        <p:cNvPr id="1" name=""/>
        <p:cNvGrpSpPr/>
        <p:nvPr/>
      </p:nvGrpSpPr>
      <p:grpSpPr>
        <a:xfrm>
          <a:off x="0" y="0"/>
          <a:ext cx="0" cy="0"/>
          <a:chOff x="0" y="0"/>
          <a:chExt cx="0" cy="0"/>
        </a:xfrm>
      </p:grpSpPr>
      <p:sp>
        <p:nvSpPr>
          <p:cNvPr id="2" name="Text 0"/>
          <p:cNvSpPr/>
          <p:nvPr/>
        </p:nvSpPr>
        <p:spPr>
          <a:xfrm>
            <a:off x="365760" y="201168"/>
            <a:ext cx="8229600" cy="411480"/>
          </a:xfrm>
          <a:prstGeom prst="rect">
            <a:avLst/>
          </a:prstGeom>
          <a:noFill/>
          <a:ln/>
        </p:spPr>
        <p:txBody>
          <a:bodyPr wrap="square" lIns="0" tIns="0" rIns="0" bIns="0" rtlCol="0" anchor="ctr"/>
          <a:lstStyle/>
          <a:p>
            <a:pPr indent="0" marL="0">
              <a:buNone/>
            </a:pPr>
            <a:r>
              <a:rPr lang="en-US" sz="1300" b="1" spc="300" kern="0" dirty="0">
                <a:solidFill>
                  <a:srgbClr val="5B8DB8"/>
                </a:solidFill>
              </a:rPr>
              <a:t>REAL RESULTS  ·  SPOTIFY HONK  ·  2024–2026</a:t>
            </a:r>
            <a:endParaRPr lang="en-US" sz="1300" dirty="0"/>
          </a:p>
        </p:txBody>
      </p:sp>
      <p:sp>
        <p:nvSpPr>
          <p:cNvPr id="3" name="Text 1"/>
          <p:cNvSpPr/>
          <p:nvPr/>
        </p:nvSpPr>
        <p:spPr>
          <a:xfrm>
            <a:off x="365760" y="658368"/>
            <a:ext cx="8229600" cy="329184"/>
          </a:xfrm>
          <a:prstGeom prst="rect">
            <a:avLst/>
          </a:prstGeom>
          <a:noFill/>
          <a:ln/>
        </p:spPr>
        <p:txBody>
          <a:bodyPr wrap="square" lIns="0" tIns="0" rIns="0" bIns="0" rtlCol="0" anchor="ctr"/>
          <a:lstStyle/>
          <a:p>
            <a:pPr indent="0" marL="0">
              <a:buNone/>
            </a:pPr>
            <a:r>
              <a:rPr lang="en-US" sz="1700" i="1" dirty="0">
                <a:solidFill>
                  <a:srgbClr val="FFFFFF"/>
                </a:solidFill>
              </a:rPr>
              <a:t>What happens when you build proper review and verification loops into an agentic pipeline</a:t>
            </a:r>
            <a:endParaRPr lang="en-US" sz="1700" dirty="0"/>
          </a:p>
        </p:txBody>
      </p:sp>
      <p:sp>
        <p:nvSpPr>
          <p:cNvPr id="4" name="Shape 2"/>
          <p:cNvSpPr/>
          <p:nvPr/>
        </p:nvSpPr>
        <p:spPr>
          <a:xfrm>
            <a:off x="320040" y="1170432"/>
            <a:ext cx="2697480" cy="1600200"/>
          </a:xfrm>
          <a:prstGeom prst="rect">
            <a:avLst/>
          </a:prstGeom>
          <a:solidFill>
            <a:srgbClr val="3A7DC9"/>
          </a:solidFill>
          <a:ln/>
          <a:effectLst>
            <a:outerShdw sx="100000" sy="100000" kx="0" ky="0" algn="bl" rotWithShape="0" blurRad="101600" dist="38100" dir="8100000">
              <a:srgbClr val="000000">
                <a:alpha val="13000"/>
              </a:srgbClr>
            </a:outerShdw>
          </a:effectLst>
        </p:spPr>
      </p:sp>
      <p:sp>
        <p:nvSpPr>
          <p:cNvPr id="5" name="Text 3"/>
          <p:cNvSpPr/>
          <p:nvPr/>
        </p:nvSpPr>
        <p:spPr>
          <a:xfrm>
            <a:off x="320040" y="1207008"/>
            <a:ext cx="2697480" cy="749808"/>
          </a:xfrm>
          <a:prstGeom prst="rect">
            <a:avLst/>
          </a:prstGeom>
          <a:noFill/>
          <a:ln/>
        </p:spPr>
        <p:txBody>
          <a:bodyPr wrap="square" lIns="0" tIns="0" rIns="0" bIns="0" rtlCol="0" anchor="ctr"/>
          <a:lstStyle/>
          <a:p>
            <a:pPr algn="ctr" indent="0" marL="0">
              <a:buNone/>
            </a:pPr>
            <a:r>
              <a:rPr lang="en-US" sz="4000" b="1" dirty="0">
                <a:solidFill>
                  <a:srgbClr val="FFFFFF"/>
                </a:solidFill>
              </a:rPr>
              <a:t>~50%</a:t>
            </a:r>
            <a:endParaRPr lang="en-US" sz="4000" dirty="0"/>
          </a:p>
        </p:txBody>
      </p:sp>
      <p:sp>
        <p:nvSpPr>
          <p:cNvPr id="6" name="Text 4"/>
          <p:cNvSpPr/>
          <p:nvPr/>
        </p:nvSpPr>
        <p:spPr>
          <a:xfrm>
            <a:off x="320040" y="1956816"/>
            <a:ext cx="2697480" cy="329184"/>
          </a:xfrm>
          <a:prstGeom prst="rect">
            <a:avLst/>
          </a:prstGeom>
          <a:noFill/>
          <a:ln/>
        </p:spPr>
        <p:txBody>
          <a:bodyPr wrap="square" lIns="0" tIns="0" rIns="0" bIns="0" rtlCol="0" anchor="ctr"/>
          <a:lstStyle/>
          <a:p>
            <a:pPr algn="ctr" indent="0" marL="0">
              <a:buNone/>
            </a:pPr>
            <a:r>
              <a:rPr lang="en-US" sz="1250" b="1" dirty="0">
                <a:solidFill>
                  <a:srgbClr val="FFFFFF"/>
                </a:solidFill>
              </a:rPr>
              <a:t>of all PRs automated</a:t>
            </a:r>
            <a:endParaRPr lang="en-US" sz="1250" dirty="0"/>
          </a:p>
        </p:txBody>
      </p:sp>
      <p:sp>
        <p:nvSpPr>
          <p:cNvPr id="7" name="Text 5"/>
          <p:cNvSpPr/>
          <p:nvPr/>
        </p:nvSpPr>
        <p:spPr>
          <a:xfrm>
            <a:off x="320040" y="2286000"/>
            <a:ext cx="2697480" cy="347472"/>
          </a:xfrm>
          <a:prstGeom prst="rect">
            <a:avLst/>
          </a:prstGeom>
          <a:noFill/>
          <a:ln/>
        </p:spPr>
        <p:txBody>
          <a:bodyPr wrap="square" lIns="0" tIns="0" rIns="0" bIns="0" rtlCol="0" anchor="ctr"/>
          <a:lstStyle/>
          <a:p>
            <a:pPr algn="ctr" indent="0" marL="0">
              <a:buNone/>
            </a:pPr>
            <a:r>
              <a:rPr lang="en-US" sz="1100" i="1" dirty="0">
                <a:solidFill>
                  <a:srgbClr val="D4E4F0"/>
                </a:solidFill>
              </a:rPr>
              <a:t>by agents since mid-2024</a:t>
            </a:r>
            <a:endParaRPr lang="en-US" sz="1100" dirty="0"/>
          </a:p>
        </p:txBody>
      </p:sp>
      <p:sp>
        <p:nvSpPr>
          <p:cNvPr id="8" name="Shape 6"/>
          <p:cNvSpPr/>
          <p:nvPr/>
        </p:nvSpPr>
        <p:spPr>
          <a:xfrm>
            <a:off x="3200400" y="1170432"/>
            <a:ext cx="2697480" cy="1600200"/>
          </a:xfrm>
          <a:prstGeom prst="rect">
            <a:avLst/>
          </a:prstGeom>
          <a:solidFill>
            <a:srgbClr val="4A7FA8"/>
          </a:solidFill>
          <a:ln/>
          <a:effectLst>
            <a:outerShdw sx="100000" sy="100000" kx="0" ky="0" algn="bl" rotWithShape="0" blurRad="101600" dist="38100" dir="8100000">
              <a:srgbClr val="000000">
                <a:alpha val="13000"/>
              </a:srgbClr>
            </a:outerShdw>
          </a:effectLst>
        </p:spPr>
      </p:sp>
      <p:sp>
        <p:nvSpPr>
          <p:cNvPr id="9" name="Text 7"/>
          <p:cNvSpPr/>
          <p:nvPr/>
        </p:nvSpPr>
        <p:spPr>
          <a:xfrm>
            <a:off x="3200400" y="1207008"/>
            <a:ext cx="2697480" cy="749808"/>
          </a:xfrm>
          <a:prstGeom prst="rect">
            <a:avLst/>
          </a:prstGeom>
          <a:noFill/>
          <a:ln/>
        </p:spPr>
        <p:txBody>
          <a:bodyPr wrap="square" lIns="0" tIns="0" rIns="0" bIns="0" rtlCol="0" anchor="ctr"/>
          <a:lstStyle/>
          <a:p>
            <a:pPr algn="ctr" indent="0" marL="0">
              <a:buNone/>
            </a:pPr>
            <a:r>
              <a:rPr lang="en-US" sz="4000" b="1" dirty="0">
                <a:solidFill>
                  <a:srgbClr val="FFFFFF"/>
                </a:solidFill>
              </a:rPr>
              <a:t>1,500+</a:t>
            </a:r>
            <a:endParaRPr lang="en-US" sz="4000" dirty="0"/>
          </a:p>
        </p:txBody>
      </p:sp>
      <p:sp>
        <p:nvSpPr>
          <p:cNvPr id="10" name="Text 8"/>
          <p:cNvSpPr/>
          <p:nvPr/>
        </p:nvSpPr>
        <p:spPr>
          <a:xfrm>
            <a:off x="3200400" y="1956816"/>
            <a:ext cx="2697480" cy="329184"/>
          </a:xfrm>
          <a:prstGeom prst="rect">
            <a:avLst/>
          </a:prstGeom>
          <a:noFill/>
          <a:ln/>
        </p:spPr>
        <p:txBody>
          <a:bodyPr wrap="square" lIns="0" tIns="0" rIns="0" bIns="0" rtlCol="0" anchor="ctr"/>
          <a:lstStyle/>
          <a:p>
            <a:pPr algn="ctr" indent="0" marL="0">
              <a:buNone/>
            </a:pPr>
            <a:r>
              <a:rPr lang="en-US" sz="1250" b="1" dirty="0">
                <a:solidFill>
                  <a:srgbClr val="FFFFFF"/>
                </a:solidFill>
              </a:rPr>
              <a:t>agent-generated PRs</a:t>
            </a:r>
            <a:endParaRPr lang="en-US" sz="1250" dirty="0"/>
          </a:p>
        </p:txBody>
      </p:sp>
      <p:sp>
        <p:nvSpPr>
          <p:cNvPr id="11" name="Text 9"/>
          <p:cNvSpPr/>
          <p:nvPr/>
        </p:nvSpPr>
        <p:spPr>
          <a:xfrm>
            <a:off x="3200400" y="2286000"/>
            <a:ext cx="2697480" cy="347472"/>
          </a:xfrm>
          <a:prstGeom prst="rect">
            <a:avLst/>
          </a:prstGeom>
          <a:noFill/>
          <a:ln/>
        </p:spPr>
        <p:txBody>
          <a:bodyPr wrap="square" lIns="0" tIns="0" rIns="0" bIns="0" rtlCol="0" anchor="ctr"/>
          <a:lstStyle/>
          <a:p>
            <a:pPr algn="ctr" indent="0" marL="0">
              <a:buNone/>
            </a:pPr>
            <a:r>
              <a:rPr lang="en-US" sz="1100" i="1" dirty="0">
                <a:solidFill>
                  <a:srgbClr val="D4E4F0"/>
                </a:solidFill>
              </a:rPr>
              <a:t>successfully merged</a:t>
            </a:r>
            <a:endParaRPr lang="en-US" sz="1100" dirty="0"/>
          </a:p>
        </p:txBody>
      </p:sp>
      <p:sp>
        <p:nvSpPr>
          <p:cNvPr id="12" name="Shape 10"/>
          <p:cNvSpPr/>
          <p:nvPr/>
        </p:nvSpPr>
        <p:spPr>
          <a:xfrm>
            <a:off x="6080760" y="1170432"/>
            <a:ext cx="2697480" cy="1600200"/>
          </a:xfrm>
          <a:prstGeom prst="rect">
            <a:avLst/>
          </a:prstGeom>
          <a:solidFill>
            <a:srgbClr val="3A7E6E"/>
          </a:solidFill>
          <a:ln/>
          <a:effectLst>
            <a:outerShdw sx="100000" sy="100000" kx="0" ky="0" algn="bl" rotWithShape="0" blurRad="101600" dist="38100" dir="8100000">
              <a:srgbClr val="000000">
                <a:alpha val="13000"/>
              </a:srgbClr>
            </a:outerShdw>
          </a:effectLst>
        </p:spPr>
      </p:sp>
      <p:sp>
        <p:nvSpPr>
          <p:cNvPr id="13" name="Text 11"/>
          <p:cNvSpPr/>
          <p:nvPr/>
        </p:nvSpPr>
        <p:spPr>
          <a:xfrm>
            <a:off x="6080760" y="1207008"/>
            <a:ext cx="2697480" cy="749808"/>
          </a:xfrm>
          <a:prstGeom prst="rect">
            <a:avLst/>
          </a:prstGeom>
          <a:noFill/>
          <a:ln/>
        </p:spPr>
        <p:txBody>
          <a:bodyPr wrap="square" lIns="0" tIns="0" rIns="0" bIns="0" rtlCol="0" anchor="ctr"/>
          <a:lstStyle/>
          <a:p>
            <a:pPr algn="ctr" indent="0" marL="0">
              <a:buNone/>
            </a:pPr>
            <a:r>
              <a:rPr lang="en-US" sz="4000" b="1" dirty="0">
                <a:solidFill>
                  <a:srgbClr val="FFFFFF"/>
                </a:solidFill>
              </a:rPr>
              <a:t>50+</a:t>
            </a:r>
            <a:endParaRPr lang="en-US" sz="4000" dirty="0"/>
          </a:p>
        </p:txBody>
      </p:sp>
      <p:sp>
        <p:nvSpPr>
          <p:cNvPr id="14" name="Text 12"/>
          <p:cNvSpPr/>
          <p:nvPr/>
        </p:nvSpPr>
        <p:spPr>
          <a:xfrm>
            <a:off x="6080760" y="1956816"/>
            <a:ext cx="2697480" cy="329184"/>
          </a:xfrm>
          <a:prstGeom prst="rect">
            <a:avLst/>
          </a:prstGeom>
          <a:noFill/>
          <a:ln/>
        </p:spPr>
        <p:txBody>
          <a:bodyPr wrap="square" lIns="0" tIns="0" rIns="0" bIns="0" rtlCol="0" anchor="ctr"/>
          <a:lstStyle/>
          <a:p>
            <a:pPr algn="ctr" indent="0" marL="0">
              <a:buNone/>
            </a:pPr>
            <a:r>
              <a:rPr lang="en-US" sz="1250" b="1" dirty="0">
                <a:solidFill>
                  <a:srgbClr val="FFFFFF"/>
                </a:solidFill>
              </a:rPr>
              <a:t>features shipped</a:t>
            </a:r>
            <a:endParaRPr lang="en-US" sz="1250" dirty="0"/>
          </a:p>
        </p:txBody>
      </p:sp>
      <p:sp>
        <p:nvSpPr>
          <p:cNvPr id="15" name="Text 13"/>
          <p:cNvSpPr/>
          <p:nvPr/>
        </p:nvSpPr>
        <p:spPr>
          <a:xfrm>
            <a:off x="6080760" y="2286000"/>
            <a:ext cx="2697480" cy="347472"/>
          </a:xfrm>
          <a:prstGeom prst="rect">
            <a:avLst/>
          </a:prstGeom>
          <a:noFill/>
          <a:ln/>
        </p:spPr>
        <p:txBody>
          <a:bodyPr wrap="square" lIns="0" tIns="0" rIns="0" bIns="0" rtlCol="0" anchor="ctr"/>
          <a:lstStyle/>
          <a:p>
            <a:pPr algn="ctr" indent="0" marL="0">
              <a:buNone/>
            </a:pPr>
            <a:r>
              <a:rPr lang="en-US" sz="1100" i="1" dirty="0">
                <a:solidFill>
                  <a:srgbClr val="D4E4F0"/>
                </a:solidFill>
              </a:rPr>
              <a:t>in 2025 via agent pipeline</a:t>
            </a:r>
            <a:endParaRPr lang="en-US" sz="1100" dirty="0"/>
          </a:p>
        </p:txBody>
      </p:sp>
      <p:sp>
        <p:nvSpPr>
          <p:cNvPr id="16" name="Shape 14"/>
          <p:cNvSpPr/>
          <p:nvPr/>
        </p:nvSpPr>
        <p:spPr>
          <a:xfrm>
            <a:off x="320040" y="2907792"/>
            <a:ext cx="4206240" cy="859536"/>
          </a:xfrm>
          <a:prstGeom prst="rect">
            <a:avLst/>
          </a:prstGeom>
          <a:solidFill>
            <a:srgbClr val="2E5073">
              <a:alpha val="85000"/>
            </a:srgbClr>
          </a:solidFill>
          <a:ln/>
        </p:spPr>
      </p:sp>
      <p:sp>
        <p:nvSpPr>
          <p:cNvPr id="17" name="Shape 15"/>
          <p:cNvSpPr/>
          <p:nvPr/>
        </p:nvSpPr>
        <p:spPr>
          <a:xfrm>
            <a:off x="320040" y="2907792"/>
            <a:ext cx="54864" cy="859536"/>
          </a:xfrm>
          <a:prstGeom prst="rect">
            <a:avLst/>
          </a:prstGeom>
          <a:solidFill>
            <a:srgbClr val="5B8DB8"/>
          </a:solidFill>
          <a:ln/>
        </p:spPr>
      </p:sp>
      <p:sp>
        <p:nvSpPr>
          <p:cNvPr id="18" name="Text 16"/>
          <p:cNvSpPr/>
          <p:nvPr/>
        </p:nvSpPr>
        <p:spPr>
          <a:xfrm>
            <a:off x="466344" y="2962656"/>
            <a:ext cx="4005072" cy="274320"/>
          </a:xfrm>
          <a:prstGeom prst="rect">
            <a:avLst/>
          </a:prstGeom>
          <a:noFill/>
          <a:ln/>
        </p:spPr>
        <p:txBody>
          <a:bodyPr wrap="square" lIns="0" tIns="0" rIns="0" bIns="0" rtlCol="0" anchor="ctr"/>
          <a:lstStyle/>
          <a:p>
            <a:pPr indent="0" marL="0">
              <a:buNone/>
            </a:pPr>
            <a:r>
              <a:rPr lang="en-US" sz="1200" b="1" dirty="0">
                <a:solidFill>
                  <a:srgbClr val="5B8DB8"/>
                </a:solidFill>
              </a:rPr>
              <a:t>Sandboxing = predictability</a:t>
            </a:r>
            <a:endParaRPr lang="en-US" sz="1200" dirty="0"/>
          </a:p>
        </p:txBody>
      </p:sp>
      <p:sp>
        <p:nvSpPr>
          <p:cNvPr id="19" name="Text 17"/>
          <p:cNvSpPr/>
          <p:nvPr/>
        </p:nvSpPr>
        <p:spPr>
          <a:xfrm>
            <a:off x="466344" y="3291840"/>
            <a:ext cx="4005072" cy="420624"/>
          </a:xfrm>
          <a:prstGeom prst="rect">
            <a:avLst/>
          </a:prstGeom>
          <a:noFill/>
          <a:ln/>
        </p:spPr>
        <p:txBody>
          <a:bodyPr wrap="square" lIns="0" tIns="0" rIns="0" bIns="0" rtlCol="0" anchor="ctr"/>
          <a:lstStyle/>
          <a:p>
            <a:pPr indent="0" marL="0">
              <a:buNone/>
            </a:pPr>
            <a:r>
              <a:rPr lang="en-US" sz="1050" dirty="0">
                <a:solidFill>
                  <a:srgbClr val="D4E4F0"/>
                </a:solidFill>
              </a:rPr>
              <a:t>Agent in container with minimal permissions and binaries. Intentional restriction → more predictable behavior + security.</a:t>
            </a:r>
            <a:endParaRPr lang="en-US" sz="1050" dirty="0"/>
          </a:p>
        </p:txBody>
      </p:sp>
      <p:sp>
        <p:nvSpPr>
          <p:cNvPr id="20" name="Shape 18"/>
          <p:cNvSpPr/>
          <p:nvPr/>
        </p:nvSpPr>
        <p:spPr>
          <a:xfrm>
            <a:off x="4709160" y="2907792"/>
            <a:ext cx="4206240" cy="859536"/>
          </a:xfrm>
          <a:prstGeom prst="rect">
            <a:avLst/>
          </a:prstGeom>
          <a:solidFill>
            <a:srgbClr val="2E5073">
              <a:alpha val="85000"/>
            </a:srgbClr>
          </a:solidFill>
          <a:ln/>
        </p:spPr>
      </p:sp>
      <p:sp>
        <p:nvSpPr>
          <p:cNvPr id="21" name="Shape 19"/>
          <p:cNvSpPr/>
          <p:nvPr/>
        </p:nvSpPr>
        <p:spPr>
          <a:xfrm>
            <a:off x="4709160" y="2907792"/>
            <a:ext cx="54864" cy="859536"/>
          </a:xfrm>
          <a:prstGeom prst="rect">
            <a:avLst/>
          </a:prstGeom>
          <a:solidFill>
            <a:srgbClr val="5B8DB8"/>
          </a:solidFill>
          <a:ln/>
        </p:spPr>
      </p:sp>
      <p:sp>
        <p:nvSpPr>
          <p:cNvPr id="22" name="Text 20"/>
          <p:cNvSpPr/>
          <p:nvPr/>
        </p:nvSpPr>
        <p:spPr>
          <a:xfrm>
            <a:off x="4855464" y="2962656"/>
            <a:ext cx="4005072" cy="274320"/>
          </a:xfrm>
          <a:prstGeom prst="rect">
            <a:avLst/>
          </a:prstGeom>
          <a:noFill/>
          <a:ln/>
        </p:spPr>
        <p:txBody>
          <a:bodyPr wrap="square" lIns="0" tIns="0" rIns="0" bIns="0" rtlCol="0" anchor="ctr"/>
          <a:lstStyle/>
          <a:p>
            <a:pPr indent="0" marL="0">
              <a:buNone/>
            </a:pPr>
            <a:r>
              <a:rPr lang="en-US" sz="1200" b="1" dirty="0">
                <a:solidFill>
                  <a:srgbClr val="5B8DB8"/>
                </a:solidFill>
              </a:rPr>
              <a:t>Verifier ≠ optional</a:t>
            </a:r>
            <a:endParaRPr lang="en-US" sz="1200" dirty="0"/>
          </a:p>
        </p:txBody>
      </p:sp>
      <p:sp>
        <p:nvSpPr>
          <p:cNvPr id="23" name="Text 21"/>
          <p:cNvSpPr/>
          <p:nvPr/>
        </p:nvSpPr>
        <p:spPr>
          <a:xfrm>
            <a:off x="4855464" y="3291840"/>
            <a:ext cx="4005072" cy="420624"/>
          </a:xfrm>
          <a:prstGeom prst="rect">
            <a:avLst/>
          </a:prstGeom>
          <a:noFill/>
          <a:ln/>
        </p:spPr>
        <p:txBody>
          <a:bodyPr wrap="square" lIns="0" tIns="0" rIns="0" bIns="0" rtlCol="0" anchor="ctr"/>
          <a:lstStyle/>
          <a:p>
            <a:pPr indent="0" marL="0">
              <a:buNone/>
            </a:pPr>
            <a:r>
              <a:rPr lang="en-US" sz="1050" dirty="0">
                <a:solidFill>
                  <a:srgbClr val="D4E4F0"/>
                </a:solidFill>
              </a:rPr>
              <a:t>Without verifiers, agents produced code that “simply doesn’t work.” The verification loop isn’t overhead — it’s what makes automation viable.</a:t>
            </a:r>
            <a:endParaRPr lang="en-US" sz="1050" dirty="0"/>
          </a:p>
        </p:txBody>
      </p:sp>
      <p:sp>
        <p:nvSpPr>
          <p:cNvPr id="24" name="Shape 22"/>
          <p:cNvSpPr/>
          <p:nvPr/>
        </p:nvSpPr>
        <p:spPr>
          <a:xfrm>
            <a:off x="320040" y="3877056"/>
            <a:ext cx="4206240" cy="859536"/>
          </a:xfrm>
          <a:prstGeom prst="rect">
            <a:avLst/>
          </a:prstGeom>
          <a:solidFill>
            <a:srgbClr val="2E5073">
              <a:alpha val="85000"/>
            </a:srgbClr>
          </a:solidFill>
          <a:ln/>
        </p:spPr>
      </p:sp>
      <p:sp>
        <p:nvSpPr>
          <p:cNvPr id="25" name="Shape 23"/>
          <p:cNvSpPr/>
          <p:nvPr/>
        </p:nvSpPr>
        <p:spPr>
          <a:xfrm>
            <a:off x="320040" y="3877056"/>
            <a:ext cx="54864" cy="859536"/>
          </a:xfrm>
          <a:prstGeom prst="rect">
            <a:avLst/>
          </a:prstGeom>
          <a:solidFill>
            <a:srgbClr val="5B8DB8"/>
          </a:solidFill>
          <a:ln/>
        </p:spPr>
      </p:sp>
      <p:sp>
        <p:nvSpPr>
          <p:cNvPr id="26" name="Text 24"/>
          <p:cNvSpPr/>
          <p:nvPr/>
        </p:nvSpPr>
        <p:spPr>
          <a:xfrm>
            <a:off x="466344" y="3931920"/>
            <a:ext cx="4005072" cy="274320"/>
          </a:xfrm>
          <a:prstGeom prst="rect">
            <a:avLst/>
          </a:prstGeom>
          <a:noFill/>
          <a:ln/>
        </p:spPr>
        <p:txBody>
          <a:bodyPr wrap="square" lIns="0" tIns="0" rIns="0" bIns="0" rtlCol="0" anchor="ctr"/>
          <a:lstStyle/>
          <a:p>
            <a:pPr indent="0" marL="0">
              <a:buNone/>
            </a:pPr>
            <a:r>
              <a:rPr lang="en-US" sz="1200" b="1" dirty="0">
                <a:solidFill>
                  <a:srgbClr val="5B8DB8"/>
                </a:solidFill>
              </a:rPr>
              <a:t>Agent review spans all artifacts</a:t>
            </a:r>
            <a:endParaRPr lang="en-US" sz="1200" dirty="0"/>
          </a:p>
        </p:txBody>
      </p:sp>
      <p:sp>
        <p:nvSpPr>
          <p:cNvPr id="27" name="Text 25"/>
          <p:cNvSpPr/>
          <p:nvPr/>
        </p:nvSpPr>
        <p:spPr>
          <a:xfrm>
            <a:off x="466344" y="4261104"/>
            <a:ext cx="4005072" cy="420624"/>
          </a:xfrm>
          <a:prstGeom prst="rect">
            <a:avLst/>
          </a:prstGeom>
          <a:noFill/>
          <a:ln/>
        </p:spPr>
        <p:txBody>
          <a:bodyPr wrap="square" lIns="0" tIns="0" rIns="0" bIns="0" rtlCol="0" anchor="ctr"/>
          <a:lstStyle/>
          <a:p>
            <a:pPr indent="0" marL="0">
              <a:buNone/>
            </a:pPr>
            <a:r>
              <a:rPr lang="en-US" sz="1050" dirty="0">
                <a:solidFill>
                  <a:srgbClr val="D4E4F0"/>
                </a:solidFill>
              </a:rPr>
              <a:t>Review was applied not just to code PRs but to specs, documentation, and architecture proposals — catching issues before they became code.</a:t>
            </a:r>
            <a:endParaRPr lang="en-US" sz="1050" dirty="0"/>
          </a:p>
        </p:txBody>
      </p:sp>
      <p:sp>
        <p:nvSpPr>
          <p:cNvPr id="28" name="Shape 26"/>
          <p:cNvSpPr/>
          <p:nvPr/>
        </p:nvSpPr>
        <p:spPr>
          <a:xfrm>
            <a:off x="4709160" y="3877056"/>
            <a:ext cx="4206240" cy="859536"/>
          </a:xfrm>
          <a:prstGeom prst="rect">
            <a:avLst/>
          </a:prstGeom>
          <a:solidFill>
            <a:srgbClr val="2E5073">
              <a:alpha val="85000"/>
            </a:srgbClr>
          </a:solidFill>
          <a:ln/>
        </p:spPr>
      </p:sp>
      <p:sp>
        <p:nvSpPr>
          <p:cNvPr id="29" name="Shape 27"/>
          <p:cNvSpPr/>
          <p:nvPr/>
        </p:nvSpPr>
        <p:spPr>
          <a:xfrm>
            <a:off x="4709160" y="3877056"/>
            <a:ext cx="54864" cy="859536"/>
          </a:xfrm>
          <a:prstGeom prst="rect">
            <a:avLst/>
          </a:prstGeom>
          <a:solidFill>
            <a:srgbClr val="5B8DB8"/>
          </a:solidFill>
          <a:ln/>
        </p:spPr>
      </p:sp>
      <p:sp>
        <p:nvSpPr>
          <p:cNvPr id="30" name="Text 28"/>
          <p:cNvSpPr/>
          <p:nvPr/>
        </p:nvSpPr>
        <p:spPr>
          <a:xfrm>
            <a:off x="4855464" y="3931920"/>
            <a:ext cx="4005072" cy="274320"/>
          </a:xfrm>
          <a:prstGeom prst="rect">
            <a:avLst/>
          </a:prstGeom>
          <a:noFill/>
          <a:ln/>
        </p:spPr>
        <p:txBody>
          <a:bodyPr wrap="square" lIns="0" tIns="0" rIns="0" bIns="0" rtlCol="0" anchor="ctr"/>
          <a:lstStyle/>
          <a:p>
            <a:pPr indent="0" marL="0">
              <a:buNone/>
            </a:pPr>
            <a:r>
              <a:rPr lang="en-US" sz="1200" b="1" dirty="0">
                <a:solidFill>
                  <a:srgbClr val="5B8DB8"/>
                </a:solidFill>
              </a:rPr>
              <a:t>Coverage requirement changed everything</a:t>
            </a:r>
            <a:endParaRPr lang="en-US" sz="1200" dirty="0"/>
          </a:p>
        </p:txBody>
      </p:sp>
      <p:sp>
        <p:nvSpPr>
          <p:cNvPr id="31" name="Text 29"/>
          <p:cNvSpPr/>
          <p:nvPr/>
        </p:nvSpPr>
        <p:spPr>
          <a:xfrm>
            <a:off x="4855464" y="4261104"/>
            <a:ext cx="4005072" cy="420624"/>
          </a:xfrm>
          <a:prstGeom prst="rect">
            <a:avLst/>
          </a:prstGeom>
          <a:noFill/>
          <a:ln/>
        </p:spPr>
        <p:txBody>
          <a:bodyPr wrap="square" lIns="0" tIns="0" rIns="0" bIns="0" rtlCol="0" anchor="ctr"/>
          <a:lstStyle/>
          <a:p>
            <a:pPr indent="0" marL="0">
              <a:buNone/>
            </a:pPr>
            <a:r>
              <a:rPr lang="en-US" sz="1050" dirty="0">
                <a:solidFill>
                  <a:srgbClr val="D4E4F0"/>
                </a:solidFill>
              </a:rPr>
              <a:t>Requiring test coverage on changed files eliminated failure mode 2. Agents could no longer hide wrong behavior behind passing CI.</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4A7FA8"/>
          </a:solidFill>
          <a:ln/>
        </p:spPr>
      </p:sp>
      <p:sp>
        <p:nvSpPr>
          <p:cNvPr id="3" name="Text 1"/>
          <p:cNvSpPr/>
          <p:nvPr/>
        </p:nvSpPr>
        <p:spPr>
          <a:xfrm>
            <a:off x="365760" y="0"/>
            <a:ext cx="8229600" cy="749808"/>
          </a:xfrm>
          <a:prstGeom prst="rect">
            <a:avLst/>
          </a:prstGeom>
          <a:noFill/>
          <a:ln/>
        </p:spPr>
        <p:txBody>
          <a:bodyPr wrap="square" lIns="0" tIns="0" rIns="0" bIns="0" rtlCol="0" anchor="ctr"/>
          <a:lstStyle/>
          <a:p>
            <a:pPr indent="0" marL="0">
              <a:buNone/>
            </a:pPr>
            <a:r>
              <a:rPr lang="en-US" sz="1300" b="1" spc="300" kern="0" dirty="0">
                <a:solidFill>
                  <a:srgbClr val="FFFFFF"/>
                </a:solidFill>
              </a:rPr>
              <a:t>LAB EXERCISE  ·  45 MINUTES</a:t>
            </a:r>
            <a:endParaRPr lang="en-US" sz="1300" dirty="0"/>
          </a:p>
        </p:txBody>
      </p:sp>
      <p:sp>
        <p:nvSpPr>
          <p:cNvPr id="4" name="Text 2"/>
          <p:cNvSpPr/>
          <p:nvPr/>
        </p:nvSpPr>
        <p:spPr>
          <a:xfrm>
            <a:off x="365760" y="868680"/>
            <a:ext cx="8412480" cy="420624"/>
          </a:xfrm>
          <a:prstGeom prst="rect">
            <a:avLst/>
          </a:prstGeom>
          <a:noFill/>
          <a:ln/>
        </p:spPr>
        <p:txBody>
          <a:bodyPr wrap="square" lIns="0" tIns="0" rIns="0" bIns="0" rtlCol="0" anchor="ctr"/>
          <a:lstStyle/>
          <a:p>
            <a:pPr indent="0" marL="0">
              <a:buNone/>
            </a:pPr>
            <a:r>
              <a:rPr lang="en-US" sz="1900" b="1" dirty="0">
                <a:solidFill>
                  <a:srgbClr val="1C3557"/>
                </a:solidFill>
              </a:rPr>
              <a:t>Three-Part Exercise: Design, Expand, Educate</a:t>
            </a:r>
            <a:endParaRPr lang="en-US" sz="1900" dirty="0"/>
          </a:p>
        </p:txBody>
      </p:sp>
      <p:sp>
        <p:nvSpPr>
          <p:cNvPr id="5" name="Shape 3"/>
          <p:cNvSpPr/>
          <p:nvPr/>
        </p:nvSpPr>
        <p:spPr>
          <a:xfrm>
            <a:off x="320040" y="1389888"/>
            <a:ext cx="8503920" cy="1097280"/>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6" name="Shape 4"/>
          <p:cNvSpPr/>
          <p:nvPr/>
        </p:nvSpPr>
        <p:spPr>
          <a:xfrm>
            <a:off x="320040" y="1389888"/>
            <a:ext cx="475488" cy="1097280"/>
          </a:xfrm>
          <a:prstGeom prst="rect">
            <a:avLst/>
          </a:prstGeom>
          <a:solidFill>
            <a:srgbClr val="4A7FA8"/>
          </a:solidFill>
          <a:ln/>
        </p:spPr>
      </p:sp>
      <p:sp>
        <p:nvSpPr>
          <p:cNvPr id="7" name="Text 5"/>
          <p:cNvSpPr/>
          <p:nvPr/>
        </p:nvSpPr>
        <p:spPr>
          <a:xfrm>
            <a:off x="320040" y="1389888"/>
            <a:ext cx="475488" cy="1097280"/>
          </a:xfrm>
          <a:prstGeom prst="rect">
            <a:avLst/>
          </a:prstGeom>
          <a:noFill/>
          <a:ln/>
        </p:spPr>
        <p:txBody>
          <a:bodyPr wrap="square" lIns="0" tIns="0" rIns="0" bIns="0" rtlCol="0" anchor="ctr"/>
          <a:lstStyle/>
          <a:p>
            <a:pPr algn="ctr" indent="0" marL="0">
              <a:buNone/>
            </a:pPr>
            <a:r>
              <a:rPr lang="en-US" sz="2200" b="1" dirty="0">
                <a:solidFill>
                  <a:srgbClr val="FFFFFF"/>
                </a:solidFill>
              </a:rPr>
              <a:t>1</a:t>
            </a:r>
            <a:endParaRPr lang="en-US" sz="2200" dirty="0"/>
          </a:p>
        </p:txBody>
      </p:sp>
      <p:sp>
        <p:nvSpPr>
          <p:cNvPr id="8" name="Text 6"/>
          <p:cNvSpPr/>
          <p:nvPr/>
        </p:nvSpPr>
        <p:spPr>
          <a:xfrm>
            <a:off x="886968" y="1444752"/>
            <a:ext cx="4114800" cy="292608"/>
          </a:xfrm>
          <a:prstGeom prst="rect">
            <a:avLst/>
          </a:prstGeom>
          <a:noFill/>
          <a:ln/>
        </p:spPr>
        <p:txBody>
          <a:bodyPr wrap="square" lIns="0" tIns="0" rIns="0" bIns="0" rtlCol="0" anchor="ctr"/>
          <a:lstStyle/>
          <a:p>
            <a:pPr indent="0" marL="0">
              <a:buNone/>
            </a:pPr>
            <a:r>
              <a:rPr lang="en-US" sz="1250" b="1" dirty="0">
                <a:solidFill>
                  <a:srgbClr val="4A7FA8"/>
                </a:solidFill>
              </a:rPr>
              <a:t>Design a review cycle (lint scenario)</a:t>
            </a:r>
            <a:endParaRPr lang="en-US" sz="1250" dirty="0"/>
          </a:p>
        </p:txBody>
      </p:sp>
      <p:sp>
        <p:nvSpPr>
          <p:cNvPr id="9" name="Text 7"/>
          <p:cNvSpPr/>
          <p:nvPr/>
        </p:nvSpPr>
        <p:spPr>
          <a:xfrm>
            <a:off x="5001768" y="1444752"/>
            <a:ext cx="777240" cy="292608"/>
          </a:xfrm>
          <a:prstGeom prst="rect">
            <a:avLst/>
          </a:prstGeom>
          <a:noFill/>
          <a:ln/>
        </p:spPr>
        <p:txBody>
          <a:bodyPr wrap="square" lIns="0" tIns="0" rIns="0" bIns="0" rtlCol="0" anchor="ctr"/>
          <a:lstStyle/>
          <a:p>
            <a:pPr indent="0" marL="0">
              <a:buNone/>
            </a:pPr>
            <a:r>
              <a:rPr lang="en-US" sz="1100" i="1" dirty="0">
                <a:solidFill>
                  <a:srgbClr val="7A90A8"/>
                </a:solidFill>
              </a:rPr>
              <a:t>(15 min)</a:t>
            </a:r>
            <a:endParaRPr lang="en-US" sz="1100" dirty="0"/>
          </a:p>
        </p:txBody>
      </p:sp>
      <p:sp>
        <p:nvSpPr>
          <p:cNvPr id="10" name="Text 8"/>
          <p:cNvSpPr/>
          <p:nvPr/>
        </p:nvSpPr>
        <p:spPr>
          <a:xfrm>
            <a:off x="886968" y="1810512"/>
            <a:ext cx="7818120" cy="603504"/>
          </a:xfrm>
          <a:prstGeom prst="rect">
            <a:avLst/>
          </a:prstGeom>
          <a:noFill/>
          <a:ln/>
        </p:spPr>
        <p:txBody>
          <a:bodyPr wrap="square" lIns="0" tIns="0" rIns="0" bIns="0" rtlCol="0" anchor="ctr"/>
          <a:lstStyle/>
          <a:p>
            <a:pPr indent="0" marL="0">
              <a:buNone/>
            </a:pPr>
            <a:r>
              <a:rPr lang="en-US" sz="1050" dirty="0">
                <a:solidFill>
                  <a:srgbClr val="7A90A8"/>
                </a:solidFill>
              </a:rPr>
              <a:t>Your team wants an agent to fix all flake8 lint errors across a 200,000-line Python codebase (~800 files). Map the review cycle: where are the human gates? Write the interrupt conditions, the evaluator agent’s checklist, the PR description template, and the 2am escalation path.</a:t>
            </a:r>
            <a:endParaRPr lang="en-US" sz="1050" dirty="0"/>
          </a:p>
        </p:txBody>
      </p:sp>
      <p:sp>
        <p:nvSpPr>
          <p:cNvPr id="11" name="Shape 9"/>
          <p:cNvSpPr/>
          <p:nvPr/>
        </p:nvSpPr>
        <p:spPr>
          <a:xfrm>
            <a:off x="320040" y="2596896"/>
            <a:ext cx="8503920" cy="1097280"/>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12" name="Shape 10"/>
          <p:cNvSpPr/>
          <p:nvPr/>
        </p:nvSpPr>
        <p:spPr>
          <a:xfrm>
            <a:off x="320040" y="2596896"/>
            <a:ext cx="475488" cy="1097280"/>
          </a:xfrm>
          <a:prstGeom prst="rect">
            <a:avLst/>
          </a:prstGeom>
          <a:solidFill>
            <a:srgbClr val="4A7FA8"/>
          </a:solidFill>
          <a:ln/>
        </p:spPr>
      </p:sp>
      <p:sp>
        <p:nvSpPr>
          <p:cNvPr id="13" name="Text 11"/>
          <p:cNvSpPr/>
          <p:nvPr/>
        </p:nvSpPr>
        <p:spPr>
          <a:xfrm>
            <a:off x="320040" y="2596896"/>
            <a:ext cx="475488" cy="1097280"/>
          </a:xfrm>
          <a:prstGeom prst="rect">
            <a:avLst/>
          </a:prstGeom>
          <a:noFill/>
          <a:ln/>
        </p:spPr>
        <p:txBody>
          <a:bodyPr wrap="square" lIns="0" tIns="0" rIns="0" bIns="0" rtlCol="0" anchor="ctr"/>
          <a:lstStyle/>
          <a:p>
            <a:pPr algn="ctr" indent="0" marL="0">
              <a:buNone/>
            </a:pPr>
            <a:r>
              <a:rPr lang="en-US" sz="2200" b="1" dirty="0">
                <a:solidFill>
                  <a:srgbClr val="FFFFFF"/>
                </a:solidFill>
              </a:rPr>
              <a:t>2</a:t>
            </a:r>
            <a:endParaRPr lang="en-US" sz="2200" dirty="0"/>
          </a:p>
        </p:txBody>
      </p:sp>
      <p:sp>
        <p:nvSpPr>
          <p:cNvPr id="14" name="Text 12"/>
          <p:cNvSpPr/>
          <p:nvPr/>
        </p:nvSpPr>
        <p:spPr>
          <a:xfrm>
            <a:off x="886968" y="2651760"/>
            <a:ext cx="4114800" cy="292608"/>
          </a:xfrm>
          <a:prstGeom prst="rect">
            <a:avLst/>
          </a:prstGeom>
          <a:noFill/>
          <a:ln/>
        </p:spPr>
        <p:txBody>
          <a:bodyPr wrap="square" lIns="0" tIns="0" rIns="0" bIns="0" rtlCol="0" anchor="ctr"/>
          <a:lstStyle/>
          <a:p>
            <a:pPr indent="0" marL="0">
              <a:buNone/>
            </a:pPr>
            <a:r>
              <a:rPr lang="en-US" sz="1250" b="1" dirty="0">
                <a:solidFill>
                  <a:srgbClr val="4A7FA8"/>
                </a:solidFill>
              </a:rPr>
              <a:t>Define review for 4 artifact types</a:t>
            </a:r>
            <a:endParaRPr lang="en-US" sz="1250" dirty="0"/>
          </a:p>
        </p:txBody>
      </p:sp>
      <p:sp>
        <p:nvSpPr>
          <p:cNvPr id="15" name="Text 13"/>
          <p:cNvSpPr/>
          <p:nvPr/>
        </p:nvSpPr>
        <p:spPr>
          <a:xfrm>
            <a:off x="5001768" y="2651760"/>
            <a:ext cx="777240" cy="292608"/>
          </a:xfrm>
          <a:prstGeom prst="rect">
            <a:avLst/>
          </a:prstGeom>
          <a:noFill/>
          <a:ln/>
        </p:spPr>
        <p:txBody>
          <a:bodyPr wrap="square" lIns="0" tIns="0" rIns="0" bIns="0" rtlCol="0" anchor="ctr"/>
          <a:lstStyle/>
          <a:p>
            <a:pPr indent="0" marL="0">
              <a:buNone/>
            </a:pPr>
            <a:r>
              <a:rPr lang="en-US" sz="1100" i="1" dirty="0">
                <a:solidFill>
                  <a:srgbClr val="7A90A8"/>
                </a:solidFill>
              </a:rPr>
              <a:t>(15 min)</a:t>
            </a:r>
            <a:endParaRPr lang="en-US" sz="1100" dirty="0"/>
          </a:p>
        </p:txBody>
      </p:sp>
      <p:sp>
        <p:nvSpPr>
          <p:cNvPr id="16" name="Text 14"/>
          <p:cNvSpPr/>
          <p:nvPr/>
        </p:nvSpPr>
        <p:spPr>
          <a:xfrm>
            <a:off x="886968" y="3017520"/>
            <a:ext cx="7818120" cy="603504"/>
          </a:xfrm>
          <a:prstGeom prst="rect">
            <a:avLst/>
          </a:prstGeom>
          <a:noFill/>
          <a:ln/>
        </p:spPr>
        <p:txBody>
          <a:bodyPr wrap="square" lIns="0" tIns="0" rIns="0" bIns="0" rtlCol="0" anchor="ctr"/>
          <a:lstStyle/>
          <a:p>
            <a:pPr indent="0" marL="0">
              <a:buNone/>
            </a:pPr>
            <a:r>
              <a:rPr lang="en-US" sz="1050" dirty="0">
                <a:solidFill>
                  <a:srgbClr val="7A90A8"/>
                </a:solidFill>
              </a:rPr>
              <a:t>For each: (a) a PRD for a new feature, (b) an architecture proposal for a new service, (c) the API docs after a sprint, (d) a new team member’s first PR — define: what does the agent review it against? What structured output does it produce? Where is the human gate?</a:t>
            </a:r>
            <a:endParaRPr lang="en-US" sz="1050" dirty="0"/>
          </a:p>
        </p:txBody>
      </p:sp>
      <p:sp>
        <p:nvSpPr>
          <p:cNvPr id="17" name="Shape 15"/>
          <p:cNvSpPr/>
          <p:nvPr/>
        </p:nvSpPr>
        <p:spPr>
          <a:xfrm>
            <a:off x="320040" y="3803904"/>
            <a:ext cx="8503920" cy="1097280"/>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18" name="Shape 16"/>
          <p:cNvSpPr/>
          <p:nvPr/>
        </p:nvSpPr>
        <p:spPr>
          <a:xfrm>
            <a:off x="320040" y="3803904"/>
            <a:ext cx="475488" cy="1097280"/>
          </a:xfrm>
          <a:prstGeom prst="rect">
            <a:avLst/>
          </a:prstGeom>
          <a:solidFill>
            <a:srgbClr val="4A7FA8"/>
          </a:solidFill>
          <a:ln/>
        </p:spPr>
      </p:sp>
      <p:sp>
        <p:nvSpPr>
          <p:cNvPr id="19" name="Text 17"/>
          <p:cNvSpPr/>
          <p:nvPr/>
        </p:nvSpPr>
        <p:spPr>
          <a:xfrm>
            <a:off x="320040" y="3803904"/>
            <a:ext cx="475488" cy="1097280"/>
          </a:xfrm>
          <a:prstGeom prst="rect">
            <a:avLst/>
          </a:prstGeom>
          <a:noFill/>
          <a:ln/>
        </p:spPr>
        <p:txBody>
          <a:bodyPr wrap="square" lIns="0" tIns="0" rIns="0" bIns="0" rtlCol="0" anchor="ctr"/>
          <a:lstStyle/>
          <a:p>
            <a:pPr algn="ctr" indent="0" marL="0">
              <a:buNone/>
            </a:pPr>
            <a:r>
              <a:rPr lang="en-US" sz="2200" b="1" dirty="0">
                <a:solidFill>
                  <a:srgbClr val="FFFFFF"/>
                </a:solidFill>
              </a:rPr>
              <a:t>3</a:t>
            </a:r>
            <a:endParaRPr lang="en-US" sz="2200" dirty="0"/>
          </a:p>
        </p:txBody>
      </p:sp>
      <p:sp>
        <p:nvSpPr>
          <p:cNvPr id="20" name="Text 18"/>
          <p:cNvSpPr/>
          <p:nvPr/>
        </p:nvSpPr>
        <p:spPr>
          <a:xfrm>
            <a:off x="886968" y="3858768"/>
            <a:ext cx="4114800" cy="292608"/>
          </a:xfrm>
          <a:prstGeom prst="rect">
            <a:avLst/>
          </a:prstGeom>
          <a:noFill/>
          <a:ln/>
        </p:spPr>
        <p:txBody>
          <a:bodyPr wrap="square" lIns="0" tIns="0" rIns="0" bIns="0" rtlCol="0" anchor="ctr"/>
          <a:lstStyle/>
          <a:p>
            <a:pPr indent="0" marL="0">
              <a:buNone/>
            </a:pPr>
            <a:r>
              <a:rPr lang="en-US" sz="1250" b="1" dirty="0">
                <a:solidFill>
                  <a:srgbClr val="4A7FA8"/>
                </a:solidFill>
              </a:rPr>
              <a:t>Education scenario: onboard a new developer</a:t>
            </a:r>
            <a:endParaRPr lang="en-US" sz="1250" dirty="0"/>
          </a:p>
        </p:txBody>
      </p:sp>
      <p:sp>
        <p:nvSpPr>
          <p:cNvPr id="21" name="Text 19"/>
          <p:cNvSpPr/>
          <p:nvPr/>
        </p:nvSpPr>
        <p:spPr>
          <a:xfrm>
            <a:off x="5001768" y="3858768"/>
            <a:ext cx="777240" cy="292608"/>
          </a:xfrm>
          <a:prstGeom prst="rect">
            <a:avLst/>
          </a:prstGeom>
          <a:noFill/>
          <a:ln/>
        </p:spPr>
        <p:txBody>
          <a:bodyPr wrap="square" lIns="0" tIns="0" rIns="0" bIns="0" rtlCol="0" anchor="ctr"/>
          <a:lstStyle/>
          <a:p>
            <a:pPr indent="0" marL="0">
              <a:buNone/>
            </a:pPr>
            <a:r>
              <a:rPr lang="en-US" sz="1100" i="1" dirty="0">
                <a:solidFill>
                  <a:srgbClr val="7A90A8"/>
                </a:solidFill>
              </a:rPr>
              <a:t>(15 min)</a:t>
            </a:r>
            <a:endParaRPr lang="en-US" sz="1100" dirty="0"/>
          </a:p>
        </p:txBody>
      </p:sp>
      <p:sp>
        <p:nvSpPr>
          <p:cNvPr id="22" name="Text 20"/>
          <p:cNvSpPr/>
          <p:nvPr/>
        </p:nvSpPr>
        <p:spPr>
          <a:xfrm>
            <a:off x="886968" y="4224528"/>
            <a:ext cx="7818120" cy="603504"/>
          </a:xfrm>
          <a:prstGeom prst="rect">
            <a:avLst/>
          </a:prstGeom>
          <a:noFill/>
          <a:ln/>
        </p:spPr>
        <p:txBody>
          <a:bodyPr wrap="square" lIns="0" tIns="0" rIns="0" bIns="0" rtlCol="0" anchor="ctr"/>
          <a:lstStyle/>
          <a:p>
            <a:pPr indent="0" marL="0">
              <a:buNone/>
            </a:pPr>
            <a:r>
              <a:rPr lang="en-US" sz="1050" dirty="0">
                <a:solidFill>
                  <a:srgbClr val="7A90A8"/>
                </a:solidFill>
              </a:rPr>
              <a:t>A developer has just joined your team and needs to understand the authentication flow. Write the prompt you would give Claude Code to educate them. What context (CLAUDE.md, PRODUCT.md, specific files) would you make sure is loaded? What would the agent get right that a wiki page would not?</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C3557"/>
        </a:solidFill>
      </p:bgPr>
    </p:bg>
    <p:spTree>
      <p:nvGrpSpPr>
        <p:cNvPr id="1" name=""/>
        <p:cNvGrpSpPr/>
        <p:nvPr/>
      </p:nvGrpSpPr>
      <p:grpSpPr>
        <a:xfrm>
          <a:off x="0" y="0"/>
          <a:ext cx="0" cy="0"/>
          <a:chOff x="0" y="0"/>
          <a:chExt cx="0" cy="0"/>
        </a:xfrm>
      </p:grpSpPr>
      <p:sp>
        <p:nvSpPr>
          <p:cNvPr id="2" name="Shape 0"/>
          <p:cNvSpPr/>
          <p:nvPr/>
        </p:nvSpPr>
        <p:spPr>
          <a:xfrm>
            <a:off x="8979408" y="0"/>
            <a:ext cx="164592" cy="5143500"/>
          </a:xfrm>
          <a:prstGeom prst="rect">
            <a:avLst/>
          </a:prstGeom>
          <a:solidFill>
            <a:srgbClr val="3A7DC9"/>
          </a:solidFill>
          <a:ln/>
        </p:spPr>
      </p:sp>
      <p:sp>
        <p:nvSpPr>
          <p:cNvPr id="3" name="Text 1"/>
          <p:cNvSpPr/>
          <p:nvPr/>
        </p:nvSpPr>
        <p:spPr>
          <a:xfrm>
            <a:off x="365760" y="201168"/>
            <a:ext cx="8229600" cy="411480"/>
          </a:xfrm>
          <a:prstGeom prst="rect">
            <a:avLst/>
          </a:prstGeom>
          <a:noFill/>
          <a:ln/>
        </p:spPr>
        <p:txBody>
          <a:bodyPr wrap="square" lIns="0" tIns="0" rIns="0" bIns="0" rtlCol="0" anchor="ctr"/>
          <a:lstStyle/>
          <a:p>
            <a:pPr indent="0" marL="0">
              <a:buNone/>
            </a:pPr>
            <a:r>
              <a:rPr lang="en-US" sz="1300" b="1" spc="300" kern="0" dirty="0">
                <a:solidFill>
                  <a:srgbClr val="5B8DB8"/>
                </a:solidFill>
              </a:rPr>
              <a:t>DISCUSSION + MODULE SUMMARY</a:t>
            </a:r>
            <a:endParaRPr lang="en-US" sz="1300" dirty="0"/>
          </a:p>
        </p:txBody>
      </p:sp>
      <p:sp>
        <p:nvSpPr>
          <p:cNvPr id="4" name="Shape 2"/>
          <p:cNvSpPr/>
          <p:nvPr/>
        </p:nvSpPr>
        <p:spPr>
          <a:xfrm>
            <a:off x="320040" y="749808"/>
            <a:ext cx="5029200" cy="3493008"/>
          </a:xfrm>
          <a:prstGeom prst="rect">
            <a:avLst/>
          </a:prstGeom>
          <a:solidFill>
            <a:srgbClr val="2E5073">
              <a:alpha val="80000"/>
            </a:srgbClr>
          </a:solidFill>
          <a:ln/>
          <a:effectLst>
            <a:outerShdw sx="100000" sy="100000" kx="0" ky="0" algn="bl" rotWithShape="0" blurRad="101600" dist="38100" dir="8100000">
              <a:srgbClr val="000000">
                <a:alpha val="13000"/>
              </a:srgbClr>
            </a:outerShdw>
          </a:effectLst>
        </p:spPr>
      </p:sp>
      <p:sp>
        <p:nvSpPr>
          <p:cNvPr id="5" name="Shape 3"/>
          <p:cNvSpPr/>
          <p:nvPr/>
        </p:nvSpPr>
        <p:spPr>
          <a:xfrm>
            <a:off x="320040" y="749808"/>
            <a:ext cx="5029200" cy="438912"/>
          </a:xfrm>
          <a:prstGeom prst="rect">
            <a:avLst/>
          </a:prstGeom>
          <a:solidFill>
            <a:srgbClr val="5B8DB8">
              <a:alpha val="85000"/>
            </a:srgbClr>
          </a:solidFill>
          <a:ln/>
        </p:spPr>
      </p:sp>
      <p:sp>
        <p:nvSpPr>
          <p:cNvPr id="6" name="Text 4"/>
          <p:cNvSpPr/>
          <p:nvPr/>
        </p:nvSpPr>
        <p:spPr>
          <a:xfrm>
            <a:off x="320040" y="749808"/>
            <a:ext cx="5029200" cy="438912"/>
          </a:xfrm>
          <a:prstGeom prst="rect">
            <a:avLst/>
          </a:prstGeom>
          <a:noFill/>
          <a:ln/>
        </p:spPr>
        <p:txBody>
          <a:bodyPr wrap="square" lIns="0" tIns="0" rIns="0" bIns="0" rtlCol="0" anchor="ctr"/>
          <a:lstStyle/>
          <a:p>
            <a:pPr algn="ctr" indent="0" marL="0">
              <a:buNone/>
            </a:pPr>
            <a:r>
              <a:rPr lang="en-US" sz="1100" b="1" spc="200" kern="0" dirty="0">
                <a:solidFill>
                  <a:srgbClr val="FFFFFF"/>
                </a:solidFill>
              </a:rPr>
              <a:t>DISCUSSION QUESTIONS</a:t>
            </a:r>
            <a:endParaRPr lang="en-US" sz="1100" dirty="0"/>
          </a:p>
        </p:txBody>
      </p:sp>
      <p:sp>
        <p:nvSpPr>
          <p:cNvPr id="7" name="Text 5"/>
          <p:cNvSpPr/>
          <p:nvPr/>
        </p:nvSpPr>
        <p:spPr>
          <a:xfrm>
            <a:off x="457200" y="1280160"/>
            <a:ext cx="4663440" cy="2834640"/>
          </a:xfrm>
          <a:prstGeom prst="rect">
            <a:avLst/>
          </a:prstGeom>
          <a:noFill/>
          <a:ln/>
        </p:spPr>
        <p:txBody>
          <a:bodyPr wrap="square" lIns="0" tIns="0" rIns="0" bIns="0" rtlCol="0" anchor="ctr"/>
          <a:lstStyle/>
          <a:p>
            <a:pPr indent="0" marL="0">
              <a:buNone/>
            </a:pPr>
            <a:r>
              <a:rPr lang="en-US" sz="1150" dirty="0">
                <a:solidFill>
                  <a:srgbClr val="D4E4F0"/>
                </a:solidFill>
              </a:rPr>
              <a:t>Q1.  In the lint scenario, who is accountable if an agent-generated change breaks production at 2am?</a:t>
            </a:r>
            <a:endParaRPr lang="en-US" sz="1150" dirty="0"/>
          </a:p>
          <a:p>
            <a:pPr indent="0" marL="0">
              <a:buNone/>
            </a:pPr>
            <a:endParaRPr lang="en-US" sz="1150" dirty="0"/>
          </a:p>
          <a:p>
            <a:pPr indent="0" marL="0">
              <a:buNone/>
            </a:pPr>
            <a:r>
              <a:rPr lang="en-US" sz="1150" dirty="0">
                <a:solidFill>
                  <a:srgbClr val="D4E4F0"/>
                </a:solidFill>
              </a:rPr>
              <a:t>Q2.  Which SDLC artifact on your team has never been formally reviewed? What would an agent find if you pointed one at it today?</a:t>
            </a:r>
            <a:endParaRPr lang="en-US" sz="1150" dirty="0"/>
          </a:p>
          <a:p>
            <a:pPr indent="0" marL="0">
              <a:buNone/>
            </a:pPr>
            <a:endParaRPr lang="en-US" sz="1150" dirty="0"/>
          </a:p>
          <a:p>
            <a:pPr indent="0" marL="0">
              <a:buNone/>
            </a:pPr>
            <a:r>
              <a:rPr lang="en-US" sz="1150" dirty="0">
                <a:solidFill>
                  <a:srgbClr val="D4E4F0"/>
                </a:solidFill>
              </a:rPr>
              <a:t>Q3.  If you deployed an evaluator agent on your PR process this week, what would it need to check?</a:t>
            </a:r>
            <a:endParaRPr lang="en-US" sz="1150" dirty="0"/>
          </a:p>
          <a:p>
            <a:pPr indent="0" marL="0">
              <a:buNone/>
            </a:pPr>
            <a:endParaRPr lang="en-US" sz="1150" dirty="0"/>
          </a:p>
          <a:p>
            <a:pPr indent="0" marL="0">
              <a:buNone/>
            </a:pPr>
            <a:r>
              <a:rPr lang="en-US" sz="1150" dirty="0">
                <a:solidFill>
                  <a:srgbClr val="D4E4F0"/>
                </a:solidFill>
              </a:rPr>
              <a:t>Q4.  What question would you most want to ask an agent about your own codebase right now?</a:t>
            </a:r>
            <a:endParaRPr lang="en-US" sz="1150" dirty="0"/>
          </a:p>
        </p:txBody>
      </p:sp>
      <p:sp>
        <p:nvSpPr>
          <p:cNvPr id="8" name="Shape 6"/>
          <p:cNvSpPr/>
          <p:nvPr/>
        </p:nvSpPr>
        <p:spPr>
          <a:xfrm>
            <a:off x="5532120" y="749808"/>
            <a:ext cx="3291840" cy="3493008"/>
          </a:xfrm>
          <a:prstGeom prst="rect">
            <a:avLst/>
          </a:prstGeom>
          <a:solidFill>
            <a:srgbClr val="2E5073">
              <a:alpha val="80000"/>
            </a:srgbClr>
          </a:solidFill>
          <a:ln/>
          <a:effectLst>
            <a:outerShdw sx="100000" sy="100000" kx="0" ky="0" algn="bl" rotWithShape="0" blurRad="101600" dist="38100" dir="8100000">
              <a:srgbClr val="000000">
                <a:alpha val="13000"/>
              </a:srgbClr>
            </a:outerShdw>
          </a:effectLst>
        </p:spPr>
      </p:sp>
      <p:sp>
        <p:nvSpPr>
          <p:cNvPr id="9" name="Shape 7"/>
          <p:cNvSpPr/>
          <p:nvPr/>
        </p:nvSpPr>
        <p:spPr>
          <a:xfrm>
            <a:off x="5532120" y="749808"/>
            <a:ext cx="3291840" cy="438912"/>
          </a:xfrm>
          <a:prstGeom prst="rect">
            <a:avLst/>
          </a:prstGeom>
          <a:solidFill>
            <a:srgbClr val="3A7DC9">
              <a:alpha val="90000"/>
            </a:srgbClr>
          </a:solidFill>
          <a:ln/>
        </p:spPr>
      </p:sp>
      <p:sp>
        <p:nvSpPr>
          <p:cNvPr id="10" name="Text 8"/>
          <p:cNvSpPr/>
          <p:nvPr/>
        </p:nvSpPr>
        <p:spPr>
          <a:xfrm>
            <a:off x="5532120" y="749808"/>
            <a:ext cx="3291840" cy="438912"/>
          </a:xfrm>
          <a:prstGeom prst="rect">
            <a:avLst/>
          </a:prstGeom>
          <a:noFill/>
          <a:ln/>
        </p:spPr>
        <p:txBody>
          <a:bodyPr wrap="square" lIns="0" tIns="0" rIns="0" bIns="0" rtlCol="0" anchor="ctr"/>
          <a:lstStyle/>
          <a:p>
            <a:pPr algn="ctr" indent="0" marL="0">
              <a:buNone/>
            </a:pPr>
            <a:r>
              <a:rPr lang="en-US" sz="1100" b="1" spc="200" kern="0" dirty="0">
                <a:solidFill>
                  <a:srgbClr val="FFFFFF"/>
                </a:solidFill>
              </a:rPr>
              <a:t>KEY TAKEAWAYS</a:t>
            </a:r>
            <a:endParaRPr lang="en-US" sz="1100" dirty="0"/>
          </a:p>
        </p:txBody>
      </p:sp>
      <p:sp>
        <p:nvSpPr>
          <p:cNvPr id="11" name="Text 9"/>
          <p:cNvSpPr/>
          <p:nvPr/>
        </p:nvSpPr>
        <p:spPr>
          <a:xfrm>
            <a:off x="5669280" y="1280160"/>
            <a:ext cx="3063240" cy="2834640"/>
          </a:xfrm>
          <a:prstGeom prst="rect">
            <a:avLst/>
          </a:prstGeom>
          <a:noFill/>
          <a:ln/>
        </p:spPr>
        <p:txBody>
          <a:bodyPr wrap="square" lIns="0" tIns="0" rIns="0" bIns="0" rtlCol="0" anchor="ctr"/>
          <a:lstStyle/>
          <a:p>
            <a:pPr indent="0" marL="0">
              <a:buNone/>
            </a:pPr>
            <a:r>
              <a:rPr lang="en-US" sz="1150" dirty="0">
                <a:solidFill>
                  <a:srgbClr val="D4E4F0"/>
                </a:solidFill>
              </a:rPr>
              <a:t>· Agents review ALL SDLC artifacts, not just code</a:t>
            </a:r>
            <a:endParaRPr lang="en-US" sz="1150" dirty="0"/>
          </a:p>
          <a:p>
            <a:pPr indent="0" marL="0">
              <a:buNone/>
            </a:pPr>
            <a:endParaRPr lang="en-US" sz="1150" dirty="0"/>
          </a:p>
          <a:p>
            <a:pPr indent="0" marL="0">
              <a:buNone/>
            </a:pPr>
            <a:r>
              <a:rPr lang="en-US" sz="1150" dirty="0">
                <a:solidFill>
                  <a:srgbClr val="D4E4F0"/>
                </a:solidFill>
              </a:rPr>
              <a:t>· Match HITL pattern to risk and reversibility</a:t>
            </a:r>
            <a:endParaRPr lang="en-US" sz="1150" dirty="0"/>
          </a:p>
          <a:p>
            <a:pPr indent="0" marL="0">
              <a:buNone/>
            </a:pPr>
            <a:endParaRPr lang="en-US" sz="1150" dirty="0"/>
          </a:p>
          <a:p>
            <a:pPr indent="0" marL="0">
              <a:buNone/>
            </a:pPr>
            <a:r>
              <a:rPr lang="en-US" sz="1150" dirty="0">
                <a:solidFill>
                  <a:srgbClr val="D4E4F0"/>
                </a:solidFill>
              </a:rPr>
              <a:t>· Evaluator agent catches failures before humans</a:t>
            </a:r>
            <a:endParaRPr lang="en-US" sz="1150" dirty="0"/>
          </a:p>
          <a:p>
            <a:pPr indent="0" marL="0">
              <a:buNone/>
            </a:pPr>
            <a:endParaRPr lang="en-US" sz="1150" dirty="0"/>
          </a:p>
          <a:p>
            <a:pPr indent="0" marL="0">
              <a:buNone/>
            </a:pPr>
            <a:r>
              <a:rPr lang="en-US" sz="1150" dirty="0">
                <a:solidFill>
                  <a:srgbClr val="D4E4F0"/>
                </a:solidFill>
              </a:rPr>
              <a:t>· Interrupt conditions must be defined upfront</a:t>
            </a:r>
            <a:endParaRPr lang="en-US" sz="1150" dirty="0"/>
          </a:p>
          <a:p>
            <a:pPr indent="0" marL="0">
              <a:buNone/>
            </a:pPr>
            <a:endParaRPr lang="en-US" sz="1150" dirty="0"/>
          </a:p>
          <a:p>
            <a:pPr indent="0" marL="0">
              <a:buNone/>
            </a:pPr>
            <a:r>
              <a:rPr lang="en-US" sz="1150" dirty="0">
                <a:solidFill>
                  <a:srgbClr val="D4E4F0"/>
                </a:solidFill>
              </a:rPr>
              <a:t>· Agents as educators — codebase, decisions, process</a:t>
            </a:r>
            <a:endParaRPr lang="en-US" sz="1150" dirty="0"/>
          </a:p>
          <a:p>
            <a:pPr indent="0" marL="0">
              <a:buNone/>
            </a:pPr>
            <a:endParaRPr lang="en-US" sz="1150" dirty="0"/>
          </a:p>
          <a:p>
            <a:pPr indent="0" marL="0">
              <a:buNone/>
            </a:pPr>
            <a:r>
              <a:rPr lang="en-US" sz="1150" dirty="0">
                <a:solidFill>
                  <a:srgbClr val="D4E4F0"/>
                </a:solidFill>
              </a:rPr>
              <a:t>· PR standards: confidence + reviewer focus fields</a:t>
            </a:r>
            <a:endParaRPr lang="en-US" sz="1150" dirty="0"/>
          </a:p>
          <a:p>
            <a:pPr indent="0" marL="0">
              <a:buNone/>
            </a:pPr>
            <a:endParaRPr lang="en-US" sz="1150" dirty="0"/>
          </a:p>
          <a:p>
            <a:pPr indent="0" marL="0">
              <a:buNone/>
            </a:pPr>
            <a:r>
              <a:rPr lang="en-US" sz="1150" dirty="0">
                <a:solidFill>
                  <a:srgbClr val="D4E4F0"/>
                </a:solidFill>
              </a:rPr>
              <a:t>· Review SLAs prevent pipeline stalls</a:t>
            </a:r>
            <a:endParaRPr lang="en-US" sz="1150" dirty="0"/>
          </a:p>
        </p:txBody>
      </p:sp>
      <p:sp>
        <p:nvSpPr>
          <p:cNvPr id="12" name="Shape 10"/>
          <p:cNvSpPr/>
          <p:nvPr/>
        </p:nvSpPr>
        <p:spPr>
          <a:xfrm>
            <a:off x="320040" y="4343400"/>
            <a:ext cx="8503920" cy="566928"/>
          </a:xfrm>
          <a:prstGeom prst="rect">
            <a:avLst/>
          </a:prstGeom>
          <a:solidFill>
            <a:srgbClr val="3A7DC9">
              <a:alpha val="82000"/>
            </a:srgbClr>
          </a:solidFill>
          <a:ln/>
        </p:spPr>
      </p:sp>
      <p:sp>
        <p:nvSpPr>
          <p:cNvPr id="13" name="Text 11"/>
          <p:cNvSpPr/>
          <p:nvPr/>
        </p:nvSpPr>
        <p:spPr>
          <a:xfrm>
            <a:off x="320040" y="4343400"/>
            <a:ext cx="8503920" cy="566928"/>
          </a:xfrm>
          <a:prstGeom prst="rect">
            <a:avLst/>
          </a:prstGeom>
          <a:noFill/>
          <a:ln/>
        </p:spPr>
        <p:txBody>
          <a:bodyPr wrap="square" lIns="0" tIns="0" rIns="0" bIns="0" rtlCol="0" anchor="ctr"/>
          <a:lstStyle/>
          <a:p>
            <a:pPr algn="ctr" indent="0" marL="0">
              <a:buNone/>
            </a:pPr>
            <a:r>
              <a:rPr lang="en-US" sz="1150" b="1" dirty="0">
                <a:solidFill>
                  <a:srgbClr val="FFFFFF"/>
                </a:solidFill>
              </a:rPr>
              <a:t>NEXT  ·  Module 08: Review Hygiene &amp; Continuous Improvement  —  ADRs, supervised development, quality gates</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7: Review Cycles, Human-in-the-Loop &amp; Agent-to-Agent</dc:title>
  <dc:subject>PptxGenJS Presentation</dc:subject>
  <dc:creator>PptxGenJS</dc:creator>
  <cp:lastModifiedBy>PptxGenJS</cp:lastModifiedBy>
  <cp:revision>1</cp:revision>
  <dcterms:created xsi:type="dcterms:W3CDTF">2026-04-07T23:58:26Z</dcterms:created>
  <dcterms:modified xsi:type="dcterms:W3CDTF">2026-04-07T23:58:26Z</dcterms:modified>
</cp:coreProperties>
</file>