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55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A7DC9"/>
          </a:solidFill>
          <a:ln/>
        </p:spPr>
      </p:sp>
      <p:sp>
        <p:nvSpPr>
          <p:cNvPr id="3" name="Text 1"/>
          <p:cNvSpPr/>
          <p:nvPr/>
        </p:nvSpPr>
        <p:spPr>
          <a:xfrm>
            <a:off x="365760" y="292608"/>
            <a:ext cx="8412480" cy="320040"/>
          </a:xfrm>
          <a:prstGeom prst="rect">
            <a:avLst/>
          </a:prstGeom>
          <a:noFill/>
          <a:ln/>
        </p:spPr>
        <p:txBody>
          <a:bodyPr wrap="square" lIns="0" tIns="0" rIns="0" bIns="0" rtlCol="0" anchor="ctr"/>
          <a:lstStyle/>
          <a:p>
            <a:pPr indent="0" marL="0">
              <a:buNone/>
            </a:pPr>
            <a:r>
              <a:rPr lang="en-US" sz="1000" b="1" spc="400" kern="0" dirty="0">
                <a:solidFill>
                  <a:srgbClr val="5B8DB8"/>
                </a:solidFill>
              </a:rPr>
              <a:t>ENTERPRISE AGENTIC PRACTICES</a:t>
            </a:r>
            <a:endParaRPr lang="en-US" sz="1000" dirty="0"/>
          </a:p>
        </p:txBody>
      </p:sp>
      <p:sp>
        <p:nvSpPr>
          <p:cNvPr id="4" name="Shape 2"/>
          <p:cNvSpPr/>
          <p:nvPr/>
        </p:nvSpPr>
        <p:spPr>
          <a:xfrm>
            <a:off x="365760" y="749808"/>
            <a:ext cx="1371600" cy="347472"/>
          </a:xfrm>
          <a:prstGeom prst="rect">
            <a:avLst/>
          </a:prstGeom>
          <a:solidFill>
            <a:srgbClr val="3A7DC9"/>
          </a:solidFill>
          <a:ln/>
        </p:spPr>
      </p:sp>
      <p:sp>
        <p:nvSpPr>
          <p:cNvPr id="5" name="Text 3"/>
          <p:cNvSpPr/>
          <p:nvPr/>
        </p:nvSpPr>
        <p:spPr>
          <a:xfrm>
            <a:off x="365760" y="749808"/>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rPr>
              <a:t>MODULE 05</a:t>
            </a:r>
            <a:endParaRPr lang="en-US" sz="1100" dirty="0"/>
          </a:p>
        </p:txBody>
      </p:sp>
      <p:sp>
        <p:nvSpPr>
          <p:cNvPr id="6" name="Text 4"/>
          <p:cNvSpPr/>
          <p:nvPr/>
        </p:nvSpPr>
        <p:spPr>
          <a:xfrm>
            <a:off x="365760" y="1261872"/>
            <a:ext cx="6400800" cy="1737360"/>
          </a:xfrm>
          <a:prstGeom prst="rect">
            <a:avLst/>
          </a:prstGeom>
          <a:noFill/>
          <a:ln/>
        </p:spPr>
        <p:txBody>
          <a:bodyPr wrap="square" lIns="0" tIns="0" rIns="0" bIns="0" rtlCol="0" anchor="ctr"/>
          <a:lstStyle/>
          <a:p>
            <a:pPr indent="0" marL="0">
              <a:buNone/>
            </a:pPr>
            <a:r>
              <a:rPr lang="en-US" sz="5200" b="1" dirty="0">
                <a:solidFill>
                  <a:srgbClr val="FFFFFF"/>
                </a:solidFill>
              </a:rPr>
              <a:t>Automated</a:t>
            </a:r>
            <a:endParaRPr lang="en-US" sz="5200" dirty="0"/>
          </a:p>
          <a:p>
            <a:pPr indent="0" marL="0">
              <a:buNone/>
            </a:pPr>
            <a:r>
              <a:rPr lang="en-US" sz="5200" b="1" dirty="0">
                <a:solidFill>
                  <a:srgbClr val="FFFFFF"/>
                </a:solidFill>
              </a:rPr>
              <a:t>Testing</a:t>
            </a:r>
            <a:endParaRPr lang="en-US" sz="5200" dirty="0"/>
          </a:p>
        </p:txBody>
      </p:sp>
      <p:sp>
        <p:nvSpPr>
          <p:cNvPr id="7" name="Text 5"/>
          <p:cNvSpPr/>
          <p:nvPr/>
        </p:nvSpPr>
        <p:spPr>
          <a:xfrm>
            <a:off x="365760" y="3090672"/>
            <a:ext cx="6400800" cy="594360"/>
          </a:xfrm>
          <a:prstGeom prst="rect">
            <a:avLst/>
          </a:prstGeom>
          <a:noFill/>
          <a:ln/>
        </p:spPr>
        <p:txBody>
          <a:bodyPr wrap="square" lIns="0" tIns="0" rIns="0" bIns="0" rtlCol="0" anchor="ctr"/>
          <a:lstStyle/>
          <a:p>
            <a:pPr indent="0" marL="0">
              <a:buNone/>
            </a:pPr>
            <a:r>
              <a:rPr lang="en-US" sz="1600" i="1" dirty="0">
                <a:solidFill>
                  <a:srgbClr val="5B8DB8"/>
                </a:solidFill>
              </a:rPr>
              <a:t>TDD, test coverage, and the testing pyramid: how agents make comprehensive testing economically viable</a:t>
            </a:r>
            <a:endParaRPr lang="en-US" sz="1600" dirty="0"/>
          </a:p>
        </p:txBody>
      </p:sp>
      <p:sp>
        <p:nvSpPr>
          <p:cNvPr id="8" name="Shape 6"/>
          <p:cNvSpPr/>
          <p:nvPr/>
        </p:nvSpPr>
        <p:spPr>
          <a:xfrm>
            <a:off x="365760" y="3749040"/>
            <a:ext cx="3200400" cy="36576"/>
          </a:xfrm>
          <a:prstGeom prst="rect">
            <a:avLst/>
          </a:prstGeom>
          <a:solidFill>
            <a:srgbClr val="3A7DC9"/>
          </a:solidFill>
          <a:ln/>
        </p:spPr>
      </p:sp>
      <p:sp>
        <p:nvSpPr>
          <p:cNvPr id="9" name="Text 7"/>
          <p:cNvSpPr/>
          <p:nvPr/>
        </p:nvSpPr>
        <p:spPr>
          <a:xfrm>
            <a:off x="365760" y="3913632"/>
            <a:ext cx="4572000" cy="347472"/>
          </a:xfrm>
          <a:prstGeom prst="rect">
            <a:avLst/>
          </a:prstGeom>
          <a:noFill/>
          <a:ln/>
        </p:spPr>
        <p:txBody>
          <a:bodyPr wrap="square" lIns="0" tIns="0" rIns="0" bIns="0" rtlCol="0" anchor="ctr"/>
          <a:lstStyle/>
          <a:p>
            <a:pPr indent="0" marL="0">
              <a:buNone/>
            </a:pPr>
            <a:r>
              <a:rPr lang="en-US" sz="1300" b="1" dirty="0">
                <a:solidFill>
                  <a:srgbClr val="7A90A8"/>
                </a:solidFill>
              </a:rPr>
              <a:t>Duration: </a:t>
            </a:r>
            <a:pPr indent="0" marL="0">
              <a:buNone/>
            </a:pPr>
            <a:r>
              <a:rPr lang="en-US" sz="1300" dirty="0">
                <a:solidFill>
                  <a:srgbClr val="7A90A8"/>
                </a:solidFill>
              </a:rPr>
              <a:t>75–90 min  </a:t>
            </a:r>
            <a:pPr indent="0" marL="0">
              <a:buNone/>
            </a:pPr>
            <a:r>
              <a:rPr lang="en-US" sz="1300" dirty="0">
                <a:solidFill>
                  <a:srgbClr val="7A90A8"/>
                </a:solidFill>
              </a:rPr>
              <a:t>  |  </a:t>
            </a:r>
            <a:pPr indent="0" marL="0">
              <a:buNone/>
            </a:pPr>
            <a:r>
              <a:rPr lang="en-US" sz="1300" b="1" dirty="0">
                <a:solidFill>
                  <a:srgbClr val="7A90A8"/>
                </a:solidFill>
              </a:rPr>
              <a:t>Level: </a:t>
            </a:r>
            <a:pPr indent="0" marL="0">
              <a:buNone/>
            </a:pPr>
            <a:r>
              <a:rPr lang="en-US" sz="1300" dirty="0">
                <a:solidFill>
                  <a:srgbClr val="7A90A8"/>
                </a:solidFill>
              </a:rPr>
              <a:t>Intermediate</a:t>
            </a:r>
            <a:endParaRPr lang="en-US" sz="1300" dirty="0"/>
          </a:p>
        </p:txBody>
      </p:sp>
      <p:sp>
        <p:nvSpPr>
          <p:cNvPr id="10" name="Shape 8"/>
          <p:cNvSpPr/>
          <p:nvPr/>
        </p:nvSpPr>
        <p:spPr>
          <a:xfrm>
            <a:off x="6492240" y="502920"/>
            <a:ext cx="2331720" cy="4389120"/>
          </a:xfrm>
          <a:prstGeom prst="rect">
            <a:avLst/>
          </a:prstGeom>
          <a:solidFill>
            <a:srgbClr val="2E5073">
              <a:alpha val="75000"/>
            </a:srgbClr>
          </a:solidFill>
          <a:ln/>
          <a:effectLst>
            <a:outerShdw sx="100000" sy="100000" kx="0" ky="0" algn="bl" rotWithShape="0" blurRad="101600" dist="38100" dir="8100000">
              <a:srgbClr val="000000">
                <a:alpha val="13000"/>
              </a:srgbClr>
            </a:outerShdw>
          </a:effectLst>
        </p:spPr>
      </p:sp>
      <p:sp>
        <p:nvSpPr>
          <p:cNvPr id="11" name="Text 9"/>
          <p:cNvSpPr/>
          <p:nvPr/>
        </p:nvSpPr>
        <p:spPr>
          <a:xfrm>
            <a:off x="6492240" y="566928"/>
            <a:ext cx="2331720" cy="502920"/>
          </a:xfrm>
          <a:prstGeom prst="rect">
            <a:avLst/>
          </a:prstGeom>
          <a:noFill/>
          <a:ln/>
        </p:spPr>
        <p:txBody>
          <a:bodyPr wrap="square" lIns="0" tIns="0" rIns="0" bIns="0" rtlCol="0" anchor="ctr"/>
          <a:lstStyle/>
          <a:p>
            <a:pPr algn="ctr" indent="0" marL="0">
              <a:buNone/>
            </a:pPr>
            <a:r>
              <a:rPr lang="en-US" sz="900" b="1" spc="100" kern="0" dirty="0">
                <a:solidFill>
                  <a:srgbClr val="5B8DB8"/>
                </a:solidFill>
              </a:rPr>
              <a:t>TESTING</a:t>
            </a:r>
            <a:endParaRPr lang="en-US" sz="900" dirty="0"/>
          </a:p>
          <a:p>
            <a:pPr algn="ctr" indent="0" marL="0">
              <a:buNone/>
            </a:pPr>
            <a:r>
              <a:rPr lang="en-US" sz="900" b="1" spc="100" kern="0" dirty="0">
                <a:solidFill>
                  <a:srgbClr val="5B8DB8"/>
                </a:solidFill>
              </a:rPr>
              <a:t>PYRAMID</a:t>
            </a:r>
            <a:endParaRPr lang="en-US" sz="900" dirty="0"/>
          </a:p>
        </p:txBody>
      </p:sp>
      <p:sp>
        <p:nvSpPr>
          <p:cNvPr id="12" name="Shape 10"/>
          <p:cNvSpPr/>
          <p:nvPr/>
        </p:nvSpPr>
        <p:spPr>
          <a:xfrm>
            <a:off x="7251192" y="1188720"/>
            <a:ext cx="1371600" cy="694944"/>
          </a:xfrm>
          <a:prstGeom prst="rect">
            <a:avLst/>
          </a:prstGeom>
          <a:solidFill>
            <a:srgbClr val="B03040">
              <a:alpha val="82000"/>
            </a:srgbClr>
          </a:solidFill>
          <a:ln/>
        </p:spPr>
      </p:sp>
      <p:sp>
        <p:nvSpPr>
          <p:cNvPr id="13" name="Text 11"/>
          <p:cNvSpPr/>
          <p:nvPr/>
        </p:nvSpPr>
        <p:spPr>
          <a:xfrm>
            <a:off x="7251192" y="1225296"/>
            <a:ext cx="1371600" cy="274320"/>
          </a:xfrm>
          <a:prstGeom prst="rect">
            <a:avLst/>
          </a:prstGeom>
          <a:noFill/>
          <a:ln/>
        </p:spPr>
        <p:txBody>
          <a:bodyPr wrap="square" lIns="0" tIns="0" rIns="0" bIns="0" rtlCol="0" anchor="ctr"/>
          <a:lstStyle/>
          <a:p>
            <a:pPr algn="ctr" indent="0" marL="0">
              <a:buNone/>
            </a:pPr>
            <a:r>
              <a:rPr lang="en-US" sz="850" b="1" dirty="0">
                <a:solidFill>
                  <a:srgbClr val="FFFFFF"/>
                </a:solidFill>
              </a:rPr>
              <a:t>E2E Tests</a:t>
            </a:r>
            <a:endParaRPr lang="en-US" sz="850" dirty="0"/>
          </a:p>
        </p:txBody>
      </p:sp>
      <p:sp>
        <p:nvSpPr>
          <p:cNvPr id="14" name="Text 12"/>
          <p:cNvSpPr/>
          <p:nvPr/>
        </p:nvSpPr>
        <p:spPr>
          <a:xfrm>
            <a:off x="7251192" y="1536192"/>
            <a:ext cx="1371600" cy="274320"/>
          </a:xfrm>
          <a:prstGeom prst="rect">
            <a:avLst/>
          </a:prstGeom>
          <a:noFill/>
          <a:ln/>
        </p:spPr>
        <p:txBody>
          <a:bodyPr wrap="square" lIns="0" tIns="0" rIns="0" bIns="0" rtlCol="0" anchor="ctr"/>
          <a:lstStyle/>
          <a:p>
            <a:pPr algn="ctr" indent="0" marL="0">
              <a:buNone/>
            </a:pPr>
            <a:r>
              <a:rPr lang="en-US" sz="700" dirty="0">
                <a:solidFill>
                  <a:srgbClr val="D4E4F0"/>
                </a:solidFill>
              </a:rPr>
              <a:t>Slow · Selective · Governed</a:t>
            </a:r>
            <a:endParaRPr lang="en-US" sz="700" dirty="0"/>
          </a:p>
        </p:txBody>
      </p:sp>
      <p:sp>
        <p:nvSpPr>
          <p:cNvPr id="15" name="Shape 13"/>
          <p:cNvSpPr/>
          <p:nvPr/>
        </p:nvSpPr>
        <p:spPr>
          <a:xfrm>
            <a:off x="7068312" y="1938528"/>
            <a:ext cx="1737360" cy="694944"/>
          </a:xfrm>
          <a:prstGeom prst="rect">
            <a:avLst/>
          </a:prstGeom>
          <a:solidFill>
            <a:srgbClr val="B87820">
              <a:alpha val="82000"/>
            </a:srgbClr>
          </a:solidFill>
          <a:ln/>
        </p:spPr>
      </p:sp>
      <p:sp>
        <p:nvSpPr>
          <p:cNvPr id="16" name="Text 14"/>
          <p:cNvSpPr/>
          <p:nvPr/>
        </p:nvSpPr>
        <p:spPr>
          <a:xfrm>
            <a:off x="7068312" y="1975104"/>
            <a:ext cx="1737360" cy="274320"/>
          </a:xfrm>
          <a:prstGeom prst="rect">
            <a:avLst/>
          </a:prstGeom>
          <a:noFill/>
          <a:ln/>
        </p:spPr>
        <p:txBody>
          <a:bodyPr wrap="square" lIns="0" tIns="0" rIns="0" bIns="0" rtlCol="0" anchor="ctr"/>
          <a:lstStyle/>
          <a:p>
            <a:pPr algn="ctr" indent="0" marL="0">
              <a:buNone/>
            </a:pPr>
            <a:r>
              <a:rPr lang="en-US" sz="850" b="1" dirty="0">
                <a:solidFill>
                  <a:srgbClr val="FFFFFF"/>
                </a:solidFill>
              </a:rPr>
              <a:t>Functional / UI</a:t>
            </a:r>
            <a:endParaRPr lang="en-US" sz="850" dirty="0"/>
          </a:p>
        </p:txBody>
      </p:sp>
      <p:sp>
        <p:nvSpPr>
          <p:cNvPr id="17" name="Text 15"/>
          <p:cNvSpPr/>
          <p:nvPr/>
        </p:nvSpPr>
        <p:spPr>
          <a:xfrm>
            <a:off x="7068312" y="2286000"/>
            <a:ext cx="1737360" cy="274320"/>
          </a:xfrm>
          <a:prstGeom prst="rect">
            <a:avLst/>
          </a:prstGeom>
          <a:noFill/>
          <a:ln/>
        </p:spPr>
        <p:txBody>
          <a:bodyPr wrap="square" lIns="0" tIns="0" rIns="0" bIns="0" rtlCol="0" anchor="ctr"/>
          <a:lstStyle/>
          <a:p>
            <a:pPr algn="ctr" indent="0" marL="0">
              <a:buNone/>
            </a:pPr>
            <a:r>
              <a:rPr lang="en-US" sz="700" dirty="0">
                <a:solidFill>
                  <a:srgbClr val="D4E4F0"/>
                </a:solidFill>
              </a:rPr>
              <a:t>Contract &amp; behaviour coverage</a:t>
            </a:r>
            <a:endParaRPr lang="en-US" sz="700" dirty="0"/>
          </a:p>
        </p:txBody>
      </p:sp>
      <p:sp>
        <p:nvSpPr>
          <p:cNvPr id="18" name="Shape 16"/>
          <p:cNvSpPr/>
          <p:nvPr/>
        </p:nvSpPr>
        <p:spPr>
          <a:xfrm>
            <a:off x="6940296" y="2688336"/>
            <a:ext cx="1993392" cy="694944"/>
          </a:xfrm>
          <a:prstGeom prst="rect">
            <a:avLst/>
          </a:prstGeom>
          <a:solidFill>
            <a:srgbClr val="4A7FA8">
              <a:alpha val="82000"/>
            </a:srgbClr>
          </a:solidFill>
          <a:ln/>
        </p:spPr>
      </p:sp>
      <p:sp>
        <p:nvSpPr>
          <p:cNvPr id="19" name="Text 17"/>
          <p:cNvSpPr/>
          <p:nvPr/>
        </p:nvSpPr>
        <p:spPr>
          <a:xfrm>
            <a:off x="6940296" y="2724912"/>
            <a:ext cx="1993392" cy="274320"/>
          </a:xfrm>
          <a:prstGeom prst="rect">
            <a:avLst/>
          </a:prstGeom>
          <a:noFill/>
          <a:ln/>
        </p:spPr>
        <p:txBody>
          <a:bodyPr wrap="square" lIns="0" tIns="0" rIns="0" bIns="0" rtlCol="0" anchor="ctr"/>
          <a:lstStyle/>
          <a:p>
            <a:pPr algn="ctr" indent="0" marL="0">
              <a:buNone/>
            </a:pPr>
            <a:r>
              <a:rPr lang="en-US" sz="850" b="1" dirty="0">
                <a:solidFill>
                  <a:srgbClr val="FFFFFF"/>
                </a:solidFill>
              </a:rPr>
              <a:t>Integration Tests</a:t>
            </a:r>
            <a:endParaRPr lang="en-US" sz="850" dirty="0"/>
          </a:p>
        </p:txBody>
      </p:sp>
      <p:sp>
        <p:nvSpPr>
          <p:cNvPr id="20" name="Text 18"/>
          <p:cNvSpPr/>
          <p:nvPr/>
        </p:nvSpPr>
        <p:spPr>
          <a:xfrm>
            <a:off x="6940296" y="3035808"/>
            <a:ext cx="1993392" cy="274320"/>
          </a:xfrm>
          <a:prstGeom prst="rect">
            <a:avLst/>
          </a:prstGeom>
          <a:noFill/>
          <a:ln/>
        </p:spPr>
        <p:txBody>
          <a:bodyPr wrap="square" lIns="0" tIns="0" rIns="0" bIns="0" rtlCol="0" anchor="ctr"/>
          <a:lstStyle/>
          <a:p>
            <a:pPr algn="ctr" indent="0" marL="0">
              <a:buNone/>
            </a:pPr>
            <a:r>
              <a:rPr lang="en-US" sz="700" dirty="0">
                <a:solidFill>
                  <a:srgbClr val="D4E4F0"/>
                </a:solidFill>
              </a:rPr>
              <a:t>Components working together</a:t>
            </a:r>
            <a:endParaRPr lang="en-US" sz="700" dirty="0"/>
          </a:p>
        </p:txBody>
      </p:sp>
      <p:sp>
        <p:nvSpPr>
          <p:cNvPr id="21" name="Shape 19"/>
          <p:cNvSpPr/>
          <p:nvPr/>
        </p:nvSpPr>
        <p:spPr>
          <a:xfrm>
            <a:off x="6793992" y="3438144"/>
            <a:ext cx="2286000" cy="694944"/>
          </a:xfrm>
          <a:prstGeom prst="rect">
            <a:avLst/>
          </a:prstGeom>
          <a:solidFill>
            <a:srgbClr val="3A7E6E">
              <a:alpha val="82000"/>
            </a:srgbClr>
          </a:solidFill>
          <a:ln/>
        </p:spPr>
      </p:sp>
      <p:sp>
        <p:nvSpPr>
          <p:cNvPr id="22" name="Text 20"/>
          <p:cNvSpPr/>
          <p:nvPr/>
        </p:nvSpPr>
        <p:spPr>
          <a:xfrm>
            <a:off x="6793992" y="3474720"/>
            <a:ext cx="2286000" cy="274320"/>
          </a:xfrm>
          <a:prstGeom prst="rect">
            <a:avLst/>
          </a:prstGeom>
          <a:noFill/>
          <a:ln/>
        </p:spPr>
        <p:txBody>
          <a:bodyPr wrap="square" lIns="0" tIns="0" rIns="0" bIns="0" rtlCol="0" anchor="ctr"/>
          <a:lstStyle/>
          <a:p>
            <a:pPr algn="ctr" indent="0" marL="0">
              <a:buNone/>
            </a:pPr>
            <a:r>
              <a:rPr lang="en-US" sz="850" b="1" dirty="0">
                <a:solidFill>
                  <a:srgbClr val="FFFFFF"/>
                </a:solidFill>
              </a:rPr>
              <a:t>Unit Tests</a:t>
            </a:r>
            <a:endParaRPr lang="en-US" sz="850" dirty="0"/>
          </a:p>
        </p:txBody>
      </p:sp>
      <p:sp>
        <p:nvSpPr>
          <p:cNvPr id="23" name="Text 21"/>
          <p:cNvSpPr/>
          <p:nvPr/>
        </p:nvSpPr>
        <p:spPr>
          <a:xfrm>
            <a:off x="6793992" y="3785616"/>
            <a:ext cx="2286000" cy="274320"/>
          </a:xfrm>
          <a:prstGeom prst="rect">
            <a:avLst/>
          </a:prstGeom>
          <a:noFill/>
          <a:ln/>
        </p:spPr>
        <p:txBody>
          <a:bodyPr wrap="square" lIns="0" tIns="0" rIns="0" bIns="0" rtlCol="0" anchor="ctr"/>
          <a:lstStyle/>
          <a:p>
            <a:pPr algn="ctr" indent="0" marL="0">
              <a:buNone/>
            </a:pPr>
            <a:r>
              <a:rPr lang="en-US" sz="700" dirty="0">
                <a:solidFill>
                  <a:srgbClr val="D4E4F0"/>
                </a:solidFill>
              </a:rPr>
              <a:t>Isolated · Fast · Deterministic</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LEARNING OBJECTIVES</a:t>
            </a:r>
            <a:endParaRPr lang="en-US" sz="1300" dirty="0"/>
          </a:p>
        </p:txBody>
      </p:sp>
      <p:sp>
        <p:nvSpPr>
          <p:cNvPr id="4" name="Text 2"/>
          <p:cNvSpPr/>
          <p:nvPr/>
        </p:nvSpPr>
        <p:spPr>
          <a:xfrm>
            <a:off x="320040" y="822960"/>
            <a:ext cx="8503920" cy="256032"/>
          </a:xfrm>
          <a:prstGeom prst="rect">
            <a:avLst/>
          </a:prstGeom>
          <a:noFill/>
          <a:ln/>
        </p:spPr>
        <p:txBody>
          <a:bodyPr wrap="square" lIns="0" tIns="0" rIns="0" bIns="0" rtlCol="0" anchor="ctr"/>
          <a:lstStyle/>
          <a:p>
            <a:pPr indent="0" marL="0">
              <a:buNone/>
            </a:pPr>
            <a:r>
              <a:rPr lang="en-US" sz="1100" i="1" dirty="0">
                <a:solidFill>
                  <a:srgbClr val="7A90A8"/>
                </a:solidFill>
              </a:rPr>
              <a:t>By the end of this module you will be able to:</a:t>
            </a:r>
            <a:endParaRPr lang="en-US" sz="1100" dirty="0"/>
          </a:p>
        </p:txBody>
      </p:sp>
      <p:sp>
        <p:nvSpPr>
          <p:cNvPr id="5" name="Shape 3"/>
          <p:cNvSpPr/>
          <p:nvPr/>
        </p:nvSpPr>
        <p:spPr>
          <a:xfrm>
            <a:off x="320040" y="11704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70432"/>
            <a:ext cx="64008" cy="1664208"/>
          </a:xfrm>
          <a:prstGeom prst="rect">
            <a:avLst/>
          </a:prstGeom>
          <a:solidFill>
            <a:srgbClr val="3A7DC9"/>
          </a:solidFill>
          <a:ln/>
        </p:spPr>
      </p:sp>
      <p:pic>
        <p:nvPicPr>
          <p:cNvPr id="7" name="Image 0" descr="preencoded.png">    </p:cNvPr>
          <p:cNvPicPr>
            <a:picLocks noChangeAspect="1"/>
          </p:cNvPicPr>
          <p:nvPr/>
        </p:nvPicPr>
        <p:blipFill>
          <a:blip r:embed="rId1"/>
          <a:stretch>
            <a:fillRect/>
          </a:stretch>
        </p:blipFill>
        <p:spPr>
          <a:xfrm>
            <a:off x="484632" y="1371600"/>
            <a:ext cx="365760" cy="365760"/>
          </a:xfrm>
          <a:prstGeom prst="rect">
            <a:avLst/>
          </a:prstGeom>
        </p:spPr>
      </p:pic>
      <p:sp>
        <p:nvSpPr>
          <p:cNvPr id="8" name="Text 5"/>
          <p:cNvSpPr/>
          <p:nvPr/>
        </p:nvSpPr>
        <p:spPr>
          <a:xfrm>
            <a:off x="960120" y="1335024"/>
            <a:ext cx="3383280" cy="384048"/>
          </a:xfrm>
          <a:prstGeom prst="rect">
            <a:avLst/>
          </a:prstGeom>
          <a:noFill/>
          <a:ln/>
        </p:spPr>
        <p:txBody>
          <a:bodyPr wrap="square" lIns="0" tIns="0" rIns="0" bIns="0" rtlCol="0" anchor="ctr"/>
          <a:lstStyle/>
          <a:p>
            <a:pPr indent="0" marL="0">
              <a:buNone/>
            </a:pPr>
            <a:r>
              <a:rPr lang="en-US" sz="1250" b="1" dirty="0">
                <a:solidFill>
                  <a:srgbClr val="1C3557"/>
                </a:solidFill>
              </a:rPr>
              <a:t>Apply TDD with an agent</a:t>
            </a:r>
            <a:endParaRPr lang="en-US" sz="1250" dirty="0"/>
          </a:p>
        </p:txBody>
      </p:sp>
      <p:sp>
        <p:nvSpPr>
          <p:cNvPr id="9" name="Text 6"/>
          <p:cNvSpPr/>
          <p:nvPr/>
        </p:nvSpPr>
        <p:spPr>
          <a:xfrm>
            <a:off x="960120" y="1755648"/>
            <a:ext cx="3383280" cy="960120"/>
          </a:xfrm>
          <a:prstGeom prst="rect">
            <a:avLst/>
          </a:prstGeom>
          <a:noFill/>
          <a:ln/>
        </p:spPr>
        <p:txBody>
          <a:bodyPr wrap="square" lIns="0" tIns="0" rIns="0" bIns="0" rtlCol="0" anchor="ctr"/>
          <a:lstStyle/>
          <a:p>
            <a:pPr indent="0" marL="0">
              <a:buNone/>
            </a:pPr>
            <a:r>
              <a:rPr lang="en-US" sz="1100" dirty="0">
                <a:solidFill>
                  <a:srgbClr val="7A90A8"/>
                </a:solidFill>
              </a:rPr>
              <a:t>Run the Red-Green-Refactor cycle with the agent as primary test and implementation author. Know what each step requires from the human and what the agent produces.</a:t>
            </a:r>
            <a:endParaRPr lang="en-US" sz="1100" dirty="0"/>
          </a:p>
        </p:txBody>
      </p:sp>
      <p:sp>
        <p:nvSpPr>
          <p:cNvPr id="10" name="Shape 7"/>
          <p:cNvSpPr/>
          <p:nvPr/>
        </p:nvSpPr>
        <p:spPr>
          <a:xfrm>
            <a:off x="4663440" y="11704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1" name="Shape 8"/>
          <p:cNvSpPr/>
          <p:nvPr/>
        </p:nvSpPr>
        <p:spPr>
          <a:xfrm>
            <a:off x="4663440" y="1170432"/>
            <a:ext cx="64008" cy="1664208"/>
          </a:xfrm>
          <a:prstGeom prst="rect">
            <a:avLst/>
          </a:prstGeom>
          <a:solidFill>
            <a:srgbClr val="4A7FA8"/>
          </a:solidFill>
          <a:ln/>
        </p:spPr>
      </p:sp>
      <p:pic>
        <p:nvPicPr>
          <p:cNvPr id="12" name="Image 1" descr="preencoded.png">    </p:cNvPr>
          <p:cNvPicPr>
            <a:picLocks noChangeAspect="1"/>
          </p:cNvPicPr>
          <p:nvPr/>
        </p:nvPicPr>
        <p:blipFill>
          <a:blip r:embed="rId2"/>
          <a:stretch>
            <a:fillRect/>
          </a:stretch>
        </p:blipFill>
        <p:spPr>
          <a:xfrm>
            <a:off x="4828032" y="1371600"/>
            <a:ext cx="365760" cy="365760"/>
          </a:xfrm>
          <a:prstGeom prst="rect">
            <a:avLst/>
          </a:prstGeom>
        </p:spPr>
      </p:pic>
      <p:sp>
        <p:nvSpPr>
          <p:cNvPr id="13" name="Text 9"/>
          <p:cNvSpPr/>
          <p:nvPr/>
        </p:nvSpPr>
        <p:spPr>
          <a:xfrm>
            <a:off x="5303520" y="1335024"/>
            <a:ext cx="3383280" cy="384048"/>
          </a:xfrm>
          <a:prstGeom prst="rect">
            <a:avLst/>
          </a:prstGeom>
          <a:noFill/>
          <a:ln/>
        </p:spPr>
        <p:txBody>
          <a:bodyPr wrap="square" lIns="0" tIns="0" rIns="0" bIns="0" rtlCol="0" anchor="ctr"/>
          <a:lstStyle/>
          <a:p>
            <a:pPr indent="0" marL="0">
              <a:buNone/>
            </a:pPr>
            <a:r>
              <a:rPr lang="en-US" sz="1250" b="1" dirty="0">
                <a:solidFill>
                  <a:srgbClr val="1C3557"/>
                </a:solidFill>
              </a:rPr>
              <a:t>Set and enforce the 85% threshold</a:t>
            </a:r>
            <a:endParaRPr lang="en-US" sz="1250" dirty="0"/>
          </a:p>
        </p:txBody>
      </p:sp>
      <p:sp>
        <p:nvSpPr>
          <p:cNvPr id="14" name="Text 10"/>
          <p:cNvSpPr/>
          <p:nvPr/>
        </p:nvSpPr>
        <p:spPr>
          <a:xfrm>
            <a:off x="5303520" y="1755648"/>
            <a:ext cx="3383280" cy="960120"/>
          </a:xfrm>
          <a:prstGeom prst="rect">
            <a:avLst/>
          </a:prstGeom>
          <a:noFill/>
          <a:ln/>
        </p:spPr>
        <p:txBody>
          <a:bodyPr wrap="square" lIns="0" tIns="0" rIns="0" bIns="0" rtlCol="0" anchor="ctr"/>
          <a:lstStyle/>
          <a:p>
            <a:pPr indent="0" marL="0">
              <a:buNone/>
            </a:pPr>
            <a:r>
              <a:rPr lang="en-US" sz="1100" dirty="0">
                <a:solidFill>
                  <a:srgbClr val="7A90A8"/>
                </a:solidFill>
              </a:rPr>
              <a:t>Configure coverage gates in CI. Write acceptance criteria precise enough to drive test generation. Understand why the threshold is a floor, not a quality measure.</a:t>
            </a:r>
            <a:endParaRPr lang="en-US" sz="1100" dirty="0"/>
          </a:p>
        </p:txBody>
      </p:sp>
      <p:sp>
        <p:nvSpPr>
          <p:cNvPr id="15" name="Shape 11"/>
          <p:cNvSpPr/>
          <p:nvPr/>
        </p:nvSpPr>
        <p:spPr>
          <a:xfrm>
            <a:off x="320040" y="29992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6" name="Shape 12"/>
          <p:cNvSpPr/>
          <p:nvPr/>
        </p:nvSpPr>
        <p:spPr>
          <a:xfrm>
            <a:off x="320040" y="2999232"/>
            <a:ext cx="64008" cy="1664208"/>
          </a:xfrm>
          <a:prstGeom prst="rect">
            <a:avLst/>
          </a:prstGeom>
          <a:solidFill>
            <a:srgbClr val="3A7E6E"/>
          </a:solidFill>
          <a:ln/>
        </p:spPr>
      </p:sp>
      <p:pic>
        <p:nvPicPr>
          <p:cNvPr id="17" name="Image 2" descr="preencoded.png">    </p:cNvPr>
          <p:cNvPicPr>
            <a:picLocks noChangeAspect="1"/>
          </p:cNvPicPr>
          <p:nvPr/>
        </p:nvPicPr>
        <p:blipFill>
          <a:blip r:embed="rId3"/>
          <a:stretch>
            <a:fillRect/>
          </a:stretch>
        </p:blipFill>
        <p:spPr>
          <a:xfrm>
            <a:off x="484632" y="3200400"/>
            <a:ext cx="365760" cy="365760"/>
          </a:xfrm>
          <a:prstGeom prst="rect">
            <a:avLst/>
          </a:prstGeom>
        </p:spPr>
      </p:pic>
      <p:sp>
        <p:nvSpPr>
          <p:cNvPr id="18" name="Text 13"/>
          <p:cNvSpPr/>
          <p:nvPr/>
        </p:nvSpPr>
        <p:spPr>
          <a:xfrm>
            <a:off x="960120" y="3163824"/>
            <a:ext cx="3383280" cy="384048"/>
          </a:xfrm>
          <a:prstGeom prst="rect">
            <a:avLst/>
          </a:prstGeom>
          <a:noFill/>
          <a:ln/>
        </p:spPr>
        <p:txBody>
          <a:bodyPr wrap="square" lIns="0" tIns="0" rIns="0" bIns="0" rtlCol="0" anchor="ctr"/>
          <a:lstStyle/>
          <a:p>
            <a:pPr indent="0" marL="0">
              <a:buNone/>
            </a:pPr>
            <a:r>
              <a:rPr lang="en-US" sz="1250" b="1" dirty="0">
                <a:solidFill>
                  <a:srgbClr val="1C3557"/>
                </a:solidFill>
              </a:rPr>
              <a:t>Apply the full testing pyramid</a:t>
            </a:r>
            <a:endParaRPr lang="en-US" sz="1250" dirty="0"/>
          </a:p>
        </p:txBody>
      </p:sp>
      <p:sp>
        <p:nvSpPr>
          <p:cNvPr id="19" name="Text 14"/>
          <p:cNvSpPr/>
          <p:nvPr/>
        </p:nvSpPr>
        <p:spPr>
          <a:xfrm>
            <a:off x="960120" y="3584448"/>
            <a:ext cx="3383280" cy="960120"/>
          </a:xfrm>
          <a:prstGeom prst="rect">
            <a:avLst/>
          </a:prstGeom>
          <a:noFill/>
          <a:ln/>
        </p:spPr>
        <p:txBody>
          <a:bodyPr wrap="square" lIns="0" tIns="0" rIns="0" bIns="0" rtlCol="0" anchor="ctr"/>
          <a:lstStyle/>
          <a:p>
            <a:pPr indent="0" marL="0">
              <a:buNone/>
            </a:pPr>
            <a:r>
              <a:rPr lang="en-US" sz="1100" dirty="0">
                <a:solidFill>
                  <a:srgbClr val="7A90A8"/>
                </a:solidFill>
              </a:rPr>
              <a:t>Distinguish unit, integration, functional, and regression tests. Know what each layer verifies and when to write each. Keep all layers in sync with agent-driven changes.</a:t>
            </a:r>
            <a:endParaRPr lang="en-US" sz="1100" dirty="0"/>
          </a:p>
        </p:txBody>
      </p:sp>
      <p:sp>
        <p:nvSpPr>
          <p:cNvPr id="20" name="Shape 15"/>
          <p:cNvSpPr/>
          <p:nvPr/>
        </p:nvSpPr>
        <p:spPr>
          <a:xfrm>
            <a:off x="4663440" y="29992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1" name="Shape 16"/>
          <p:cNvSpPr/>
          <p:nvPr/>
        </p:nvSpPr>
        <p:spPr>
          <a:xfrm>
            <a:off x="4663440" y="2999232"/>
            <a:ext cx="64008" cy="1664208"/>
          </a:xfrm>
          <a:prstGeom prst="rect">
            <a:avLst/>
          </a:prstGeom>
          <a:solidFill>
            <a:srgbClr val="8096B0"/>
          </a:solidFill>
          <a:ln/>
        </p:spPr>
      </p:sp>
      <p:pic>
        <p:nvPicPr>
          <p:cNvPr id="22" name="Image 3" descr="preencoded.png">    </p:cNvPr>
          <p:cNvPicPr>
            <a:picLocks noChangeAspect="1"/>
          </p:cNvPicPr>
          <p:nvPr/>
        </p:nvPicPr>
        <p:blipFill>
          <a:blip r:embed="rId4"/>
          <a:stretch>
            <a:fillRect/>
          </a:stretch>
        </p:blipFill>
        <p:spPr>
          <a:xfrm>
            <a:off x="4828032" y="3200400"/>
            <a:ext cx="365760" cy="365760"/>
          </a:xfrm>
          <a:prstGeom prst="rect">
            <a:avLst/>
          </a:prstGeom>
        </p:spPr>
      </p:pic>
      <p:sp>
        <p:nvSpPr>
          <p:cNvPr id="23" name="Text 17"/>
          <p:cNvSpPr/>
          <p:nvPr/>
        </p:nvSpPr>
        <p:spPr>
          <a:xfrm>
            <a:off x="5303520" y="3163824"/>
            <a:ext cx="3383280" cy="384048"/>
          </a:xfrm>
          <a:prstGeom prst="rect">
            <a:avLst/>
          </a:prstGeom>
          <a:noFill/>
          <a:ln/>
        </p:spPr>
        <p:txBody>
          <a:bodyPr wrap="square" lIns="0" tIns="0" rIns="0" bIns="0" rtlCol="0" anchor="ctr"/>
          <a:lstStyle/>
          <a:p>
            <a:pPr indent="0" marL="0">
              <a:buNone/>
            </a:pPr>
            <a:r>
              <a:rPr lang="en-US" sz="1250" b="1" dirty="0">
                <a:solidFill>
                  <a:srgbClr val="1C3557"/>
                </a:solidFill>
              </a:rPr>
              <a:t>Govern E2E test scope and ownership</a:t>
            </a:r>
            <a:endParaRPr lang="en-US" sz="1250" dirty="0"/>
          </a:p>
        </p:txBody>
      </p:sp>
      <p:sp>
        <p:nvSpPr>
          <p:cNvPr id="24" name="Text 18"/>
          <p:cNvSpPr/>
          <p:nvPr/>
        </p:nvSpPr>
        <p:spPr>
          <a:xfrm>
            <a:off x="5303520" y="3584448"/>
            <a:ext cx="3383280" cy="960120"/>
          </a:xfrm>
          <a:prstGeom prst="rect">
            <a:avLst/>
          </a:prstGeom>
          <a:noFill/>
          <a:ln/>
        </p:spPr>
        <p:txBody>
          <a:bodyPr wrap="square" lIns="0" tIns="0" rIns="0" bIns="0" rtlCol="0" anchor="ctr"/>
          <a:lstStyle/>
          <a:p>
            <a:pPr indent="0" marL="0">
              <a:buNone/>
            </a:pPr>
            <a:r>
              <a:rPr lang="en-US" sz="1100" dirty="0">
                <a:solidFill>
                  <a:srgbClr val="7A90A8"/>
                </a:solidFill>
              </a:rPr>
              <a:t>Scope E2E tests to flows that justify the maintenance cost. Establish cross-team ownership agreements before writing tests that traverse another team's system.</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3557"/>
        </a:solidFill>
      </p:bgPr>
    </p:bg>
    <p:spTree>
      <p:nvGrpSpPr>
        <p:cNvPr id="1" name=""/>
        <p:cNvGrpSpPr/>
        <p:nvPr/>
      </p:nvGrpSpPr>
      <p:grpSpPr>
        <a:xfrm>
          <a:off x="0" y="0"/>
          <a:ext cx="0" cy="0"/>
          <a:chOff x="0" y="0"/>
          <a:chExt cx="0" cy="0"/>
        </a:xfrm>
      </p:grpSpPr>
      <p:sp>
        <p:nvSpPr>
          <p:cNvPr id="2" name="Text 0"/>
          <p:cNvSpPr/>
          <p:nvPr/>
        </p:nvSpPr>
        <p:spPr>
          <a:xfrm>
            <a:off x="365760" y="201168"/>
            <a:ext cx="841248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THE TESTING FOUNDATION  —  WHY THE ECONOMICS CHANGED</a:t>
            </a:r>
            <a:endParaRPr lang="en-US" sz="1300" dirty="0"/>
          </a:p>
        </p:txBody>
      </p:sp>
      <p:sp>
        <p:nvSpPr>
          <p:cNvPr id="3" name="Shape 1"/>
          <p:cNvSpPr/>
          <p:nvPr/>
        </p:nvSpPr>
        <p:spPr>
          <a:xfrm>
            <a:off x="320040" y="713232"/>
            <a:ext cx="8503920" cy="822960"/>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4" name="Text 2"/>
          <p:cNvSpPr/>
          <p:nvPr/>
        </p:nvSpPr>
        <p:spPr>
          <a:xfrm>
            <a:off x="548640" y="768096"/>
            <a:ext cx="8046720" cy="694944"/>
          </a:xfrm>
          <a:prstGeom prst="rect">
            <a:avLst/>
          </a:prstGeom>
          <a:noFill/>
          <a:ln/>
        </p:spPr>
        <p:txBody>
          <a:bodyPr wrap="square" lIns="0" tIns="0" rIns="0" bIns="0" rtlCol="0" anchor="ctr"/>
          <a:lstStyle/>
          <a:p>
            <a:pPr algn="ctr" indent="0" marL="0">
              <a:buNone/>
            </a:pPr>
            <a:r>
              <a:rPr lang="en-US" sz="1350" i="1" dirty="0">
                <a:solidFill>
                  <a:srgbClr val="FFFFFF"/>
                </a:solidFill>
              </a:rPr>
              <a:t>TDD was always correct. Teams did not adopt it because the economics were wrong. Agents fix the economics.</a:t>
            </a:r>
            <a:endParaRPr lang="en-US" sz="1350" dirty="0"/>
          </a:p>
          <a:p>
            <a:pPr algn="ctr" indent="0" marL="0">
              <a:buNone/>
            </a:pPr>
            <a:r>
              <a:rPr lang="en-US" sz="1350" i="1" dirty="0">
                <a:solidFill>
                  <a:srgbClr val="FFFFFF"/>
                </a:solidFill>
              </a:rPr>
              <a:t>The question is no longer 'who has time to write tests?' It is 'are your ACs precise enough to generate them?'</a:t>
            </a:r>
            <a:endParaRPr lang="en-US" sz="1350" dirty="0"/>
          </a:p>
        </p:txBody>
      </p:sp>
      <p:sp>
        <p:nvSpPr>
          <p:cNvPr id="5" name="Shape 3"/>
          <p:cNvSpPr/>
          <p:nvPr/>
        </p:nvSpPr>
        <p:spPr>
          <a:xfrm>
            <a:off x="320040" y="1664208"/>
            <a:ext cx="4160520" cy="3291840"/>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664208"/>
            <a:ext cx="4160520" cy="347472"/>
          </a:xfrm>
          <a:prstGeom prst="rect">
            <a:avLst/>
          </a:prstGeom>
          <a:solidFill>
            <a:srgbClr val="B03040">
              <a:alpha val="78000"/>
            </a:srgbClr>
          </a:solidFill>
          <a:ln/>
        </p:spPr>
      </p:sp>
      <p:sp>
        <p:nvSpPr>
          <p:cNvPr id="7" name="Text 5"/>
          <p:cNvSpPr/>
          <p:nvPr/>
        </p:nvSpPr>
        <p:spPr>
          <a:xfrm>
            <a:off x="429768" y="1664208"/>
            <a:ext cx="3931920" cy="347472"/>
          </a:xfrm>
          <a:prstGeom prst="rect">
            <a:avLst/>
          </a:prstGeom>
          <a:noFill/>
          <a:ln/>
        </p:spPr>
        <p:txBody>
          <a:bodyPr wrap="square" lIns="0" tIns="0" rIns="0" bIns="0" rtlCol="0" anchor="ctr"/>
          <a:lstStyle/>
          <a:p>
            <a:pPr indent="0" marL="0">
              <a:buNone/>
            </a:pPr>
            <a:r>
              <a:rPr lang="en-US" sz="1000" b="1" spc="200" kern="0" dirty="0">
                <a:solidFill>
                  <a:srgbClr val="FFFFFF"/>
                </a:solidFill>
              </a:rPr>
              <a:t>BEFORE AGENTS</a:t>
            </a:r>
            <a:endParaRPr lang="en-US" sz="1000" dirty="0"/>
          </a:p>
        </p:txBody>
      </p:sp>
      <p:sp>
        <p:nvSpPr>
          <p:cNvPr id="8" name="Shape 6"/>
          <p:cNvSpPr/>
          <p:nvPr/>
        </p:nvSpPr>
        <p:spPr>
          <a:xfrm>
            <a:off x="448056" y="2148840"/>
            <a:ext cx="73152" cy="73152"/>
          </a:xfrm>
          <a:prstGeom prst="rect">
            <a:avLst/>
          </a:prstGeom>
          <a:solidFill>
            <a:srgbClr val="B03040"/>
          </a:solidFill>
          <a:ln/>
        </p:spPr>
      </p:sp>
      <p:sp>
        <p:nvSpPr>
          <p:cNvPr id="9" name="Text 7"/>
          <p:cNvSpPr/>
          <p:nvPr/>
        </p:nvSpPr>
        <p:spPr>
          <a:xfrm>
            <a:off x="612648" y="2103120"/>
            <a:ext cx="3749040" cy="256032"/>
          </a:xfrm>
          <a:prstGeom prst="rect">
            <a:avLst/>
          </a:prstGeom>
          <a:noFill/>
          <a:ln/>
        </p:spPr>
        <p:txBody>
          <a:bodyPr wrap="square" lIns="0" tIns="0" rIns="0" bIns="0" rtlCol="0" anchor="ctr"/>
          <a:lstStyle/>
          <a:p>
            <a:pPr indent="0" marL="0">
              <a:buNone/>
            </a:pPr>
            <a:r>
              <a:rPr lang="en-US" sz="1050" b="1" dirty="0">
                <a:solidFill>
                  <a:srgbClr val="B87820"/>
                </a:solidFill>
              </a:rPr>
              <a:t>Tests took longer than code</a:t>
            </a:r>
            <a:endParaRPr lang="en-US" sz="1050" dirty="0"/>
          </a:p>
        </p:txBody>
      </p:sp>
      <p:sp>
        <p:nvSpPr>
          <p:cNvPr id="10" name="Text 8"/>
          <p:cNvSpPr/>
          <p:nvPr/>
        </p:nvSpPr>
        <p:spPr>
          <a:xfrm>
            <a:off x="612648" y="2377440"/>
            <a:ext cx="3749040" cy="384048"/>
          </a:xfrm>
          <a:prstGeom prst="rect">
            <a:avLst/>
          </a:prstGeom>
          <a:noFill/>
          <a:ln/>
        </p:spPr>
        <p:txBody>
          <a:bodyPr wrap="square" lIns="0" tIns="0" rIns="0" bIns="0" rtlCol="0" anchor="ctr"/>
          <a:lstStyle/>
          <a:p>
            <a:pPr indent="0" marL="0">
              <a:buNone/>
            </a:pPr>
            <a:r>
              <a:rPr lang="en-US" sz="950" dirty="0">
                <a:solidFill>
                  <a:srgbClr val="D4E4F0"/>
                </a:solidFill>
              </a:rPr>
              <a:t>Writing a thorough test suite for a feature routinely cost 2–3× the time to write the feature itself.</a:t>
            </a:r>
            <a:endParaRPr lang="en-US" sz="950" dirty="0"/>
          </a:p>
        </p:txBody>
      </p:sp>
      <p:sp>
        <p:nvSpPr>
          <p:cNvPr id="11" name="Shape 9"/>
          <p:cNvSpPr/>
          <p:nvPr/>
        </p:nvSpPr>
        <p:spPr>
          <a:xfrm>
            <a:off x="448056" y="2862072"/>
            <a:ext cx="73152" cy="73152"/>
          </a:xfrm>
          <a:prstGeom prst="rect">
            <a:avLst/>
          </a:prstGeom>
          <a:solidFill>
            <a:srgbClr val="B03040"/>
          </a:solidFill>
          <a:ln/>
        </p:spPr>
      </p:sp>
      <p:sp>
        <p:nvSpPr>
          <p:cNvPr id="12" name="Text 10"/>
          <p:cNvSpPr/>
          <p:nvPr/>
        </p:nvSpPr>
        <p:spPr>
          <a:xfrm>
            <a:off x="612648" y="2816352"/>
            <a:ext cx="3749040" cy="256032"/>
          </a:xfrm>
          <a:prstGeom prst="rect">
            <a:avLst/>
          </a:prstGeom>
          <a:noFill/>
          <a:ln/>
        </p:spPr>
        <p:txBody>
          <a:bodyPr wrap="square" lIns="0" tIns="0" rIns="0" bIns="0" rtlCol="0" anchor="ctr"/>
          <a:lstStyle/>
          <a:p>
            <a:pPr indent="0" marL="0">
              <a:buNone/>
            </a:pPr>
            <a:r>
              <a:rPr lang="en-US" sz="1050" b="1" dirty="0">
                <a:solidFill>
                  <a:srgbClr val="B87820"/>
                </a:solidFill>
              </a:rPr>
              <a:t>Coverage drifted downward</a:t>
            </a:r>
            <a:endParaRPr lang="en-US" sz="1050" dirty="0"/>
          </a:p>
        </p:txBody>
      </p:sp>
      <p:sp>
        <p:nvSpPr>
          <p:cNvPr id="13" name="Text 11"/>
          <p:cNvSpPr/>
          <p:nvPr/>
        </p:nvSpPr>
        <p:spPr>
          <a:xfrm>
            <a:off x="612648" y="3090672"/>
            <a:ext cx="3749040" cy="384048"/>
          </a:xfrm>
          <a:prstGeom prst="rect">
            <a:avLst/>
          </a:prstGeom>
          <a:noFill/>
          <a:ln/>
        </p:spPr>
        <p:txBody>
          <a:bodyPr wrap="square" lIns="0" tIns="0" rIns="0" bIns="0" rtlCol="0" anchor="ctr"/>
          <a:lstStyle/>
          <a:p>
            <a:pPr indent="0" marL="0">
              <a:buNone/>
            </a:pPr>
            <a:r>
              <a:rPr lang="en-US" sz="950" dirty="0">
                <a:solidFill>
                  <a:srgbClr val="D4E4F0"/>
                </a:solidFill>
              </a:rPr>
              <a:t>Every delivery sprint, tests were the first cut. Coverage trends only go one direction under pressure.</a:t>
            </a:r>
            <a:endParaRPr lang="en-US" sz="950" dirty="0"/>
          </a:p>
        </p:txBody>
      </p:sp>
      <p:sp>
        <p:nvSpPr>
          <p:cNvPr id="14" name="Shape 12"/>
          <p:cNvSpPr/>
          <p:nvPr/>
        </p:nvSpPr>
        <p:spPr>
          <a:xfrm>
            <a:off x="448056" y="3575304"/>
            <a:ext cx="73152" cy="73152"/>
          </a:xfrm>
          <a:prstGeom prst="rect">
            <a:avLst/>
          </a:prstGeom>
          <a:solidFill>
            <a:srgbClr val="B03040"/>
          </a:solidFill>
          <a:ln/>
        </p:spPr>
      </p:sp>
      <p:sp>
        <p:nvSpPr>
          <p:cNvPr id="15" name="Text 13"/>
          <p:cNvSpPr/>
          <p:nvPr/>
        </p:nvSpPr>
        <p:spPr>
          <a:xfrm>
            <a:off x="612648" y="3529584"/>
            <a:ext cx="3749040" cy="256032"/>
          </a:xfrm>
          <a:prstGeom prst="rect">
            <a:avLst/>
          </a:prstGeom>
          <a:noFill/>
          <a:ln/>
        </p:spPr>
        <p:txBody>
          <a:bodyPr wrap="square" lIns="0" tIns="0" rIns="0" bIns="0" rtlCol="0" anchor="ctr"/>
          <a:lstStyle/>
          <a:p>
            <a:pPr indent="0" marL="0">
              <a:buNone/>
            </a:pPr>
            <a:r>
              <a:rPr lang="en-US" sz="1050" b="1" dirty="0">
                <a:solidFill>
                  <a:srgbClr val="B87820"/>
                </a:solidFill>
              </a:rPr>
              <a:t>Regression was manual</a:t>
            </a:r>
            <a:endParaRPr lang="en-US" sz="1050" dirty="0"/>
          </a:p>
        </p:txBody>
      </p:sp>
      <p:sp>
        <p:nvSpPr>
          <p:cNvPr id="16" name="Text 14"/>
          <p:cNvSpPr/>
          <p:nvPr/>
        </p:nvSpPr>
        <p:spPr>
          <a:xfrm>
            <a:off x="612648" y="3803904"/>
            <a:ext cx="3749040" cy="384048"/>
          </a:xfrm>
          <a:prstGeom prst="rect">
            <a:avLst/>
          </a:prstGeom>
          <a:noFill/>
          <a:ln/>
        </p:spPr>
        <p:txBody>
          <a:bodyPr wrap="square" lIns="0" tIns="0" rIns="0" bIns="0" rtlCol="0" anchor="ctr"/>
          <a:lstStyle/>
          <a:p>
            <a:pPr indent="0" marL="0">
              <a:buNone/>
            </a:pPr>
            <a:r>
              <a:rPr lang="en-US" sz="950" dirty="0">
                <a:solidFill>
                  <a:srgbClr val="D4E4F0"/>
                </a:solidFill>
              </a:rPr>
              <a:t>Senior engineers spent significant time manually verifying that changes had not broken existing behaviour.</a:t>
            </a:r>
            <a:endParaRPr lang="en-US" sz="950" dirty="0"/>
          </a:p>
        </p:txBody>
      </p:sp>
      <p:sp>
        <p:nvSpPr>
          <p:cNvPr id="17" name="Shape 15"/>
          <p:cNvSpPr/>
          <p:nvPr/>
        </p:nvSpPr>
        <p:spPr>
          <a:xfrm>
            <a:off x="448056" y="4288536"/>
            <a:ext cx="73152" cy="73152"/>
          </a:xfrm>
          <a:prstGeom prst="rect">
            <a:avLst/>
          </a:prstGeom>
          <a:solidFill>
            <a:srgbClr val="B03040"/>
          </a:solidFill>
          <a:ln/>
        </p:spPr>
      </p:sp>
      <p:sp>
        <p:nvSpPr>
          <p:cNvPr id="18" name="Text 16"/>
          <p:cNvSpPr/>
          <p:nvPr/>
        </p:nvSpPr>
        <p:spPr>
          <a:xfrm>
            <a:off x="612648" y="4242816"/>
            <a:ext cx="3749040" cy="256032"/>
          </a:xfrm>
          <a:prstGeom prst="rect">
            <a:avLst/>
          </a:prstGeom>
          <a:noFill/>
          <a:ln/>
        </p:spPr>
        <p:txBody>
          <a:bodyPr wrap="square" lIns="0" tIns="0" rIns="0" bIns="0" rtlCol="0" anchor="ctr"/>
          <a:lstStyle/>
          <a:p>
            <a:pPr indent="0" marL="0">
              <a:buNone/>
            </a:pPr>
            <a:r>
              <a:rPr lang="en-US" sz="1050" b="1" dirty="0">
                <a:solidFill>
                  <a:srgbClr val="B87820"/>
                </a:solidFill>
              </a:rPr>
              <a:t>TDD was a discipline</a:t>
            </a:r>
            <a:endParaRPr lang="en-US" sz="1050" dirty="0"/>
          </a:p>
        </p:txBody>
      </p:sp>
      <p:sp>
        <p:nvSpPr>
          <p:cNvPr id="19" name="Text 17"/>
          <p:cNvSpPr/>
          <p:nvPr/>
        </p:nvSpPr>
        <p:spPr>
          <a:xfrm>
            <a:off x="612648" y="4517136"/>
            <a:ext cx="3749040" cy="384048"/>
          </a:xfrm>
          <a:prstGeom prst="rect">
            <a:avLst/>
          </a:prstGeom>
          <a:noFill/>
          <a:ln/>
        </p:spPr>
        <p:txBody>
          <a:bodyPr wrap="square" lIns="0" tIns="0" rIns="0" bIns="0" rtlCol="0" anchor="ctr"/>
          <a:lstStyle/>
          <a:p>
            <a:pPr indent="0" marL="0">
              <a:buNone/>
            </a:pPr>
            <a:r>
              <a:rPr lang="en-US" sz="950" dirty="0">
                <a:solidFill>
                  <a:srgbClr val="D4E4F0"/>
                </a:solidFill>
              </a:rPr>
              <a:t>Requiring the test first required habitual discipline most teams could not sustain under pressure.</a:t>
            </a:r>
            <a:endParaRPr lang="en-US" sz="950" dirty="0"/>
          </a:p>
        </p:txBody>
      </p:sp>
      <p:sp>
        <p:nvSpPr>
          <p:cNvPr id="20" name="Shape 18"/>
          <p:cNvSpPr/>
          <p:nvPr/>
        </p:nvSpPr>
        <p:spPr>
          <a:xfrm>
            <a:off x="4663440" y="1664208"/>
            <a:ext cx="4160520" cy="3291840"/>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21" name="Shape 19"/>
          <p:cNvSpPr/>
          <p:nvPr/>
        </p:nvSpPr>
        <p:spPr>
          <a:xfrm>
            <a:off x="4663440" y="1664208"/>
            <a:ext cx="4160520" cy="347472"/>
          </a:xfrm>
          <a:prstGeom prst="rect">
            <a:avLst/>
          </a:prstGeom>
          <a:solidFill>
            <a:srgbClr val="3A7E6E">
              <a:alpha val="78000"/>
            </a:srgbClr>
          </a:solidFill>
          <a:ln/>
        </p:spPr>
      </p:sp>
      <p:sp>
        <p:nvSpPr>
          <p:cNvPr id="22" name="Text 20"/>
          <p:cNvSpPr/>
          <p:nvPr/>
        </p:nvSpPr>
        <p:spPr>
          <a:xfrm>
            <a:off x="4773168" y="1664208"/>
            <a:ext cx="3931920" cy="347472"/>
          </a:xfrm>
          <a:prstGeom prst="rect">
            <a:avLst/>
          </a:prstGeom>
          <a:noFill/>
          <a:ln/>
        </p:spPr>
        <p:txBody>
          <a:bodyPr wrap="square" lIns="0" tIns="0" rIns="0" bIns="0" rtlCol="0" anchor="ctr"/>
          <a:lstStyle/>
          <a:p>
            <a:pPr indent="0" marL="0">
              <a:buNone/>
            </a:pPr>
            <a:r>
              <a:rPr lang="en-US" sz="1000" b="1" spc="200" kern="0" dirty="0">
                <a:solidFill>
                  <a:srgbClr val="FFFFFF"/>
                </a:solidFill>
              </a:rPr>
              <a:t>WITH AGENTS</a:t>
            </a:r>
            <a:endParaRPr lang="en-US" sz="1000" dirty="0"/>
          </a:p>
        </p:txBody>
      </p:sp>
      <p:sp>
        <p:nvSpPr>
          <p:cNvPr id="23" name="Shape 21"/>
          <p:cNvSpPr/>
          <p:nvPr/>
        </p:nvSpPr>
        <p:spPr>
          <a:xfrm>
            <a:off x="4791456" y="2148840"/>
            <a:ext cx="73152" cy="73152"/>
          </a:xfrm>
          <a:prstGeom prst="rect">
            <a:avLst/>
          </a:prstGeom>
          <a:solidFill>
            <a:srgbClr val="3A7E6E"/>
          </a:solidFill>
          <a:ln/>
        </p:spPr>
      </p:sp>
      <p:sp>
        <p:nvSpPr>
          <p:cNvPr id="24" name="Text 22"/>
          <p:cNvSpPr/>
          <p:nvPr/>
        </p:nvSpPr>
        <p:spPr>
          <a:xfrm>
            <a:off x="4956048" y="2103120"/>
            <a:ext cx="3749040" cy="256032"/>
          </a:xfrm>
          <a:prstGeom prst="rect">
            <a:avLst/>
          </a:prstGeom>
          <a:noFill/>
          <a:ln/>
        </p:spPr>
        <p:txBody>
          <a:bodyPr wrap="square" lIns="0" tIns="0" rIns="0" bIns="0" rtlCol="0" anchor="ctr"/>
          <a:lstStyle/>
          <a:p>
            <a:pPr indent="0" marL="0">
              <a:buNone/>
            </a:pPr>
            <a:r>
              <a:rPr lang="en-US" sz="1050" b="1" dirty="0">
                <a:solidFill>
                  <a:srgbClr val="D4E4F0"/>
                </a:solidFill>
              </a:rPr>
              <a:t>Tests are written at code speed</a:t>
            </a:r>
            <a:endParaRPr lang="en-US" sz="1050" dirty="0"/>
          </a:p>
        </p:txBody>
      </p:sp>
      <p:sp>
        <p:nvSpPr>
          <p:cNvPr id="25" name="Text 23"/>
          <p:cNvSpPr/>
          <p:nvPr/>
        </p:nvSpPr>
        <p:spPr>
          <a:xfrm>
            <a:off x="4956048" y="2377440"/>
            <a:ext cx="3749040" cy="384048"/>
          </a:xfrm>
          <a:prstGeom prst="rect">
            <a:avLst/>
          </a:prstGeom>
          <a:noFill/>
          <a:ln/>
        </p:spPr>
        <p:txBody>
          <a:bodyPr wrap="square" lIns="0" tIns="0" rIns="0" bIns="0" rtlCol="0" anchor="ctr"/>
          <a:lstStyle/>
          <a:p>
            <a:pPr indent="0" marL="0">
              <a:buNone/>
            </a:pPr>
            <a:r>
              <a:rPr lang="en-US" sz="950" dirty="0">
                <a:solidFill>
                  <a:srgbClr val="D4E4F0"/>
                </a:solidFill>
              </a:rPr>
              <a:t>An agent given an AC produces a comprehensive test suite — happy path, errors, edge cases — in seconds.</a:t>
            </a:r>
            <a:endParaRPr lang="en-US" sz="950" dirty="0"/>
          </a:p>
        </p:txBody>
      </p:sp>
      <p:sp>
        <p:nvSpPr>
          <p:cNvPr id="26" name="Shape 24"/>
          <p:cNvSpPr/>
          <p:nvPr/>
        </p:nvSpPr>
        <p:spPr>
          <a:xfrm>
            <a:off x="4791456" y="2862072"/>
            <a:ext cx="73152" cy="73152"/>
          </a:xfrm>
          <a:prstGeom prst="rect">
            <a:avLst/>
          </a:prstGeom>
          <a:solidFill>
            <a:srgbClr val="3A7E6E"/>
          </a:solidFill>
          <a:ln/>
        </p:spPr>
      </p:sp>
      <p:sp>
        <p:nvSpPr>
          <p:cNvPr id="27" name="Text 25"/>
          <p:cNvSpPr/>
          <p:nvPr/>
        </p:nvSpPr>
        <p:spPr>
          <a:xfrm>
            <a:off x="4956048" y="2816352"/>
            <a:ext cx="3749040" cy="256032"/>
          </a:xfrm>
          <a:prstGeom prst="rect">
            <a:avLst/>
          </a:prstGeom>
          <a:noFill/>
          <a:ln/>
        </p:spPr>
        <p:txBody>
          <a:bodyPr wrap="square" lIns="0" tIns="0" rIns="0" bIns="0" rtlCol="0" anchor="ctr"/>
          <a:lstStyle/>
          <a:p>
            <a:pPr indent="0" marL="0">
              <a:buNone/>
            </a:pPr>
            <a:r>
              <a:rPr lang="en-US" sz="1050" b="1" dirty="0">
                <a:solidFill>
                  <a:srgbClr val="D4E4F0"/>
                </a:solidFill>
              </a:rPr>
              <a:t>Coverage is maintained by default</a:t>
            </a:r>
            <a:endParaRPr lang="en-US" sz="1050" dirty="0"/>
          </a:p>
        </p:txBody>
      </p:sp>
      <p:sp>
        <p:nvSpPr>
          <p:cNvPr id="28" name="Text 26"/>
          <p:cNvSpPr/>
          <p:nvPr/>
        </p:nvSpPr>
        <p:spPr>
          <a:xfrm>
            <a:off x="4956048" y="3090672"/>
            <a:ext cx="3749040" cy="384048"/>
          </a:xfrm>
          <a:prstGeom prst="rect">
            <a:avLst/>
          </a:prstGeom>
          <a:noFill/>
          <a:ln/>
        </p:spPr>
        <p:txBody>
          <a:bodyPr wrap="square" lIns="0" tIns="0" rIns="0" bIns="0" rtlCol="0" anchor="ctr"/>
          <a:lstStyle/>
          <a:p>
            <a:pPr indent="0" marL="0">
              <a:buNone/>
            </a:pPr>
            <a:r>
              <a:rPr lang="en-US" sz="950" dirty="0">
                <a:solidFill>
                  <a:srgbClr val="D4E4F0"/>
                </a:solidFill>
              </a:rPr>
              <a:t>The agent is instructed never to reduce coverage below the threshold. It generates tests alongside every new branch.</a:t>
            </a:r>
            <a:endParaRPr lang="en-US" sz="950" dirty="0"/>
          </a:p>
        </p:txBody>
      </p:sp>
      <p:sp>
        <p:nvSpPr>
          <p:cNvPr id="29" name="Shape 27"/>
          <p:cNvSpPr/>
          <p:nvPr/>
        </p:nvSpPr>
        <p:spPr>
          <a:xfrm>
            <a:off x="4791456" y="3575304"/>
            <a:ext cx="73152" cy="73152"/>
          </a:xfrm>
          <a:prstGeom prst="rect">
            <a:avLst/>
          </a:prstGeom>
          <a:solidFill>
            <a:srgbClr val="3A7E6E"/>
          </a:solidFill>
          <a:ln/>
        </p:spPr>
      </p:sp>
      <p:sp>
        <p:nvSpPr>
          <p:cNvPr id="30" name="Text 28"/>
          <p:cNvSpPr/>
          <p:nvPr/>
        </p:nvSpPr>
        <p:spPr>
          <a:xfrm>
            <a:off x="4956048" y="3529584"/>
            <a:ext cx="3749040" cy="256032"/>
          </a:xfrm>
          <a:prstGeom prst="rect">
            <a:avLst/>
          </a:prstGeom>
          <a:noFill/>
          <a:ln/>
        </p:spPr>
        <p:txBody>
          <a:bodyPr wrap="square" lIns="0" tIns="0" rIns="0" bIns="0" rtlCol="0" anchor="ctr"/>
          <a:lstStyle/>
          <a:p>
            <a:pPr indent="0" marL="0">
              <a:buNone/>
            </a:pPr>
            <a:r>
              <a:rPr lang="en-US" sz="1050" b="1" dirty="0">
                <a:solidFill>
                  <a:srgbClr val="D4E4F0"/>
                </a:solidFill>
              </a:rPr>
              <a:t>Regression is automated</a:t>
            </a:r>
            <a:endParaRPr lang="en-US" sz="1050" dirty="0"/>
          </a:p>
        </p:txBody>
      </p:sp>
      <p:sp>
        <p:nvSpPr>
          <p:cNvPr id="31" name="Text 29"/>
          <p:cNvSpPr/>
          <p:nvPr/>
        </p:nvSpPr>
        <p:spPr>
          <a:xfrm>
            <a:off x="4956048" y="3803904"/>
            <a:ext cx="3749040" cy="384048"/>
          </a:xfrm>
          <a:prstGeom prst="rect">
            <a:avLst/>
          </a:prstGeom>
          <a:noFill/>
          <a:ln/>
        </p:spPr>
        <p:txBody>
          <a:bodyPr wrap="square" lIns="0" tIns="0" rIns="0" bIns="0" rtlCol="0" anchor="ctr"/>
          <a:lstStyle/>
          <a:p>
            <a:pPr indent="0" marL="0">
              <a:buNone/>
            </a:pPr>
            <a:r>
              <a:rPr lang="en-US" sz="950" dirty="0">
                <a:solidFill>
                  <a:srgbClr val="D4E4F0"/>
                </a:solidFill>
              </a:rPr>
              <a:t>The agent writes a regression test before fixing a bug. The suite accumulates; no manual verification required.</a:t>
            </a:r>
            <a:endParaRPr lang="en-US" sz="950" dirty="0"/>
          </a:p>
        </p:txBody>
      </p:sp>
      <p:sp>
        <p:nvSpPr>
          <p:cNvPr id="32" name="Shape 30"/>
          <p:cNvSpPr/>
          <p:nvPr/>
        </p:nvSpPr>
        <p:spPr>
          <a:xfrm>
            <a:off x="4791456" y="4288536"/>
            <a:ext cx="73152" cy="73152"/>
          </a:xfrm>
          <a:prstGeom prst="rect">
            <a:avLst/>
          </a:prstGeom>
          <a:solidFill>
            <a:srgbClr val="3A7E6E"/>
          </a:solidFill>
          <a:ln/>
        </p:spPr>
      </p:sp>
      <p:sp>
        <p:nvSpPr>
          <p:cNvPr id="33" name="Text 31"/>
          <p:cNvSpPr/>
          <p:nvPr/>
        </p:nvSpPr>
        <p:spPr>
          <a:xfrm>
            <a:off x="4956048" y="4242816"/>
            <a:ext cx="3749040" cy="256032"/>
          </a:xfrm>
          <a:prstGeom prst="rect">
            <a:avLst/>
          </a:prstGeom>
          <a:noFill/>
          <a:ln/>
        </p:spPr>
        <p:txBody>
          <a:bodyPr wrap="square" lIns="0" tIns="0" rIns="0" bIns="0" rtlCol="0" anchor="ctr"/>
          <a:lstStyle/>
          <a:p>
            <a:pPr indent="0" marL="0">
              <a:buNone/>
            </a:pPr>
            <a:r>
              <a:rPr lang="en-US" sz="1050" b="1" dirty="0">
                <a:solidFill>
                  <a:srgbClr val="D4E4F0"/>
                </a:solidFill>
              </a:rPr>
              <a:t>TDD is the default</a:t>
            </a:r>
            <a:endParaRPr lang="en-US" sz="1050" dirty="0"/>
          </a:p>
        </p:txBody>
      </p:sp>
      <p:sp>
        <p:nvSpPr>
          <p:cNvPr id="34" name="Text 32"/>
          <p:cNvSpPr/>
          <p:nvPr/>
        </p:nvSpPr>
        <p:spPr>
          <a:xfrm>
            <a:off x="4956048" y="4517136"/>
            <a:ext cx="3749040" cy="384048"/>
          </a:xfrm>
          <a:prstGeom prst="rect">
            <a:avLst/>
          </a:prstGeom>
          <a:noFill/>
          <a:ln/>
        </p:spPr>
        <p:txBody>
          <a:bodyPr wrap="square" lIns="0" tIns="0" rIns="0" bIns="0" rtlCol="0" anchor="ctr"/>
          <a:lstStyle/>
          <a:p>
            <a:pPr indent="0" marL="0">
              <a:buNone/>
            </a:pPr>
            <a:r>
              <a:rPr lang="en-US" sz="950" dirty="0">
                <a:solidFill>
                  <a:srgbClr val="D4E4F0"/>
                </a:solidFill>
              </a:rPr>
              <a:t>An agent given an AC writes the failing test first. Red-Green-Refactor is not a discipline — it is an instruction.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TDD  —  RED → GREEN → REFACTOR</a:t>
            </a:r>
            <a:endParaRPr lang="en-US" sz="1300" dirty="0"/>
          </a:p>
        </p:txBody>
      </p:sp>
      <p:sp>
        <p:nvSpPr>
          <p:cNvPr id="4" name="Text 2"/>
          <p:cNvSpPr/>
          <p:nvPr/>
        </p:nvSpPr>
        <p:spPr>
          <a:xfrm>
            <a:off x="365760" y="822960"/>
            <a:ext cx="8412480" cy="256032"/>
          </a:xfrm>
          <a:prstGeom prst="rect">
            <a:avLst/>
          </a:prstGeom>
          <a:noFill/>
          <a:ln/>
        </p:spPr>
        <p:txBody>
          <a:bodyPr wrap="square" lIns="0" tIns="0" rIns="0" bIns="0" rtlCol="0" anchor="ctr"/>
          <a:lstStyle/>
          <a:p>
            <a:pPr indent="0" marL="0">
              <a:buNone/>
            </a:pPr>
            <a:r>
              <a:rPr lang="en-US" sz="1150" i="1" dirty="0">
                <a:solidFill>
                  <a:srgbClr val="7A90A8"/>
                </a:solidFill>
              </a:rPr>
              <a:t>Write a failing test first. Make it pass with the minimum code. Then improve the implementation — with the test as your safety net.</a:t>
            </a:r>
            <a:endParaRPr lang="en-US" sz="1150" dirty="0"/>
          </a:p>
        </p:txBody>
      </p:sp>
      <p:sp>
        <p:nvSpPr>
          <p:cNvPr id="5" name="Shape 3"/>
          <p:cNvSpPr/>
          <p:nvPr/>
        </p:nvSpPr>
        <p:spPr>
          <a:xfrm>
            <a:off x="320040" y="1170432"/>
            <a:ext cx="2761488" cy="3822192"/>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70432"/>
            <a:ext cx="2761488" cy="475488"/>
          </a:xfrm>
          <a:prstGeom prst="rect">
            <a:avLst/>
          </a:prstGeom>
          <a:solidFill>
            <a:srgbClr val="B03040">
              <a:alpha val="85000"/>
            </a:srgbClr>
          </a:solidFill>
          <a:ln/>
        </p:spPr>
      </p:sp>
      <p:sp>
        <p:nvSpPr>
          <p:cNvPr id="7" name="Shape 5"/>
          <p:cNvSpPr/>
          <p:nvPr/>
        </p:nvSpPr>
        <p:spPr>
          <a:xfrm>
            <a:off x="411480" y="1225296"/>
            <a:ext cx="347472" cy="347472"/>
          </a:xfrm>
          <a:prstGeom prst="rect">
            <a:avLst/>
          </a:prstGeom>
          <a:solidFill>
            <a:srgbClr val="B03040"/>
          </a:solidFill>
          <a:ln/>
        </p:spPr>
      </p:sp>
      <p:sp>
        <p:nvSpPr>
          <p:cNvPr id="8" name="Text 6"/>
          <p:cNvSpPr/>
          <p:nvPr/>
        </p:nvSpPr>
        <p:spPr>
          <a:xfrm>
            <a:off x="411480" y="122529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Text 7"/>
          <p:cNvSpPr/>
          <p:nvPr/>
        </p:nvSpPr>
        <p:spPr>
          <a:xfrm>
            <a:off x="832104" y="1207008"/>
            <a:ext cx="2103120" cy="274320"/>
          </a:xfrm>
          <a:prstGeom prst="rect">
            <a:avLst/>
          </a:prstGeom>
          <a:noFill/>
          <a:ln/>
        </p:spPr>
        <p:txBody>
          <a:bodyPr wrap="square" lIns="0" tIns="0" rIns="0" bIns="0" rtlCol="0" anchor="ctr"/>
          <a:lstStyle/>
          <a:p>
            <a:pPr indent="0" marL="0">
              <a:buNone/>
            </a:pPr>
            <a:r>
              <a:rPr lang="en-US" sz="1200" b="1" dirty="0">
                <a:solidFill>
                  <a:srgbClr val="1C3557"/>
                </a:solidFill>
              </a:rPr>
              <a:t>RED</a:t>
            </a:r>
            <a:endParaRPr lang="en-US" sz="1200" dirty="0"/>
          </a:p>
        </p:txBody>
      </p:sp>
      <p:sp>
        <p:nvSpPr>
          <p:cNvPr id="10" name="Text 8"/>
          <p:cNvSpPr/>
          <p:nvPr/>
        </p:nvSpPr>
        <p:spPr>
          <a:xfrm>
            <a:off x="832104" y="1463040"/>
            <a:ext cx="2103120" cy="182880"/>
          </a:xfrm>
          <a:prstGeom prst="rect">
            <a:avLst/>
          </a:prstGeom>
          <a:noFill/>
          <a:ln/>
        </p:spPr>
        <p:txBody>
          <a:bodyPr wrap="square" lIns="0" tIns="0" rIns="0" bIns="0" rtlCol="0" anchor="ctr"/>
          <a:lstStyle/>
          <a:p>
            <a:pPr indent="0" marL="0">
              <a:buNone/>
            </a:pPr>
            <a:r>
              <a:rPr lang="en-US" sz="900" dirty="0">
                <a:solidFill>
                  <a:srgbClr val="7A90A8"/>
                </a:solidFill>
              </a:rPr>
              <a:t>Write a failing test</a:t>
            </a:r>
            <a:endParaRPr lang="en-US" sz="900" dirty="0"/>
          </a:p>
        </p:txBody>
      </p:sp>
      <p:sp>
        <p:nvSpPr>
          <p:cNvPr id="11" name="Text 9"/>
          <p:cNvSpPr/>
          <p:nvPr/>
        </p:nvSpPr>
        <p:spPr>
          <a:xfrm>
            <a:off x="448056" y="1737360"/>
            <a:ext cx="502920" cy="201168"/>
          </a:xfrm>
          <a:prstGeom prst="rect">
            <a:avLst/>
          </a:prstGeom>
          <a:noFill/>
          <a:ln/>
        </p:spPr>
        <p:txBody>
          <a:bodyPr wrap="square" lIns="0" tIns="0" rIns="0" bIns="0" rtlCol="0" anchor="ctr"/>
          <a:lstStyle/>
          <a:p>
            <a:pPr indent="0" marL="0">
              <a:buNone/>
            </a:pPr>
            <a:r>
              <a:rPr lang="en-US" sz="900" b="1" dirty="0">
                <a:solidFill>
                  <a:srgbClr val="1C3557"/>
                </a:solidFill>
              </a:rPr>
              <a:t>Human:</a:t>
            </a:r>
            <a:endParaRPr lang="en-US" sz="900" dirty="0"/>
          </a:p>
        </p:txBody>
      </p:sp>
      <p:sp>
        <p:nvSpPr>
          <p:cNvPr id="12" name="Text 10"/>
          <p:cNvSpPr/>
          <p:nvPr/>
        </p:nvSpPr>
        <p:spPr>
          <a:xfrm>
            <a:off x="978408" y="1737360"/>
            <a:ext cx="2011680" cy="201168"/>
          </a:xfrm>
          <a:prstGeom prst="rect">
            <a:avLst/>
          </a:prstGeom>
          <a:noFill/>
          <a:ln/>
        </p:spPr>
        <p:txBody>
          <a:bodyPr wrap="square" lIns="0" tIns="0" rIns="0" bIns="0" rtlCol="0" anchor="ctr"/>
          <a:lstStyle/>
          <a:p>
            <a:pPr indent="0" marL="0">
              <a:buNone/>
            </a:pPr>
            <a:r>
              <a:rPr lang="en-US" sz="900" dirty="0">
                <a:solidFill>
                  <a:srgbClr val="1E2D3D"/>
                </a:solidFill>
              </a:rPr>
              <a:t>Provide the AC and specify the scenario</a:t>
            </a:r>
            <a:endParaRPr lang="en-US" sz="900" dirty="0"/>
          </a:p>
        </p:txBody>
      </p:sp>
      <p:sp>
        <p:nvSpPr>
          <p:cNvPr id="13" name="Text 11"/>
          <p:cNvSpPr/>
          <p:nvPr/>
        </p:nvSpPr>
        <p:spPr>
          <a:xfrm>
            <a:off x="448056" y="1965960"/>
            <a:ext cx="502920" cy="201168"/>
          </a:xfrm>
          <a:prstGeom prst="rect">
            <a:avLst/>
          </a:prstGeom>
          <a:noFill/>
          <a:ln/>
        </p:spPr>
        <p:txBody>
          <a:bodyPr wrap="square" lIns="0" tIns="0" rIns="0" bIns="0" rtlCol="0" anchor="ctr"/>
          <a:lstStyle/>
          <a:p>
            <a:pPr indent="0" marL="0">
              <a:buNone/>
            </a:pPr>
            <a:r>
              <a:rPr lang="en-US" sz="900" b="1" dirty="0">
                <a:solidFill>
                  <a:srgbClr val="3A7DC9"/>
                </a:solidFill>
              </a:rPr>
              <a:t>Agent:</a:t>
            </a:r>
            <a:endParaRPr lang="en-US" sz="900" dirty="0"/>
          </a:p>
        </p:txBody>
      </p:sp>
      <p:sp>
        <p:nvSpPr>
          <p:cNvPr id="14" name="Text 12"/>
          <p:cNvSpPr/>
          <p:nvPr/>
        </p:nvSpPr>
        <p:spPr>
          <a:xfrm>
            <a:off x="978408" y="1965960"/>
            <a:ext cx="2011680" cy="201168"/>
          </a:xfrm>
          <a:prstGeom prst="rect">
            <a:avLst/>
          </a:prstGeom>
          <a:noFill/>
          <a:ln/>
        </p:spPr>
        <p:txBody>
          <a:bodyPr wrap="square" lIns="0" tIns="0" rIns="0" bIns="0" rtlCol="0" anchor="ctr"/>
          <a:lstStyle/>
          <a:p>
            <a:pPr indent="0" marL="0">
              <a:buNone/>
            </a:pPr>
            <a:r>
              <a:rPr lang="en-US" sz="900" dirty="0">
                <a:solidFill>
                  <a:srgbClr val="1E2D3D"/>
                </a:solidFill>
              </a:rPr>
              <a:t>Writes the test, names it to describe behaviour, verifies it fails</a:t>
            </a:r>
            <a:endParaRPr lang="en-US" sz="900" dirty="0"/>
          </a:p>
        </p:txBody>
      </p:sp>
      <p:sp>
        <p:nvSpPr>
          <p:cNvPr id="15" name="Shape 13"/>
          <p:cNvSpPr/>
          <p:nvPr/>
        </p:nvSpPr>
        <p:spPr>
          <a:xfrm>
            <a:off x="411480" y="2286000"/>
            <a:ext cx="2578608" cy="164592"/>
          </a:xfrm>
          <a:prstGeom prst="rect">
            <a:avLst/>
          </a:prstGeom>
          <a:solidFill>
            <a:srgbClr val="1C3557">
              <a:alpha val="12000"/>
            </a:srgbClr>
          </a:solidFill>
          <a:ln/>
        </p:spPr>
      </p:sp>
      <p:sp>
        <p:nvSpPr>
          <p:cNvPr id="16" name="Text 14"/>
          <p:cNvSpPr/>
          <p:nvPr/>
        </p:nvSpPr>
        <p:spPr>
          <a:xfrm>
            <a:off x="411480" y="2286000"/>
            <a:ext cx="2578608" cy="164592"/>
          </a:xfrm>
          <a:prstGeom prst="rect">
            <a:avLst/>
          </a:prstGeom>
          <a:noFill/>
          <a:ln/>
        </p:spPr>
        <p:txBody>
          <a:bodyPr wrap="square" lIns="0" tIns="0" rIns="0" bIns="0" rtlCol="0" anchor="ctr"/>
          <a:lstStyle/>
          <a:p>
            <a:pPr algn="ctr" indent="0" marL="0">
              <a:buNone/>
            </a:pPr>
            <a:r>
              <a:rPr lang="en-US" sz="800" b="1" spc="200" kern="0" dirty="0">
                <a:solidFill>
                  <a:srgbClr val="7A90A8"/>
                </a:solidFill>
              </a:rPr>
              <a:t>EXAMPLE</a:t>
            </a:r>
            <a:endParaRPr lang="en-US" sz="800" dirty="0"/>
          </a:p>
        </p:txBody>
      </p:sp>
      <p:sp>
        <p:nvSpPr>
          <p:cNvPr id="17" name="Shape 15"/>
          <p:cNvSpPr/>
          <p:nvPr/>
        </p:nvSpPr>
        <p:spPr>
          <a:xfrm>
            <a:off x="411480" y="2468880"/>
            <a:ext cx="2578608" cy="2395728"/>
          </a:xfrm>
          <a:prstGeom prst="rect">
            <a:avLst/>
          </a:prstGeom>
          <a:solidFill>
            <a:srgbClr val="1C3557">
              <a:alpha val="95000"/>
            </a:srgbClr>
          </a:solidFill>
          <a:ln/>
        </p:spPr>
      </p:sp>
      <p:sp>
        <p:nvSpPr>
          <p:cNvPr id="18" name="Text 16"/>
          <p:cNvSpPr/>
          <p:nvPr/>
        </p:nvSpPr>
        <p:spPr>
          <a:xfrm>
            <a:off x="484632" y="2487168"/>
            <a:ext cx="2432304" cy="2359152"/>
          </a:xfrm>
          <a:prstGeom prst="rect">
            <a:avLst/>
          </a:prstGeom>
          <a:noFill/>
          <a:ln/>
        </p:spPr>
        <p:txBody>
          <a:bodyPr wrap="square" lIns="0" tIns="0" rIns="0" bIns="0" rtlCol="0" anchor="t"/>
          <a:lstStyle/>
          <a:p>
            <a:pPr indent="0" marL="0">
              <a:buNone/>
            </a:pPr>
            <a:r>
              <a:rPr lang="en-US" sz="800" dirty="0">
                <a:solidFill>
                  <a:srgbClr val="D4E4F0"/>
                </a:solidFill>
                <a:latin typeface="Consolas" pitchFamily="34" charset="0"/>
                <a:ea typeface="Consolas" pitchFamily="34" charset="-122"/>
                <a:cs typeface="Consolas" pitchFamily="34" charset="-120"/>
              </a:rPr>
              <a:t>it('returns 400 when email is missing', async () =&gt; {</a:t>
            </a:r>
            <a:endParaRPr lang="en-US" sz="800" dirty="0"/>
          </a:p>
          <a:p>
            <a:pPr indent="0" marL="0">
              <a:buNone/>
            </a:pPr>
            <a:r>
              <a:rPr lang="en-US" sz="800" dirty="0">
                <a:solidFill>
                  <a:srgbClr val="D4E4F0"/>
                </a:solidFill>
                <a:latin typeface="Consolas" pitchFamily="34" charset="0"/>
                <a:ea typeface="Consolas" pitchFamily="34" charset="-122"/>
                <a:cs typeface="Consolas" pitchFamily="34" charset="-120"/>
              </a:rPr>
              <a:t>  const res = await post('/contact', { name: 'Alice' });</a:t>
            </a:r>
            <a:endParaRPr lang="en-US" sz="800" dirty="0"/>
          </a:p>
          <a:p>
            <a:pPr indent="0" marL="0">
              <a:buNone/>
            </a:pPr>
            <a:r>
              <a:rPr lang="en-US" sz="800" dirty="0">
                <a:solidFill>
                  <a:srgbClr val="D4E4F0"/>
                </a:solidFill>
                <a:latin typeface="Consolas" pitchFamily="34" charset="0"/>
                <a:ea typeface="Consolas" pitchFamily="34" charset="-122"/>
                <a:cs typeface="Consolas" pitchFamily="34" charset="-120"/>
              </a:rPr>
              <a:t>  expect(res.status).toBe(400);</a:t>
            </a:r>
            <a:endParaRPr lang="en-US" sz="800" dirty="0"/>
          </a:p>
          <a:p>
            <a:pPr indent="0" marL="0">
              <a:buNone/>
            </a:pPr>
            <a:r>
              <a:rPr lang="en-US" sz="800" dirty="0">
                <a:solidFill>
                  <a:srgbClr val="D4E4F0"/>
                </a:solidFill>
                <a:latin typeface="Consolas" pitchFamily="34" charset="0"/>
                <a:ea typeface="Consolas" pitchFamily="34" charset="-122"/>
                <a:cs typeface="Consolas" pitchFamily="34" charset="-120"/>
              </a:rPr>
              <a:t>  expect(res.body.error).toBe('Email is required');</a:t>
            </a:r>
            <a:endParaRPr lang="en-US" sz="800" dirty="0"/>
          </a:p>
          <a:p>
            <a:pPr indent="0" marL="0">
              <a:buNone/>
            </a:pPr>
            <a:r>
              <a:rPr lang="en-US" sz="800" dirty="0">
                <a:solidFill>
                  <a:srgbClr val="D4E4F0"/>
                </a:solidFill>
                <a:latin typeface="Consolas" pitchFamily="34" charset="0"/>
                <a:ea typeface="Consolas" pitchFamily="34" charset="-122"/>
                <a:cs typeface="Consolas" pitchFamily="34" charset="-120"/>
              </a:rPr>
              <a:t>});</a:t>
            </a:r>
            <a:endParaRPr lang="en-US" sz="800" dirty="0"/>
          </a:p>
          <a:p>
            <a:pPr indent="0" marL="0">
              <a:buNone/>
            </a:pPr>
            <a:r>
              <a:rPr lang="en-US" sz="800" dirty="0">
                <a:solidFill>
                  <a:srgbClr val="D4E4F0"/>
                </a:solidFill>
                <a:latin typeface="Consolas" pitchFamily="34" charset="0"/>
                <a:ea typeface="Consolas" pitchFamily="34" charset="-122"/>
                <a:cs typeface="Consolas" pitchFamily="34" charset="-120"/>
              </a:rPr>
              <a:t>// → FAIL: expected 400, received 200</a:t>
            </a:r>
            <a:endParaRPr lang="en-US" sz="800" dirty="0"/>
          </a:p>
        </p:txBody>
      </p:sp>
      <p:sp>
        <p:nvSpPr>
          <p:cNvPr id="19" name="Shape 17"/>
          <p:cNvSpPr/>
          <p:nvPr/>
        </p:nvSpPr>
        <p:spPr>
          <a:xfrm>
            <a:off x="3227832" y="1170432"/>
            <a:ext cx="2761488" cy="3822192"/>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0" name="Shape 18"/>
          <p:cNvSpPr/>
          <p:nvPr/>
        </p:nvSpPr>
        <p:spPr>
          <a:xfrm>
            <a:off x="3227832" y="1170432"/>
            <a:ext cx="2761488" cy="475488"/>
          </a:xfrm>
          <a:prstGeom prst="rect">
            <a:avLst/>
          </a:prstGeom>
          <a:solidFill>
            <a:srgbClr val="3A7E6E">
              <a:alpha val="85000"/>
            </a:srgbClr>
          </a:solidFill>
          <a:ln/>
        </p:spPr>
      </p:sp>
      <p:sp>
        <p:nvSpPr>
          <p:cNvPr id="21" name="Shape 19"/>
          <p:cNvSpPr/>
          <p:nvPr/>
        </p:nvSpPr>
        <p:spPr>
          <a:xfrm>
            <a:off x="3319272" y="1225296"/>
            <a:ext cx="347472" cy="347472"/>
          </a:xfrm>
          <a:prstGeom prst="rect">
            <a:avLst/>
          </a:prstGeom>
          <a:solidFill>
            <a:srgbClr val="3A7E6E"/>
          </a:solidFill>
          <a:ln/>
        </p:spPr>
      </p:sp>
      <p:sp>
        <p:nvSpPr>
          <p:cNvPr id="22" name="Text 20"/>
          <p:cNvSpPr/>
          <p:nvPr/>
        </p:nvSpPr>
        <p:spPr>
          <a:xfrm>
            <a:off x="3319272" y="122529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3" name="Text 21"/>
          <p:cNvSpPr/>
          <p:nvPr/>
        </p:nvSpPr>
        <p:spPr>
          <a:xfrm>
            <a:off x="3739896" y="1207008"/>
            <a:ext cx="2103120" cy="274320"/>
          </a:xfrm>
          <a:prstGeom prst="rect">
            <a:avLst/>
          </a:prstGeom>
          <a:noFill/>
          <a:ln/>
        </p:spPr>
        <p:txBody>
          <a:bodyPr wrap="square" lIns="0" tIns="0" rIns="0" bIns="0" rtlCol="0" anchor="ctr"/>
          <a:lstStyle/>
          <a:p>
            <a:pPr indent="0" marL="0">
              <a:buNone/>
            </a:pPr>
            <a:r>
              <a:rPr lang="en-US" sz="1200" b="1" dirty="0">
                <a:solidFill>
                  <a:srgbClr val="1C3557"/>
                </a:solidFill>
              </a:rPr>
              <a:t>GREEN</a:t>
            </a:r>
            <a:endParaRPr lang="en-US" sz="1200" dirty="0"/>
          </a:p>
        </p:txBody>
      </p:sp>
      <p:sp>
        <p:nvSpPr>
          <p:cNvPr id="24" name="Text 22"/>
          <p:cNvSpPr/>
          <p:nvPr/>
        </p:nvSpPr>
        <p:spPr>
          <a:xfrm>
            <a:off x="3739896" y="1463040"/>
            <a:ext cx="2103120" cy="182880"/>
          </a:xfrm>
          <a:prstGeom prst="rect">
            <a:avLst/>
          </a:prstGeom>
          <a:noFill/>
          <a:ln/>
        </p:spPr>
        <p:txBody>
          <a:bodyPr wrap="square" lIns="0" tIns="0" rIns="0" bIns="0" rtlCol="0" anchor="ctr"/>
          <a:lstStyle/>
          <a:p>
            <a:pPr indent="0" marL="0">
              <a:buNone/>
            </a:pPr>
            <a:r>
              <a:rPr lang="en-US" sz="900" dirty="0">
                <a:solidFill>
                  <a:srgbClr val="7A90A8"/>
                </a:solidFill>
              </a:rPr>
              <a:t>Make the test pass</a:t>
            </a:r>
            <a:endParaRPr lang="en-US" sz="900" dirty="0"/>
          </a:p>
        </p:txBody>
      </p:sp>
      <p:sp>
        <p:nvSpPr>
          <p:cNvPr id="25" name="Text 23"/>
          <p:cNvSpPr/>
          <p:nvPr/>
        </p:nvSpPr>
        <p:spPr>
          <a:xfrm>
            <a:off x="3355848" y="1737360"/>
            <a:ext cx="502920" cy="201168"/>
          </a:xfrm>
          <a:prstGeom prst="rect">
            <a:avLst/>
          </a:prstGeom>
          <a:noFill/>
          <a:ln/>
        </p:spPr>
        <p:txBody>
          <a:bodyPr wrap="square" lIns="0" tIns="0" rIns="0" bIns="0" rtlCol="0" anchor="ctr"/>
          <a:lstStyle/>
          <a:p>
            <a:pPr indent="0" marL="0">
              <a:buNone/>
            </a:pPr>
            <a:r>
              <a:rPr lang="en-US" sz="900" b="1" dirty="0">
                <a:solidFill>
                  <a:srgbClr val="1C3557"/>
                </a:solidFill>
              </a:rPr>
              <a:t>Human:</a:t>
            </a:r>
            <a:endParaRPr lang="en-US" sz="900" dirty="0"/>
          </a:p>
        </p:txBody>
      </p:sp>
      <p:sp>
        <p:nvSpPr>
          <p:cNvPr id="26" name="Text 24"/>
          <p:cNvSpPr/>
          <p:nvPr/>
        </p:nvSpPr>
        <p:spPr>
          <a:xfrm>
            <a:off x="3886200" y="1737360"/>
            <a:ext cx="2011680" cy="201168"/>
          </a:xfrm>
          <a:prstGeom prst="rect">
            <a:avLst/>
          </a:prstGeom>
          <a:noFill/>
          <a:ln/>
        </p:spPr>
        <p:txBody>
          <a:bodyPr wrap="square" lIns="0" tIns="0" rIns="0" bIns="0" rtlCol="0" anchor="ctr"/>
          <a:lstStyle/>
          <a:p>
            <a:pPr indent="0" marL="0">
              <a:buNone/>
            </a:pPr>
            <a:r>
              <a:rPr lang="en-US" sz="900" dirty="0">
                <a:solidFill>
                  <a:srgbClr val="1E2D3D"/>
                </a:solidFill>
              </a:rPr>
              <a:t>Reviews that the implementation is minimal and correct</a:t>
            </a:r>
            <a:endParaRPr lang="en-US" sz="900" dirty="0"/>
          </a:p>
        </p:txBody>
      </p:sp>
      <p:sp>
        <p:nvSpPr>
          <p:cNvPr id="27" name="Text 25"/>
          <p:cNvSpPr/>
          <p:nvPr/>
        </p:nvSpPr>
        <p:spPr>
          <a:xfrm>
            <a:off x="3355848" y="1965960"/>
            <a:ext cx="502920" cy="201168"/>
          </a:xfrm>
          <a:prstGeom prst="rect">
            <a:avLst/>
          </a:prstGeom>
          <a:noFill/>
          <a:ln/>
        </p:spPr>
        <p:txBody>
          <a:bodyPr wrap="square" lIns="0" tIns="0" rIns="0" bIns="0" rtlCol="0" anchor="ctr"/>
          <a:lstStyle/>
          <a:p>
            <a:pPr indent="0" marL="0">
              <a:buNone/>
            </a:pPr>
            <a:r>
              <a:rPr lang="en-US" sz="900" b="1" dirty="0">
                <a:solidFill>
                  <a:srgbClr val="3A7DC9"/>
                </a:solidFill>
              </a:rPr>
              <a:t>Agent:</a:t>
            </a:r>
            <a:endParaRPr lang="en-US" sz="900" dirty="0"/>
          </a:p>
        </p:txBody>
      </p:sp>
      <p:sp>
        <p:nvSpPr>
          <p:cNvPr id="28" name="Text 26"/>
          <p:cNvSpPr/>
          <p:nvPr/>
        </p:nvSpPr>
        <p:spPr>
          <a:xfrm>
            <a:off x="3886200" y="1965960"/>
            <a:ext cx="2011680" cy="201168"/>
          </a:xfrm>
          <a:prstGeom prst="rect">
            <a:avLst/>
          </a:prstGeom>
          <a:noFill/>
          <a:ln/>
        </p:spPr>
        <p:txBody>
          <a:bodyPr wrap="square" lIns="0" tIns="0" rIns="0" bIns="0" rtlCol="0" anchor="ctr"/>
          <a:lstStyle/>
          <a:p>
            <a:pPr indent="0" marL="0">
              <a:buNone/>
            </a:pPr>
            <a:r>
              <a:rPr lang="en-US" sz="900" dirty="0">
                <a:solidFill>
                  <a:srgbClr val="1E2D3D"/>
                </a:solidFill>
              </a:rPr>
              <a:t>Writes the simplest code that makes the test pass — not the best code</a:t>
            </a:r>
            <a:endParaRPr lang="en-US" sz="900" dirty="0"/>
          </a:p>
        </p:txBody>
      </p:sp>
      <p:sp>
        <p:nvSpPr>
          <p:cNvPr id="29" name="Shape 27"/>
          <p:cNvSpPr/>
          <p:nvPr/>
        </p:nvSpPr>
        <p:spPr>
          <a:xfrm>
            <a:off x="3319272" y="2286000"/>
            <a:ext cx="2578608" cy="164592"/>
          </a:xfrm>
          <a:prstGeom prst="rect">
            <a:avLst/>
          </a:prstGeom>
          <a:solidFill>
            <a:srgbClr val="1C3557">
              <a:alpha val="12000"/>
            </a:srgbClr>
          </a:solidFill>
          <a:ln/>
        </p:spPr>
      </p:sp>
      <p:sp>
        <p:nvSpPr>
          <p:cNvPr id="30" name="Text 28"/>
          <p:cNvSpPr/>
          <p:nvPr/>
        </p:nvSpPr>
        <p:spPr>
          <a:xfrm>
            <a:off x="3319272" y="2286000"/>
            <a:ext cx="2578608" cy="164592"/>
          </a:xfrm>
          <a:prstGeom prst="rect">
            <a:avLst/>
          </a:prstGeom>
          <a:noFill/>
          <a:ln/>
        </p:spPr>
        <p:txBody>
          <a:bodyPr wrap="square" lIns="0" tIns="0" rIns="0" bIns="0" rtlCol="0" anchor="ctr"/>
          <a:lstStyle/>
          <a:p>
            <a:pPr algn="ctr" indent="0" marL="0">
              <a:buNone/>
            </a:pPr>
            <a:r>
              <a:rPr lang="en-US" sz="800" b="1" spc="200" kern="0" dirty="0">
                <a:solidFill>
                  <a:srgbClr val="7A90A8"/>
                </a:solidFill>
              </a:rPr>
              <a:t>EXAMPLE</a:t>
            </a:r>
            <a:endParaRPr lang="en-US" sz="800" dirty="0"/>
          </a:p>
        </p:txBody>
      </p:sp>
      <p:sp>
        <p:nvSpPr>
          <p:cNvPr id="31" name="Shape 29"/>
          <p:cNvSpPr/>
          <p:nvPr/>
        </p:nvSpPr>
        <p:spPr>
          <a:xfrm>
            <a:off x="3319272" y="2468880"/>
            <a:ext cx="2578608" cy="2395728"/>
          </a:xfrm>
          <a:prstGeom prst="rect">
            <a:avLst/>
          </a:prstGeom>
          <a:solidFill>
            <a:srgbClr val="1C3557">
              <a:alpha val="95000"/>
            </a:srgbClr>
          </a:solidFill>
          <a:ln/>
        </p:spPr>
      </p:sp>
      <p:sp>
        <p:nvSpPr>
          <p:cNvPr id="32" name="Text 30"/>
          <p:cNvSpPr/>
          <p:nvPr/>
        </p:nvSpPr>
        <p:spPr>
          <a:xfrm>
            <a:off x="3392424" y="2487168"/>
            <a:ext cx="2432304" cy="2359152"/>
          </a:xfrm>
          <a:prstGeom prst="rect">
            <a:avLst/>
          </a:prstGeom>
          <a:noFill/>
          <a:ln/>
        </p:spPr>
        <p:txBody>
          <a:bodyPr wrap="square" lIns="0" tIns="0" rIns="0" bIns="0" rtlCol="0" anchor="t"/>
          <a:lstStyle/>
          <a:p>
            <a:pPr indent="0" marL="0">
              <a:buNone/>
            </a:pPr>
            <a:r>
              <a:rPr lang="en-US" sz="800" dirty="0">
                <a:solidFill>
                  <a:srgbClr val="D4E4F0"/>
                </a:solidFill>
                <a:latin typeface="Consolas" pitchFamily="34" charset="0"/>
                <a:ea typeface="Consolas" pitchFamily="34" charset="-122"/>
                <a:cs typeface="Consolas" pitchFamily="34" charset="-120"/>
              </a:rPr>
              <a:t>function validateContact(body) {</a:t>
            </a:r>
            <a:endParaRPr lang="en-US" sz="800" dirty="0"/>
          </a:p>
          <a:p>
            <a:pPr indent="0" marL="0">
              <a:buNone/>
            </a:pPr>
            <a:r>
              <a:rPr lang="en-US" sz="800" dirty="0">
                <a:solidFill>
                  <a:srgbClr val="D4E4F0"/>
                </a:solidFill>
                <a:latin typeface="Consolas" pitchFamily="34" charset="0"/>
                <a:ea typeface="Consolas" pitchFamily="34" charset="-122"/>
                <a:cs typeface="Consolas" pitchFamily="34" charset="-120"/>
              </a:rPr>
              <a:t>  if (!body.email) {</a:t>
            </a:r>
            <a:endParaRPr lang="en-US" sz="800" dirty="0"/>
          </a:p>
          <a:p>
            <a:pPr indent="0" marL="0">
              <a:buNone/>
            </a:pPr>
            <a:r>
              <a:rPr lang="en-US" sz="800" dirty="0">
                <a:solidFill>
                  <a:srgbClr val="D4E4F0"/>
                </a:solidFill>
                <a:latin typeface="Consolas" pitchFamily="34" charset="0"/>
                <a:ea typeface="Consolas" pitchFamily="34" charset="-122"/>
                <a:cs typeface="Consolas" pitchFamily="34" charset="-120"/>
              </a:rPr>
              <a:t>    return { status: 400, error: 'Email is required' };</a:t>
            </a:r>
            <a:endParaRPr lang="en-US" sz="800" dirty="0"/>
          </a:p>
          <a:p>
            <a:pPr indent="0" marL="0">
              <a:buNone/>
            </a:pPr>
            <a:r>
              <a:rPr lang="en-US" sz="800" dirty="0">
                <a:solidFill>
                  <a:srgbClr val="D4E4F0"/>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D4E4F0"/>
                </a:solidFill>
                <a:latin typeface="Consolas" pitchFamily="34" charset="0"/>
                <a:ea typeface="Consolas" pitchFamily="34" charset="-122"/>
                <a:cs typeface="Consolas" pitchFamily="34" charset="-120"/>
              </a:rPr>
              <a:t>  return { status: 200 };</a:t>
            </a:r>
            <a:endParaRPr lang="en-US" sz="800" dirty="0"/>
          </a:p>
          <a:p>
            <a:pPr indent="0" marL="0">
              <a:buNone/>
            </a:pPr>
            <a:r>
              <a:rPr lang="en-US" sz="800" dirty="0">
                <a:solidFill>
                  <a:srgbClr val="D4E4F0"/>
                </a:solidFill>
                <a:latin typeface="Consolas" pitchFamily="34" charset="0"/>
                <a:ea typeface="Consolas" pitchFamily="34" charset="-122"/>
                <a:cs typeface="Consolas" pitchFamily="34" charset="-120"/>
              </a:rPr>
              <a:t>}</a:t>
            </a:r>
            <a:endParaRPr lang="en-US" sz="800" dirty="0"/>
          </a:p>
          <a:p>
            <a:pPr indent="0" marL="0">
              <a:buNone/>
            </a:pPr>
            <a:r>
              <a:rPr lang="en-US" sz="800" dirty="0">
                <a:solidFill>
                  <a:srgbClr val="D4E4F0"/>
                </a:solidFill>
                <a:latin typeface="Consolas" pitchFamily="34" charset="0"/>
                <a:ea typeface="Consolas" pitchFamily="34" charset="-122"/>
                <a:cs typeface="Consolas" pitchFamily="34" charset="-120"/>
              </a:rPr>
              <a:t>// → PASS: all assertions met</a:t>
            </a:r>
            <a:endParaRPr lang="en-US" sz="800" dirty="0"/>
          </a:p>
        </p:txBody>
      </p:sp>
      <p:sp>
        <p:nvSpPr>
          <p:cNvPr id="33" name="Shape 31"/>
          <p:cNvSpPr/>
          <p:nvPr/>
        </p:nvSpPr>
        <p:spPr>
          <a:xfrm>
            <a:off x="6135624" y="1170432"/>
            <a:ext cx="2761488" cy="3822192"/>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34" name="Shape 32"/>
          <p:cNvSpPr/>
          <p:nvPr/>
        </p:nvSpPr>
        <p:spPr>
          <a:xfrm>
            <a:off x="6135624" y="1170432"/>
            <a:ext cx="2761488" cy="475488"/>
          </a:xfrm>
          <a:prstGeom prst="rect">
            <a:avLst/>
          </a:prstGeom>
          <a:solidFill>
            <a:srgbClr val="3A7DC9">
              <a:alpha val="85000"/>
            </a:srgbClr>
          </a:solidFill>
          <a:ln/>
        </p:spPr>
      </p:sp>
      <p:sp>
        <p:nvSpPr>
          <p:cNvPr id="35" name="Shape 33"/>
          <p:cNvSpPr/>
          <p:nvPr/>
        </p:nvSpPr>
        <p:spPr>
          <a:xfrm>
            <a:off x="6227064" y="1225296"/>
            <a:ext cx="347472" cy="347472"/>
          </a:xfrm>
          <a:prstGeom prst="rect">
            <a:avLst/>
          </a:prstGeom>
          <a:solidFill>
            <a:srgbClr val="3A7DC9"/>
          </a:solidFill>
          <a:ln/>
        </p:spPr>
      </p:sp>
      <p:sp>
        <p:nvSpPr>
          <p:cNvPr id="36" name="Text 34"/>
          <p:cNvSpPr/>
          <p:nvPr/>
        </p:nvSpPr>
        <p:spPr>
          <a:xfrm>
            <a:off x="6227064" y="122529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37" name="Text 35"/>
          <p:cNvSpPr/>
          <p:nvPr/>
        </p:nvSpPr>
        <p:spPr>
          <a:xfrm>
            <a:off x="6647688" y="1207008"/>
            <a:ext cx="2103120" cy="274320"/>
          </a:xfrm>
          <a:prstGeom prst="rect">
            <a:avLst/>
          </a:prstGeom>
          <a:noFill/>
          <a:ln/>
        </p:spPr>
        <p:txBody>
          <a:bodyPr wrap="square" lIns="0" tIns="0" rIns="0" bIns="0" rtlCol="0" anchor="ctr"/>
          <a:lstStyle/>
          <a:p>
            <a:pPr indent="0" marL="0">
              <a:buNone/>
            </a:pPr>
            <a:r>
              <a:rPr lang="en-US" sz="1200" b="1" dirty="0">
                <a:solidFill>
                  <a:srgbClr val="1C3557"/>
                </a:solidFill>
              </a:rPr>
              <a:t>REFACTOR</a:t>
            </a:r>
            <a:endParaRPr lang="en-US" sz="1200" dirty="0"/>
          </a:p>
        </p:txBody>
      </p:sp>
      <p:sp>
        <p:nvSpPr>
          <p:cNvPr id="38" name="Text 36"/>
          <p:cNvSpPr/>
          <p:nvPr/>
        </p:nvSpPr>
        <p:spPr>
          <a:xfrm>
            <a:off x="6647688" y="1463040"/>
            <a:ext cx="2103120" cy="182880"/>
          </a:xfrm>
          <a:prstGeom prst="rect">
            <a:avLst/>
          </a:prstGeom>
          <a:noFill/>
          <a:ln/>
        </p:spPr>
        <p:txBody>
          <a:bodyPr wrap="square" lIns="0" tIns="0" rIns="0" bIns="0" rtlCol="0" anchor="ctr"/>
          <a:lstStyle/>
          <a:p>
            <a:pPr indent="0" marL="0">
              <a:buNone/>
            </a:pPr>
            <a:r>
              <a:rPr lang="en-US" sz="900" dirty="0">
                <a:solidFill>
                  <a:srgbClr val="7A90A8"/>
                </a:solidFill>
              </a:rPr>
              <a:t>Improve without breaking</a:t>
            </a:r>
            <a:endParaRPr lang="en-US" sz="900" dirty="0"/>
          </a:p>
        </p:txBody>
      </p:sp>
      <p:sp>
        <p:nvSpPr>
          <p:cNvPr id="39" name="Text 37"/>
          <p:cNvSpPr/>
          <p:nvPr/>
        </p:nvSpPr>
        <p:spPr>
          <a:xfrm>
            <a:off x="6263640" y="1737360"/>
            <a:ext cx="502920" cy="201168"/>
          </a:xfrm>
          <a:prstGeom prst="rect">
            <a:avLst/>
          </a:prstGeom>
          <a:noFill/>
          <a:ln/>
        </p:spPr>
        <p:txBody>
          <a:bodyPr wrap="square" lIns="0" tIns="0" rIns="0" bIns="0" rtlCol="0" anchor="ctr"/>
          <a:lstStyle/>
          <a:p>
            <a:pPr indent="0" marL="0">
              <a:buNone/>
            </a:pPr>
            <a:r>
              <a:rPr lang="en-US" sz="900" b="1" dirty="0">
                <a:solidFill>
                  <a:srgbClr val="1C3557"/>
                </a:solidFill>
              </a:rPr>
              <a:t>Human:</a:t>
            </a:r>
            <a:endParaRPr lang="en-US" sz="900" dirty="0"/>
          </a:p>
        </p:txBody>
      </p:sp>
      <p:sp>
        <p:nvSpPr>
          <p:cNvPr id="40" name="Text 38"/>
          <p:cNvSpPr/>
          <p:nvPr/>
        </p:nvSpPr>
        <p:spPr>
          <a:xfrm>
            <a:off x="6793992" y="1737360"/>
            <a:ext cx="2011680" cy="201168"/>
          </a:xfrm>
          <a:prstGeom prst="rect">
            <a:avLst/>
          </a:prstGeom>
          <a:noFill/>
          <a:ln/>
        </p:spPr>
        <p:txBody>
          <a:bodyPr wrap="square" lIns="0" tIns="0" rIns="0" bIns="0" rtlCol="0" anchor="ctr"/>
          <a:lstStyle/>
          <a:p>
            <a:pPr indent="0" marL="0">
              <a:buNone/>
            </a:pPr>
            <a:r>
              <a:rPr lang="en-US" sz="900" dirty="0">
                <a:solidFill>
                  <a:srgbClr val="1E2D3D"/>
                </a:solidFill>
              </a:rPr>
              <a:t>Decides which improvements matter (naming, structure, patterns)</a:t>
            </a:r>
            <a:endParaRPr lang="en-US" sz="900" dirty="0"/>
          </a:p>
        </p:txBody>
      </p:sp>
      <p:sp>
        <p:nvSpPr>
          <p:cNvPr id="41" name="Text 39"/>
          <p:cNvSpPr/>
          <p:nvPr/>
        </p:nvSpPr>
        <p:spPr>
          <a:xfrm>
            <a:off x="6263640" y="1965960"/>
            <a:ext cx="502920" cy="201168"/>
          </a:xfrm>
          <a:prstGeom prst="rect">
            <a:avLst/>
          </a:prstGeom>
          <a:noFill/>
          <a:ln/>
        </p:spPr>
        <p:txBody>
          <a:bodyPr wrap="square" lIns="0" tIns="0" rIns="0" bIns="0" rtlCol="0" anchor="ctr"/>
          <a:lstStyle/>
          <a:p>
            <a:pPr indent="0" marL="0">
              <a:buNone/>
            </a:pPr>
            <a:r>
              <a:rPr lang="en-US" sz="900" b="1" dirty="0">
                <a:solidFill>
                  <a:srgbClr val="3A7DC9"/>
                </a:solidFill>
              </a:rPr>
              <a:t>Agent:</a:t>
            </a:r>
            <a:endParaRPr lang="en-US" sz="900" dirty="0"/>
          </a:p>
        </p:txBody>
      </p:sp>
      <p:sp>
        <p:nvSpPr>
          <p:cNvPr id="42" name="Text 40"/>
          <p:cNvSpPr/>
          <p:nvPr/>
        </p:nvSpPr>
        <p:spPr>
          <a:xfrm>
            <a:off x="6793992" y="1965960"/>
            <a:ext cx="2011680" cy="201168"/>
          </a:xfrm>
          <a:prstGeom prst="rect">
            <a:avLst/>
          </a:prstGeom>
          <a:noFill/>
          <a:ln/>
        </p:spPr>
        <p:txBody>
          <a:bodyPr wrap="square" lIns="0" tIns="0" rIns="0" bIns="0" rtlCol="0" anchor="ctr"/>
          <a:lstStyle/>
          <a:p>
            <a:pPr indent="0" marL="0">
              <a:buNone/>
            </a:pPr>
            <a:r>
              <a:rPr lang="en-US" sz="900" dirty="0">
                <a:solidFill>
                  <a:srgbClr val="1E2D3D"/>
                </a:solidFill>
              </a:rPr>
              <a:t>Refactors implementation, re-runs full suite after each change</a:t>
            </a:r>
            <a:endParaRPr lang="en-US" sz="900" dirty="0"/>
          </a:p>
        </p:txBody>
      </p:sp>
      <p:sp>
        <p:nvSpPr>
          <p:cNvPr id="43" name="Shape 41"/>
          <p:cNvSpPr/>
          <p:nvPr/>
        </p:nvSpPr>
        <p:spPr>
          <a:xfrm>
            <a:off x="6227064" y="2286000"/>
            <a:ext cx="2578608" cy="164592"/>
          </a:xfrm>
          <a:prstGeom prst="rect">
            <a:avLst/>
          </a:prstGeom>
          <a:solidFill>
            <a:srgbClr val="1C3557">
              <a:alpha val="12000"/>
            </a:srgbClr>
          </a:solidFill>
          <a:ln/>
        </p:spPr>
      </p:sp>
      <p:sp>
        <p:nvSpPr>
          <p:cNvPr id="44" name="Text 42"/>
          <p:cNvSpPr/>
          <p:nvPr/>
        </p:nvSpPr>
        <p:spPr>
          <a:xfrm>
            <a:off x="6227064" y="2286000"/>
            <a:ext cx="2578608" cy="164592"/>
          </a:xfrm>
          <a:prstGeom prst="rect">
            <a:avLst/>
          </a:prstGeom>
          <a:noFill/>
          <a:ln/>
        </p:spPr>
        <p:txBody>
          <a:bodyPr wrap="square" lIns="0" tIns="0" rIns="0" bIns="0" rtlCol="0" anchor="ctr"/>
          <a:lstStyle/>
          <a:p>
            <a:pPr algn="ctr" indent="0" marL="0">
              <a:buNone/>
            </a:pPr>
            <a:r>
              <a:rPr lang="en-US" sz="800" b="1" spc="200" kern="0" dirty="0">
                <a:solidFill>
                  <a:srgbClr val="7A90A8"/>
                </a:solidFill>
              </a:rPr>
              <a:t>EXAMPLE</a:t>
            </a:r>
            <a:endParaRPr lang="en-US" sz="800" dirty="0"/>
          </a:p>
        </p:txBody>
      </p:sp>
      <p:sp>
        <p:nvSpPr>
          <p:cNvPr id="45" name="Shape 43"/>
          <p:cNvSpPr/>
          <p:nvPr/>
        </p:nvSpPr>
        <p:spPr>
          <a:xfrm>
            <a:off x="6227064" y="2468880"/>
            <a:ext cx="2578608" cy="2395728"/>
          </a:xfrm>
          <a:prstGeom prst="rect">
            <a:avLst/>
          </a:prstGeom>
          <a:solidFill>
            <a:srgbClr val="1C3557">
              <a:alpha val="95000"/>
            </a:srgbClr>
          </a:solidFill>
          <a:ln/>
        </p:spPr>
      </p:sp>
      <p:sp>
        <p:nvSpPr>
          <p:cNvPr id="46" name="Text 44"/>
          <p:cNvSpPr/>
          <p:nvPr/>
        </p:nvSpPr>
        <p:spPr>
          <a:xfrm>
            <a:off x="6300216" y="2487168"/>
            <a:ext cx="2432304" cy="2359152"/>
          </a:xfrm>
          <a:prstGeom prst="rect">
            <a:avLst/>
          </a:prstGeom>
          <a:noFill/>
          <a:ln/>
        </p:spPr>
        <p:txBody>
          <a:bodyPr wrap="square" lIns="0" tIns="0" rIns="0" bIns="0" rtlCol="0" anchor="t"/>
          <a:lstStyle/>
          <a:p>
            <a:pPr indent="0" marL="0">
              <a:buNone/>
            </a:pPr>
            <a:r>
              <a:rPr lang="en-US" sz="800" dirty="0">
                <a:solidFill>
                  <a:srgbClr val="D4E4F0"/>
                </a:solidFill>
                <a:latin typeface="Consolas" pitchFamily="34" charset="0"/>
                <a:ea typeface="Consolas" pitchFamily="34" charset="-122"/>
                <a:cs typeface="Consolas" pitchFamily="34" charset="-120"/>
              </a:rPr>
              <a:t>const ERRORS = { MISSING_EMAIL: 'Email is required' };</a:t>
            </a:r>
            <a:endParaRPr lang="en-US" sz="800" dirty="0"/>
          </a:p>
          <a:p>
            <a:pPr indent="0" marL="0">
              <a:buNone/>
            </a:pPr>
            <a:endParaRPr lang="en-US" sz="800" dirty="0"/>
          </a:p>
          <a:p>
            <a:pPr indent="0" marL="0">
              <a:buNone/>
            </a:pPr>
            <a:r>
              <a:rPr lang="en-US" sz="800" dirty="0">
                <a:solidFill>
                  <a:srgbClr val="D4E4F0"/>
                </a:solidFill>
                <a:latin typeface="Consolas" pitchFamily="34" charset="0"/>
                <a:ea typeface="Consolas" pitchFamily="34" charset="-122"/>
                <a:cs typeface="Consolas" pitchFamily="34" charset="-120"/>
              </a:rPr>
              <a:t>function validateContact({ email } = {}) {</a:t>
            </a:r>
            <a:endParaRPr lang="en-US" sz="800" dirty="0"/>
          </a:p>
          <a:p>
            <a:pPr indent="0" marL="0">
              <a:buNone/>
            </a:pPr>
            <a:r>
              <a:rPr lang="en-US" sz="800" dirty="0">
                <a:solidFill>
                  <a:srgbClr val="D4E4F0"/>
                </a:solidFill>
                <a:latin typeface="Consolas" pitchFamily="34" charset="0"/>
                <a:ea typeface="Consolas" pitchFamily="34" charset="-122"/>
                <a:cs typeface="Consolas" pitchFamily="34" charset="-120"/>
              </a:rPr>
              <a:t>  if (!email) throw new ValidationError(ERRORS.MISSING_EMAIL);</a:t>
            </a:r>
            <a:endParaRPr lang="en-US" sz="800" dirty="0"/>
          </a:p>
          <a:p>
            <a:pPr indent="0" marL="0">
              <a:buNone/>
            </a:pPr>
            <a:r>
              <a:rPr lang="en-US" sz="800" dirty="0">
                <a:solidFill>
                  <a:srgbClr val="D4E4F0"/>
                </a:solidFill>
                <a:latin typeface="Consolas" pitchFamily="34" charset="0"/>
                <a:ea typeface="Consolas" pitchFamily="34" charset="-122"/>
                <a:cs typeface="Consolas" pitchFamily="34" charset="-120"/>
              </a:rPr>
              <a:t>}</a:t>
            </a:r>
            <a:endParaRPr lang="en-US" sz="800" dirty="0"/>
          </a:p>
          <a:p>
            <a:pPr indent="0" marL="0">
              <a:buNone/>
            </a:pPr>
            <a:r>
              <a:rPr lang="en-US" sz="800" dirty="0">
                <a:solidFill>
                  <a:srgbClr val="D4E4F0"/>
                </a:solidFill>
                <a:latin typeface="Consolas" pitchFamily="34" charset="0"/>
                <a:ea typeface="Consolas" pitchFamily="34" charset="-122"/>
                <a:cs typeface="Consolas" pitchFamily="34" charset="-120"/>
              </a:rPr>
              <a:t>// → PASS: refactored, test unchanged</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C3557"/>
        </a:solidFill>
      </p:bgPr>
    </p:bg>
    <p:spTree>
      <p:nvGrpSpPr>
        <p:cNvPr id="1" name=""/>
        <p:cNvGrpSpPr/>
        <p:nvPr/>
      </p:nvGrpSpPr>
      <p:grpSpPr>
        <a:xfrm>
          <a:off x="0" y="0"/>
          <a:ext cx="0" cy="0"/>
          <a:chOff x="0" y="0"/>
          <a:chExt cx="0" cy="0"/>
        </a:xfrm>
      </p:grpSpPr>
      <p:sp>
        <p:nvSpPr>
          <p:cNvPr id="2" name="Text 0"/>
          <p:cNvSpPr/>
          <p:nvPr/>
        </p:nvSpPr>
        <p:spPr>
          <a:xfrm>
            <a:off x="365760" y="201168"/>
            <a:ext cx="841248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UNIT TESTING  —  WHAT MAKES A GOOD UNIT TEST</a:t>
            </a:r>
            <a:endParaRPr lang="en-US" sz="1300" dirty="0"/>
          </a:p>
        </p:txBody>
      </p:sp>
      <p:sp>
        <p:nvSpPr>
          <p:cNvPr id="3" name="Shape 1"/>
          <p:cNvSpPr/>
          <p:nvPr/>
        </p:nvSpPr>
        <p:spPr>
          <a:xfrm>
            <a:off x="320040" y="713232"/>
            <a:ext cx="4160520" cy="4160520"/>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4" name="Text 2"/>
          <p:cNvSpPr/>
          <p:nvPr/>
        </p:nvSpPr>
        <p:spPr>
          <a:xfrm>
            <a:off x="457200" y="804672"/>
            <a:ext cx="3657600" cy="274320"/>
          </a:xfrm>
          <a:prstGeom prst="rect">
            <a:avLst/>
          </a:prstGeom>
          <a:noFill/>
          <a:ln/>
        </p:spPr>
        <p:txBody>
          <a:bodyPr wrap="square" lIns="0" tIns="0" rIns="0" bIns="0" rtlCol="0" anchor="ctr"/>
          <a:lstStyle/>
          <a:p>
            <a:pPr indent="0" marL="0">
              <a:buNone/>
            </a:pPr>
            <a:r>
              <a:rPr lang="en-US" sz="1000" b="1" spc="200" kern="0" dirty="0">
                <a:solidFill>
                  <a:srgbClr val="5B8DB8"/>
                </a:solidFill>
              </a:rPr>
              <a:t>THE THREE PROPERTIES</a:t>
            </a:r>
            <a:endParaRPr lang="en-US" sz="1000" dirty="0"/>
          </a:p>
        </p:txBody>
      </p:sp>
      <p:sp>
        <p:nvSpPr>
          <p:cNvPr id="5" name="Shape 3"/>
          <p:cNvSpPr/>
          <p:nvPr/>
        </p:nvSpPr>
        <p:spPr>
          <a:xfrm>
            <a:off x="457200" y="1170432"/>
            <a:ext cx="54864" cy="987552"/>
          </a:xfrm>
          <a:prstGeom prst="rect">
            <a:avLst/>
          </a:prstGeom>
          <a:solidFill>
            <a:srgbClr val="3A7DC9"/>
          </a:solidFill>
          <a:ln/>
        </p:spPr>
      </p:sp>
      <p:sp>
        <p:nvSpPr>
          <p:cNvPr id="6" name="Text 4"/>
          <p:cNvSpPr/>
          <p:nvPr/>
        </p:nvSpPr>
        <p:spPr>
          <a:xfrm>
            <a:off x="640080" y="1188720"/>
            <a:ext cx="3657600" cy="292608"/>
          </a:xfrm>
          <a:prstGeom prst="rect">
            <a:avLst/>
          </a:prstGeom>
          <a:noFill/>
          <a:ln/>
        </p:spPr>
        <p:txBody>
          <a:bodyPr wrap="square" lIns="0" tIns="0" rIns="0" bIns="0" rtlCol="0" anchor="ctr"/>
          <a:lstStyle/>
          <a:p>
            <a:pPr indent="0" marL="0">
              <a:buNone/>
            </a:pPr>
            <a:r>
              <a:rPr lang="en-US" sz="1250" b="1" dirty="0">
                <a:solidFill>
                  <a:srgbClr val="3A7DC9"/>
                </a:solidFill>
              </a:rPr>
              <a:t>Isolated</a:t>
            </a:r>
            <a:endParaRPr lang="en-US" sz="1250" dirty="0"/>
          </a:p>
        </p:txBody>
      </p:sp>
      <p:sp>
        <p:nvSpPr>
          <p:cNvPr id="7" name="Text 5"/>
          <p:cNvSpPr/>
          <p:nvPr/>
        </p:nvSpPr>
        <p:spPr>
          <a:xfrm>
            <a:off x="640080" y="1499616"/>
            <a:ext cx="3703320" cy="640080"/>
          </a:xfrm>
          <a:prstGeom prst="rect">
            <a:avLst/>
          </a:prstGeom>
          <a:noFill/>
          <a:ln/>
        </p:spPr>
        <p:txBody>
          <a:bodyPr wrap="square" lIns="0" tIns="0" rIns="0" bIns="0" rtlCol="0" anchor="ctr"/>
          <a:lstStyle/>
          <a:p>
            <a:pPr indent="0" marL="0">
              <a:buNone/>
            </a:pPr>
            <a:r>
              <a:rPr lang="en-US" sz="1000" dirty="0">
                <a:solidFill>
                  <a:srgbClr val="D4E4F0"/>
                </a:solidFill>
              </a:rPr>
              <a:t>No database, file system, network, or external service. All dependencies mocked or stubbed. If the test needs a running database to pass, it is not a unit test.</a:t>
            </a:r>
            <a:endParaRPr lang="en-US" sz="1000" dirty="0"/>
          </a:p>
        </p:txBody>
      </p:sp>
      <p:sp>
        <p:nvSpPr>
          <p:cNvPr id="8" name="Shape 6"/>
          <p:cNvSpPr/>
          <p:nvPr/>
        </p:nvSpPr>
        <p:spPr>
          <a:xfrm>
            <a:off x="457200" y="2377440"/>
            <a:ext cx="54864" cy="987552"/>
          </a:xfrm>
          <a:prstGeom prst="rect">
            <a:avLst/>
          </a:prstGeom>
          <a:solidFill>
            <a:srgbClr val="3A7E6E"/>
          </a:solidFill>
          <a:ln/>
        </p:spPr>
      </p:sp>
      <p:sp>
        <p:nvSpPr>
          <p:cNvPr id="9" name="Text 7"/>
          <p:cNvSpPr/>
          <p:nvPr/>
        </p:nvSpPr>
        <p:spPr>
          <a:xfrm>
            <a:off x="640080" y="2395728"/>
            <a:ext cx="3657600" cy="292608"/>
          </a:xfrm>
          <a:prstGeom prst="rect">
            <a:avLst/>
          </a:prstGeom>
          <a:noFill/>
          <a:ln/>
        </p:spPr>
        <p:txBody>
          <a:bodyPr wrap="square" lIns="0" tIns="0" rIns="0" bIns="0" rtlCol="0" anchor="ctr"/>
          <a:lstStyle/>
          <a:p>
            <a:pPr indent="0" marL="0">
              <a:buNone/>
            </a:pPr>
            <a:r>
              <a:rPr lang="en-US" sz="1250" b="1" dirty="0">
                <a:solidFill>
                  <a:srgbClr val="3A7E6E"/>
                </a:solidFill>
              </a:rPr>
              <a:t>Fast</a:t>
            </a:r>
            <a:endParaRPr lang="en-US" sz="1250" dirty="0"/>
          </a:p>
        </p:txBody>
      </p:sp>
      <p:sp>
        <p:nvSpPr>
          <p:cNvPr id="10" name="Text 8"/>
          <p:cNvSpPr/>
          <p:nvPr/>
        </p:nvSpPr>
        <p:spPr>
          <a:xfrm>
            <a:off x="640080" y="2706624"/>
            <a:ext cx="3703320" cy="640080"/>
          </a:xfrm>
          <a:prstGeom prst="rect">
            <a:avLst/>
          </a:prstGeom>
          <a:noFill/>
          <a:ln/>
        </p:spPr>
        <p:txBody>
          <a:bodyPr wrap="square" lIns="0" tIns="0" rIns="0" bIns="0" rtlCol="0" anchor="ctr"/>
          <a:lstStyle/>
          <a:p>
            <a:pPr indent="0" marL="0">
              <a:buNone/>
            </a:pPr>
            <a:r>
              <a:rPr lang="en-US" sz="1000" dirty="0">
                <a:solidFill>
                  <a:srgbClr val="D4E4F0"/>
                </a:solidFill>
              </a:rPr>
              <a:t>Milliseconds per test. A full suite of hundreds of tests completes in seconds. Slow tests do not get run — they get skipped under pressure, defeating the purpose.</a:t>
            </a:r>
            <a:endParaRPr lang="en-US" sz="1000" dirty="0"/>
          </a:p>
        </p:txBody>
      </p:sp>
      <p:sp>
        <p:nvSpPr>
          <p:cNvPr id="11" name="Shape 9"/>
          <p:cNvSpPr/>
          <p:nvPr/>
        </p:nvSpPr>
        <p:spPr>
          <a:xfrm>
            <a:off x="457200" y="3584448"/>
            <a:ext cx="54864" cy="987552"/>
          </a:xfrm>
          <a:prstGeom prst="rect">
            <a:avLst/>
          </a:prstGeom>
          <a:solidFill>
            <a:srgbClr val="4A7FA8"/>
          </a:solidFill>
          <a:ln/>
        </p:spPr>
      </p:sp>
      <p:sp>
        <p:nvSpPr>
          <p:cNvPr id="12" name="Text 10"/>
          <p:cNvSpPr/>
          <p:nvPr/>
        </p:nvSpPr>
        <p:spPr>
          <a:xfrm>
            <a:off x="640080" y="3602736"/>
            <a:ext cx="3657600" cy="292608"/>
          </a:xfrm>
          <a:prstGeom prst="rect">
            <a:avLst/>
          </a:prstGeom>
          <a:noFill/>
          <a:ln/>
        </p:spPr>
        <p:txBody>
          <a:bodyPr wrap="square" lIns="0" tIns="0" rIns="0" bIns="0" rtlCol="0" anchor="ctr"/>
          <a:lstStyle/>
          <a:p>
            <a:pPr indent="0" marL="0">
              <a:buNone/>
            </a:pPr>
            <a:r>
              <a:rPr lang="en-US" sz="1250" b="1" dirty="0">
                <a:solidFill>
                  <a:srgbClr val="4A7FA8"/>
                </a:solidFill>
              </a:rPr>
              <a:t>Deterministic</a:t>
            </a:r>
            <a:endParaRPr lang="en-US" sz="1250" dirty="0"/>
          </a:p>
        </p:txBody>
      </p:sp>
      <p:sp>
        <p:nvSpPr>
          <p:cNvPr id="13" name="Text 11"/>
          <p:cNvSpPr/>
          <p:nvPr/>
        </p:nvSpPr>
        <p:spPr>
          <a:xfrm>
            <a:off x="640080" y="3913632"/>
            <a:ext cx="3703320" cy="640080"/>
          </a:xfrm>
          <a:prstGeom prst="rect">
            <a:avLst/>
          </a:prstGeom>
          <a:noFill/>
          <a:ln/>
        </p:spPr>
        <p:txBody>
          <a:bodyPr wrap="square" lIns="0" tIns="0" rIns="0" bIns="0" rtlCol="0" anchor="ctr"/>
          <a:lstStyle/>
          <a:p>
            <a:pPr indent="0" marL="0">
              <a:buNone/>
            </a:pPr>
            <a:r>
              <a:rPr lang="en-US" sz="1000" dirty="0">
                <a:solidFill>
                  <a:srgbClr val="D4E4F0"/>
                </a:solidFill>
              </a:rPr>
              <a:t>Same code, same result, every time. Time-dependent tests, random-seed tests, or tests depending on external state are fragile and do not belong in the unit suite.</a:t>
            </a:r>
            <a:endParaRPr lang="en-US" sz="1000" dirty="0"/>
          </a:p>
        </p:txBody>
      </p:sp>
      <p:sp>
        <p:nvSpPr>
          <p:cNvPr id="14" name="Shape 12"/>
          <p:cNvSpPr/>
          <p:nvPr/>
        </p:nvSpPr>
        <p:spPr>
          <a:xfrm>
            <a:off x="4663440" y="713232"/>
            <a:ext cx="4160520" cy="1920240"/>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15" name="Text 13"/>
          <p:cNvSpPr/>
          <p:nvPr/>
        </p:nvSpPr>
        <p:spPr>
          <a:xfrm>
            <a:off x="4809744" y="804672"/>
            <a:ext cx="3840480" cy="274320"/>
          </a:xfrm>
          <a:prstGeom prst="rect">
            <a:avLst/>
          </a:prstGeom>
          <a:noFill/>
          <a:ln/>
        </p:spPr>
        <p:txBody>
          <a:bodyPr wrap="square" lIns="0" tIns="0" rIns="0" bIns="0" rtlCol="0" anchor="ctr"/>
          <a:lstStyle/>
          <a:p>
            <a:pPr indent="0" marL="0">
              <a:buNone/>
            </a:pPr>
            <a:r>
              <a:rPr lang="en-US" sz="1000" b="1" spc="200" kern="0" dirty="0">
                <a:solidFill>
                  <a:srgbClr val="5B8DB8"/>
                </a:solidFill>
              </a:rPr>
              <a:t>TEST BEHAVIOUR, NOT IMPLEMENTATION</a:t>
            </a:r>
            <a:endParaRPr lang="en-US" sz="1000" dirty="0"/>
          </a:p>
        </p:txBody>
      </p:sp>
      <p:sp>
        <p:nvSpPr>
          <p:cNvPr id="16" name="Shape 14"/>
          <p:cNvSpPr/>
          <p:nvPr/>
        </p:nvSpPr>
        <p:spPr>
          <a:xfrm>
            <a:off x="4791456" y="1115568"/>
            <a:ext cx="3877056" cy="384048"/>
          </a:xfrm>
          <a:prstGeom prst="rect">
            <a:avLst/>
          </a:prstGeom>
          <a:solidFill>
            <a:srgbClr val="B03040">
              <a:alpha val="18000"/>
            </a:srgbClr>
          </a:solidFill>
          <a:ln/>
        </p:spPr>
      </p:sp>
      <p:sp>
        <p:nvSpPr>
          <p:cNvPr id="17" name="Text 15"/>
          <p:cNvSpPr/>
          <p:nvPr/>
        </p:nvSpPr>
        <p:spPr>
          <a:xfrm>
            <a:off x="4864608" y="1115568"/>
            <a:ext cx="3749040" cy="182880"/>
          </a:xfrm>
          <a:prstGeom prst="rect">
            <a:avLst/>
          </a:prstGeom>
          <a:noFill/>
          <a:ln/>
        </p:spPr>
        <p:txBody>
          <a:bodyPr wrap="square" lIns="0" tIns="0" rIns="0" bIns="0" rtlCol="0" anchor="ctr"/>
          <a:lstStyle/>
          <a:p>
            <a:pPr indent="0" marL="0">
              <a:buNone/>
            </a:pPr>
            <a:r>
              <a:rPr lang="en-US" sz="850" dirty="0">
                <a:solidFill>
                  <a:srgbClr val="B03040"/>
                </a:solidFill>
                <a:latin typeface="Consolas" pitchFamily="34" charset="0"/>
                <a:ea typeface="Consolas" pitchFamily="34" charset="-122"/>
                <a:cs typeface="Consolas" pitchFamily="34" charset="-120"/>
              </a:rPr>
              <a:t>// Tests implementation — BRITTLE</a:t>
            </a:r>
            <a:endParaRPr lang="en-US" sz="850" dirty="0"/>
          </a:p>
        </p:txBody>
      </p:sp>
      <p:sp>
        <p:nvSpPr>
          <p:cNvPr id="18" name="Text 16"/>
          <p:cNvSpPr/>
          <p:nvPr/>
        </p:nvSpPr>
        <p:spPr>
          <a:xfrm>
            <a:off x="4864608" y="1316736"/>
            <a:ext cx="3749040" cy="164592"/>
          </a:xfrm>
          <a:prstGeom prst="rect">
            <a:avLst/>
          </a:prstGeom>
          <a:noFill/>
          <a:ln/>
        </p:spPr>
        <p:txBody>
          <a:bodyPr wrap="square" lIns="0" tIns="0" rIns="0" bIns="0" rtlCol="0" anchor="ctr"/>
          <a:lstStyle/>
          <a:p>
            <a:pPr indent="0" marL="0">
              <a:buNone/>
            </a:pPr>
            <a:r>
              <a:rPr lang="en-US" sz="850" dirty="0">
                <a:solidFill>
                  <a:srgbClr val="D4E4F0"/>
                </a:solidFill>
                <a:latin typeface="Consolas" pitchFamily="34" charset="0"/>
                <a:ea typeface="Consolas" pitchFamily="34" charset="-122"/>
                <a:cs typeface="Consolas" pitchFamily="34" charset="-120"/>
              </a:rPr>
              <a:t>it('calls validateEmail() before DB', ...)</a:t>
            </a:r>
            <a:endParaRPr lang="en-US" sz="850" dirty="0"/>
          </a:p>
        </p:txBody>
      </p:sp>
      <p:sp>
        <p:nvSpPr>
          <p:cNvPr id="19" name="Shape 17"/>
          <p:cNvSpPr/>
          <p:nvPr/>
        </p:nvSpPr>
        <p:spPr>
          <a:xfrm>
            <a:off x="4791456" y="1572768"/>
            <a:ext cx="3877056" cy="384048"/>
          </a:xfrm>
          <a:prstGeom prst="rect">
            <a:avLst/>
          </a:prstGeom>
          <a:solidFill>
            <a:srgbClr val="3A7E6E">
              <a:alpha val="18000"/>
            </a:srgbClr>
          </a:solidFill>
          <a:ln/>
        </p:spPr>
      </p:sp>
      <p:sp>
        <p:nvSpPr>
          <p:cNvPr id="20" name="Text 18"/>
          <p:cNvSpPr/>
          <p:nvPr/>
        </p:nvSpPr>
        <p:spPr>
          <a:xfrm>
            <a:off x="4864608" y="1572768"/>
            <a:ext cx="3749040" cy="182880"/>
          </a:xfrm>
          <a:prstGeom prst="rect">
            <a:avLst/>
          </a:prstGeom>
          <a:noFill/>
          <a:ln/>
        </p:spPr>
        <p:txBody>
          <a:bodyPr wrap="square" lIns="0" tIns="0" rIns="0" bIns="0" rtlCol="0" anchor="ctr"/>
          <a:lstStyle/>
          <a:p>
            <a:pPr indent="0" marL="0">
              <a:buNone/>
            </a:pPr>
            <a:r>
              <a:rPr lang="en-US" sz="850" dirty="0">
                <a:solidFill>
                  <a:srgbClr val="3A7E6E"/>
                </a:solidFill>
                <a:latin typeface="Consolas" pitchFamily="34" charset="0"/>
                <a:ea typeface="Consolas" pitchFamily="34" charset="-122"/>
                <a:cs typeface="Consolas" pitchFamily="34" charset="-120"/>
              </a:rPr>
              <a:t>// Tests behaviour — ROBUST</a:t>
            </a:r>
            <a:endParaRPr lang="en-US" sz="850" dirty="0"/>
          </a:p>
        </p:txBody>
      </p:sp>
      <p:sp>
        <p:nvSpPr>
          <p:cNvPr id="21" name="Text 19"/>
          <p:cNvSpPr/>
          <p:nvPr/>
        </p:nvSpPr>
        <p:spPr>
          <a:xfrm>
            <a:off x="4864608" y="1773936"/>
            <a:ext cx="3749040" cy="164592"/>
          </a:xfrm>
          <a:prstGeom prst="rect">
            <a:avLst/>
          </a:prstGeom>
          <a:noFill/>
          <a:ln/>
        </p:spPr>
        <p:txBody>
          <a:bodyPr wrap="square" lIns="0" tIns="0" rIns="0" bIns="0" rtlCol="0" anchor="ctr"/>
          <a:lstStyle/>
          <a:p>
            <a:pPr indent="0" marL="0">
              <a:buNone/>
            </a:pPr>
            <a:r>
              <a:rPr lang="en-US" sz="850" dirty="0">
                <a:solidFill>
                  <a:srgbClr val="D4E4F0"/>
                </a:solidFill>
                <a:latin typeface="Consolas" pitchFamily="34" charset="0"/>
                <a:ea typeface="Consolas" pitchFamily="34" charset="-122"/>
                <a:cs typeface="Consolas" pitchFamily="34" charset="-120"/>
              </a:rPr>
              <a:t>it('rejects form with invalid email', ...)</a:t>
            </a:r>
            <a:endParaRPr lang="en-US" sz="850" dirty="0"/>
          </a:p>
        </p:txBody>
      </p:sp>
      <p:sp>
        <p:nvSpPr>
          <p:cNvPr id="22" name="Shape 20"/>
          <p:cNvSpPr/>
          <p:nvPr/>
        </p:nvSpPr>
        <p:spPr>
          <a:xfrm>
            <a:off x="4663440" y="2724912"/>
            <a:ext cx="4160520" cy="2148840"/>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23" name="Text 21"/>
          <p:cNvSpPr/>
          <p:nvPr/>
        </p:nvSpPr>
        <p:spPr>
          <a:xfrm>
            <a:off x="4809744" y="2816352"/>
            <a:ext cx="3840480" cy="274320"/>
          </a:xfrm>
          <a:prstGeom prst="rect">
            <a:avLst/>
          </a:prstGeom>
          <a:noFill/>
          <a:ln/>
        </p:spPr>
        <p:txBody>
          <a:bodyPr wrap="square" lIns="0" tIns="0" rIns="0" bIns="0" rtlCol="0" anchor="ctr"/>
          <a:lstStyle/>
          <a:p>
            <a:pPr indent="0" marL="0">
              <a:buNone/>
            </a:pPr>
            <a:r>
              <a:rPr lang="en-US" sz="1000" b="1" spc="200" kern="0" dirty="0">
                <a:solidFill>
                  <a:srgbClr val="5B8DB8"/>
                </a:solidFill>
              </a:rPr>
              <a:t>TEST NAMING CONVENTION</a:t>
            </a:r>
            <a:endParaRPr lang="en-US" sz="1000" dirty="0"/>
          </a:p>
        </p:txBody>
      </p:sp>
      <p:sp>
        <p:nvSpPr>
          <p:cNvPr id="24" name="Shape 22"/>
          <p:cNvSpPr/>
          <p:nvPr/>
        </p:nvSpPr>
        <p:spPr>
          <a:xfrm>
            <a:off x="4791456" y="3200400"/>
            <a:ext cx="201168" cy="201168"/>
          </a:xfrm>
          <a:prstGeom prst="rect">
            <a:avLst/>
          </a:prstGeom>
          <a:solidFill>
            <a:srgbClr val="3A7E6E"/>
          </a:solidFill>
          <a:ln/>
        </p:spPr>
      </p:sp>
      <p:sp>
        <p:nvSpPr>
          <p:cNvPr id="25" name="Text 23"/>
          <p:cNvSpPr/>
          <p:nvPr/>
        </p:nvSpPr>
        <p:spPr>
          <a:xfrm>
            <a:off x="4791456" y="320040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26" name="Text 24"/>
          <p:cNvSpPr/>
          <p:nvPr/>
        </p:nvSpPr>
        <p:spPr>
          <a:xfrm>
            <a:off x="5047488" y="3163824"/>
            <a:ext cx="3657600" cy="274320"/>
          </a:xfrm>
          <a:prstGeom prst="rect">
            <a:avLst/>
          </a:prstGeom>
          <a:noFill/>
          <a:ln/>
        </p:spPr>
        <p:txBody>
          <a:bodyPr wrap="square" lIns="0" tIns="0" rIns="0" bIns="0" rtlCol="0" anchor="ctr"/>
          <a:lstStyle/>
          <a:p>
            <a:pPr indent="0" marL="0">
              <a:buNone/>
            </a:pPr>
            <a:r>
              <a:rPr lang="en-US" sz="900" dirty="0">
                <a:solidFill>
                  <a:srgbClr val="D4E4F0"/>
                </a:solidFill>
                <a:latin typeface="Consolas" pitchFamily="34" charset="0"/>
                <a:ea typeface="Consolas" pitchFamily="34" charset="-122"/>
                <a:cs typeface="Consolas" pitchFamily="34" charset="-120"/>
              </a:rPr>
              <a:t>returns 401 when the token has expired</a:t>
            </a:r>
            <a:endParaRPr lang="en-US" sz="900" dirty="0"/>
          </a:p>
        </p:txBody>
      </p:sp>
      <p:sp>
        <p:nvSpPr>
          <p:cNvPr id="27" name="Shape 25"/>
          <p:cNvSpPr/>
          <p:nvPr/>
        </p:nvSpPr>
        <p:spPr>
          <a:xfrm>
            <a:off x="4791456" y="3602736"/>
            <a:ext cx="201168" cy="201168"/>
          </a:xfrm>
          <a:prstGeom prst="rect">
            <a:avLst/>
          </a:prstGeom>
          <a:solidFill>
            <a:srgbClr val="3A7E6E"/>
          </a:solidFill>
          <a:ln/>
        </p:spPr>
      </p:sp>
      <p:sp>
        <p:nvSpPr>
          <p:cNvPr id="28" name="Text 26"/>
          <p:cNvSpPr/>
          <p:nvPr/>
        </p:nvSpPr>
        <p:spPr>
          <a:xfrm>
            <a:off x="4791456" y="3602736"/>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29" name="Text 27"/>
          <p:cNvSpPr/>
          <p:nvPr/>
        </p:nvSpPr>
        <p:spPr>
          <a:xfrm>
            <a:off x="5047488" y="3566160"/>
            <a:ext cx="3657600" cy="274320"/>
          </a:xfrm>
          <a:prstGeom prst="rect">
            <a:avLst/>
          </a:prstGeom>
          <a:noFill/>
          <a:ln/>
        </p:spPr>
        <p:txBody>
          <a:bodyPr wrap="square" lIns="0" tIns="0" rIns="0" bIns="0" rtlCol="0" anchor="ctr"/>
          <a:lstStyle/>
          <a:p>
            <a:pPr indent="0" marL="0">
              <a:buNone/>
            </a:pPr>
            <a:r>
              <a:rPr lang="en-US" sz="900" dirty="0">
                <a:solidFill>
                  <a:srgbClr val="D4E4F0"/>
                </a:solidFill>
                <a:latin typeface="Consolas" pitchFamily="34" charset="0"/>
                <a:ea typeface="Consolas" pitchFamily="34" charset="-122"/>
                <a:cs typeface="Consolas" pitchFamily="34" charset="-120"/>
              </a:rPr>
              <a:t>returns empty array when no records match the query</a:t>
            </a:r>
            <a:endParaRPr lang="en-US" sz="900" dirty="0"/>
          </a:p>
        </p:txBody>
      </p:sp>
      <p:sp>
        <p:nvSpPr>
          <p:cNvPr id="30" name="Shape 28"/>
          <p:cNvSpPr/>
          <p:nvPr/>
        </p:nvSpPr>
        <p:spPr>
          <a:xfrm>
            <a:off x="4791456" y="4005072"/>
            <a:ext cx="201168" cy="201168"/>
          </a:xfrm>
          <a:prstGeom prst="rect">
            <a:avLst/>
          </a:prstGeom>
          <a:solidFill>
            <a:srgbClr val="B03040"/>
          </a:solidFill>
          <a:ln/>
        </p:spPr>
      </p:sp>
      <p:sp>
        <p:nvSpPr>
          <p:cNvPr id="31" name="Text 29"/>
          <p:cNvSpPr/>
          <p:nvPr/>
        </p:nvSpPr>
        <p:spPr>
          <a:xfrm>
            <a:off x="4791456" y="4005072"/>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32" name="Text 30"/>
          <p:cNvSpPr/>
          <p:nvPr/>
        </p:nvSpPr>
        <p:spPr>
          <a:xfrm>
            <a:off x="5047488" y="3968496"/>
            <a:ext cx="3657600" cy="274320"/>
          </a:xfrm>
          <a:prstGeom prst="rect">
            <a:avLst/>
          </a:prstGeom>
          <a:noFill/>
          <a:ln/>
        </p:spPr>
        <p:txBody>
          <a:bodyPr wrap="square" lIns="0" tIns="0" rIns="0" bIns="0" rtlCol="0" anchor="ctr"/>
          <a:lstStyle/>
          <a:p>
            <a:pPr indent="0" marL="0">
              <a:buNone/>
            </a:pPr>
            <a:r>
              <a:rPr lang="en-US" sz="900" dirty="0">
                <a:solidFill>
                  <a:srgbClr val="7A90A8"/>
                </a:solidFill>
                <a:latin typeface="Consolas" pitchFamily="34" charset="0"/>
                <a:ea typeface="Consolas" pitchFamily="34" charset="-122"/>
                <a:cs typeface="Consolas" pitchFamily="34" charset="-120"/>
              </a:rPr>
              <a:t>test auth error case</a:t>
            </a:r>
            <a:endParaRPr lang="en-US" sz="900" dirty="0"/>
          </a:p>
        </p:txBody>
      </p:sp>
      <p:sp>
        <p:nvSpPr>
          <p:cNvPr id="33" name="Shape 31"/>
          <p:cNvSpPr/>
          <p:nvPr/>
        </p:nvSpPr>
        <p:spPr>
          <a:xfrm>
            <a:off x="4791456" y="4407408"/>
            <a:ext cx="201168" cy="201168"/>
          </a:xfrm>
          <a:prstGeom prst="rect">
            <a:avLst/>
          </a:prstGeom>
          <a:solidFill>
            <a:srgbClr val="B03040"/>
          </a:solidFill>
          <a:ln/>
        </p:spPr>
      </p:sp>
      <p:sp>
        <p:nvSpPr>
          <p:cNvPr id="34" name="Text 32"/>
          <p:cNvSpPr/>
          <p:nvPr/>
        </p:nvSpPr>
        <p:spPr>
          <a:xfrm>
            <a:off x="4791456" y="4407408"/>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35" name="Text 33"/>
          <p:cNvSpPr/>
          <p:nvPr/>
        </p:nvSpPr>
        <p:spPr>
          <a:xfrm>
            <a:off x="5047488" y="4370832"/>
            <a:ext cx="3657600" cy="274320"/>
          </a:xfrm>
          <a:prstGeom prst="rect">
            <a:avLst/>
          </a:prstGeom>
          <a:noFill/>
          <a:ln/>
        </p:spPr>
        <p:txBody>
          <a:bodyPr wrap="square" lIns="0" tIns="0" rIns="0" bIns="0" rtlCol="0" anchor="ctr"/>
          <a:lstStyle/>
          <a:p>
            <a:pPr indent="0" marL="0">
              <a:buNone/>
            </a:pPr>
            <a:r>
              <a:rPr lang="en-US" sz="900" dirty="0">
                <a:solidFill>
                  <a:srgbClr val="7A90A8"/>
                </a:solidFill>
                <a:latin typeface="Consolas" pitchFamily="34" charset="0"/>
                <a:ea typeface="Consolas" pitchFamily="34" charset="-122"/>
                <a:cs typeface="Consolas" pitchFamily="34" charset="-120"/>
              </a:rPr>
              <a:t>it works correctly</a:t>
            </a:r>
            <a:endParaRPr lang="en-US" sz="900" dirty="0"/>
          </a:p>
        </p:txBody>
      </p:sp>
      <p:sp>
        <p:nvSpPr>
          <p:cNvPr id="36" name="Text 34"/>
          <p:cNvSpPr/>
          <p:nvPr/>
        </p:nvSpPr>
        <p:spPr>
          <a:xfrm>
            <a:off x="4663440" y="4754880"/>
            <a:ext cx="4160520" cy="256032"/>
          </a:xfrm>
          <a:prstGeom prst="rect">
            <a:avLst/>
          </a:prstGeom>
          <a:noFill/>
          <a:ln/>
        </p:spPr>
        <p:txBody>
          <a:bodyPr wrap="square" lIns="0" tIns="0" rIns="0" bIns="0" rtlCol="0" anchor="ctr"/>
          <a:lstStyle/>
          <a:p>
            <a:pPr indent="0" marL="0">
              <a:buNone/>
            </a:pPr>
            <a:r>
              <a:rPr lang="en-US" sz="950" i="1" dirty="0">
                <a:solidFill>
                  <a:srgbClr val="5B8DB8"/>
                </a:solidFill>
              </a:rPr>
              <a:t>A failing test with a clear name tells you immediately what behaviour broke.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TEST COVERAGE  —  THE 85% TARGET</a:t>
            </a:r>
            <a:endParaRPr lang="en-US" sz="1300" dirty="0"/>
          </a:p>
        </p:txBody>
      </p:sp>
      <p:sp>
        <p:nvSpPr>
          <p:cNvPr id="4" name="Text 2"/>
          <p:cNvSpPr/>
          <p:nvPr/>
        </p:nvSpPr>
        <p:spPr>
          <a:xfrm>
            <a:off x="365760" y="822960"/>
            <a:ext cx="8412480" cy="256032"/>
          </a:xfrm>
          <a:prstGeom prst="rect">
            <a:avLst/>
          </a:prstGeom>
          <a:noFill/>
          <a:ln/>
        </p:spPr>
        <p:txBody>
          <a:bodyPr wrap="square" lIns="0" tIns="0" rIns="0" bIns="0" rtlCol="0" anchor="ctr"/>
          <a:lstStyle/>
          <a:p>
            <a:pPr indent="0" marL="0">
              <a:buNone/>
            </a:pPr>
            <a:r>
              <a:rPr lang="en-US" sz="1100" i="1" dirty="0">
                <a:solidFill>
                  <a:srgbClr val="7A90A8"/>
                </a:solidFill>
              </a:rPr>
              <a:t>Coverage is a floor, not a quality measure. The threshold catches the absence of tests — code review enforces their quality.</a:t>
            </a:r>
            <a:endParaRPr lang="en-US" sz="1100" dirty="0"/>
          </a:p>
        </p:txBody>
      </p:sp>
      <p:sp>
        <p:nvSpPr>
          <p:cNvPr id="5" name="Shape 3"/>
          <p:cNvSpPr/>
          <p:nvPr/>
        </p:nvSpPr>
        <p:spPr>
          <a:xfrm>
            <a:off x="320040" y="1170432"/>
            <a:ext cx="2761488" cy="138988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70432"/>
            <a:ext cx="2761488" cy="384048"/>
          </a:xfrm>
          <a:prstGeom prst="rect">
            <a:avLst/>
          </a:prstGeom>
          <a:solidFill>
            <a:srgbClr val="B03040">
              <a:alpha val="85000"/>
            </a:srgbClr>
          </a:solidFill>
          <a:ln/>
        </p:spPr>
      </p:sp>
      <p:sp>
        <p:nvSpPr>
          <p:cNvPr id="7" name="Text 5"/>
          <p:cNvSpPr/>
          <p:nvPr/>
        </p:nvSpPr>
        <p:spPr>
          <a:xfrm>
            <a:off x="429768" y="1170432"/>
            <a:ext cx="804672" cy="384048"/>
          </a:xfrm>
          <a:prstGeom prst="rect">
            <a:avLst/>
          </a:prstGeom>
          <a:noFill/>
          <a:ln/>
        </p:spPr>
        <p:txBody>
          <a:bodyPr wrap="square" lIns="0" tIns="0" rIns="0" bIns="0" rtlCol="0" anchor="ctr"/>
          <a:lstStyle/>
          <a:p>
            <a:pPr indent="0" marL="0">
              <a:buNone/>
            </a:pPr>
            <a:r>
              <a:rPr lang="en-US" sz="1400" b="1" dirty="0">
                <a:solidFill>
                  <a:srgbClr val="FFFFFF"/>
                </a:solidFill>
              </a:rPr>
              <a:t>&lt; 85%</a:t>
            </a:r>
            <a:endParaRPr lang="en-US" sz="1400" dirty="0"/>
          </a:p>
        </p:txBody>
      </p:sp>
      <p:sp>
        <p:nvSpPr>
          <p:cNvPr id="8" name="Text 6"/>
          <p:cNvSpPr/>
          <p:nvPr/>
        </p:nvSpPr>
        <p:spPr>
          <a:xfrm>
            <a:off x="1307592" y="1188720"/>
            <a:ext cx="1664208" cy="347472"/>
          </a:xfrm>
          <a:prstGeom prst="rect">
            <a:avLst/>
          </a:prstGeom>
          <a:noFill/>
          <a:ln/>
        </p:spPr>
        <p:txBody>
          <a:bodyPr wrap="square" lIns="0" tIns="0" rIns="0" bIns="0" rtlCol="0" anchor="ctr"/>
          <a:lstStyle/>
          <a:p>
            <a:pPr indent="0" marL="0">
              <a:buNone/>
            </a:pPr>
            <a:r>
              <a:rPr lang="en-US" sz="900" b="1" spc="100" kern="0" dirty="0">
                <a:solidFill>
                  <a:srgbClr val="FFFFFF"/>
                </a:solidFill>
              </a:rPr>
              <a:t>DANGER ZONE</a:t>
            </a:r>
            <a:endParaRPr lang="en-US" sz="900" dirty="0"/>
          </a:p>
        </p:txBody>
      </p:sp>
      <p:sp>
        <p:nvSpPr>
          <p:cNvPr id="9" name="Text 7"/>
          <p:cNvSpPr/>
          <p:nvPr/>
        </p:nvSpPr>
        <p:spPr>
          <a:xfrm>
            <a:off x="448056" y="1609344"/>
            <a:ext cx="2542032" cy="896112"/>
          </a:xfrm>
          <a:prstGeom prst="rect">
            <a:avLst/>
          </a:prstGeom>
          <a:noFill/>
          <a:ln/>
        </p:spPr>
        <p:txBody>
          <a:bodyPr wrap="square" lIns="0" tIns="0" rIns="0" bIns="0" rtlCol="0" anchor="ctr"/>
          <a:lstStyle/>
          <a:p>
            <a:pPr indent="0" marL="0">
              <a:buNone/>
            </a:pPr>
            <a:r>
              <a:rPr lang="en-US" sz="1000" dirty="0">
                <a:solidFill>
                  <a:srgbClr val="7A90A8"/>
                </a:solidFill>
              </a:rPr>
              <a:t>Regression risk increases sharply. Changes to untested code produce silent regressions. Refactoring is dangerous. Merge blocked by CI.</a:t>
            </a:r>
            <a:endParaRPr lang="en-US" sz="1000" dirty="0"/>
          </a:p>
        </p:txBody>
      </p:sp>
      <p:sp>
        <p:nvSpPr>
          <p:cNvPr id="10" name="Shape 8"/>
          <p:cNvSpPr/>
          <p:nvPr/>
        </p:nvSpPr>
        <p:spPr>
          <a:xfrm>
            <a:off x="3227832" y="1170432"/>
            <a:ext cx="2761488" cy="138988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1" name="Shape 9"/>
          <p:cNvSpPr/>
          <p:nvPr/>
        </p:nvSpPr>
        <p:spPr>
          <a:xfrm>
            <a:off x="3227832" y="1170432"/>
            <a:ext cx="2761488" cy="384048"/>
          </a:xfrm>
          <a:prstGeom prst="rect">
            <a:avLst/>
          </a:prstGeom>
          <a:solidFill>
            <a:srgbClr val="3A7E6E">
              <a:alpha val="85000"/>
            </a:srgbClr>
          </a:solidFill>
          <a:ln/>
        </p:spPr>
      </p:sp>
      <p:sp>
        <p:nvSpPr>
          <p:cNvPr id="12" name="Text 10"/>
          <p:cNvSpPr/>
          <p:nvPr/>
        </p:nvSpPr>
        <p:spPr>
          <a:xfrm>
            <a:off x="3337560" y="1170432"/>
            <a:ext cx="804672" cy="384048"/>
          </a:xfrm>
          <a:prstGeom prst="rect">
            <a:avLst/>
          </a:prstGeom>
          <a:noFill/>
          <a:ln/>
        </p:spPr>
        <p:txBody>
          <a:bodyPr wrap="square" lIns="0" tIns="0" rIns="0" bIns="0" rtlCol="0" anchor="ctr"/>
          <a:lstStyle/>
          <a:p>
            <a:pPr indent="0" marL="0">
              <a:buNone/>
            </a:pPr>
            <a:r>
              <a:rPr lang="en-US" sz="1400" b="1" dirty="0">
                <a:solidFill>
                  <a:srgbClr val="FFFFFF"/>
                </a:solidFill>
              </a:rPr>
              <a:t>85–95%</a:t>
            </a:r>
            <a:endParaRPr lang="en-US" sz="1400" dirty="0"/>
          </a:p>
        </p:txBody>
      </p:sp>
      <p:sp>
        <p:nvSpPr>
          <p:cNvPr id="13" name="Text 11"/>
          <p:cNvSpPr/>
          <p:nvPr/>
        </p:nvSpPr>
        <p:spPr>
          <a:xfrm>
            <a:off x="4215384" y="1188720"/>
            <a:ext cx="1664208" cy="347472"/>
          </a:xfrm>
          <a:prstGeom prst="rect">
            <a:avLst/>
          </a:prstGeom>
          <a:noFill/>
          <a:ln/>
        </p:spPr>
        <p:txBody>
          <a:bodyPr wrap="square" lIns="0" tIns="0" rIns="0" bIns="0" rtlCol="0" anchor="ctr"/>
          <a:lstStyle/>
          <a:p>
            <a:pPr indent="0" marL="0">
              <a:buNone/>
            </a:pPr>
            <a:r>
              <a:rPr lang="en-US" sz="900" b="1" spc="100" kern="0" dirty="0">
                <a:solidFill>
                  <a:srgbClr val="FFFFFF"/>
                </a:solidFill>
              </a:rPr>
              <a:t>PRODUCTIVE ZONE</a:t>
            </a:r>
            <a:endParaRPr lang="en-US" sz="900" dirty="0"/>
          </a:p>
        </p:txBody>
      </p:sp>
      <p:sp>
        <p:nvSpPr>
          <p:cNvPr id="14" name="Text 12"/>
          <p:cNvSpPr/>
          <p:nvPr/>
        </p:nvSpPr>
        <p:spPr>
          <a:xfrm>
            <a:off x="3355848" y="1609344"/>
            <a:ext cx="2542032" cy="896112"/>
          </a:xfrm>
          <a:prstGeom prst="rect">
            <a:avLst/>
          </a:prstGeom>
          <a:noFill/>
          <a:ln/>
        </p:spPr>
        <p:txBody>
          <a:bodyPr wrap="square" lIns="0" tIns="0" rIns="0" bIns="0" rtlCol="0" anchor="ctr"/>
          <a:lstStyle/>
          <a:p>
            <a:pPr indent="0" marL="0">
              <a:buNone/>
            </a:pPr>
            <a:r>
              <a:rPr lang="en-US" sz="1000" dirty="0">
                <a:solidFill>
                  <a:srgbClr val="7A90A8"/>
                </a:solidFill>
              </a:rPr>
              <a:t>Effort per new tested line is manageable. Protection is substantial. Teams in this range report confident refactoring and low regression rates.</a:t>
            </a:r>
            <a:endParaRPr lang="en-US" sz="1000" dirty="0"/>
          </a:p>
        </p:txBody>
      </p:sp>
      <p:sp>
        <p:nvSpPr>
          <p:cNvPr id="15" name="Shape 13"/>
          <p:cNvSpPr/>
          <p:nvPr/>
        </p:nvSpPr>
        <p:spPr>
          <a:xfrm>
            <a:off x="6135624" y="1170432"/>
            <a:ext cx="2761488" cy="138988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6" name="Shape 14"/>
          <p:cNvSpPr/>
          <p:nvPr/>
        </p:nvSpPr>
        <p:spPr>
          <a:xfrm>
            <a:off x="6135624" y="1170432"/>
            <a:ext cx="2761488" cy="384048"/>
          </a:xfrm>
          <a:prstGeom prst="rect">
            <a:avLst/>
          </a:prstGeom>
          <a:solidFill>
            <a:srgbClr val="B87820">
              <a:alpha val="85000"/>
            </a:srgbClr>
          </a:solidFill>
          <a:ln/>
        </p:spPr>
      </p:sp>
      <p:sp>
        <p:nvSpPr>
          <p:cNvPr id="17" name="Text 15"/>
          <p:cNvSpPr/>
          <p:nvPr/>
        </p:nvSpPr>
        <p:spPr>
          <a:xfrm>
            <a:off x="6245352" y="1170432"/>
            <a:ext cx="804672" cy="384048"/>
          </a:xfrm>
          <a:prstGeom prst="rect">
            <a:avLst/>
          </a:prstGeom>
          <a:noFill/>
          <a:ln/>
        </p:spPr>
        <p:txBody>
          <a:bodyPr wrap="square" lIns="0" tIns="0" rIns="0" bIns="0" rtlCol="0" anchor="ctr"/>
          <a:lstStyle/>
          <a:p>
            <a:pPr indent="0" marL="0">
              <a:buNone/>
            </a:pPr>
            <a:r>
              <a:rPr lang="en-US" sz="1400" b="1" dirty="0">
                <a:solidFill>
                  <a:srgbClr val="FFFFFF"/>
                </a:solidFill>
              </a:rPr>
              <a:t>&gt; 95%</a:t>
            </a:r>
            <a:endParaRPr lang="en-US" sz="1400" dirty="0"/>
          </a:p>
        </p:txBody>
      </p:sp>
      <p:sp>
        <p:nvSpPr>
          <p:cNvPr id="18" name="Text 16"/>
          <p:cNvSpPr/>
          <p:nvPr/>
        </p:nvSpPr>
        <p:spPr>
          <a:xfrm>
            <a:off x="7123176" y="1188720"/>
            <a:ext cx="1664208" cy="347472"/>
          </a:xfrm>
          <a:prstGeom prst="rect">
            <a:avLst/>
          </a:prstGeom>
          <a:noFill/>
          <a:ln/>
        </p:spPr>
        <p:txBody>
          <a:bodyPr wrap="square" lIns="0" tIns="0" rIns="0" bIns="0" rtlCol="0" anchor="ctr"/>
          <a:lstStyle/>
          <a:p>
            <a:pPr indent="0" marL="0">
              <a:buNone/>
            </a:pPr>
            <a:r>
              <a:rPr lang="en-US" sz="900" b="1" spc="100" kern="0" dirty="0">
                <a:solidFill>
                  <a:srgbClr val="FFFFFF"/>
                </a:solidFill>
              </a:rPr>
              <a:t>DIMINISHING RETURNS</a:t>
            </a:r>
            <a:endParaRPr lang="en-US" sz="900" dirty="0"/>
          </a:p>
        </p:txBody>
      </p:sp>
      <p:sp>
        <p:nvSpPr>
          <p:cNvPr id="19" name="Text 17"/>
          <p:cNvSpPr/>
          <p:nvPr/>
        </p:nvSpPr>
        <p:spPr>
          <a:xfrm>
            <a:off x="6263640" y="1609344"/>
            <a:ext cx="2542032" cy="896112"/>
          </a:xfrm>
          <a:prstGeom prst="rect">
            <a:avLst/>
          </a:prstGeom>
          <a:noFill/>
          <a:ln/>
        </p:spPr>
        <p:txBody>
          <a:bodyPr wrap="square" lIns="0" tIns="0" rIns="0" bIns="0" rtlCol="0" anchor="ctr"/>
          <a:lstStyle/>
          <a:p>
            <a:pPr indent="0" marL="0">
              <a:buNone/>
            </a:pPr>
            <a:r>
              <a:rPr lang="en-US" sz="1000" dirty="0">
                <a:solidFill>
                  <a:srgbClr val="7A90A8"/>
                </a:solidFill>
              </a:rPr>
              <a:t>Marginal coverage often covers code that is genuinely difficult to test (infra error paths, third-party error handling). Tests written here are often brittle.</a:t>
            </a:r>
            <a:endParaRPr lang="en-US" sz="1000" dirty="0"/>
          </a:p>
        </p:txBody>
      </p:sp>
      <p:sp>
        <p:nvSpPr>
          <p:cNvPr id="20" name="Shape 18"/>
          <p:cNvSpPr/>
          <p:nvPr/>
        </p:nvSpPr>
        <p:spPr>
          <a:xfrm>
            <a:off x="320040" y="2697480"/>
            <a:ext cx="4343400" cy="2487168"/>
          </a:xfrm>
          <a:prstGeom prst="rect">
            <a:avLst/>
          </a:prstGeom>
          <a:solidFill>
            <a:srgbClr val="1C3557"/>
          </a:solidFill>
          <a:ln/>
          <a:effectLst>
            <a:outerShdw sx="100000" sy="100000" kx="0" ky="0" algn="bl" rotWithShape="0" blurRad="101600" dist="38100" dir="8100000">
              <a:srgbClr val="000000">
                <a:alpha val="13000"/>
              </a:srgbClr>
            </a:outerShdw>
          </a:effectLst>
        </p:spPr>
      </p:sp>
      <p:sp>
        <p:nvSpPr>
          <p:cNvPr id="21" name="Text 19"/>
          <p:cNvSpPr/>
          <p:nvPr/>
        </p:nvSpPr>
        <p:spPr>
          <a:xfrm>
            <a:off x="457200" y="2779776"/>
            <a:ext cx="4023360" cy="237744"/>
          </a:xfrm>
          <a:prstGeom prst="rect">
            <a:avLst/>
          </a:prstGeom>
          <a:noFill/>
          <a:ln/>
        </p:spPr>
        <p:txBody>
          <a:bodyPr wrap="square" lIns="0" tIns="0" rIns="0" bIns="0" rtlCol="0" anchor="ctr"/>
          <a:lstStyle/>
          <a:p>
            <a:pPr indent="0" marL="0">
              <a:buNone/>
            </a:pPr>
            <a:r>
              <a:rPr lang="en-US" sz="900" b="1" spc="100" kern="0" dirty="0">
                <a:solidFill>
                  <a:srgbClr val="5B8DB8"/>
                </a:solidFill>
              </a:rPr>
              <a:t>COVERAGE GATE IN CI  —  jest (package.json)</a:t>
            </a:r>
            <a:endParaRPr lang="en-US" sz="900" dirty="0"/>
          </a:p>
        </p:txBody>
      </p:sp>
      <p:sp>
        <p:nvSpPr>
          <p:cNvPr id="22" name="Text 20"/>
          <p:cNvSpPr/>
          <p:nvPr/>
        </p:nvSpPr>
        <p:spPr>
          <a:xfrm>
            <a:off x="457200" y="3054096"/>
            <a:ext cx="4114800" cy="2029968"/>
          </a:xfrm>
          <a:prstGeom prst="rect">
            <a:avLst/>
          </a:prstGeom>
          <a:noFill/>
          <a:ln/>
        </p:spPr>
        <p:txBody>
          <a:bodyPr wrap="square" lIns="0" tIns="0" rIns="0" bIns="0" rtlCol="0" anchor="t"/>
          <a:lstStyle/>
          <a:p>
            <a:pPr indent="0" marL="0">
              <a:buNone/>
            </a:pPr>
            <a:r>
              <a:rPr lang="en-US" sz="900" dirty="0">
                <a:solidFill>
                  <a:srgbClr val="D4E4F0"/>
                </a:solidFill>
                <a:latin typeface="Consolas" pitchFamily="34" charset="0"/>
                <a:ea typeface="Consolas" pitchFamily="34" charset="-122"/>
                <a:cs typeface="Consolas" pitchFamily="34" charset="-120"/>
              </a:rPr>
              <a:t>"jest": {</a:t>
            </a:r>
            <a:endParaRPr lang="en-US" sz="900" dirty="0"/>
          </a:p>
          <a:p>
            <a:pPr indent="0" marL="0">
              <a:buNone/>
            </a:pPr>
            <a:r>
              <a:rPr lang="en-US" sz="900" dirty="0">
                <a:solidFill>
                  <a:srgbClr val="D4E4F0"/>
                </a:solidFill>
                <a:latin typeface="Consolas" pitchFamily="34" charset="0"/>
                <a:ea typeface="Consolas" pitchFamily="34" charset="-122"/>
                <a:cs typeface="Consolas" pitchFamily="34" charset="-120"/>
              </a:rPr>
              <a:t>  "coverageThreshold": {</a:t>
            </a:r>
            <a:endParaRPr lang="en-US" sz="900" dirty="0"/>
          </a:p>
          <a:p>
            <a:pPr indent="0" marL="0">
              <a:buNone/>
            </a:pPr>
            <a:r>
              <a:rPr lang="en-US" sz="900" dirty="0">
                <a:solidFill>
                  <a:srgbClr val="D4E4F0"/>
                </a:solidFill>
                <a:latin typeface="Consolas" pitchFamily="34" charset="0"/>
                <a:ea typeface="Consolas" pitchFamily="34" charset="-122"/>
                <a:cs typeface="Consolas" pitchFamily="34" charset="-120"/>
              </a:rPr>
              <a:t>    "global": {</a:t>
            </a:r>
            <a:endParaRPr lang="en-US" sz="900" dirty="0"/>
          </a:p>
          <a:p>
            <a:pPr indent="0" marL="0">
              <a:buNone/>
            </a:pPr>
            <a:r>
              <a:rPr lang="en-US" sz="900" dirty="0">
                <a:solidFill>
                  <a:srgbClr val="D4E4F0"/>
                </a:solidFill>
                <a:latin typeface="Consolas" pitchFamily="34" charset="0"/>
                <a:ea typeface="Consolas" pitchFamily="34" charset="-122"/>
                <a:cs typeface="Consolas" pitchFamily="34" charset="-120"/>
              </a:rPr>
              <a:t>      "branches":   85,</a:t>
            </a:r>
            <a:endParaRPr lang="en-US" sz="900" dirty="0"/>
          </a:p>
          <a:p>
            <a:pPr indent="0" marL="0">
              <a:buNone/>
            </a:pPr>
            <a:r>
              <a:rPr lang="en-US" sz="900" dirty="0">
                <a:solidFill>
                  <a:srgbClr val="D4E4F0"/>
                </a:solidFill>
                <a:latin typeface="Consolas" pitchFamily="34" charset="0"/>
                <a:ea typeface="Consolas" pitchFamily="34" charset="-122"/>
                <a:cs typeface="Consolas" pitchFamily="34" charset="-120"/>
              </a:rPr>
              <a:t>      "functions":  85,</a:t>
            </a:r>
            <a:endParaRPr lang="en-US" sz="900" dirty="0"/>
          </a:p>
          <a:p>
            <a:pPr indent="0" marL="0">
              <a:buNone/>
            </a:pPr>
            <a:r>
              <a:rPr lang="en-US" sz="900" dirty="0">
                <a:solidFill>
                  <a:srgbClr val="D4E4F0"/>
                </a:solidFill>
                <a:latin typeface="Consolas" pitchFamily="34" charset="0"/>
                <a:ea typeface="Consolas" pitchFamily="34" charset="-122"/>
                <a:cs typeface="Consolas" pitchFamily="34" charset="-120"/>
              </a:rPr>
              <a:t>      "lines":      85,</a:t>
            </a:r>
            <a:endParaRPr lang="en-US" sz="900" dirty="0"/>
          </a:p>
          <a:p>
            <a:pPr indent="0" marL="0">
              <a:buNone/>
            </a:pPr>
            <a:r>
              <a:rPr lang="en-US" sz="900" dirty="0">
                <a:solidFill>
                  <a:srgbClr val="D4E4F0"/>
                </a:solidFill>
                <a:latin typeface="Consolas" pitchFamily="34" charset="0"/>
                <a:ea typeface="Consolas" pitchFamily="34" charset="-122"/>
                <a:cs typeface="Consolas" pitchFamily="34" charset="-120"/>
              </a:rPr>
              <a:t>      "statements": 85</a:t>
            </a:r>
            <a:endParaRPr lang="en-US" sz="900" dirty="0"/>
          </a:p>
          <a:p>
            <a:pPr indent="0" marL="0">
              <a:buNone/>
            </a:pPr>
            <a:r>
              <a:rPr lang="en-US" sz="900" dirty="0">
                <a:solidFill>
                  <a:srgbClr val="D4E4F0"/>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D4E4F0"/>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D4E4F0"/>
                </a:solidFill>
                <a:latin typeface="Consolas" pitchFamily="34" charset="0"/>
                <a:ea typeface="Consolas" pitchFamily="34" charset="-122"/>
                <a:cs typeface="Consolas" pitchFamily="34" charset="-120"/>
              </a:rPr>
              <a:t>  "collectCoverageFrom": [</a:t>
            </a:r>
            <a:endParaRPr lang="en-US" sz="900" dirty="0"/>
          </a:p>
          <a:p>
            <a:pPr indent="0" marL="0">
              <a:buNone/>
            </a:pPr>
            <a:r>
              <a:rPr lang="en-US" sz="900" dirty="0">
                <a:solidFill>
                  <a:srgbClr val="D4E4F0"/>
                </a:solidFill>
                <a:latin typeface="Consolas" pitchFamily="34" charset="0"/>
                <a:ea typeface="Consolas" pitchFamily="34" charset="-122"/>
                <a:cs typeface="Consolas" pitchFamily="34" charset="-120"/>
              </a:rPr>
              <a:t>    "src/**/*.{js,ts}",</a:t>
            </a:r>
            <a:endParaRPr lang="en-US" sz="900" dirty="0"/>
          </a:p>
          <a:p>
            <a:pPr indent="0" marL="0">
              <a:buNone/>
            </a:pPr>
            <a:r>
              <a:rPr lang="en-US" sz="900" dirty="0">
                <a:solidFill>
                  <a:srgbClr val="D4E4F0"/>
                </a:solidFill>
                <a:latin typeface="Consolas" pitchFamily="34" charset="0"/>
                <a:ea typeface="Consolas" pitchFamily="34" charset="-122"/>
                <a:cs typeface="Consolas" pitchFamily="34" charset="-120"/>
              </a:rPr>
              <a:t>    "!src/**/*.spec.*"</a:t>
            </a:r>
            <a:endParaRPr lang="en-US" sz="900" dirty="0"/>
          </a:p>
          <a:p>
            <a:pPr indent="0" marL="0">
              <a:buNone/>
            </a:pPr>
            <a:r>
              <a:rPr lang="en-US" sz="900" dirty="0">
                <a:solidFill>
                  <a:srgbClr val="D4E4F0"/>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D4E4F0"/>
                </a:solidFill>
                <a:latin typeface="Consolas" pitchFamily="34" charset="0"/>
                <a:ea typeface="Consolas" pitchFamily="34" charset="-122"/>
                <a:cs typeface="Consolas" pitchFamily="34" charset="-120"/>
              </a:rPr>
              <a:t>}</a:t>
            </a:r>
            <a:endParaRPr lang="en-US" sz="900" dirty="0"/>
          </a:p>
        </p:txBody>
      </p:sp>
      <p:sp>
        <p:nvSpPr>
          <p:cNvPr id="23" name="Shape 21"/>
          <p:cNvSpPr/>
          <p:nvPr/>
        </p:nvSpPr>
        <p:spPr>
          <a:xfrm>
            <a:off x="4800600" y="2697480"/>
            <a:ext cx="4023360" cy="248716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4" name="Shape 22"/>
          <p:cNvSpPr/>
          <p:nvPr/>
        </p:nvSpPr>
        <p:spPr>
          <a:xfrm>
            <a:off x="4800600" y="2697480"/>
            <a:ext cx="4023360" cy="329184"/>
          </a:xfrm>
          <a:prstGeom prst="rect">
            <a:avLst/>
          </a:prstGeom>
          <a:solidFill>
            <a:srgbClr val="3A7DC9">
              <a:alpha val="82000"/>
            </a:srgbClr>
          </a:solidFill>
          <a:ln/>
        </p:spPr>
      </p:sp>
      <p:sp>
        <p:nvSpPr>
          <p:cNvPr id="25" name="Text 23"/>
          <p:cNvSpPr/>
          <p:nvPr/>
        </p:nvSpPr>
        <p:spPr>
          <a:xfrm>
            <a:off x="4919472" y="2697480"/>
            <a:ext cx="3749040" cy="329184"/>
          </a:xfrm>
          <a:prstGeom prst="rect">
            <a:avLst/>
          </a:prstGeom>
          <a:noFill/>
          <a:ln/>
        </p:spPr>
        <p:txBody>
          <a:bodyPr wrap="square" lIns="0" tIns="0" rIns="0" bIns="0" rtlCol="0" anchor="ctr"/>
          <a:lstStyle/>
          <a:p>
            <a:pPr indent="0" marL="0">
              <a:buNone/>
            </a:pPr>
            <a:r>
              <a:rPr lang="en-US" sz="900" b="1" spc="100" kern="0" dirty="0">
                <a:solidFill>
                  <a:srgbClr val="FFFFFF"/>
                </a:solidFill>
              </a:rPr>
              <a:t>CLAUDE.md INSTRUCTION FOR COVERAGE</a:t>
            </a:r>
            <a:endParaRPr lang="en-US" sz="900" dirty="0"/>
          </a:p>
        </p:txBody>
      </p:sp>
      <p:sp>
        <p:nvSpPr>
          <p:cNvPr id="26" name="Shape 24"/>
          <p:cNvSpPr/>
          <p:nvPr/>
        </p:nvSpPr>
        <p:spPr>
          <a:xfrm>
            <a:off x="4919472" y="3218688"/>
            <a:ext cx="54864" cy="329184"/>
          </a:xfrm>
          <a:prstGeom prst="rect">
            <a:avLst/>
          </a:prstGeom>
          <a:solidFill>
            <a:srgbClr val="3A7DC9"/>
          </a:solidFill>
          <a:ln/>
        </p:spPr>
      </p:sp>
      <p:sp>
        <p:nvSpPr>
          <p:cNvPr id="27" name="Text 25"/>
          <p:cNvSpPr/>
          <p:nvPr/>
        </p:nvSpPr>
        <p:spPr>
          <a:xfrm>
            <a:off x="5065776" y="3127248"/>
            <a:ext cx="3639312" cy="457200"/>
          </a:xfrm>
          <a:prstGeom prst="rect">
            <a:avLst/>
          </a:prstGeom>
          <a:noFill/>
          <a:ln/>
        </p:spPr>
        <p:txBody>
          <a:bodyPr wrap="square" lIns="0" tIns="0" rIns="0" bIns="0" rtlCol="0" anchor="ctr"/>
          <a:lstStyle/>
          <a:p>
            <a:pPr indent="0" marL="0">
              <a:buNone/>
            </a:pPr>
            <a:r>
              <a:rPr lang="en-US" sz="1000" dirty="0">
                <a:solidFill>
                  <a:srgbClr val="1E2D3D"/>
                </a:solidFill>
              </a:rPr>
              <a:t>Never reduce test coverage below 85% in any PR.</a:t>
            </a:r>
            <a:endParaRPr lang="en-US" sz="1000" dirty="0"/>
          </a:p>
        </p:txBody>
      </p:sp>
      <p:sp>
        <p:nvSpPr>
          <p:cNvPr id="28" name="Shape 26"/>
          <p:cNvSpPr/>
          <p:nvPr/>
        </p:nvSpPr>
        <p:spPr>
          <a:xfrm>
            <a:off x="4919472" y="3730752"/>
            <a:ext cx="54864" cy="329184"/>
          </a:xfrm>
          <a:prstGeom prst="rect">
            <a:avLst/>
          </a:prstGeom>
          <a:solidFill>
            <a:srgbClr val="4A7FA8"/>
          </a:solidFill>
          <a:ln/>
        </p:spPr>
      </p:sp>
      <p:sp>
        <p:nvSpPr>
          <p:cNvPr id="29" name="Text 27"/>
          <p:cNvSpPr/>
          <p:nvPr/>
        </p:nvSpPr>
        <p:spPr>
          <a:xfrm>
            <a:off x="5065776" y="3639312"/>
            <a:ext cx="3639312" cy="457200"/>
          </a:xfrm>
          <a:prstGeom prst="rect">
            <a:avLst/>
          </a:prstGeom>
          <a:noFill/>
          <a:ln/>
        </p:spPr>
        <p:txBody>
          <a:bodyPr wrap="square" lIns="0" tIns="0" rIns="0" bIns="0" rtlCol="0" anchor="ctr"/>
          <a:lstStyle/>
          <a:p>
            <a:pPr indent="0" marL="0">
              <a:buNone/>
            </a:pPr>
            <a:r>
              <a:rPr lang="en-US" sz="1000" dirty="0">
                <a:solidFill>
                  <a:srgbClr val="1E2D3D"/>
                </a:solidFill>
              </a:rPr>
              <a:t>Add tests for every new branch you introduce — including error paths.</a:t>
            </a:r>
            <a:endParaRPr lang="en-US" sz="1000" dirty="0"/>
          </a:p>
        </p:txBody>
      </p:sp>
      <p:sp>
        <p:nvSpPr>
          <p:cNvPr id="30" name="Shape 28"/>
          <p:cNvSpPr/>
          <p:nvPr/>
        </p:nvSpPr>
        <p:spPr>
          <a:xfrm>
            <a:off x="4919472" y="4242816"/>
            <a:ext cx="54864" cy="329184"/>
          </a:xfrm>
          <a:prstGeom prst="rect">
            <a:avLst/>
          </a:prstGeom>
          <a:solidFill>
            <a:srgbClr val="3A7E6E"/>
          </a:solidFill>
          <a:ln/>
        </p:spPr>
      </p:sp>
      <p:sp>
        <p:nvSpPr>
          <p:cNvPr id="31" name="Text 29"/>
          <p:cNvSpPr/>
          <p:nvPr/>
        </p:nvSpPr>
        <p:spPr>
          <a:xfrm>
            <a:off x="5065776" y="4151376"/>
            <a:ext cx="3639312" cy="457200"/>
          </a:xfrm>
          <a:prstGeom prst="rect">
            <a:avLst/>
          </a:prstGeom>
          <a:noFill/>
          <a:ln/>
        </p:spPr>
        <p:txBody>
          <a:bodyPr wrap="square" lIns="0" tIns="0" rIns="0" bIns="0" rtlCol="0" anchor="ctr"/>
          <a:lstStyle/>
          <a:p>
            <a:pPr indent="0" marL="0">
              <a:buNone/>
            </a:pPr>
            <a:r>
              <a:rPr lang="en-US" sz="1000" dirty="0">
                <a:solidFill>
                  <a:srgbClr val="1E2D3D"/>
                </a:solidFill>
              </a:rPr>
              <a:t>When changing existing code, verify that current tests still cover the changed lines.</a:t>
            </a:r>
            <a:endParaRPr lang="en-US" sz="1000" dirty="0"/>
          </a:p>
        </p:txBody>
      </p:sp>
      <p:sp>
        <p:nvSpPr>
          <p:cNvPr id="32" name="Shape 30"/>
          <p:cNvSpPr/>
          <p:nvPr/>
        </p:nvSpPr>
        <p:spPr>
          <a:xfrm>
            <a:off x="4919472" y="4754880"/>
            <a:ext cx="54864" cy="329184"/>
          </a:xfrm>
          <a:prstGeom prst="rect">
            <a:avLst/>
          </a:prstGeom>
          <a:solidFill>
            <a:srgbClr val="B87820"/>
          </a:solidFill>
          <a:ln/>
        </p:spPr>
      </p:sp>
      <p:sp>
        <p:nvSpPr>
          <p:cNvPr id="33" name="Text 31"/>
          <p:cNvSpPr/>
          <p:nvPr/>
        </p:nvSpPr>
        <p:spPr>
          <a:xfrm>
            <a:off x="5065776" y="4663440"/>
            <a:ext cx="3639312" cy="457200"/>
          </a:xfrm>
          <a:prstGeom prst="rect">
            <a:avLst/>
          </a:prstGeom>
          <a:noFill/>
          <a:ln/>
        </p:spPr>
        <p:txBody>
          <a:bodyPr wrap="square" lIns="0" tIns="0" rIns="0" bIns="0" rtlCol="0" anchor="ctr"/>
          <a:lstStyle/>
          <a:p>
            <a:pPr indent="0" marL="0">
              <a:buNone/>
            </a:pPr>
            <a:r>
              <a:rPr lang="en-US" sz="1000" dirty="0">
                <a:solidFill>
                  <a:srgbClr val="1E2D3D"/>
                </a:solidFill>
              </a:rPr>
              <a:t>If a line is genuinely untestable, add a coverage-ignore comment and note why in the PR.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C3557"/>
        </a:solidFill>
      </p:bgPr>
    </p:bg>
    <p:spTree>
      <p:nvGrpSpPr>
        <p:cNvPr id="1" name=""/>
        <p:cNvGrpSpPr/>
        <p:nvPr/>
      </p:nvGrpSpPr>
      <p:grpSpPr>
        <a:xfrm>
          <a:off x="0" y="0"/>
          <a:ext cx="0" cy="0"/>
          <a:chOff x="0" y="0"/>
          <a:chExt cx="0" cy="0"/>
        </a:xfrm>
      </p:grpSpPr>
      <p:sp>
        <p:nvSpPr>
          <p:cNvPr id="2" name="Text 0"/>
          <p:cNvSpPr/>
          <p:nvPr/>
        </p:nvSpPr>
        <p:spPr>
          <a:xfrm>
            <a:off x="365760" y="201168"/>
            <a:ext cx="841248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THE AC-TO-TEST PIPELINE  —  SPEC TO CODE TO COVERAGE</a:t>
            </a:r>
            <a:endParaRPr lang="en-US" sz="1300" dirty="0"/>
          </a:p>
        </p:txBody>
      </p:sp>
      <p:sp>
        <p:nvSpPr>
          <p:cNvPr id="3" name="Shape 1"/>
          <p:cNvSpPr/>
          <p:nvPr/>
        </p:nvSpPr>
        <p:spPr>
          <a:xfrm>
            <a:off x="320040" y="768096"/>
            <a:ext cx="8503920" cy="713232"/>
          </a:xfrm>
          <a:prstGeom prst="rect">
            <a:avLst/>
          </a:prstGeom>
          <a:solidFill>
            <a:srgbClr val="2E5073">
              <a:alpha val="82000"/>
            </a:srgbClr>
          </a:solidFill>
          <a:ln/>
        </p:spPr>
      </p:sp>
      <p:sp>
        <p:nvSpPr>
          <p:cNvPr id="4" name="Shape 2"/>
          <p:cNvSpPr/>
          <p:nvPr/>
        </p:nvSpPr>
        <p:spPr>
          <a:xfrm>
            <a:off x="320040" y="768096"/>
            <a:ext cx="2057400" cy="713232"/>
          </a:xfrm>
          <a:prstGeom prst="rect">
            <a:avLst/>
          </a:prstGeom>
          <a:solidFill>
            <a:srgbClr val="8096B0">
              <a:alpha val="78000"/>
            </a:srgbClr>
          </a:solidFill>
          <a:ln/>
        </p:spPr>
      </p:sp>
      <p:sp>
        <p:nvSpPr>
          <p:cNvPr id="5" name="Text 3"/>
          <p:cNvSpPr/>
          <p:nvPr/>
        </p:nvSpPr>
        <p:spPr>
          <a:xfrm>
            <a:off x="457200" y="768096"/>
            <a:ext cx="1874520" cy="384048"/>
          </a:xfrm>
          <a:prstGeom prst="rect">
            <a:avLst/>
          </a:prstGeom>
          <a:noFill/>
          <a:ln/>
        </p:spPr>
        <p:txBody>
          <a:bodyPr wrap="square" lIns="0" tIns="0" rIns="0" bIns="0" rtlCol="0" anchor="b"/>
          <a:lstStyle/>
          <a:p>
            <a:pPr indent="0" marL="0">
              <a:buNone/>
            </a:pPr>
            <a:r>
              <a:rPr lang="en-US" sz="1100" b="1" dirty="0">
                <a:solidFill>
                  <a:srgbClr val="FFFFFF"/>
                </a:solidFill>
              </a:rPr>
              <a:t>PRD / Spec</a:t>
            </a:r>
            <a:endParaRPr lang="en-US" sz="1100" dirty="0"/>
          </a:p>
        </p:txBody>
      </p:sp>
      <p:sp>
        <p:nvSpPr>
          <p:cNvPr id="6" name="Text 4"/>
          <p:cNvSpPr/>
          <p:nvPr/>
        </p:nvSpPr>
        <p:spPr>
          <a:xfrm>
            <a:off x="457200" y="1170432"/>
            <a:ext cx="1874520" cy="256032"/>
          </a:xfrm>
          <a:prstGeom prst="rect">
            <a:avLst/>
          </a:prstGeom>
          <a:noFill/>
          <a:ln/>
        </p:spPr>
        <p:txBody>
          <a:bodyPr wrap="square" lIns="0" tIns="0" rIns="0" bIns="0" rtlCol="0" anchor="t"/>
          <a:lstStyle/>
          <a:p>
            <a:pPr indent="0" marL="0">
              <a:buNone/>
            </a:pPr>
            <a:r>
              <a:rPr lang="en-US" sz="900" dirty="0">
                <a:solidFill>
                  <a:srgbClr val="5B8DB8"/>
                </a:solidFill>
              </a:rPr>
              <a:t>Module 04</a:t>
            </a:r>
            <a:endParaRPr lang="en-US" sz="900" dirty="0"/>
          </a:p>
        </p:txBody>
      </p:sp>
      <p:sp>
        <p:nvSpPr>
          <p:cNvPr id="7" name="Text 5"/>
          <p:cNvSpPr/>
          <p:nvPr/>
        </p:nvSpPr>
        <p:spPr>
          <a:xfrm>
            <a:off x="2423160" y="768096"/>
            <a:ext cx="365760" cy="713232"/>
          </a:xfrm>
          <a:prstGeom prst="rect">
            <a:avLst/>
          </a:prstGeom>
          <a:noFill/>
          <a:ln/>
        </p:spPr>
        <p:txBody>
          <a:bodyPr wrap="square" lIns="0" tIns="0" rIns="0" bIns="0" rtlCol="0" anchor="ctr"/>
          <a:lstStyle/>
          <a:p>
            <a:pPr algn="ctr" indent="0" marL="0">
              <a:buNone/>
            </a:pPr>
            <a:r>
              <a:rPr lang="en-US" sz="1800" dirty="0">
                <a:solidFill>
                  <a:srgbClr val="8096B0"/>
                </a:solidFill>
              </a:rPr>
              <a:t>→</a:t>
            </a:r>
            <a:endParaRPr lang="en-US" sz="1800" dirty="0"/>
          </a:p>
        </p:txBody>
      </p:sp>
      <p:sp>
        <p:nvSpPr>
          <p:cNvPr id="8" name="Text 6"/>
          <p:cNvSpPr/>
          <p:nvPr/>
        </p:nvSpPr>
        <p:spPr>
          <a:xfrm>
            <a:off x="2834640" y="768096"/>
            <a:ext cx="5870448" cy="713232"/>
          </a:xfrm>
          <a:prstGeom prst="rect">
            <a:avLst/>
          </a:prstGeom>
          <a:noFill/>
          <a:ln/>
        </p:spPr>
        <p:txBody>
          <a:bodyPr wrap="square" lIns="0" tIns="0" rIns="0" bIns="0" rtlCol="0" anchor="ctr"/>
          <a:lstStyle/>
          <a:p>
            <a:pPr indent="0" marL="0">
              <a:buNone/>
            </a:pPr>
            <a:r>
              <a:rPr lang="en-US" sz="1050" dirty="0">
                <a:solidFill>
                  <a:srgbClr val="D4E4F0"/>
                </a:solidFill>
              </a:rPr>
              <a:t>Acceptance Criteria live here — the authoritative source of what must be tested</a:t>
            </a:r>
            <a:endParaRPr lang="en-US" sz="1050" dirty="0"/>
          </a:p>
        </p:txBody>
      </p:sp>
      <p:sp>
        <p:nvSpPr>
          <p:cNvPr id="9" name="Shape 7"/>
          <p:cNvSpPr/>
          <p:nvPr/>
        </p:nvSpPr>
        <p:spPr>
          <a:xfrm>
            <a:off x="320040" y="1591056"/>
            <a:ext cx="8503920" cy="713232"/>
          </a:xfrm>
          <a:prstGeom prst="rect">
            <a:avLst/>
          </a:prstGeom>
          <a:solidFill>
            <a:srgbClr val="2E5073">
              <a:alpha val="65000"/>
            </a:srgbClr>
          </a:solidFill>
          <a:ln/>
        </p:spPr>
      </p:sp>
      <p:sp>
        <p:nvSpPr>
          <p:cNvPr id="10" name="Shape 8"/>
          <p:cNvSpPr/>
          <p:nvPr/>
        </p:nvSpPr>
        <p:spPr>
          <a:xfrm>
            <a:off x="320040" y="1591056"/>
            <a:ext cx="2057400" cy="713232"/>
          </a:xfrm>
          <a:prstGeom prst="rect">
            <a:avLst/>
          </a:prstGeom>
          <a:solidFill>
            <a:srgbClr val="3A7DC9">
              <a:alpha val="78000"/>
            </a:srgbClr>
          </a:solidFill>
          <a:ln/>
        </p:spPr>
      </p:sp>
      <p:sp>
        <p:nvSpPr>
          <p:cNvPr id="11" name="Text 9"/>
          <p:cNvSpPr/>
          <p:nvPr/>
        </p:nvSpPr>
        <p:spPr>
          <a:xfrm>
            <a:off x="457200" y="1591056"/>
            <a:ext cx="1874520" cy="384048"/>
          </a:xfrm>
          <a:prstGeom prst="rect">
            <a:avLst/>
          </a:prstGeom>
          <a:noFill/>
          <a:ln/>
        </p:spPr>
        <p:txBody>
          <a:bodyPr wrap="square" lIns="0" tIns="0" rIns="0" bIns="0" rtlCol="0" anchor="b"/>
          <a:lstStyle/>
          <a:p>
            <a:pPr indent="0" marL="0">
              <a:buNone/>
            </a:pPr>
            <a:r>
              <a:rPr lang="en-US" sz="1100" b="1" dirty="0">
                <a:solidFill>
                  <a:srgbClr val="FFFFFF"/>
                </a:solidFill>
              </a:rPr>
              <a:t>AC Extracted</a:t>
            </a:r>
            <a:endParaRPr lang="en-US" sz="1100" dirty="0"/>
          </a:p>
        </p:txBody>
      </p:sp>
      <p:sp>
        <p:nvSpPr>
          <p:cNvPr id="12" name="Text 10"/>
          <p:cNvSpPr/>
          <p:nvPr/>
        </p:nvSpPr>
        <p:spPr>
          <a:xfrm>
            <a:off x="457200" y="1993392"/>
            <a:ext cx="1874520" cy="256032"/>
          </a:xfrm>
          <a:prstGeom prst="rect">
            <a:avLst/>
          </a:prstGeom>
          <a:noFill/>
          <a:ln/>
        </p:spPr>
        <p:txBody>
          <a:bodyPr wrap="square" lIns="0" tIns="0" rIns="0" bIns="0" rtlCol="0" anchor="t"/>
          <a:lstStyle/>
          <a:p>
            <a:pPr indent="0" marL="0">
              <a:buNone/>
            </a:pPr>
            <a:r>
              <a:rPr lang="en-US" sz="900" dirty="0">
                <a:solidFill>
                  <a:srgbClr val="5B8DB8"/>
                </a:solidFill>
              </a:rPr>
              <a:t>Human curates</a:t>
            </a:r>
            <a:endParaRPr lang="en-US" sz="900" dirty="0"/>
          </a:p>
        </p:txBody>
      </p:sp>
      <p:sp>
        <p:nvSpPr>
          <p:cNvPr id="13" name="Text 11"/>
          <p:cNvSpPr/>
          <p:nvPr/>
        </p:nvSpPr>
        <p:spPr>
          <a:xfrm>
            <a:off x="2423160" y="1591056"/>
            <a:ext cx="365760" cy="713232"/>
          </a:xfrm>
          <a:prstGeom prst="rect">
            <a:avLst/>
          </a:prstGeom>
          <a:noFill/>
          <a:ln/>
        </p:spPr>
        <p:txBody>
          <a:bodyPr wrap="square" lIns="0" tIns="0" rIns="0" bIns="0" rtlCol="0" anchor="ctr"/>
          <a:lstStyle/>
          <a:p>
            <a:pPr algn="ctr" indent="0" marL="0">
              <a:buNone/>
            </a:pPr>
            <a:r>
              <a:rPr lang="en-US" sz="1800" dirty="0">
                <a:solidFill>
                  <a:srgbClr val="3A7DC9"/>
                </a:solidFill>
              </a:rPr>
              <a:t>→</a:t>
            </a:r>
            <a:endParaRPr lang="en-US" sz="1800" dirty="0"/>
          </a:p>
        </p:txBody>
      </p:sp>
      <p:sp>
        <p:nvSpPr>
          <p:cNvPr id="14" name="Text 12"/>
          <p:cNvSpPr/>
          <p:nvPr/>
        </p:nvSpPr>
        <p:spPr>
          <a:xfrm>
            <a:off x="2834640" y="1591056"/>
            <a:ext cx="5870448" cy="713232"/>
          </a:xfrm>
          <a:prstGeom prst="rect">
            <a:avLst/>
          </a:prstGeom>
          <a:noFill/>
          <a:ln/>
        </p:spPr>
        <p:txBody>
          <a:bodyPr wrap="square" lIns="0" tIns="0" rIns="0" bIns="0" rtlCol="0" anchor="ctr"/>
          <a:lstStyle/>
          <a:p>
            <a:pPr indent="0" marL="0">
              <a:buNone/>
            </a:pPr>
            <a:r>
              <a:rPr lang="en-US" sz="1050" dirty="0">
                <a:solidFill>
                  <a:srgbClr val="D4E4F0"/>
                </a:solidFill>
              </a:rPr>
              <a:t>Human ensures AC is specific, measurable, unambiguous, and bounded — testable AC</a:t>
            </a:r>
            <a:endParaRPr lang="en-US" sz="1050" dirty="0"/>
          </a:p>
        </p:txBody>
      </p:sp>
      <p:sp>
        <p:nvSpPr>
          <p:cNvPr id="15" name="Shape 13"/>
          <p:cNvSpPr/>
          <p:nvPr/>
        </p:nvSpPr>
        <p:spPr>
          <a:xfrm>
            <a:off x="320040" y="2414016"/>
            <a:ext cx="8503920" cy="713232"/>
          </a:xfrm>
          <a:prstGeom prst="rect">
            <a:avLst/>
          </a:prstGeom>
          <a:solidFill>
            <a:srgbClr val="2E5073">
              <a:alpha val="82000"/>
            </a:srgbClr>
          </a:solidFill>
          <a:ln/>
        </p:spPr>
      </p:sp>
      <p:sp>
        <p:nvSpPr>
          <p:cNvPr id="16" name="Shape 14"/>
          <p:cNvSpPr/>
          <p:nvPr/>
        </p:nvSpPr>
        <p:spPr>
          <a:xfrm>
            <a:off x="320040" y="2414016"/>
            <a:ext cx="2057400" cy="713232"/>
          </a:xfrm>
          <a:prstGeom prst="rect">
            <a:avLst/>
          </a:prstGeom>
          <a:solidFill>
            <a:srgbClr val="4A7FA8">
              <a:alpha val="78000"/>
            </a:srgbClr>
          </a:solidFill>
          <a:ln/>
        </p:spPr>
      </p:sp>
      <p:sp>
        <p:nvSpPr>
          <p:cNvPr id="17" name="Text 15"/>
          <p:cNvSpPr/>
          <p:nvPr/>
        </p:nvSpPr>
        <p:spPr>
          <a:xfrm>
            <a:off x="457200" y="2414016"/>
            <a:ext cx="1874520" cy="384048"/>
          </a:xfrm>
          <a:prstGeom prst="rect">
            <a:avLst/>
          </a:prstGeom>
          <a:noFill/>
          <a:ln/>
        </p:spPr>
        <p:txBody>
          <a:bodyPr wrap="square" lIns="0" tIns="0" rIns="0" bIns="0" rtlCol="0" anchor="b"/>
          <a:lstStyle/>
          <a:p>
            <a:pPr indent="0" marL="0">
              <a:buNone/>
            </a:pPr>
            <a:r>
              <a:rPr lang="en-US" sz="1100" b="1" dirty="0">
                <a:solidFill>
                  <a:srgbClr val="FFFFFF"/>
                </a:solidFill>
              </a:rPr>
              <a:t>Tests Generated</a:t>
            </a:r>
            <a:endParaRPr lang="en-US" sz="1100" dirty="0"/>
          </a:p>
        </p:txBody>
      </p:sp>
      <p:sp>
        <p:nvSpPr>
          <p:cNvPr id="18" name="Text 16"/>
          <p:cNvSpPr/>
          <p:nvPr/>
        </p:nvSpPr>
        <p:spPr>
          <a:xfrm>
            <a:off x="457200" y="2816352"/>
            <a:ext cx="1874520" cy="256032"/>
          </a:xfrm>
          <a:prstGeom prst="rect">
            <a:avLst/>
          </a:prstGeom>
          <a:noFill/>
          <a:ln/>
        </p:spPr>
        <p:txBody>
          <a:bodyPr wrap="square" lIns="0" tIns="0" rIns="0" bIns="0" rtlCol="0" anchor="t"/>
          <a:lstStyle/>
          <a:p>
            <a:pPr indent="0" marL="0">
              <a:buNone/>
            </a:pPr>
            <a:r>
              <a:rPr lang="en-US" sz="900" dirty="0">
                <a:solidFill>
                  <a:srgbClr val="5B8DB8"/>
                </a:solidFill>
              </a:rPr>
              <a:t>Agent writes</a:t>
            </a:r>
            <a:endParaRPr lang="en-US" sz="900" dirty="0"/>
          </a:p>
        </p:txBody>
      </p:sp>
      <p:sp>
        <p:nvSpPr>
          <p:cNvPr id="19" name="Text 17"/>
          <p:cNvSpPr/>
          <p:nvPr/>
        </p:nvSpPr>
        <p:spPr>
          <a:xfrm>
            <a:off x="2423160" y="2414016"/>
            <a:ext cx="365760" cy="713232"/>
          </a:xfrm>
          <a:prstGeom prst="rect">
            <a:avLst/>
          </a:prstGeom>
          <a:noFill/>
          <a:ln/>
        </p:spPr>
        <p:txBody>
          <a:bodyPr wrap="square" lIns="0" tIns="0" rIns="0" bIns="0" rtlCol="0" anchor="ctr"/>
          <a:lstStyle/>
          <a:p>
            <a:pPr algn="ctr" indent="0" marL="0">
              <a:buNone/>
            </a:pPr>
            <a:r>
              <a:rPr lang="en-US" sz="1800" dirty="0">
                <a:solidFill>
                  <a:srgbClr val="4A7FA8"/>
                </a:solidFill>
              </a:rPr>
              <a:t>→</a:t>
            </a:r>
            <a:endParaRPr lang="en-US" sz="1800" dirty="0"/>
          </a:p>
        </p:txBody>
      </p:sp>
      <p:sp>
        <p:nvSpPr>
          <p:cNvPr id="20" name="Text 18"/>
          <p:cNvSpPr/>
          <p:nvPr/>
        </p:nvSpPr>
        <p:spPr>
          <a:xfrm>
            <a:off x="2834640" y="2414016"/>
            <a:ext cx="5870448" cy="713232"/>
          </a:xfrm>
          <a:prstGeom prst="rect">
            <a:avLst/>
          </a:prstGeom>
          <a:noFill/>
          <a:ln/>
        </p:spPr>
        <p:txBody>
          <a:bodyPr wrap="square" lIns="0" tIns="0" rIns="0" bIns="0" rtlCol="0" anchor="ctr"/>
          <a:lstStyle/>
          <a:p>
            <a:pPr indent="0" marL="0">
              <a:buNone/>
            </a:pPr>
            <a:r>
              <a:rPr lang="en-US" sz="1050" dirty="0">
                <a:solidFill>
                  <a:srgbClr val="D4E4F0"/>
                </a:solidFill>
              </a:rPr>
              <a:t>Agent produces test files: one test per AC statement, covering happy path, errors, and edges</a:t>
            </a:r>
            <a:endParaRPr lang="en-US" sz="1050" dirty="0"/>
          </a:p>
        </p:txBody>
      </p:sp>
      <p:sp>
        <p:nvSpPr>
          <p:cNvPr id="21" name="Shape 19"/>
          <p:cNvSpPr/>
          <p:nvPr/>
        </p:nvSpPr>
        <p:spPr>
          <a:xfrm>
            <a:off x="320040" y="3236976"/>
            <a:ext cx="8503920" cy="713232"/>
          </a:xfrm>
          <a:prstGeom prst="rect">
            <a:avLst/>
          </a:prstGeom>
          <a:solidFill>
            <a:srgbClr val="2E5073">
              <a:alpha val="65000"/>
            </a:srgbClr>
          </a:solidFill>
          <a:ln/>
        </p:spPr>
      </p:sp>
      <p:sp>
        <p:nvSpPr>
          <p:cNvPr id="22" name="Shape 20"/>
          <p:cNvSpPr/>
          <p:nvPr/>
        </p:nvSpPr>
        <p:spPr>
          <a:xfrm>
            <a:off x="320040" y="3236976"/>
            <a:ext cx="2057400" cy="713232"/>
          </a:xfrm>
          <a:prstGeom prst="rect">
            <a:avLst/>
          </a:prstGeom>
          <a:solidFill>
            <a:srgbClr val="3A7E6E">
              <a:alpha val="78000"/>
            </a:srgbClr>
          </a:solidFill>
          <a:ln/>
        </p:spPr>
      </p:sp>
      <p:sp>
        <p:nvSpPr>
          <p:cNvPr id="23" name="Text 21"/>
          <p:cNvSpPr/>
          <p:nvPr/>
        </p:nvSpPr>
        <p:spPr>
          <a:xfrm>
            <a:off x="457200" y="3236976"/>
            <a:ext cx="1874520" cy="384048"/>
          </a:xfrm>
          <a:prstGeom prst="rect">
            <a:avLst/>
          </a:prstGeom>
          <a:noFill/>
          <a:ln/>
        </p:spPr>
        <p:txBody>
          <a:bodyPr wrap="square" lIns="0" tIns="0" rIns="0" bIns="0" rtlCol="0" anchor="b"/>
          <a:lstStyle/>
          <a:p>
            <a:pPr indent="0" marL="0">
              <a:buNone/>
            </a:pPr>
            <a:r>
              <a:rPr lang="en-US" sz="1100" b="1" dirty="0">
                <a:solidFill>
                  <a:srgbClr val="FFFFFF"/>
                </a:solidFill>
              </a:rPr>
              <a:t>Code Implemented</a:t>
            </a:r>
            <a:endParaRPr lang="en-US" sz="1100" dirty="0"/>
          </a:p>
        </p:txBody>
      </p:sp>
      <p:sp>
        <p:nvSpPr>
          <p:cNvPr id="24" name="Text 22"/>
          <p:cNvSpPr/>
          <p:nvPr/>
        </p:nvSpPr>
        <p:spPr>
          <a:xfrm>
            <a:off x="457200" y="3639312"/>
            <a:ext cx="1874520" cy="256032"/>
          </a:xfrm>
          <a:prstGeom prst="rect">
            <a:avLst/>
          </a:prstGeom>
          <a:noFill/>
          <a:ln/>
        </p:spPr>
        <p:txBody>
          <a:bodyPr wrap="square" lIns="0" tIns="0" rIns="0" bIns="0" rtlCol="0" anchor="t"/>
          <a:lstStyle/>
          <a:p>
            <a:pPr indent="0" marL="0">
              <a:buNone/>
            </a:pPr>
            <a:r>
              <a:rPr lang="en-US" sz="900" dirty="0">
                <a:solidFill>
                  <a:srgbClr val="5B8DB8"/>
                </a:solidFill>
              </a:rPr>
              <a:t>Agent (TDD)</a:t>
            </a:r>
            <a:endParaRPr lang="en-US" sz="900" dirty="0"/>
          </a:p>
        </p:txBody>
      </p:sp>
      <p:sp>
        <p:nvSpPr>
          <p:cNvPr id="25" name="Text 23"/>
          <p:cNvSpPr/>
          <p:nvPr/>
        </p:nvSpPr>
        <p:spPr>
          <a:xfrm>
            <a:off x="2423160" y="3236976"/>
            <a:ext cx="365760" cy="713232"/>
          </a:xfrm>
          <a:prstGeom prst="rect">
            <a:avLst/>
          </a:prstGeom>
          <a:noFill/>
          <a:ln/>
        </p:spPr>
        <p:txBody>
          <a:bodyPr wrap="square" lIns="0" tIns="0" rIns="0" bIns="0" rtlCol="0" anchor="ctr"/>
          <a:lstStyle/>
          <a:p>
            <a:pPr algn="ctr" indent="0" marL="0">
              <a:buNone/>
            </a:pPr>
            <a:r>
              <a:rPr lang="en-US" sz="1800" dirty="0">
                <a:solidFill>
                  <a:srgbClr val="3A7E6E"/>
                </a:solidFill>
              </a:rPr>
              <a:t>→</a:t>
            </a:r>
            <a:endParaRPr lang="en-US" sz="1800" dirty="0"/>
          </a:p>
        </p:txBody>
      </p:sp>
      <p:sp>
        <p:nvSpPr>
          <p:cNvPr id="26" name="Text 24"/>
          <p:cNvSpPr/>
          <p:nvPr/>
        </p:nvSpPr>
        <p:spPr>
          <a:xfrm>
            <a:off x="2834640" y="3236976"/>
            <a:ext cx="5870448" cy="713232"/>
          </a:xfrm>
          <a:prstGeom prst="rect">
            <a:avLst/>
          </a:prstGeom>
          <a:noFill/>
          <a:ln/>
        </p:spPr>
        <p:txBody>
          <a:bodyPr wrap="square" lIns="0" tIns="0" rIns="0" bIns="0" rtlCol="0" anchor="ctr"/>
          <a:lstStyle/>
          <a:p>
            <a:pPr indent="0" marL="0">
              <a:buNone/>
            </a:pPr>
            <a:r>
              <a:rPr lang="en-US" sz="1050" dirty="0">
                <a:solidFill>
                  <a:srgbClr val="D4E4F0"/>
                </a:solidFill>
              </a:rPr>
              <a:t>Agent writes minimum code to pass tests (Green step). No new code without a passing test.</a:t>
            </a:r>
            <a:endParaRPr lang="en-US" sz="1050" dirty="0"/>
          </a:p>
        </p:txBody>
      </p:sp>
      <p:sp>
        <p:nvSpPr>
          <p:cNvPr id="27" name="Shape 25"/>
          <p:cNvSpPr/>
          <p:nvPr/>
        </p:nvSpPr>
        <p:spPr>
          <a:xfrm>
            <a:off x="320040" y="4059936"/>
            <a:ext cx="8503920" cy="713232"/>
          </a:xfrm>
          <a:prstGeom prst="rect">
            <a:avLst/>
          </a:prstGeom>
          <a:solidFill>
            <a:srgbClr val="2E5073">
              <a:alpha val="82000"/>
            </a:srgbClr>
          </a:solidFill>
          <a:ln/>
        </p:spPr>
      </p:sp>
      <p:sp>
        <p:nvSpPr>
          <p:cNvPr id="28" name="Shape 26"/>
          <p:cNvSpPr/>
          <p:nvPr/>
        </p:nvSpPr>
        <p:spPr>
          <a:xfrm>
            <a:off x="320040" y="4059936"/>
            <a:ext cx="2057400" cy="713232"/>
          </a:xfrm>
          <a:prstGeom prst="rect">
            <a:avLst/>
          </a:prstGeom>
          <a:solidFill>
            <a:srgbClr val="B87820">
              <a:alpha val="78000"/>
            </a:srgbClr>
          </a:solidFill>
          <a:ln/>
        </p:spPr>
      </p:sp>
      <p:sp>
        <p:nvSpPr>
          <p:cNvPr id="29" name="Text 27"/>
          <p:cNvSpPr/>
          <p:nvPr/>
        </p:nvSpPr>
        <p:spPr>
          <a:xfrm>
            <a:off x="457200" y="4059936"/>
            <a:ext cx="1874520" cy="384048"/>
          </a:xfrm>
          <a:prstGeom prst="rect">
            <a:avLst/>
          </a:prstGeom>
          <a:noFill/>
          <a:ln/>
        </p:spPr>
        <p:txBody>
          <a:bodyPr wrap="square" lIns="0" tIns="0" rIns="0" bIns="0" rtlCol="0" anchor="b"/>
          <a:lstStyle/>
          <a:p>
            <a:pPr indent="0" marL="0">
              <a:buNone/>
            </a:pPr>
            <a:r>
              <a:rPr lang="en-US" sz="1100" b="1" dirty="0">
                <a:solidFill>
                  <a:srgbClr val="FFFFFF"/>
                </a:solidFill>
              </a:rPr>
              <a:t>CI Gate</a:t>
            </a:r>
            <a:endParaRPr lang="en-US" sz="1100" dirty="0"/>
          </a:p>
        </p:txBody>
      </p:sp>
      <p:sp>
        <p:nvSpPr>
          <p:cNvPr id="30" name="Text 28"/>
          <p:cNvSpPr/>
          <p:nvPr/>
        </p:nvSpPr>
        <p:spPr>
          <a:xfrm>
            <a:off x="457200" y="4462272"/>
            <a:ext cx="1874520" cy="256032"/>
          </a:xfrm>
          <a:prstGeom prst="rect">
            <a:avLst/>
          </a:prstGeom>
          <a:noFill/>
          <a:ln/>
        </p:spPr>
        <p:txBody>
          <a:bodyPr wrap="square" lIns="0" tIns="0" rIns="0" bIns="0" rtlCol="0" anchor="t"/>
          <a:lstStyle/>
          <a:p>
            <a:pPr indent="0" marL="0">
              <a:buNone/>
            </a:pPr>
            <a:r>
              <a:rPr lang="en-US" sz="900" dirty="0">
                <a:solidFill>
                  <a:srgbClr val="5B8DB8"/>
                </a:solidFill>
              </a:rPr>
              <a:t>Automated</a:t>
            </a:r>
            <a:endParaRPr lang="en-US" sz="900" dirty="0"/>
          </a:p>
        </p:txBody>
      </p:sp>
      <p:sp>
        <p:nvSpPr>
          <p:cNvPr id="31" name="Text 29"/>
          <p:cNvSpPr/>
          <p:nvPr/>
        </p:nvSpPr>
        <p:spPr>
          <a:xfrm>
            <a:off x="2423160" y="4059936"/>
            <a:ext cx="365760" cy="713232"/>
          </a:xfrm>
          <a:prstGeom prst="rect">
            <a:avLst/>
          </a:prstGeom>
          <a:noFill/>
          <a:ln/>
        </p:spPr>
        <p:txBody>
          <a:bodyPr wrap="square" lIns="0" tIns="0" rIns="0" bIns="0" rtlCol="0" anchor="ctr"/>
          <a:lstStyle/>
          <a:p>
            <a:pPr algn="ctr" indent="0" marL="0">
              <a:buNone/>
            </a:pPr>
            <a:r>
              <a:rPr lang="en-US" sz="1800" dirty="0">
                <a:solidFill>
                  <a:srgbClr val="B87820"/>
                </a:solidFill>
              </a:rPr>
              <a:t>→</a:t>
            </a:r>
            <a:endParaRPr lang="en-US" sz="1800" dirty="0"/>
          </a:p>
        </p:txBody>
      </p:sp>
      <p:sp>
        <p:nvSpPr>
          <p:cNvPr id="32" name="Text 30"/>
          <p:cNvSpPr/>
          <p:nvPr/>
        </p:nvSpPr>
        <p:spPr>
          <a:xfrm>
            <a:off x="2834640" y="4059936"/>
            <a:ext cx="5870448" cy="713232"/>
          </a:xfrm>
          <a:prstGeom prst="rect">
            <a:avLst/>
          </a:prstGeom>
          <a:noFill/>
          <a:ln/>
        </p:spPr>
        <p:txBody>
          <a:bodyPr wrap="square" lIns="0" tIns="0" rIns="0" bIns="0" rtlCol="0" anchor="ctr"/>
          <a:lstStyle/>
          <a:p>
            <a:pPr indent="0" marL="0">
              <a:buNone/>
            </a:pPr>
            <a:r>
              <a:rPr lang="en-US" sz="1050" dirty="0">
                <a:solidFill>
                  <a:srgbClr val="D4E4F0"/>
                </a:solidFill>
              </a:rPr>
              <a:t>Tests run + coverage threshold enforced. PR blocked if below 85% or any test fails.</a:t>
            </a:r>
            <a:endParaRPr lang="en-US" sz="1050" dirty="0"/>
          </a:p>
        </p:txBody>
      </p:sp>
      <p:sp>
        <p:nvSpPr>
          <p:cNvPr id="33" name="Shape 31"/>
          <p:cNvSpPr/>
          <p:nvPr/>
        </p:nvSpPr>
        <p:spPr>
          <a:xfrm>
            <a:off x="320040" y="4773168"/>
            <a:ext cx="8503920" cy="256032"/>
          </a:xfrm>
          <a:prstGeom prst="rect">
            <a:avLst/>
          </a:prstGeom>
          <a:solidFill>
            <a:srgbClr val="3A7DC9">
              <a:alpha val="30000"/>
            </a:srgbClr>
          </a:solidFill>
          <a:ln/>
        </p:spPr>
      </p:sp>
      <p:sp>
        <p:nvSpPr>
          <p:cNvPr id="34" name="Text 32"/>
          <p:cNvSpPr/>
          <p:nvPr/>
        </p:nvSpPr>
        <p:spPr>
          <a:xfrm>
            <a:off x="320040" y="4773168"/>
            <a:ext cx="8503920" cy="256032"/>
          </a:xfrm>
          <a:prstGeom prst="rect">
            <a:avLst/>
          </a:prstGeom>
          <a:noFill/>
          <a:ln/>
        </p:spPr>
        <p:txBody>
          <a:bodyPr wrap="square" lIns="0" tIns="0" rIns="0" bIns="0" rtlCol="0" anchor="ctr"/>
          <a:lstStyle/>
          <a:p>
            <a:pPr algn="ctr" indent="0" marL="0">
              <a:buNone/>
            </a:pPr>
            <a:r>
              <a:rPr lang="en-US" sz="1000" i="1" dirty="0">
                <a:solidFill>
                  <a:srgbClr val="FFFFFF"/>
                </a:solidFill>
              </a:rPr>
              <a:t>What makes AC testable:  specific  ·  measurable  ·  unambiguous  ·  bounded  —  vague AC produces wrong tests at machine speed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INTEGRATION &amp; FUNCTIONAL TESTING  —  COMPONENTS WORKING TOGETHER</a:t>
            </a:r>
            <a:endParaRPr lang="en-US" sz="1300" dirty="0"/>
          </a:p>
        </p:txBody>
      </p:sp>
      <p:sp>
        <p:nvSpPr>
          <p:cNvPr id="4" name="Shape 2"/>
          <p:cNvSpPr/>
          <p:nvPr/>
        </p:nvSpPr>
        <p:spPr>
          <a:xfrm>
            <a:off x="320040" y="877824"/>
            <a:ext cx="4160520" cy="402336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877824"/>
            <a:ext cx="4160520" cy="384048"/>
          </a:xfrm>
          <a:prstGeom prst="rect">
            <a:avLst/>
          </a:prstGeom>
          <a:solidFill>
            <a:srgbClr val="4A7FA8">
              <a:alpha val="80000"/>
            </a:srgbClr>
          </a:solidFill>
          <a:ln/>
        </p:spPr>
      </p:sp>
      <p:sp>
        <p:nvSpPr>
          <p:cNvPr id="6" name="Text 4"/>
          <p:cNvSpPr/>
          <p:nvPr/>
        </p:nvSpPr>
        <p:spPr>
          <a:xfrm>
            <a:off x="457200" y="877824"/>
            <a:ext cx="3840480" cy="384048"/>
          </a:xfrm>
          <a:prstGeom prst="rect">
            <a:avLst/>
          </a:prstGeom>
          <a:noFill/>
          <a:ln/>
        </p:spPr>
        <p:txBody>
          <a:bodyPr wrap="square" lIns="0" tIns="0" rIns="0" bIns="0" rtlCol="0" anchor="ctr"/>
          <a:lstStyle/>
          <a:p>
            <a:pPr indent="0" marL="0">
              <a:buNone/>
            </a:pPr>
            <a:r>
              <a:rPr lang="en-US" sz="1100" b="1" spc="200" kern="0" dirty="0">
                <a:solidFill>
                  <a:srgbClr val="FFFFFF"/>
                </a:solidFill>
              </a:rPr>
              <a:t>INTEGRATION TESTS</a:t>
            </a:r>
            <a:endParaRPr lang="en-US" sz="1100" dirty="0"/>
          </a:p>
        </p:txBody>
      </p:sp>
      <p:sp>
        <p:nvSpPr>
          <p:cNvPr id="7" name="Shape 5"/>
          <p:cNvSpPr/>
          <p:nvPr/>
        </p:nvSpPr>
        <p:spPr>
          <a:xfrm>
            <a:off x="457200" y="1408176"/>
            <a:ext cx="54864" cy="530352"/>
          </a:xfrm>
          <a:prstGeom prst="rect">
            <a:avLst/>
          </a:prstGeom>
          <a:solidFill>
            <a:srgbClr val="4A7FA8"/>
          </a:solidFill>
          <a:ln/>
        </p:spPr>
      </p:sp>
      <p:sp>
        <p:nvSpPr>
          <p:cNvPr id="8" name="Text 6"/>
          <p:cNvSpPr/>
          <p:nvPr/>
        </p:nvSpPr>
        <p:spPr>
          <a:xfrm>
            <a:off x="621792" y="1353312"/>
            <a:ext cx="3730752" cy="256032"/>
          </a:xfrm>
          <a:prstGeom prst="rect">
            <a:avLst/>
          </a:prstGeom>
          <a:noFill/>
          <a:ln/>
        </p:spPr>
        <p:txBody>
          <a:bodyPr wrap="square" lIns="0" tIns="0" rIns="0" bIns="0" rtlCol="0" anchor="ctr"/>
          <a:lstStyle/>
          <a:p>
            <a:pPr indent="0" marL="0">
              <a:buNone/>
            </a:pPr>
            <a:r>
              <a:rPr lang="en-US" sz="1100" b="1" dirty="0">
                <a:solidFill>
                  <a:srgbClr val="1C3557"/>
                </a:solidFill>
              </a:rPr>
              <a:t>What they verify</a:t>
            </a:r>
            <a:endParaRPr lang="en-US" sz="1100" dirty="0"/>
          </a:p>
        </p:txBody>
      </p:sp>
      <p:sp>
        <p:nvSpPr>
          <p:cNvPr id="9" name="Text 7"/>
          <p:cNvSpPr/>
          <p:nvPr/>
        </p:nvSpPr>
        <p:spPr>
          <a:xfrm>
            <a:off x="621792" y="1627632"/>
            <a:ext cx="3730752" cy="457200"/>
          </a:xfrm>
          <a:prstGeom prst="rect">
            <a:avLst/>
          </a:prstGeom>
          <a:noFill/>
          <a:ln/>
        </p:spPr>
        <p:txBody>
          <a:bodyPr wrap="square" lIns="0" tIns="0" rIns="0" bIns="0" rtlCol="0" anchor="ctr"/>
          <a:lstStyle/>
          <a:p>
            <a:pPr indent="0" marL="0">
              <a:buNone/>
            </a:pPr>
            <a:r>
              <a:rPr lang="en-US" sz="950" dirty="0">
                <a:solidFill>
                  <a:srgbClr val="7A90A8"/>
                </a:solidFill>
              </a:rPr>
              <a:t>Components working together: service + database, service + external API, two services communicating over a message bus.</a:t>
            </a:r>
            <a:endParaRPr lang="en-US" sz="950" dirty="0"/>
          </a:p>
        </p:txBody>
      </p:sp>
      <p:sp>
        <p:nvSpPr>
          <p:cNvPr id="10" name="Shape 8"/>
          <p:cNvSpPr/>
          <p:nvPr/>
        </p:nvSpPr>
        <p:spPr>
          <a:xfrm>
            <a:off x="457200" y="2157984"/>
            <a:ext cx="54864" cy="530352"/>
          </a:xfrm>
          <a:prstGeom prst="rect">
            <a:avLst/>
          </a:prstGeom>
          <a:solidFill>
            <a:srgbClr val="4A7FA8"/>
          </a:solidFill>
          <a:ln/>
        </p:spPr>
      </p:sp>
      <p:sp>
        <p:nvSpPr>
          <p:cNvPr id="11" name="Text 9"/>
          <p:cNvSpPr/>
          <p:nvPr/>
        </p:nvSpPr>
        <p:spPr>
          <a:xfrm>
            <a:off x="621792" y="2103120"/>
            <a:ext cx="3730752" cy="256032"/>
          </a:xfrm>
          <a:prstGeom prst="rect">
            <a:avLst/>
          </a:prstGeom>
          <a:noFill/>
          <a:ln/>
        </p:spPr>
        <p:txBody>
          <a:bodyPr wrap="square" lIns="0" tIns="0" rIns="0" bIns="0" rtlCol="0" anchor="ctr"/>
          <a:lstStyle/>
          <a:p>
            <a:pPr indent="0" marL="0">
              <a:buNone/>
            </a:pPr>
            <a:r>
              <a:rPr lang="en-US" sz="1100" b="1" dirty="0">
                <a:solidFill>
                  <a:srgbClr val="1C3557"/>
                </a:solidFill>
              </a:rPr>
              <a:t>How they differ</a:t>
            </a:r>
            <a:endParaRPr lang="en-US" sz="1100" dirty="0"/>
          </a:p>
        </p:txBody>
      </p:sp>
      <p:sp>
        <p:nvSpPr>
          <p:cNvPr id="12" name="Text 10"/>
          <p:cNvSpPr/>
          <p:nvPr/>
        </p:nvSpPr>
        <p:spPr>
          <a:xfrm>
            <a:off x="621792" y="2377440"/>
            <a:ext cx="3730752" cy="457200"/>
          </a:xfrm>
          <a:prstGeom prst="rect">
            <a:avLst/>
          </a:prstGeom>
          <a:noFill/>
          <a:ln/>
        </p:spPr>
        <p:txBody>
          <a:bodyPr wrap="square" lIns="0" tIns="0" rIns="0" bIns="0" rtlCol="0" anchor="ctr"/>
          <a:lstStyle/>
          <a:p>
            <a:pPr indent="0" marL="0">
              <a:buNone/>
            </a:pPr>
            <a:r>
              <a:rPr lang="en-US" sz="950" dirty="0">
                <a:solidFill>
                  <a:srgbClr val="7A90A8"/>
                </a:solidFill>
              </a:rPr>
              <a:t>Where unit tests mock all dependencies, integration tests use real instances (or close approximations). They verify the interfaces, not the logic.</a:t>
            </a:r>
            <a:endParaRPr lang="en-US" sz="950" dirty="0"/>
          </a:p>
        </p:txBody>
      </p:sp>
      <p:sp>
        <p:nvSpPr>
          <p:cNvPr id="13" name="Shape 11"/>
          <p:cNvSpPr/>
          <p:nvPr/>
        </p:nvSpPr>
        <p:spPr>
          <a:xfrm>
            <a:off x="457200" y="2907792"/>
            <a:ext cx="54864" cy="530352"/>
          </a:xfrm>
          <a:prstGeom prst="rect">
            <a:avLst/>
          </a:prstGeom>
          <a:solidFill>
            <a:srgbClr val="4A7FA8"/>
          </a:solidFill>
          <a:ln/>
        </p:spPr>
      </p:sp>
      <p:sp>
        <p:nvSpPr>
          <p:cNvPr id="14" name="Text 12"/>
          <p:cNvSpPr/>
          <p:nvPr/>
        </p:nvSpPr>
        <p:spPr>
          <a:xfrm>
            <a:off x="621792" y="2852928"/>
            <a:ext cx="3730752" cy="256032"/>
          </a:xfrm>
          <a:prstGeom prst="rect">
            <a:avLst/>
          </a:prstGeom>
          <a:noFill/>
          <a:ln/>
        </p:spPr>
        <p:txBody>
          <a:bodyPr wrap="square" lIns="0" tIns="0" rIns="0" bIns="0" rtlCol="0" anchor="ctr"/>
          <a:lstStyle/>
          <a:p>
            <a:pPr indent="0" marL="0">
              <a:buNone/>
            </a:pPr>
            <a:r>
              <a:rPr lang="en-US" sz="1100" b="1" dirty="0">
                <a:solidFill>
                  <a:srgbClr val="1C3557"/>
                </a:solidFill>
              </a:rPr>
              <a:t>When to write</a:t>
            </a:r>
            <a:endParaRPr lang="en-US" sz="1100" dirty="0"/>
          </a:p>
        </p:txBody>
      </p:sp>
      <p:sp>
        <p:nvSpPr>
          <p:cNvPr id="15" name="Text 13"/>
          <p:cNvSpPr/>
          <p:nvPr/>
        </p:nvSpPr>
        <p:spPr>
          <a:xfrm>
            <a:off x="621792" y="3127248"/>
            <a:ext cx="3730752" cy="457200"/>
          </a:xfrm>
          <a:prstGeom prst="rect">
            <a:avLst/>
          </a:prstGeom>
          <a:noFill/>
          <a:ln/>
        </p:spPr>
        <p:txBody>
          <a:bodyPr wrap="square" lIns="0" tIns="0" rIns="0" bIns="0" rtlCol="0" anchor="ctr"/>
          <a:lstStyle/>
          <a:p>
            <a:pPr indent="0" marL="0">
              <a:buNone/>
            </a:pPr>
            <a:r>
              <a:rPr lang="en-US" sz="950" dirty="0">
                <a:solidFill>
                  <a:srgbClr val="7A90A8"/>
                </a:solidFill>
              </a:rPr>
              <a:t>For every interface between components — data access layer, API client, event consumer. Not for business logic (that is unit tests).</a:t>
            </a:r>
            <a:endParaRPr lang="en-US" sz="950" dirty="0"/>
          </a:p>
        </p:txBody>
      </p:sp>
      <p:sp>
        <p:nvSpPr>
          <p:cNvPr id="16" name="Shape 14"/>
          <p:cNvSpPr/>
          <p:nvPr/>
        </p:nvSpPr>
        <p:spPr>
          <a:xfrm>
            <a:off x="457200" y="3657600"/>
            <a:ext cx="54864" cy="530352"/>
          </a:xfrm>
          <a:prstGeom prst="rect">
            <a:avLst/>
          </a:prstGeom>
          <a:solidFill>
            <a:srgbClr val="4A7FA8"/>
          </a:solidFill>
          <a:ln/>
        </p:spPr>
      </p:sp>
      <p:sp>
        <p:nvSpPr>
          <p:cNvPr id="17" name="Text 15"/>
          <p:cNvSpPr/>
          <p:nvPr/>
        </p:nvSpPr>
        <p:spPr>
          <a:xfrm>
            <a:off x="621792" y="3602736"/>
            <a:ext cx="3730752" cy="256032"/>
          </a:xfrm>
          <a:prstGeom prst="rect">
            <a:avLst/>
          </a:prstGeom>
          <a:noFill/>
          <a:ln/>
        </p:spPr>
        <p:txBody>
          <a:bodyPr wrap="square" lIns="0" tIns="0" rIns="0" bIns="0" rtlCol="0" anchor="ctr"/>
          <a:lstStyle/>
          <a:p>
            <a:pPr indent="0" marL="0">
              <a:buNone/>
            </a:pPr>
            <a:r>
              <a:rPr lang="en-US" sz="1100" b="1" dirty="0">
                <a:solidFill>
                  <a:srgbClr val="1C3557"/>
                </a:solidFill>
              </a:rPr>
              <a:t>Speed</a:t>
            </a:r>
            <a:endParaRPr lang="en-US" sz="1100" dirty="0"/>
          </a:p>
        </p:txBody>
      </p:sp>
      <p:sp>
        <p:nvSpPr>
          <p:cNvPr id="18" name="Text 16"/>
          <p:cNvSpPr/>
          <p:nvPr/>
        </p:nvSpPr>
        <p:spPr>
          <a:xfrm>
            <a:off x="621792" y="3877056"/>
            <a:ext cx="3730752" cy="457200"/>
          </a:xfrm>
          <a:prstGeom prst="rect">
            <a:avLst/>
          </a:prstGeom>
          <a:noFill/>
          <a:ln/>
        </p:spPr>
        <p:txBody>
          <a:bodyPr wrap="square" lIns="0" tIns="0" rIns="0" bIns="0" rtlCol="0" anchor="ctr"/>
          <a:lstStyle/>
          <a:p>
            <a:pPr indent="0" marL="0">
              <a:buNone/>
            </a:pPr>
            <a:r>
              <a:rPr lang="en-US" sz="950" dirty="0">
                <a:solidFill>
                  <a:srgbClr val="7A90A8"/>
                </a:solidFill>
              </a:rPr>
              <a:t>Seconds per test. Run in CI, but not in the fast pre-commit hook. Keep the pre-commit hook to unit tests only.</a:t>
            </a:r>
            <a:endParaRPr lang="en-US" sz="950" dirty="0"/>
          </a:p>
        </p:txBody>
      </p:sp>
      <p:sp>
        <p:nvSpPr>
          <p:cNvPr id="19" name="Shape 17"/>
          <p:cNvSpPr/>
          <p:nvPr/>
        </p:nvSpPr>
        <p:spPr>
          <a:xfrm>
            <a:off x="4663440" y="877824"/>
            <a:ext cx="4160520" cy="402336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20" name="Shape 18"/>
          <p:cNvSpPr/>
          <p:nvPr/>
        </p:nvSpPr>
        <p:spPr>
          <a:xfrm>
            <a:off x="4663440" y="877824"/>
            <a:ext cx="4160520" cy="384048"/>
          </a:xfrm>
          <a:prstGeom prst="rect">
            <a:avLst/>
          </a:prstGeom>
          <a:solidFill>
            <a:srgbClr val="3A7DC9">
              <a:alpha val="80000"/>
            </a:srgbClr>
          </a:solidFill>
          <a:ln/>
        </p:spPr>
      </p:sp>
      <p:sp>
        <p:nvSpPr>
          <p:cNvPr id="21" name="Text 19"/>
          <p:cNvSpPr/>
          <p:nvPr/>
        </p:nvSpPr>
        <p:spPr>
          <a:xfrm>
            <a:off x="4800600" y="877824"/>
            <a:ext cx="3840480" cy="384048"/>
          </a:xfrm>
          <a:prstGeom prst="rect">
            <a:avLst/>
          </a:prstGeom>
          <a:noFill/>
          <a:ln/>
        </p:spPr>
        <p:txBody>
          <a:bodyPr wrap="square" lIns="0" tIns="0" rIns="0" bIns="0" rtlCol="0" anchor="ctr"/>
          <a:lstStyle/>
          <a:p>
            <a:pPr indent="0" marL="0">
              <a:buNone/>
            </a:pPr>
            <a:r>
              <a:rPr lang="en-US" sz="1100" b="1" spc="200" kern="0" dirty="0">
                <a:solidFill>
                  <a:srgbClr val="FFFFFF"/>
                </a:solidFill>
              </a:rPr>
              <a:t>FUNCTIONAL TESTS</a:t>
            </a:r>
            <a:endParaRPr lang="en-US" sz="1100" dirty="0"/>
          </a:p>
        </p:txBody>
      </p:sp>
      <p:sp>
        <p:nvSpPr>
          <p:cNvPr id="22" name="Shape 20"/>
          <p:cNvSpPr/>
          <p:nvPr/>
        </p:nvSpPr>
        <p:spPr>
          <a:xfrm>
            <a:off x="4791456" y="1408176"/>
            <a:ext cx="54864" cy="530352"/>
          </a:xfrm>
          <a:prstGeom prst="rect">
            <a:avLst/>
          </a:prstGeom>
          <a:solidFill>
            <a:srgbClr val="3A7DC9"/>
          </a:solidFill>
          <a:ln/>
        </p:spPr>
      </p:sp>
      <p:sp>
        <p:nvSpPr>
          <p:cNvPr id="23" name="Text 21"/>
          <p:cNvSpPr/>
          <p:nvPr/>
        </p:nvSpPr>
        <p:spPr>
          <a:xfrm>
            <a:off x="4956048" y="1353312"/>
            <a:ext cx="3730752" cy="256032"/>
          </a:xfrm>
          <a:prstGeom prst="rect">
            <a:avLst/>
          </a:prstGeom>
          <a:noFill/>
          <a:ln/>
        </p:spPr>
        <p:txBody>
          <a:bodyPr wrap="square" lIns="0" tIns="0" rIns="0" bIns="0" rtlCol="0" anchor="ctr"/>
          <a:lstStyle/>
          <a:p>
            <a:pPr indent="0" marL="0">
              <a:buNone/>
            </a:pPr>
            <a:r>
              <a:rPr lang="en-US" sz="1100" b="1" dirty="0">
                <a:solidFill>
                  <a:srgbClr val="1C3557"/>
                </a:solidFill>
              </a:rPr>
              <a:t>What they verify</a:t>
            </a:r>
            <a:endParaRPr lang="en-US" sz="1100" dirty="0"/>
          </a:p>
        </p:txBody>
      </p:sp>
      <p:sp>
        <p:nvSpPr>
          <p:cNvPr id="24" name="Text 22"/>
          <p:cNvSpPr/>
          <p:nvPr/>
        </p:nvSpPr>
        <p:spPr>
          <a:xfrm>
            <a:off x="4956048" y="1627632"/>
            <a:ext cx="3730752" cy="457200"/>
          </a:xfrm>
          <a:prstGeom prst="rect">
            <a:avLst/>
          </a:prstGeom>
          <a:noFill/>
          <a:ln/>
        </p:spPr>
        <p:txBody>
          <a:bodyPr wrap="square" lIns="0" tIns="0" rIns="0" bIns="0" rtlCol="0" anchor="ctr"/>
          <a:lstStyle/>
          <a:p>
            <a:pPr indent="0" marL="0">
              <a:buNone/>
            </a:pPr>
            <a:r>
              <a:rPr lang="en-US" sz="950" dirty="0">
                <a:solidFill>
                  <a:srgbClr val="7A90A8"/>
                </a:solidFill>
              </a:rPr>
              <a:t>User-facing behaviour from the outside. An API's functional tests verify the contract — request shape, response shape, status codes, and error messages — as a black box.</a:t>
            </a:r>
            <a:endParaRPr lang="en-US" sz="950" dirty="0"/>
          </a:p>
        </p:txBody>
      </p:sp>
      <p:sp>
        <p:nvSpPr>
          <p:cNvPr id="25" name="Shape 23"/>
          <p:cNvSpPr/>
          <p:nvPr/>
        </p:nvSpPr>
        <p:spPr>
          <a:xfrm>
            <a:off x="4791456" y="2157984"/>
            <a:ext cx="54864" cy="530352"/>
          </a:xfrm>
          <a:prstGeom prst="rect">
            <a:avLst/>
          </a:prstGeom>
          <a:solidFill>
            <a:srgbClr val="3A7DC9"/>
          </a:solidFill>
          <a:ln/>
        </p:spPr>
      </p:sp>
      <p:sp>
        <p:nvSpPr>
          <p:cNvPr id="26" name="Text 24"/>
          <p:cNvSpPr/>
          <p:nvPr/>
        </p:nvSpPr>
        <p:spPr>
          <a:xfrm>
            <a:off x="4956048" y="2103120"/>
            <a:ext cx="3730752" cy="256032"/>
          </a:xfrm>
          <a:prstGeom prst="rect">
            <a:avLst/>
          </a:prstGeom>
          <a:noFill/>
          <a:ln/>
        </p:spPr>
        <p:txBody>
          <a:bodyPr wrap="square" lIns="0" tIns="0" rIns="0" bIns="0" rtlCol="0" anchor="ctr"/>
          <a:lstStyle/>
          <a:p>
            <a:pPr indent="0" marL="0">
              <a:buNone/>
            </a:pPr>
            <a:r>
              <a:rPr lang="en-US" sz="1100" b="1" dirty="0">
                <a:solidFill>
                  <a:srgbClr val="1C3557"/>
                </a:solidFill>
              </a:rPr>
              <a:t>API contract tests</a:t>
            </a:r>
            <a:endParaRPr lang="en-US" sz="1100" dirty="0"/>
          </a:p>
        </p:txBody>
      </p:sp>
      <p:sp>
        <p:nvSpPr>
          <p:cNvPr id="27" name="Text 25"/>
          <p:cNvSpPr/>
          <p:nvPr/>
        </p:nvSpPr>
        <p:spPr>
          <a:xfrm>
            <a:off x="4956048" y="2377440"/>
            <a:ext cx="3730752" cy="457200"/>
          </a:xfrm>
          <a:prstGeom prst="rect">
            <a:avLst/>
          </a:prstGeom>
          <a:noFill/>
          <a:ln/>
        </p:spPr>
        <p:txBody>
          <a:bodyPr wrap="square" lIns="0" tIns="0" rIns="0" bIns="0" rtlCol="0" anchor="ctr"/>
          <a:lstStyle/>
          <a:p>
            <a:pPr indent="0" marL="0">
              <a:buNone/>
            </a:pPr>
            <a:r>
              <a:rPr lang="en-US" sz="950" dirty="0">
                <a:solidFill>
                  <a:srgbClr val="7A90A8"/>
                </a:solidFill>
              </a:rPr>
              <a:t>Verify that the API's published contract is met, regardless of internal implementation. These tests survive refactoring; they break only when the contract changes.</a:t>
            </a:r>
            <a:endParaRPr lang="en-US" sz="950" dirty="0"/>
          </a:p>
        </p:txBody>
      </p:sp>
      <p:sp>
        <p:nvSpPr>
          <p:cNvPr id="28" name="Shape 26"/>
          <p:cNvSpPr/>
          <p:nvPr/>
        </p:nvSpPr>
        <p:spPr>
          <a:xfrm>
            <a:off x="4791456" y="2907792"/>
            <a:ext cx="54864" cy="530352"/>
          </a:xfrm>
          <a:prstGeom prst="rect">
            <a:avLst/>
          </a:prstGeom>
          <a:solidFill>
            <a:srgbClr val="3A7DC9"/>
          </a:solidFill>
          <a:ln/>
        </p:spPr>
      </p:sp>
      <p:sp>
        <p:nvSpPr>
          <p:cNvPr id="29" name="Text 27"/>
          <p:cNvSpPr/>
          <p:nvPr/>
        </p:nvSpPr>
        <p:spPr>
          <a:xfrm>
            <a:off x="4956048" y="2852928"/>
            <a:ext cx="3730752" cy="256032"/>
          </a:xfrm>
          <a:prstGeom prst="rect">
            <a:avLst/>
          </a:prstGeom>
          <a:noFill/>
          <a:ln/>
        </p:spPr>
        <p:txBody>
          <a:bodyPr wrap="square" lIns="0" tIns="0" rIns="0" bIns="0" rtlCol="0" anchor="ctr"/>
          <a:lstStyle/>
          <a:p>
            <a:pPr indent="0" marL="0">
              <a:buNone/>
            </a:pPr>
            <a:r>
              <a:rPr lang="en-US" sz="1100" b="1" dirty="0">
                <a:solidFill>
                  <a:srgbClr val="1C3557"/>
                </a:solidFill>
              </a:rPr>
              <a:t>Keeping in sync</a:t>
            </a:r>
            <a:endParaRPr lang="en-US" sz="1100" dirty="0"/>
          </a:p>
        </p:txBody>
      </p:sp>
      <p:sp>
        <p:nvSpPr>
          <p:cNvPr id="30" name="Text 28"/>
          <p:cNvSpPr/>
          <p:nvPr/>
        </p:nvSpPr>
        <p:spPr>
          <a:xfrm>
            <a:off x="4956048" y="3127248"/>
            <a:ext cx="3730752" cy="457200"/>
          </a:xfrm>
          <a:prstGeom prst="rect">
            <a:avLst/>
          </a:prstGeom>
          <a:noFill/>
          <a:ln/>
        </p:spPr>
        <p:txBody>
          <a:bodyPr wrap="square" lIns="0" tIns="0" rIns="0" bIns="0" rtlCol="0" anchor="ctr"/>
          <a:lstStyle/>
          <a:p>
            <a:pPr indent="0" marL="0">
              <a:buNone/>
            </a:pPr>
            <a:r>
              <a:rPr lang="en-US" sz="950" dirty="0">
                <a:solidFill>
                  <a:srgbClr val="7A90A8"/>
                </a:solidFill>
              </a:rPr>
              <a:t>Agent instruction: when changing an interface, update integration and functional tests in the same PR. A PR that changes an API response without updating the contract test is incomplete.</a:t>
            </a:r>
            <a:endParaRPr lang="en-US" sz="950" dirty="0"/>
          </a:p>
        </p:txBody>
      </p:sp>
      <p:sp>
        <p:nvSpPr>
          <p:cNvPr id="31" name="Shape 29"/>
          <p:cNvSpPr/>
          <p:nvPr/>
        </p:nvSpPr>
        <p:spPr>
          <a:xfrm>
            <a:off x="4791456" y="3657600"/>
            <a:ext cx="54864" cy="530352"/>
          </a:xfrm>
          <a:prstGeom prst="rect">
            <a:avLst/>
          </a:prstGeom>
          <a:solidFill>
            <a:srgbClr val="3A7DC9"/>
          </a:solidFill>
          <a:ln/>
        </p:spPr>
      </p:sp>
      <p:sp>
        <p:nvSpPr>
          <p:cNvPr id="32" name="Text 30"/>
          <p:cNvSpPr/>
          <p:nvPr/>
        </p:nvSpPr>
        <p:spPr>
          <a:xfrm>
            <a:off x="4956048" y="3602736"/>
            <a:ext cx="3730752" cy="256032"/>
          </a:xfrm>
          <a:prstGeom prst="rect">
            <a:avLst/>
          </a:prstGeom>
          <a:noFill/>
          <a:ln/>
        </p:spPr>
        <p:txBody>
          <a:bodyPr wrap="square" lIns="0" tIns="0" rIns="0" bIns="0" rtlCol="0" anchor="ctr"/>
          <a:lstStyle/>
          <a:p>
            <a:pPr indent="0" marL="0">
              <a:buNone/>
            </a:pPr>
            <a:r>
              <a:rPr lang="en-US" sz="1100" b="1" dirty="0">
                <a:solidFill>
                  <a:srgbClr val="1C3557"/>
                </a:solidFill>
              </a:rPr>
              <a:t>Sync rule in CLAUDE.md</a:t>
            </a:r>
            <a:endParaRPr lang="en-US" sz="1100" dirty="0"/>
          </a:p>
        </p:txBody>
      </p:sp>
      <p:sp>
        <p:nvSpPr>
          <p:cNvPr id="33" name="Text 31"/>
          <p:cNvSpPr/>
          <p:nvPr/>
        </p:nvSpPr>
        <p:spPr>
          <a:xfrm>
            <a:off x="4956048" y="3877056"/>
            <a:ext cx="3730752" cy="457200"/>
          </a:xfrm>
          <a:prstGeom prst="rect">
            <a:avLst/>
          </a:prstGeom>
          <a:noFill/>
          <a:ln/>
        </p:spPr>
        <p:txBody>
          <a:bodyPr wrap="square" lIns="0" tIns="0" rIns="0" bIns="0" rtlCol="0" anchor="ctr"/>
          <a:lstStyle/>
          <a:p>
            <a:pPr indent="0" marL="0">
              <a:buNone/>
            </a:pPr>
            <a:r>
              <a:rPr lang="en-US" sz="950" dirty="0">
                <a:solidFill>
                  <a:srgbClr val="7A90A8"/>
                </a:solidFill>
              </a:rPr>
              <a:t>"When you change an interface, update the integration and functional tests that cover it. Never leave contract tests inconsistent with the implementation."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3557"/>
        </a:solidFill>
      </p:bgPr>
    </p:bg>
    <p:spTree>
      <p:nvGrpSpPr>
        <p:cNvPr id="1" name=""/>
        <p:cNvGrpSpPr/>
        <p:nvPr/>
      </p:nvGrpSpPr>
      <p:grpSpPr>
        <a:xfrm>
          <a:off x="0" y="0"/>
          <a:ext cx="0" cy="0"/>
          <a:chOff x="0" y="0"/>
          <a:chExt cx="0" cy="0"/>
        </a:xfrm>
      </p:grpSpPr>
      <p:sp>
        <p:nvSpPr>
          <p:cNvPr id="2" name="Text 0"/>
          <p:cNvSpPr/>
          <p:nvPr/>
        </p:nvSpPr>
        <p:spPr>
          <a:xfrm>
            <a:off x="365760" y="201168"/>
            <a:ext cx="841248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REGRESSION TESTING  —  THE ACCUMULATED SAFETY NET</a:t>
            </a:r>
            <a:endParaRPr lang="en-US" sz="1300" dirty="0"/>
          </a:p>
        </p:txBody>
      </p:sp>
      <p:sp>
        <p:nvSpPr>
          <p:cNvPr id="3" name="Shape 1"/>
          <p:cNvSpPr/>
          <p:nvPr/>
        </p:nvSpPr>
        <p:spPr>
          <a:xfrm>
            <a:off x="320040" y="713232"/>
            <a:ext cx="8503920" cy="658368"/>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4" name="Text 2"/>
          <p:cNvSpPr/>
          <p:nvPr/>
        </p:nvSpPr>
        <p:spPr>
          <a:xfrm>
            <a:off x="502920" y="768096"/>
            <a:ext cx="8138160" cy="548640"/>
          </a:xfrm>
          <a:prstGeom prst="rect">
            <a:avLst/>
          </a:prstGeom>
          <a:noFill/>
          <a:ln/>
        </p:spPr>
        <p:txBody>
          <a:bodyPr wrap="square" lIns="0" tIns="0" rIns="0" bIns="0" rtlCol="0" anchor="ctr"/>
          <a:lstStyle/>
          <a:p>
            <a:pPr algn="ctr" indent="0" marL="0">
              <a:buNone/>
            </a:pPr>
            <a:r>
              <a:rPr lang="en-US" sz="1150" i="1" dirty="0">
                <a:solidFill>
                  <a:srgbClr val="FFFFFF"/>
                </a:solidFill>
              </a:rPr>
              <a:t>A regression test is a test written because a bug was found. Every test in the regression suite corresponds to a real problem that once reached production. Over time, it becomes the most specific and battle-tested part of the test suite.</a:t>
            </a:r>
            <a:endParaRPr lang="en-US" sz="1150" dirty="0"/>
          </a:p>
        </p:txBody>
      </p:sp>
      <p:sp>
        <p:nvSpPr>
          <p:cNvPr id="5" name="Shape 3"/>
          <p:cNvSpPr/>
          <p:nvPr/>
        </p:nvSpPr>
        <p:spPr>
          <a:xfrm>
            <a:off x="320040" y="1481328"/>
            <a:ext cx="8503920" cy="310896"/>
          </a:xfrm>
          <a:prstGeom prst="rect">
            <a:avLst/>
          </a:prstGeom>
          <a:solidFill>
            <a:srgbClr val="3A7DC9">
              <a:alpha val="28000"/>
            </a:srgbClr>
          </a:solidFill>
          <a:ln/>
        </p:spPr>
      </p:sp>
      <p:sp>
        <p:nvSpPr>
          <p:cNvPr id="6" name="Text 4"/>
          <p:cNvSpPr/>
          <p:nvPr/>
        </p:nvSpPr>
        <p:spPr>
          <a:xfrm>
            <a:off x="320040" y="1481328"/>
            <a:ext cx="8503920" cy="310896"/>
          </a:xfrm>
          <a:prstGeom prst="rect">
            <a:avLst/>
          </a:prstGeom>
          <a:noFill/>
          <a:ln/>
        </p:spPr>
        <p:txBody>
          <a:bodyPr wrap="square" lIns="0" tIns="0" rIns="0" bIns="0" rtlCol="0" anchor="ctr"/>
          <a:lstStyle/>
          <a:p>
            <a:pPr algn="ctr" indent="0" marL="0">
              <a:buNone/>
            </a:pPr>
            <a:r>
              <a:rPr lang="en-US" sz="1000" b="1" spc="200" kern="0" dirty="0">
                <a:solidFill>
                  <a:srgbClr val="FFFFFF"/>
                </a:solidFill>
              </a:rPr>
              <a:t>AGENT-ASSISTED REGRESSION WORKFLOW</a:t>
            </a:r>
            <a:endParaRPr lang="en-US" sz="1000" dirty="0"/>
          </a:p>
        </p:txBody>
      </p:sp>
      <p:sp>
        <p:nvSpPr>
          <p:cNvPr id="7" name="Shape 5"/>
          <p:cNvSpPr/>
          <p:nvPr/>
        </p:nvSpPr>
        <p:spPr>
          <a:xfrm>
            <a:off x="320040" y="1883664"/>
            <a:ext cx="2029968" cy="2999232"/>
          </a:xfrm>
          <a:prstGeom prst="rect">
            <a:avLst/>
          </a:prstGeom>
          <a:solidFill>
            <a:srgbClr val="2E5073">
              <a:alpha val="80000"/>
            </a:srgbClr>
          </a:solidFill>
          <a:ln/>
          <a:effectLst>
            <a:outerShdw sx="100000" sy="100000" kx="0" ky="0" algn="bl" rotWithShape="0" blurRad="101600" dist="38100" dir="8100000">
              <a:srgbClr val="000000">
                <a:alpha val="13000"/>
              </a:srgbClr>
            </a:outerShdw>
          </a:effectLst>
        </p:spPr>
      </p:sp>
      <p:sp>
        <p:nvSpPr>
          <p:cNvPr id="8" name="Shape 6"/>
          <p:cNvSpPr/>
          <p:nvPr/>
        </p:nvSpPr>
        <p:spPr>
          <a:xfrm>
            <a:off x="320040" y="1883664"/>
            <a:ext cx="2029968" cy="402336"/>
          </a:xfrm>
          <a:prstGeom prst="rect">
            <a:avLst/>
          </a:prstGeom>
          <a:solidFill>
            <a:srgbClr val="B03040">
              <a:alpha val="85000"/>
            </a:srgbClr>
          </a:solidFill>
          <a:ln/>
        </p:spPr>
      </p:sp>
      <p:sp>
        <p:nvSpPr>
          <p:cNvPr id="9" name="Shape 7"/>
          <p:cNvSpPr/>
          <p:nvPr/>
        </p:nvSpPr>
        <p:spPr>
          <a:xfrm>
            <a:off x="411480" y="1920240"/>
            <a:ext cx="310896" cy="310896"/>
          </a:xfrm>
          <a:prstGeom prst="rect">
            <a:avLst/>
          </a:prstGeom>
          <a:solidFill>
            <a:srgbClr val="B03040"/>
          </a:solidFill>
          <a:ln/>
        </p:spPr>
      </p:sp>
      <p:sp>
        <p:nvSpPr>
          <p:cNvPr id="10" name="Text 8"/>
          <p:cNvSpPr/>
          <p:nvPr/>
        </p:nvSpPr>
        <p:spPr>
          <a:xfrm>
            <a:off x="411480" y="19202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1" name="Text 9"/>
          <p:cNvSpPr/>
          <p:nvPr/>
        </p:nvSpPr>
        <p:spPr>
          <a:xfrm>
            <a:off x="795528" y="1920240"/>
            <a:ext cx="1463040" cy="365760"/>
          </a:xfrm>
          <a:prstGeom prst="rect">
            <a:avLst/>
          </a:prstGeom>
          <a:noFill/>
          <a:ln/>
        </p:spPr>
        <p:txBody>
          <a:bodyPr wrap="square" lIns="0" tIns="0" rIns="0" bIns="0" rtlCol="0" anchor="ctr"/>
          <a:lstStyle/>
          <a:p>
            <a:pPr indent="0" marL="0">
              <a:buNone/>
            </a:pPr>
            <a:r>
              <a:rPr lang="en-US" sz="1000" b="1" dirty="0">
                <a:solidFill>
                  <a:srgbClr val="FFFFFF"/>
                </a:solidFill>
              </a:rPr>
              <a:t>Bug reported</a:t>
            </a:r>
            <a:endParaRPr lang="en-US" sz="1000" dirty="0"/>
          </a:p>
        </p:txBody>
      </p:sp>
      <p:sp>
        <p:nvSpPr>
          <p:cNvPr id="12" name="Text 10"/>
          <p:cNvSpPr/>
          <p:nvPr/>
        </p:nvSpPr>
        <p:spPr>
          <a:xfrm>
            <a:off x="448056" y="2359152"/>
            <a:ext cx="1810512" cy="2414016"/>
          </a:xfrm>
          <a:prstGeom prst="rect">
            <a:avLst/>
          </a:prstGeom>
          <a:noFill/>
          <a:ln/>
        </p:spPr>
        <p:txBody>
          <a:bodyPr wrap="square" lIns="0" tIns="0" rIns="0" bIns="0" rtlCol="0" anchor="ctr"/>
          <a:lstStyle/>
          <a:p>
            <a:pPr indent="0" marL="0">
              <a:buNone/>
            </a:pPr>
            <a:r>
              <a:rPr lang="en-US" sz="1000" dirty="0">
                <a:solidFill>
                  <a:srgbClr val="D4E4F0"/>
                </a:solidFill>
              </a:rPr>
              <a:t>Bug arrives via issue, alert, or customer report. Agent reads the bug report and the relevant code.</a:t>
            </a:r>
            <a:endParaRPr lang="en-US" sz="1000" dirty="0"/>
          </a:p>
        </p:txBody>
      </p:sp>
      <p:sp>
        <p:nvSpPr>
          <p:cNvPr id="13" name="Text 11"/>
          <p:cNvSpPr/>
          <p:nvPr/>
        </p:nvSpPr>
        <p:spPr>
          <a:xfrm>
            <a:off x="2350008" y="2999232"/>
            <a:ext cx="146304" cy="365760"/>
          </a:xfrm>
          <a:prstGeom prst="rect">
            <a:avLst/>
          </a:prstGeom>
          <a:noFill/>
          <a:ln/>
        </p:spPr>
        <p:txBody>
          <a:bodyPr wrap="square" lIns="0" tIns="0" rIns="0" bIns="0" rtlCol="0" anchor="ctr"/>
          <a:lstStyle/>
          <a:p>
            <a:pPr algn="ctr" indent="0" marL="0">
              <a:buNone/>
            </a:pPr>
            <a:r>
              <a:rPr lang="en-US" sz="1800" dirty="0">
                <a:solidFill>
                  <a:srgbClr val="B03040"/>
                </a:solidFill>
              </a:rPr>
              <a:t>→</a:t>
            </a:r>
            <a:endParaRPr lang="en-US" sz="1800" dirty="0"/>
          </a:p>
        </p:txBody>
      </p:sp>
      <p:sp>
        <p:nvSpPr>
          <p:cNvPr id="14" name="Shape 12"/>
          <p:cNvSpPr/>
          <p:nvPr/>
        </p:nvSpPr>
        <p:spPr>
          <a:xfrm>
            <a:off x="2496312" y="1883664"/>
            <a:ext cx="2029968" cy="2999232"/>
          </a:xfrm>
          <a:prstGeom prst="rect">
            <a:avLst/>
          </a:prstGeom>
          <a:solidFill>
            <a:srgbClr val="2E5073">
              <a:alpha val="80000"/>
            </a:srgbClr>
          </a:solidFill>
          <a:ln/>
          <a:effectLst>
            <a:outerShdw sx="100000" sy="100000" kx="0" ky="0" algn="bl" rotWithShape="0" blurRad="101600" dist="38100" dir="8100000">
              <a:srgbClr val="000000">
                <a:alpha val="13000"/>
              </a:srgbClr>
            </a:outerShdw>
          </a:effectLst>
        </p:spPr>
      </p:sp>
      <p:sp>
        <p:nvSpPr>
          <p:cNvPr id="15" name="Shape 13"/>
          <p:cNvSpPr/>
          <p:nvPr/>
        </p:nvSpPr>
        <p:spPr>
          <a:xfrm>
            <a:off x="2496312" y="1883664"/>
            <a:ext cx="2029968" cy="402336"/>
          </a:xfrm>
          <a:prstGeom prst="rect">
            <a:avLst/>
          </a:prstGeom>
          <a:solidFill>
            <a:srgbClr val="B87820">
              <a:alpha val="85000"/>
            </a:srgbClr>
          </a:solidFill>
          <a:ln/>
        </p:spPr>
      </p:sp>
      <p:sp>
        <p:nvSpPr>
          <p:cNvPr id="16" name="Shape 14"/>
          <p:cNvSpPr/>
          <p:nvPr/>
        </p:nvSpPr>
        <p:spPr>
          <a:xfrm>
            <a:off x="2587752" y="1920240"/>
            <a:ext cx="310896" cy="310896"/>
          </a:xfrm>
          <a:prstGeom prst="rect">
            <a:avLst/>
          </a:prstGeom>
          <a:solidFill>
            <a:srgbClr val="B87820"/>
          </a:solidFill>
          <a:ln/>
        </p:spPr>
      </p:sp>
      <p:sp>
        <p:nvSpPr>
          <p:cNvPr id="17" name="Text 15"/>
          <p:cNvSpPr/>
          <p:nvPr/>
        </p:nvSpPr>
        <p:spPr>
          <a:xfrm>
            <a:off x="2587752" y="19202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8" name="Text 16"/>
          <p:cNvSpPr/>
          <p:nvPr/>
        </p:nvSpPr>
        <p:spPr>
          <a:xfrm>
            <a:off x="2971800" y="1920240"/>
            <a:ext cx="1463040" cy="365760"/>
          </a:xfrm>
          <a:prstGeom prst="rect">
            <a:avLst/>
          </a:prstGeom>
          <a:noFill/>
          <a:ln/>
        </p:spPr>
        <p:txBody>
          <a:bodyPr wrap="square" lIns="0" tIns="0" rIns="0" bIns="0" rtlCol="0" anchor="ctr"/>
          <a:lstStyle/>
          <a:p>
            <a:pPr indent="0" marL="0">
              <a:buNone/>
            </a:pPr>
            <a:r>
              <a:rPr lang="en-US" sz="1000" b="1" dirty="0">
                <a:solidFill>
                  <a:srgbClr val="FFFFFF"/>
                </a:solidFill>
              </a:rPr>
              <a:t>Failing test written</a:t>
            </a:r>
            <a:endParaRPr lang="en-US" sz="1000" dirty="0"/>
          </a:p>
        </p:txBody>
      </p:sp>
      <p:sp>
        <p:nvSpPr>
          <p:cNvPr id="19" name="Text 17"/>
          <p:cNvSpPr/>
          <p:nvPr/>
        </p:nvSpPr>
        <p:spPr>
          <a:xfrm>
            <a:off x="2624328" y="2359152"/>
            <a:ext cx="1810512" cy="2414016"/>
          </a:xfrm>
          <a:prstGeom prst="rect">
            <a:avLst/>
          </a:prstGeom>
          <a:noFill/>
          <a:ln/>
        </p:spPr>
        <p:txBody>
          <a:bodyPr wrap="square" lIns="0" tIns="0" rIns="0" bIns="0" rtlCol="0" anchor="ctr"/>
          <a:lstStyle/>
          <a:p>
            <a:pPr indent="0" marL="0">
              <a:buNone/>
            </a:pPr>
            <a:r>
              <a:rPr lang="en-US" sz="1000" dirty="0">
                <a:solidFill>
                  <a:srgbClr val="D4E4F0"/>
                </a:solidFill>
              </a:rPr>
              <a:t>Agent writes a test that reproduces the bug. The test must fail before any fix is written — this confirms the bug is understood.</a:t>
            </a:r>
            <a:endParaRPr lang="en-US" sz="1000" dirty="0"/>
          </a:p>
        </p:txBody>
      </p:sp>
      <p:sp>
        <p:nvSpPr>
          <p:cNvPr id="20" name="Text 18"/>
          <p:cNvSpPr/>
          <p:nvPr/>
        </p:nvSpPr>
        <p:spPr>
          <a:xfrm>
            <a:off x="4526280" y="2999232"/>
            <a:ext cx="146304" cy="365760"/>
          </a:xfrm>
          <a:prstGeom prst="rect">
            <a:avLst/>
          </a:prstGeom>
          <a:noFill/>
          <a:ln/>
        </p:spPr>
        <p:txBody>
          <a:bodyPr wrap="square" lIns="0" tIns="0" rIns="0" bIns="0" rtlCol="0" anchor="ctr"/>
          <a:lstStyle/>
          <a:p>
            <a:pPr algn="ctr" indent="0" marL="0">
              <a:buNone/>
            </a:pPr>
            <a:r>
              <a:rPr lang="en-US" sz="1800" dirty="0">
                <a:solidFill>
                  <a:srgbClr val="B87820"/>
                </a:solidFill>
              </a:rPr>
              <a:t>→</a:t>
            </a:r>
            <a:endParaRPr lang="en-US" sz="1800" dirty="0"/>
          </a:p>
        </p:txBody>
      </p:sp>
      <p:sp>
        <p:nvSpPr>
          <p:cNvPr id="21" name="Shape 19"/>
          <p:cNvSpPr/>
          <p:nvPr/>
        </p:nvSpPr>
        <p:spPr>
          <a:xfrm>
            <a:off x="4672584" y="1883664"/>
            <a:ext cx="2029968" cy="2999232"/>
          </a:xfrm>
          <a:prstGeom prst="rect">
            <a:avLst/>
          </a:prstGeom>
          <a:solidFill>
            <a:srgbClr val="2E5073">
              <a:alpha val="80000"/>
            </a:srgbClr>
          </a:solidFill>
          <a:ln/>
          <a:effectLst>
            <a:outerShdw sx="100000" sy="100000" kx="0" ky="0" algn="bl" rotWithShape="0" blurRad="101600" dist="38100" dir="8100000">
              <a:srgbClr val="000000">
                <a:alpha val="13000"/>
              </a:srgbClr>
            </a:outerShdw>
          </a:effectLst>
        </p:spPr>
      </p:sp>
      <p:sp>
        <p:nvSpPr>
          <p:cNvPr id="22" name="Shape 20"/>
          <p:cNvSpPr/>
          <p:nvPr/>
        </p:nvSpPr>
        <p:spPr>
          <a:xfrm>
            <a:off x="4672584" y="1883664"/>
            <a:ext cx="2029968" cy="402336"/>
          </a:xfrm>
          <a:prstGeom prst="rect">
            <a:avLst/>
          </a:prstGeom>
          <a:solidFill>
            <a:srgbClr val="3A7E6E">
              <a:alpha val="85000"/>
            </a:srgbClr>
          </a:solidFill>
          <a:ln/>
        </p:spPr>
      </p:sp>
      <p:sp>
        <p:nvSpPr>
          <p:cNvPr id="23" name="Shape 21"/>
          <p:cNvSpPr/>
          <p:nvPr/>
        </p:nvSpPr>
        <p:spPr>
          <a:xfrm>
            <a:off x="4764024" y="1920240"/>
            <a:ext cx="310896" cy="310896"/>
          </a:xfrm>
          <a:prstGeom prst="rect">
            <a:avLst/>
          </a:prstGeom>
          <a:solidFill>
            <a:srgbClr val="3A7E6E"/>
          </a:solidFill>
          <a:ln/>
        </p:spPr>
      </p:sp>
      <p:sp>
        <p:nvSpPr>
          <p:cNvPr id="24" name="Text 22"/>
          <p:cNvSpPr/>
          <p:nvPr/>
        </p:nvSpPr>
        <p:spPr>
          <a:xfrm>
            <a:off x="4764024" y="19202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5" name="Text 23"/>
          <p:cNvSpPr/>
          <p:nvPr/>
        </p:nvSpPr>
        <p:spPr>
          <a:xfrm>
            <a:off x="5148072" y="1920240"/>
            <a:ext cx="1463040" cy="365760"/>
          </a:xfrm>
          <a:prstGeom prst="rect">
            <a:avLst/>
          </a:prstGeom>
          <a:noFill/>
          <a:ln/>
        </p:spPr>
        <p:txBody>
          <a:bodyPr wrap="square" lIns="0" tIns="0" rIns="0" bIns="0" rtlCol="0" anchor="ctr"/>
          <a:lstStyle/>
          <a:p>
            <a:pPr indent="0" marL="0">
              <a:buNone/>
            </a:pPr>
            <a:r>
              <a:rPr lang="en-US" sz="1000" b="1" dirty="0">
                <a:solidFill>
                  <a:srgbClr val="FFFFFF"/>
                </a:solidFill>
              </a:rPr>
              <a:t>Bug fixed</a:t>
            </a:r>
            <a:endParaRPr lang="en-US" sz="1000" dirty="0"/>
          </a:p>
        </p:txBody>
      </p:sp>
      <p:sp>
        <p:nvSpPr>
          <p:cNvPr id="26" name="Text 24"/>
          <p:cNvSpPr/>
          <p:nvPr/>
        </p:nvSpPr>
        <p:spPr>
          <a:xfrm>
            <a:off x="4800600" y="2359152"/>
            <a:ext cx="1810512" cy="2414016"/>
          </a:xfrm>
          <a:prstGeom prst="rect">
            <a:avLst/>
          </a:prstGeom>
          <a:noFill/>
          <a:ln/>
        </p:spPr>
        <p:txBody>
          <a:bodyPr wrap="square" lIns="0" tIns="0" rIns="0" bIns="0" rtlCol="0" anchor="ctr"/>
          <a:lstStyle/>
          <a:p>
            <a:pPr indent="0" marL="0">
              <a:buNone/>
            </a:pPr>
            <a:r>
              <a:rPr lang="en-US" sz="1000" dirty="0">
                <a:solidFill>
                  <a:srgbClr val="D4E4F0"/>
                </a:solidFill>
              </a:rPr>
              <a:t>Agent fixes the bug. The regression test turns green. Suite runs — no existing tests broken.</a:t>
            </a:r>
            <a:endParaRPr lang="en-US" sz="1000" dirty="0"/>
          </a:p>
        </p:txBody>
      </p:sp>
      <p:sp>
        <p:nvSpPr>
          <p:cNvPr id="27" name="Text 25"/>
          <p:cNvSpPr/>
          <p:nvPr/>
        </p:nvSpPr>
        <p:spPr>
          <a:xfrm>
            <a:off x="6702552" y="2999232"/>
            <a:ext cx="146304" cy="365760"/>
          </a:xfrm>
          <a:prstGeom prst="rect">
            <a:avLst/>
          </a:prstGeom>
          <a:noFill/>
          <a:ln/>
        </p:spPr>
        <p:txBody>
          <a:bodyPr wrap="square" lIns="0" tIns="0" rIns="0" bIns="0" rtlCol="0" anchor="ctr"/>
          <a:lstStyle/>
          <a:p>
            <a:pPr algn="ctr" indent="0" marL="0">
              <a:buNone/>
            </a:pPr>
            <a:r>
              <a:rPr lang="en-US" sz="1800" dirty="0">
                <a:solidFill>
                  <a:srgbClr val="3A7E6E"/>
                </a:solidFill>
              </a:rPr>
              <a:t>→</a:t>
            </a:r>
            <a:endParaRPr lang="en-US" sz="1800" dirty="0"/>
          </a:p>
        </p:txBody>
      </p:sp>
      <p:sp>
        <p:nvSpPr>
          <p:cNvPr id="28" name="Shape 26"/>
          <p:cNvSpPr/>
          <p:nvPr/>
        </p:nvSpPr>
        <p:spPr>
          <a:xfrm>
            <a:off x="6848856" y="1883664"/>
            <a:ext cx="2029968" cy="2999232"/>
          </a:xfrm>
          <a:prstGeom prst="rect">
            <a:avLst/>
          </a:prstGeom>
          <a:solidFill>
            <a:srgbClr val="2E5073">
              <a:alpha val="80000"/>
            </a:srgbClr>
          </a:solidFill>
          <a:ln/>
          <a:effectLst>
            <a:outerShdw sx="100000" sy="100000" kx="0" ky="0" algn="bl" rotWithShape="0" blurRad="101600" dist="38100" dir="8100000">
              <a:srgbClr val="000000">
                <a:alpha val="13000"/>
              </a:srgbClr>
            </a:outerShdw>
          </a:effectLst>
        </p:spPr>
      </p:sp>
      <p:sp>
        <p:nvSpPr>
          <p:cNvPr id="29" name="Shape 27"/>
          <p:cNvSpPr/>
          <p:nvPr/>
        </p:nvSpPr>
        <p:spPr>
          <a:xfrm>
            <a:off x="6848856" y="1883664"/>
            <a:ext cx="2029968" cy="402336"/>
          </a:xfrm>
          <a:prstGeom prst="rect">
            <a:avLst/>
          </a:prstGeom>
          <a:solidFill>
            <a:srgbClr val="3A7DC9">
              <a:alpha val="85000"/>
            </a:srgbClr>
          </a:solidFill>
          <a:ln/>
        </p:spPr>
      </p:sp>
      <p:sp>
        <p:nvSpPr>
          <p:cNvPr id="30" name="Shape 28"/>
          <p:cNvSpPr/>
          <p:nvPr/>
        </p:nvSpPr>
        <p:spPr>
          <a:xfrm>
            <a:off x="6940296" y="1920240"/>
            <a:ext cx="310896" cy="310896"/>
          </a:xfrm>
          <a:prstGeom prst="rect">
            <a:avLst/>
          </a:prstGeom>
          <a:solidFill>
            <a:srgbClr val="3A7DC9"/>
          </a:solidFill>
          <a:ln/>
        </p:spPr>
      </p:sp>
      <p:sp>
        <p:nvSpPr>
          <p:cNvPr id="31" name="Text 29"/>
          <p:cNvSpPr/>
          <p:nvPr/>
        </p:nvSpPr>
        <p:spPr>
          <a:xfrm>
            <a:off x="6940296" y="19202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32" name="Text 30"/>
          <p:cNvSpPr/>
          <p:nvPr/>
        </p:nvSpPr>
        <p:spPr>
          <a:xfrm>
            <a:off x="7324344" y="1920240"/>
            <a:ext cx="1463040" cy="365760"/>
          </a:xfrm>
          <a:prstGeom prst="rect">
            <a:avLst/>
          </a:prstGeom>
          <a:noFill/>
          <a:ln/>
        </p:spPr>
        <p:txBody>
          <a:bodyPr wrap="square" lIns="0" tIns="0" rIns="0" bIns="0" rtlCol="0" anchor="ctr"/>
          <a:lstStyle/>
          <a:p>
            <a:pPr indent="0" marL="0">
              <a:buNone/>
            </a:pPr>
            <a:r>
              <a:rPr lang="en-US" sz="1000" b="1" dirty="0">
                <a:solidFill>
                  <a:srgbClr val="FFFFFF"/>
                </a:solidFill>
              </a:rPr>
              <a:t>Test committed</a:t>
            </a:r>
            <a:endParaRPr lang="en-US" sz="1000" dirty="0"/>
          </a:p>
        </p:txBody>
      </p:sp>
      <p:sp>
        <p:nvSpPr>
          <p:cNvPr id="33" name="Text 31"/>
          <p:cNvSpPr/>
          <p:nvPr/>
        </p:nvSpPr>
        <p:spPr>
          <a:xfrm>
            <a:off x="6976872" y="2359152"/>
            <a:ext cx="1810512" cy="2414016"/>
          </a:xfrm>
          <a:prstGeom prst="rect">
            <a:avLst/>
          </a:prstGeom>
          <a:noFill/>
          <a:ln/>
        </p:spPr>
        <p:txBody>
          <a:bodyPr wrap="square" lIns="0" tIns="0" rIns="0" bIns="0" rtlCol="0" anchor="ctr"/>
          <a:lstStyle/>
          <a:p>
            <a:pPr indent="0" marL="0">
              <a:buNone/>
            </a:pPr>
            <a:r>
              <a:rPr lang="en-US" sz="1000" dirty="0">
                <a:solidFill>
                  <a:srgbClr val="D4E4F0"/>
                </a:solidFill>
              </a:rPr>
              <a:t>Regression test is committed alongside the fix. The bug can never return silently — the test will catch it.</a:t>
            </a:r>
            <a:endParaRPr lang="en-US" sz="1000" dirty="0"/>
          </a:p>
        </p:txBody>
      </p:sp>
      <p:sp>
        <p:nvSpPr>
          <p:cNvPr id="34" name="Shape 32"/>
          <p:cNvSpPr/>
          <p:nvPr/>
        </p:nvSpPr>
        <p:spPr>
          <a:xfrm>
            <a:off x="320040" y="4773168"/>
            <a:ext cx="8503920" cy="256032"/>
          </a:xfrm>
          <a:prstGeom prst="rect">
            <a:avLst/>
          </a:prstGeom>
          <a:solidFill>
            <a:srgbClr val="3A7DC9">
              <a:alpha val="30000"/>
            </a:srgbClr>
          </a:solidFill>
          <a:ln/>
        </p:spPr>
      </p:sp>
      <p:sp>
        <p:nvSpPr>
          <p:cNvPr id="35" name="Text 33"/>
          <p:cNvSpPr/>
          <p:nvPr/>
        </p:nvSpPr>
        <p:spPr>
          <a:xfrm>
            <a:off x="320040" y="4773168"/>
            <a:ext cx="8503920" cy="256032"/>
          </a:xfrm>
          <a:prstGeom prst="rect">
            <a:avLst/>
          </a:prstGeom>
          <a:noFill/>
          <a:ln/>
        </p:spPr>
        <p:txBody>
          <a:bodyPr wrap="square" lIns="0" tIns="0" rIns="0" bIns="0" rtlCol="0" anchor="ctr"/>
          <a:lstStyle/>
          <a:p>
            <a:pPr algn="ctr" indent="0" marL="0">
              <a:buNone/>
            </a:pPr>
            <a:r>
              <a:rPr lang="en-US" sz="1000" i="1" dirty="0">
                <a:solidFill>
                  <a:srgbClr val="FFFFFF"/>
                </a:solidFill>
              </a:rPr>
              <a:t>CLAUDE.md rule: When fixing a bug, always write a regression test that reproduces the bug before implementing the fix. No fix without a test.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END-TO-END TESTING  —  SCOPE AND GOVERNANCE</a:t>
            </a:r>
            <a:endParaRPr lang="en-US" sz="1300" dirty="0"/>
          </a:p>
        </p:txBody>
      </p:sp>
      <p:sp>
        <p:nvSpPr>
          <p:cNvPr id="4" name="Text 2"/>
          <p:cNvSpPr/>
          <p:nvPr/>
        </p:nvSpPr>
        <p:spPr>
          <a:xfrm>
            <a:off x="365760" y="822960"/>
            <a:ext cx="8412480" cy="256032"/>
          </a:xfrm>
          <a:prstGeom prst="rect">
            <a:avLst/>
          </a:prstGeom>
          <a:noFill/>
          <a:ln/>
        </p:spPr>
        <p:txBody>
          <a:bodyPr wrap="square" lIns="0" tIns="0" rIns="0" bIns="0" rtlCol="0" anchor="ctr"/>
          <a:lstStyle/>
          <a:p>
            <a:pPr indent="0" marL="0">
              <a:buNone/>
            </a:pPr>
            <a:r>
              <a:rPr lang="en-US" sz="1150" i="1" dirty="0">
                <a:solidFill>
                  <a:srgbClr val="7A90A8"/>
                </a:solidFill>
              </a:rPr>
              <a:t>E2E tests are the most expensive tests you can write. Use them selectively. Govern them explicitly.</a:t>
            </a:r>
            <a:endParaRPr lang="en-US" sz="1150" dirty="0"/>
          </a:p>
        </p:txBody>
      </p:sp>
      <p:sp>
        <p:nvSpPr>
          <p:cNvPr id="5" name="Shape 3"/>
          <p:cNvSpPr/>
          <p:nvPr/>
        </p:nvSpPr>
        <p:spPr>
          <a:xfrm>
            <a:off x="320040" y="1170432"/>
            <a:ext cx="4160520" cy="1901952"/>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70432"/>
            <a:ext cx="4160520" cy="347472"/>
          </a:xfrm>
          <a:prstGeom prst="rect">
            <a:avLst/>
          </a:prstGeom>
          <a:solidFill>
            <a:srgbClr val="B03040">
              <a:alpha val="82000"/>
            </a:srgbClr>
          </a:solidFill>
          <a:ln/>
        </p:spPr>
      </p:sp>
      <p:sp>
        <p:nvSpPr>
          <p:cNvPr id="7" name="Text 5"/>
          <p:cNvSpPr/>
          <p:nvPr/>
        </p:nvSpPr>
        <p:spPr>
          <a:xfrm>
            <a:off x="457200" y="1170432"/>
            <a:ext cx="3840480" cy="347472"/>
          </a:xfrm>
          <a:prstGeom prst="rect">
            <a:avLst/>
          </a:prstGeom>
          <a:noFill/>
          <a:ln/>
        </p:spPr>
        <p:txBody>
          <a:bodyPr wrap="square" lIns="0" tIns="0" rIns="0" bIns="0" rtlCol="0" anchor="ctr"/>
          <a:lstStyle/>
          <a:p>
            <a:pPr indent="0" marL="0">
              <a:buNone/>
            </a:pPr>
            <a:r>
              <a:rPr lang="en-US" sz="1000" b="1" spc="100" kern="0" dirty="0">
                <a:solidFill>
                  <a:srgbClr val="FFFFFF"/>
                </a:solidFill>
              </a:rPr>
              <a:t>WHY E2E TESTS ARE EXPENSIVE</a:t>
            </a:r>
            <a:endParaRPr lang="en-US" sz="1000" dirty="0"/>
          </a:p>
        </p:txBody>
      </p:sp>
      <p:sp>
        <p:nvSpPr>
          <p:cNvPr id="8" name="Shape 6"/>
          <p:cNvSpPr/>
          <p:nvPr/>
        </p:nvSpPr>
        <p:spPr>
          <a:xfrm>
            <a:off x="457200" y="1700784"/>
            <a:ext cx="54864" cy="274320"/>
          </a:xfrm>
          <a:prstGeom prst="rect">
            <a:avLst/>
          </a:prstGeom>
          <a:solidFill>
            <a:srgbClr val="B03040"/>
          </a:solidFill>
          <a:ln/>
        </p:spPr>
      </p:sp>
      <p:sp>
        <p:nvSpPr>
          <p:cNvPr id="9" name="Text 7"/>
          <p:cNvSpPr/>
          <p:nvPr/>
        </p:nvSpPr>
        <p:spPr>
          <a:xfrm>
            <a:off x="621792" y="1609344"/>
            <a:ext cx="640080" cy="256032"/>
          </a:xfrm>
          <a:prstGeom prst="rect">
            <a:avLst/>
          </a:prstGeom>
          <a:noFill/>
          <a:ln/>
        </p:spPr>
        <p:txBody>
          <a:bodyPr wrap="square" lIns="0" tIns="0" rIns="0" bIns="0" rtlCol="0" anchor="ctr"/>
          <a:lstStyle/>
          <a:p>
            <a:pPr indent="0" marL="0">
              <a:buNone/>
            </a:pPr>
            <a:r>
              <a:rPr lang="en-US" sz="1100" b="1" dirty="0">
                <a:solidFill>
                  <a:srgbClr val="B03040"/>
                </a:solidFill>
              </a:rPr>
              <a:t>Slow</a:t>
            </a:r>
            <a:endParaRPr lang="en-US" sz="1100" dirty="0"/>
          </a:p>
        </p:txBody>
      </p:sp>
      <p:sp>
        <p:nvSpPr>
          <p:cNvPr id="10" name="Text 8"/>
          <p:cNvSpPr/>
          <p:nvPr/>
        </p:nvSpPr>
        <p:spPr>
          <a:xfrm>
            <a:off x="1316736" y="1609344"/>
            <a:ext cx="3017520" cy="256032"/>
          </a:xfrm>
          <a:prstGeom prst="rect">
            <a:avLst/>
          </a:prstGeom>
          <a:noFill/>
          <a:ln/>
        </p:spPr>
        <p:txBody>
          <a:bodyPr wrap="square" lIns="0" tIns="0" rIns="0" bIns="0" rtlCol="0" anchor="ctr"/>
          <a:lstStyle/>
          <a:p>
            <a:pPr indent="0" marL="0">
              <a:buNone/>
            </a:pPr>
            <a:r>
              <a:rPr lang="en-US" sz="1000" dirty="0">
                <a:solidFill>
                  <a:srgbClr val="7A90A8"/>
                </a:solidFill>
              </a:rPr>
              <a:t>Minutes per test. A full E2E suite can take hours to run.</a:t>
            </a:r>
            <a:endParaRPr lang="en-US" sz="1000" dirty="0"/>
          </a:p>
        </p:txBody>
      </p:sp>
      <p:sp>
        <p:nvSpPr>
          <p:cNvPr id="11" name="Shape 9"/>
          <p:cNvSpPr/>
          <p:nvPr/>
        </p:nvSpPr>
        <p:spPr>
          <a:xfrm>
            <a:off x="457200" y="2176272"/>
            <a:ext cx="54864" cy="274320"/>
          </a:xfrm>
          <a:prstGeom prst="rect">
            <a:avLst/>
          </a:prstGeom>
          <a:solidFill>
            <a:srgbClr val="B87820"/>
          </a:solidFill>
          <a:ln/>
        </p:spPr>
      </p:sp>
      <p:sp>
        <p:nvSpPr>
          <p:cNvPr id="12" name="Text 10"/>
          <p:cNvSpPr/>
          <p:nvPr/>
        </p:nvSpPr>
        <p:spPr>
          <a:xfrm>
            <a:off x="621792" y="2084832"/>
            <a:ext cx="640080" cy="256032"/>
          </a:xfrm>
          <a:prstGeom prst="rect">
            <a:avLst/>
          </a:prstGeom>
          <a:noFill/>
          <a:ln/>
        </p:spPr>
        <p:txBody>
          <a:bodyPr wrap="square" lIns="0" tIns="0" rIns="0" bIns="0" rtlCol="0" anchor="ctr"/>
          <a:lstStyle/>
          <a:p>
            <a:pPr indent="0" marL="0">
              <a:buNone/>
            </a:pPr>
            <a:r>
              <a:rPr lang="en-US" sz="1100" b="1" dirty="0">
                <a:solidFill>
                  <a:srgbClr val="B87820"/>
                </a:solidFill>
              </a:rPr>
              <a:t>Brittle</a:t>
            </a:r>
            <a:endParaRPr lang="en-US" sz="1100" dirty="0"/>
          </a:p>
        </p:txBody>
      </p:sp>
      <p:sp>
        <p:nvSpPr>
          <p:cNvPr id="13" name="Text 11"/>
          <p:cNvSpPr/>
          <p:nvPr/>
        </p:nvSpPr>
        <p:spPr>
          <a:xfrm>
            <a:off x="1316736" y="2084832"/>
            <a:ext cx="3017520" cy="256032"/>
          </a:xfrm>
          <a:prstGeom prst="rect">
            <a:avLst/>
          </a:prstGeom>
          <a:noFill/>
          <a:ln/>
        </p:spPr>
        <p:txBody>
          <a:bodyPr wrap="square" lIns="0" tIns="0" rIns="0" bIns="0" rtlCol="0" anchor="ctr"/>
          <a:lstStyle/>
          <a:p>
            <a:pPr indent="0" marL="0">
              <a:buNone/>
            </a:pPr>
            <a:r>
              <a:rPr lang="en-US" sz="1000" dirty="0">
                <a:solidFill>
                  <a:srgbClr val="7A90A8"/>
                </a:solidFill>
              </a:rPr>
              <a:t>Any change in UI, API contract, or data model can break the test.</a:t>
            </a:r>
            <a:endParaRPr lang="en-US" sz="1000" dirty="0"/>
          </a:p>
        </p:txBody>
      </p:sp>
      <p:sp>
        <p:nvSpPr>
          <p:cNvPr id="14" name="Shape 12"/>
          <p:cNvSpPr/>
          <p:nvPr/>
        </p:nvSpPr>
        <p:spPr>
          <a:xfrm>
            <a:off x="457200" y="2651760"/>
            <a:ext cx="54864" cy="274320"/>
          </a:xfrm>
          <a:prstGeom prst="rect">
            <a:avLst/>
          </a:prstGeom>
          <a:solidFill>
            <a:srgbClr val="8096B0"/>
          </a:solidFill>
          <a:ln/>
        </p:spPr>
      </p:sp>
      <p:sp>
        <p:nvSpPr>
          <p:cNvPr id="15" name="Text 13"/>
          <p:cNvSpPr/>
          <p:nvPr/>
        </p:nvSpPr>
        <p:spPr>
          <a:xfrm>
            <a:off x="621792" y="2560320"/>
            <a:ext cx="640080" cy="256032"/>
          </a:xfrm>
          <a:prstGeom prst="rect">
            <a:avLst/>
          </a:prstGeom>
          <a:noFill/>
          <a:ln/>
        </p:spPr>
        <p:txBody>
          <a:bodyPr wrap="square" lIns="0" tIns="0" rIns="0" bIns="0" rtlCol="0" anchor="ctr"/>
          <a:lstStyle/>
          <a:p>
            <a:pPr indent="0" marL="0">
              <a:buNone/>
            </a:pPr>
            <a:r>
              <a:rPr lang="en-US" sz="1100" b="1" dirty="0">
                <a:solidFill>
                  <a:srgbClr val="8096B0"/>
                </a:solidFill>
              </a:rPr>
              <a:t>Cross-team</a:t>
            </a:r>
            <a:endParaRPr lang="en-US" sz="1100" dirty="0"/>
          </a:p>
        </p:txBody>
      </p:sp>
      <p:sp>
        <p:nvSpPr>
          <p:cNvPr id="16" name="Text 14"/>
          <p:cNvSpPr/>
          <p:nvPr/>
        </p:nvSpPr>
        <p:spPr>
          <a:xfrm>
            <a:off x="1316736" y="2560320"/>
            <a:ext cx="3017520" cy="256032"/>
          </a:xfrm>
          <a:prstGeom prst="rect">
            <a:avLst/>
          </a:prstGeom>
          <a:noFill/>
          <a:ln/>
        </p:spPr>
        <p:txBody>
          <a:bodyPr wrap="square" lIns="0" tIns="0" rIns="0" bIns="0" rtlCol="0" anchor="ctr"/>
          <a:lstStyle/>
          <a:p>
            <a:pPr indent="0" marL="0">
              <a:buNone/>
            </a:pPr>
            <a:r>
              <a:rPr lang="en-US" sz="1000" dirty="0">
                <a:solidFill>
                  <a:srgbClr val="7A90A8"/>
                </a:solidFill>
              </a:rPr>
              <a:t>A test traversing another team's system will break when they change theirs.</a:t>
            </a:r>
            <a:endParaRPr lang="en-US" sz="1000" dirty="0"/>
          </a:p>
        </p:txBody>
      </p:sp>
      <p:sp>
        <p:nvSpPr>
          <p:cNvPr id="17" name="Shape 15"/>
          <p:cNvSpPr/>
          <p:nvPr/>
        </p:nvSpPr>
        <p:spPr>
          <a:xfrm>
            <a:off x="4663440" y="1170432"/>
            <a:ext cx="4160520" cy="1901952"/>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8" name="Shape 16"/>
          <p:cNvSpPr/>
          <p:nvPr/>
        </p:nvSpPr>
        <p:spPr>
          <a:xfrm>
            <a:off x="4663440" y="1170432"/>
            <a:ext cx="4160520" cy="347472"/>
          </a:xfrm>
          <a:prstGeom prst="rect">
            <a:avLst/>
          </a:prstGeom>
          <a:solidFill>
            <a:srgbClr val="3A7E6E">
              <a:alpha val="82000"/>
            </a:srgbClr>
          </a:solidFill>
          <a:ln/>
        </p:spPr>
      </p:sp>
      <p:sp>
        <p:nvSpPr>
          <p:cNvPr id="19" name="Text 17"/>
          <p:cNvSpPr/>
          <p:nvPr/>
        </p:nvSpPr>
        <p:spPr>
          <a:xfrm>
            <a:off x="4800600" y="1170432"/>
            <a:ext cx="3840480" cy="347472"/>
          </a:xfrm>
          <a:prstGeom prst="rect">
            <a:avLst/>
          </a:prstGeom>
          <a:noFill/>
          <a:ln/>
        </p:spPr>
        <p:txBody>
          <a:bodyPr wrap="square" lIns="0" tIns="0" rIns="0" bIns="0" rtlCol="0" anchor="ctr"/>
          <a:lstStyle/>
          <a:p>
            <a:pPr indent="0" marL="0">
              <a:buNone/>
            </a:pPr>
            <a:r>
              <a:rPr lang="en-US" sz="1000" b="1" spc="100" kern="0" dirty="0">
                <a:solidFill>
                  <a:srgbClr val="FFFFFF"/>
                </a:solidFill>
              </a:rPr>
              <a:t>WHEN E2E COVERAGE IS WARRANTED</a:t>
            </a:r>
            <a:endParaRPr lang="en-US" sz="1000" dirty="0"/>
          </a:p>
        </p:txBody>
      </p:sp>
      <p:sp>
        <p:nvSpPr>
          <p:cNvPr id="20" name="Shape 18"/>
          <p:cNvSpPr/>
          <p:nvPr/>
        </p:nvSpPr>
        <p:spPr>
          <a:xfrm>
            <a:off x="4791456" y="1700784"/>
            <a:ext cx="54864" cy="274320"/>
          </a:xfrm>
          <a:prstGeom prst="rect">
            <a:avLst/>
          </a:prstGeom>
          <a:solidFill>
            <a:srgbClr val="3A7E6E"/>
          </a:solidFill>
          <a:ln/>
        </p:spPr>
      </p:sp>
      <p:sp>
        <p:nvSpPr>
          <p:cNvPr id="21" name="Text 19"/>
          <p:cNvSpPr/>
          <p:nvPr/>
        </p:nvSpPr>
        <p:spPr>
          <a:xfrm>
            <a:off x="4956048" y="1609344"/>
            <a:ext cx="3730752" cy="402336"/>
          </a:xfrm>
          <a:prstGeom prst="rect">
            <a:avLst/>
          </a:prstGeom>
          <a:noFill/>
          <a:ln/>
        </p:spPr>
        <p:txBody>
          <a:bodyPr wrap="square" lIns="0" tIns="0" rIns="0" bIns="0" rtlCol="0" anchor="ctr"/>
          <a:lstStyle/>
          <a:p>
            <a:pPr indent="0" marL="0">
              <a:buNone/>
            </a:pPr>
            <a:r>
              <a:rPr lang="en-US" sz="1000" dirty="0">
                <a:solidFill>
                  <a:srgbClr val="7A90A8"/>
                </a:solidFill>
              </a:rPr>
              <a:t>Core user journeys — if broken, the product is unusable</a:t>
            </a:r>
            <a:endParaRPr lang="en-US" sz="1000" dirty="0"/>
          </a:p>
        </p:txBody>
      </p:sp>
      <p:sp>
        <p:nvSpPr>
          <p:cNvPr id="22" name="Shape 20"/>
          <p:cNvSpPr/>
          <p:nvPr/>
        </p:nvSpPr>
        <p:spPr>
          <a:xfrm>
            <a:off x="4791456" y="2176272"/>
            <a:ext cx="54864" cy="274320"/>
          </a:xfrm>
          <a:prstGeom prst="rect">
            <a:avLst/>
          </a:prstGeom>
          <a:solidFill>
            <a:srgbClr val="3A7E6E"/>
          </a:solidFill>
          <a:ln/>
        </p:spPr>
      </p:sp>
      <p:sp>
        <p:nvSpPr>
          <p:cNvPr id="23" name="Text 21"/>
          <p:cNvSpPr/>
          <p:nvPr/>
        </p:nvSpPr>
        <p:spPr>
          <a:xfrm>
            <a:off x="4956048" y="2084832"/>
            <a:ext cx="3730752" cy="402336"/>
          </a:xfrm>
          <a:prstGeom prst="rect">
            <a:avLst/>
          </a:prstGeom>
          <a:noFill/>
          <a:ln/>
        </p:spPr>
        <p:txBody>
          <a:bodyPr wrap="square" lIns="0" tIns="0" rIns="0" bIns="0" rtlCol="0" anchor="ctr"/>
          <a:lstStyle/>
          <a:p>
            <a:pPr indent="0" marL="0">
              <a:buNone/>
            </a:pPr>
            <a:r>
              <a:rPr lang="en-US" sz="1000" dirty="0">
                <a:solidFill>
                  <a:srgbClr val="7A90A8"/>
                </a:solidFill>
              </a:rPr>
              <a:t>Flows with regulatory obligations (payment, data handling)</a:t>
            </a:r>
            <a:endParaRPr lang="en-US" sz="1000" dirty="0"/>
          </a:p>
        </p:txBody>
      </p:sp>
      <p:sp>
        <p:nvSpPr>
          <p:cNvPr id="24" name="Shape 22"/>
          <p:cNvSpPr/>
          <p:nvPr/>
        </p:nvSpPr>
        <p:spPr>
          <a:xfrm>
            <a:off x="4791456" y="2651760"/>
            <a:ext cx="54864" cy="274320"/>
          </a:xfrm>
          <a:prstGeom prst="rect">
            <a:avLst/>
          </a:prstGeom>
          <a:solidFill>
            <a:srgbClr val="3A7E6E"/>
          </a:solidFill>
          <a:ln/>
        </p:spPr>
      </p:sp>
      <p:sp>
        <p:nvSpPr>
          <p:cNvPr id="25" name="Text 23"/>
          <p:cNvSpPr/>
          <p:nvPr/>
        </p:nvSpPr>
        <p:spPr>
          <a:xfrm>
            <a:off x="4956048" y="2560320"/>
            <a:ext cx="3730752" cy="402336"/>
          </a:xfrm>
          <a:prstGeom prst="rect">
            <a:avLst/>
          </a:prstGeom>
          <a:noFill/>
          <a:ln/>
        </p:spPr>
        <p:txBody>
          <a:bodyPr wrap="square" lIns="0" tIns="0" rIns="0" bIns="0" rtlCol="0" anchor="ctr"/>
          <a:lstStyle/>
          <a:p>
            <a:pPr indent="0" marL="0">
              <a:buNone/>
            </a:pPr>
            <a:r>
              <a:rPr lang="en-US" sz="1000" dirty="0">
                <a:solidFill>
                  <a:srgbClr val="7A90A8"/>
                </a:solidFill>
              </a:rPr>
              <a:t>High-impact cross-team integrations that have previously broken</a:t>
            </a:r>
            <a:endParaRPr lang="en-US" sz="1000" dirty="0"/>
          </a:p>
        </p:txBody>
      </p:sp>
      <p:sp>
        <p:nvSpPr>
          <p:cNvPr id="26" name="Shape 24"/>
          <p:cNvSpPr/>
          <p:nvPr/>
        </p:nvSpPr>
        <p:spPr>
          <a:xfrm>
            <a:off x="320040" y="3182112"/>
            <a:ext cx="8503920" cy="1810512"/>
          </a:xfrm>
          <a:prstGeom prst="rect">
            <a:avLst/>
          </a:prstGeom>
          <a:solidFill>
            <a:srgbClr val="1C3557">
              <a:alpha val="95000"/>
            </a:srgbClr>
          </a:solidFill>
          <a:ln/>
          <a:effectLst>
            <a:outerShdw sx="100000" sy="100000" kx="0" ky="0" algn="bl" rotWithShape="0" blurRad="101600" dist="38100" dir="8100000">
              <a:srgbClr val="000000">
                <a:alpha val="13000"/>
              </a:srgbClr>
            </a:outerShdw>
          </a:effectLst>
        </p:spPr>
      </p:sp>
      <p:sp>
        <p:nvSpPr>
          <p:cNvPr id="27" name="Text 25"/>
          <p:cNvSpPr/>
          <p:nvPr/>
        </p:nvSpPr>
        <p:spPr>
          <a:xfrm>
            <a:off x="502920" y="3255264"/>
            <a:ext cx="8229600" cy="274320"/>
          </a:xfrm>
          <a:prstGeom prst="rect">
            <a:avLst/>
          </a:prstGeom>
          <a:noFill/>
          <a:ln/>
        </p:spPr>
        <p:txBody>
          <a:bodyPr wrap="square" lIns="0" tIns="0" rIns="0" bIns="0" rtlCol="0" anchor="ctr"/>
          <a:lstStyle/>
          <a:p>
            <a:pPr indent="0" marL="0">
              <a:buNone/>
            </a:pPr>
            <a:r>
              <a:rPr lang="en-US" sz="1050" b="1" spc="200" kern="0" dirty="0">
                <a:solidFill>
                  <a:srgbClr val="5B8DB8"/>
                </a:solidFill>
              </a:rPr>
              <a:t>CROSS-TEAM OWNERSHIP MODEL</a:t>
            </a:r>
            <a:endParaRPr lang="en-US" sz="1050" dirty="0"/>
          </a:p>
        </p:txBody>
      </p:sp>
      <p:sp>
        <p:nvSpPr>
          <p:cNvPr id="28" name="Shape 26"/>
          <p:cNvSpPr/>
          <p:nvPr/>
        </p:nvSpPr>
        <p:spPr>
          <a:xfrm>
            <a:off x="457200" y="3694176"/>
            <a:ext cx="54864" cy="201168"/>
          </a:xfrm>
          <a:prstGeom prst="rect">
            <a:avLst/>
          </a:prstGeom>
          <a:solidFill>
            <a:srgbClr val="3A7DC9"/>
          </a:solidFill>
          <a:ln/>
        </p:spPr>
      </p:sp>
      <p:sp>
        <p:nvSpPr>
          <p:cNvPr id="29" name="Text 27"/>
          <p:cNvSpPr/>
          <p:nvPr/>
        </p:nvSpPr>
        <p:spPr>
          <a:xfrm>
            <a:off x="621792" y="3621024"/>
            <a:ext cx="8065008" cy="292608"/>
          </a:xfrm>
          <a:prstGeom prst="rect">
            <a:avLst/>
          </a:prstGeom>
          <a:noFill/>
          <a:ln/>
        </p:spPr>
        <p:txBody>
          <a:bodyPr wrap="square" lIns="0" tIns="0" rIns="0" bIns="0" rtlCol="0" anchor="ctr"/>
          <a:lstStyle/>
          <a:p>
            <a:pPr indent="0" marL="0">
              <a:buNone/>
            </a:pPr>
            <a:r>
              <a:rPr lang="en-US" sz="1000" dirty="0">
                <a:solidFill>
                  <a:srgbClr val="D4E4F0"/>
                </a:solidFill>
              </a:rPr>
              <a:t>Before writing an E2E test that traverses another team's system — get explicit agreement from that team that they will help maintain it.</a:t>
            </a:r>
            <a:endParaRPr lang="en-US" sz="1000" dirty="0"/>
          </a:p>
        </p:txBody>
      </p:sp>
      <p:sp>
        <p:nvSpPr>
          <p:cNvPr id="30" name="Shape 28"/>
          <p:cNvSpPr/>
          <p:nvPr/>
        </p:nvSpPr>
        <p:spPr>
          <a:xfrm>
            <a:off x="457200" y="4023360"/>
            <a:ext cx="54864" cy="201168"/>
          </a:xfrm>
          <a:prstGeom prst="rect">
            <a:avLst/>
          </a:prstGeom>
          <a:solidFill>
            <a:srgbClr val="4A7FA8"/>
          </a:solidFill>
          <a:ln/>
        </p:spPr>
      </p:sp>
      <p:sp>
        <p:nvSpPr>
          <p:cNvPr id="31" name="Text 29"/>
          <p:cNvSpPr/>
          <p:nvPr/>
        </p:nvSpPr>
        <p:spPr>
          <a:xfrm>
            <a:off x="621792" y="3950208"/>
            <a:ext cx="8065008" cy="292608"/>
          </a:xfrm>
          <a:prstGeom prst="rect">
            <a:avLst/>
          </a:prstGeom>
          <a:noFill/>
          <a:ln/>
        </p:spPr>
        <p:txBody>
          <a:bodyPr wrap="square" lIns="0" tIns="0" rIns="0" bIns="0" rtlCol="0" anchor="ctr"/>
          <a:lstStyle/>
          <a:p>
            <a:pPr indent="0" marL="0">
              <a:buNone/>
            </a:pPr>
            <a:r>
              <a:rPr lang="en-US" sz="1000" dirty="0">
                <a:solidFill>
                  <a:srgbClr val="D4E4F0"/>
                </a:solidFill>
              </a:rPr>
              <a:t>Document ownership in the test file. Each team is responsible for fixing E2E failures caused by their own changes.</a:t>
            </a:r>
            <a:endParaRPr lang="en-US" sz="1000" dirty="0"/>
          </a:p>
        </p:txBody>
      </p:sp>
      <p:sp>
        <p:nvSpPr>
          <p:cNvPr id="32" name="Shape 30"/>
          <p:cNvSpPr/>
          <p:nvPr/>
        </p:nvSpPr>
        <p:spPr>
          <a:xfrm>
            <a:off x="457200" y="4352544"/>
            <a:ext cx="54864" cy="201168"/>
          </a:xfrm>
          <a:prstGeom prst="rect">
            <a:avLst/>
          </a:prstGeom>
          <a:solidFill>
            <a:srgbClr val="3A7E6E"/>
          </a:solidFill>
          <a:ln/>
        </p:spPr>
      </p:sp>
      <p:sp>
        <p:nvSpPr>
          <p:cNvPr id="33" name="Text 31"/>
          <p:cNvSpPr/>
          <p:nvPr/>
        </p:nvSpPr>
        <p:spPr>
          <a:xfrm>
            <a:off x="621792" y="4279392"/>
            <a:ext cx="8065008" cy="292608"/>
          </a:xfrm>
          <a:prstGeom prst="rect">
            <a:avLst/>
          </a:prstGeom>
          <a:noFill/>
          <a:ln/>
        </p:spPr>
        <p:txBody>
          <a:bodyPr wrap="square" lIns="0" tIns="0" rIns="0" bIns="0" rtlCol="0" anchor="ctr"/>
          <a:lstStyle/>
          <a:p>
            <a:pPr indent="0" marL="0">
              <a:buNone/>
            </a:pPr>
            <a:r>
              <a:rPr lang="en-US" sz="1000" dirty="0">
                <a:solidFill>
                  <a:srgbClr val="D4E4F0"/>
                </a:solidFill>
              </a:rPr>
              <a:t>Review the E2E suite quarterly. Prune untended tests; renegotiate ownership for suites that have changed in scope.</a:t>
            </a:r>
            <a:endParaRPr lang="en-US" sz="1000" dirty="0"/>
          </a:p>
        </p:txBody>
      </p:sp>
      <p:sp>
        <p:nvSpPr>
          <p:cNvPr id="34" name="Shape 32"/>
          <p:cNvSpPr/>
          <p:nvPr/>
        </p:nvSpPr>
        <p:spPr>
          <a:xfrm>
            <a:off x="457200" y="4681728"/>
            <a:ext cx="54864" cy="201168"/>
          </a:xfrm>
          <a:prstGeom prst="rect">
            <a:avLst/>
          </a:prstGeom>
          <a:solidFill>
            <a:srgbClr val="B87820"/>
          </a:solidFill>
          <a:ln/>
        </p:spPr>
      </p:sp>
      <p:sp>
        <p:nvSpPr>
          <p:cNvPr id="35" name="Text 33"/>
          <p:cNvSpPr/>
          <p:nvPr/>
        </p:nvSpPr>
        <p:spPr>
          <a:xfrm>
            <a:off x="621792" y="4608576"/>
            <a:ext cx="8065008" cy="292608"/>
          </a:xfrm>
          <a:prstGeom prst="rect">
            <a:avLst/>
          </a:prstGeom>
          <a:noFill/>
          <a:ln/>
        </p:spPr>
        <p:txBody>
          <a:bodyPr wrap="square" lIns="0" tIns="0" rIns="0" bIns="0" rtlCol="0" anchor="ctr"/>
          <a:lstStyle/>
          <a:p>
            <a:pPr indent="0" marL="0">
              <a:buNone/>
            </a:pPr>
            <a:r>
              <a:rPr lang="en-US" sz="1000" dirty="0">
                <a:solidFill>
                  <a:srgbClr val="D4E4F0"/>
                </a:solidFill>
              </a:rPr>
              <a:t>Unowned E2E tests are a smell. Either assign ownership — or delete them. An unowned test that breaks blocks everyone.</a:t>
            </a:r>
            <a:endParaRPr lang="en-US" sz="1000" dirty="0"/>
          </a:p>
        </p:txBody>
      </p:sp>
      <p:sp>
        <p:nvSpPr>
          <p:cNvPr id="36" name="Shape 34"/>
          <p:cNvSpPr/>
          <p:nvPr/>
        </p:nvSpPr>
        <p:spPr>
          <a:xfrm>
            <a:off x="320040" y="4828032"/>
            <a:ext cx="8503920" cy="256032"/>
          </a:xfrm>
          <a:prstGeom prst="rect">
            <a:avLst/>
          </a:prstGeom>
          <a:solidFill>
            <a:srgbClr val="7A90A8">
              <a:alpha val="20000"/>
            </a:srgbClr>
          </a:solidFill>
          <a:ln/>
        </p:spPr>
      </p:sp>
      <p:sp>
        <p:nvSpPr>
          <p:cNvPr id="37" name="Text 35"/>
          <p:cNvSpPr/>
          <p:nvPr/>
        </p:nvSpPr>
        <p:spPr>
          <a:xfrm>
            <a:off x="320040" y="4828032"/>
            <a:ext cx="8503920" cy="256032"/>
          </a:xfrm>
          <a:prstGeom prst="rect">
            <a:avLst/>
          </a:prstGeom>
          <a:noFill/>
          <a:ln/>
        </p:spPr>
        <p:txBody>
          <a:bodyPr wrap="square" lIns="0" tIns="0" rIns="0" bIns="0" rtlCol="0" anchor="ctr"/>
          <a:lstStyle/>
          <a:p>
            <a:pPr algn="ctr" indent="0" marL="0">
              <a:buNone/>
            </a:pPr>
            <a:r>
              <a:rPr lang="en-US" sz="900" i="1" dirty="0">
                <a:solidFill>
                  <a:srgbClr val="1E2D3D"/>
                </a:solidFill>
              </a:rPr>
              <a:t>Not warranted:  Edge cases / error paths — unit and integration tests cover these better  ·  New features before the implementation is stable  ·  Flows already fully covered by functional contract tests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LAB EXERCISE</a:t>
            </a:r>
            <a:endParaRPr lang="en-US" sz="1300" dirty="0"/>
          </a:p>
        </p:txBody>
      </p:sp>
      <p:sp>
        <p:nvSpPr>
          <p:cNvPr id="4" name="Text 2"/>
          <p:cNvSpPr/>
          <p:nvPr/>
        </p:nvSpPr>
        <p:spPr>
          <a:xfrm>
            <a:off x="365760" y="822960"/>
            <a:ext cx="8412480" cy="256032"/>
          </a:xfrm>
          <a:prstGeom prst="rect">
            <a:avLst/>
          </a:prstGeom>
          <a:noFill/>
          <a:ln/>
        </p:spPr>
        <p:txBody>
          <a:bodyPr wrap="square" lIns="0" tIns="0" rIns="0" bIns="0" rtlCol="0" anchor="ctr"/>
          <a:lstStyle/>
          <a:p>
            <a:pPr indent="0" marL="0">
              <a:buNone/>
            </a:pPr>
            <a:r>
              <a:rPr lang="en-US" sz="1150" i="1" dirty="0">
                <a:solidFill>
                  <a:srgbClr val="7A90A8"/>
                </a:solidFill>
              </a:rPr>
              <a:t>Use a real project, a representative sample repository, or the training sample codebase</a:t>
            </a:r>
            <a:endParaRPr lang="en-US" sz="1150" dirty="0"/>
          </a:p>
        </p:txBody>
      </p:sp>
      <p:sp>
        <p:nvSpPr>
          <p:cNvPr id="5" name="Shape 3"/>
          <p:cNvSpPr/>
          <p:nvPr/>
        </p:nvSpPr>
        <p:spPr>
          <a:xfrm>
            <a:off x="320040" y="1170432"/>
            <a:ext cx="8503920" cy="82296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70432"/>
            <a:ext cx="475488" cy="822960"/>
          </a:xfrm>
          <a:prstGeom prst="rect">
            <a:avLst/>
          </a:prstGeom>
          <a:solidFill>
            <a:srgbClr val="3A7DC9"/>
          </a:solidFill>
          <a:ln/>
        </p:spPr>
      </p:sp>
      <p:sp>
        <p:nvSpPr>
          <p:cNvPr id="7" name="Text 5"/>
          <p:cNvSpPr/>
          <p:nvPr/>
        </p:nvSpPr>
        <p:spPr>
          <a:xfrm>
            <a:off x="320040" y="1170432"/>
            <a:ext cx="475488" cy="82296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8" name="Text 6"/>
          <p:cNvSpPr/>
          <p:nvPr/>
        </p:nvSpPr>
        <p:spPr>
          <a:xfrm>
            <a:off x="896112" y="1207008"/>
            <a:ext cx="2194560" cy="274320"/>
          </a:xfrm>
          <a:prstGeom prst="rect">
            <a:avLst/>
          </a:prstGeom>
          <a:noFill/>
          <a:ln/>
        </p:spPr>
        <p:txBody>
          <a:bodyPr wrap="square" lIns="0" tIns="0" rIns="0" bIns="0" rtlCol="0" anchor="ctr"/>
          <a:lstStyle/>
          <a:p>
            <a:pPr indent="0" marL="0">
              <a:buNone/>
            </a:pPr>
            <a:r>
              <a:rPr lang="en-US" sz="1200" b="1" dirty="0">
                <a:solidFill>
                  <a:srgbClr val="1C3557"/>
                </a:solidFill>
              </a:rPr>
              <a:t>Write three testable ACs</a:t>
            </a:r>
            <a:endParaRPr lang="en-US" sz="1200" dirty="0"/>
          </a:p>
        </p:txBody>
      </p:sp>
      <p:sp>
        <p:nvSpPr>
          <p:cNvPr id="9" name="Shape 7"/>
          <p:cNvSpPr/>
          <p:nvPr/>
        </p:nvSpPr>
        <p:spPr>
          <a:xfrm>
            <a:off x="896112" y="1517904"/>
            <a:ext cx="685800" cy="201168"/>
          </a:xfrm>
          <a:prstGeom prst="rect">
            <a:avLst/>
          </a:prstGeom>
          <a:solidFill>
            <a:srgbClr val="3A7DC9">
              <a:alpha val="20000"/>
            </a:srgbClr>
          </a:solidFill>
          <a:ln/>
        </p:spPr>
      </p:sp>
      <p:sp>
        <p:nvSpPr>
          <p:cNvPr id="10" name="Text 8"/>
          <p:cNvSpPr/>
          <p:nvPr/>
        </p:nvSpPr>
        <p:spPr>
          <a:xfrm>
            <a:off x="896112" y="1517904"/>
            <a:ext cx="685800" cy="201168"/>
          </a:xfrm>
          <a:prstGeom prst="rect">
            <a:avLst/>
          </a:prstGeom>
          <a:noFill/>
          <a:ln/>
        </p:spPr>
        <p:txBody>
          <a:bodyPr wrap="square" lIns="0" tIns="0" rIns="0" bIns="0" rtlCol="0" anchor="ctr"/>
          <a:lstStyle/>
          <a:p>
            <a:pPr algn="ctr" indent="0" marL="0">
              <a:buNone/>
            </a:pPr>
            <a:r>
              <a:rPr lang="en-US" sz="1000" b="1" dirty="0">
                <a:solidFill>
                  <a:srgbClr val="3A7DC9"/>
                </a:solidFill>
              </a:rPr>
              <a:t>10 min</a:t>
            </a:r>
            <a:endParaRPr lang="en-US" sz="1000" dirty="0"/>
          </a:p>
        </p:txBody>
      </p:sp>
      <p:sp>
        <p:nvSpPr>
          <p:cNvPr id="11" name="Text 9"/>
          <p:cNvSpPr/>
          <p:nvPr/>
        </p:nvSpPr>
        <p:spPr>
          <a:xfrm>
            <a:off x="1700784" y="1225296"/>
            <a:ext cx="7022592" cy="713232"/>
          </a:xfrm>
          <a:prstGeom prst="rect">
            <a:avLst/>
          </a:prstGeom>
          <a:noFill/>
          <a:ln/>
        </p:spPr>
        <p:txBody>
          <a:bodyPr wrap="square" lIns="0" tIns="0" rIns="0" bIns="0" rtlCol="0" anchor="ctr"/>
          <a:lstStyle/>
          <a:p>
            <a:pPr indent="0" marL="0">
              <a:buNone/>
            </a:pPr>
            <a:r>
              <a:rPr lang="en-US" sz="1000" dirty="0">
                <a:solidFill>
                  <a:srgbClr val="7A90A8"/>
                </a:solidFill>
              </a:rPr>
              <a:t>Take a feature from a current project. Rewrite three ACs using the testable format: specific, measurable, unambiguous, bounded. For each AC, write the test name (not code) that would verify it. Do the names make sense without reading the AC? If not, the AC needs to be more specific.</a:t>
            </a:r>
            <a:endParaRPr lang="en-US" sz="1000" dirty="0"/>
          </a:p>
        </p:txBody>
      </p:sp>
      <p:sp>
        <p:nvSpPr>
          <p:cNvPr id="12" name="Shape 10"/>
          <p:cNvSpPr/>
          <p:nvPr/>
        </p:nvSpPr>
        <p:spPr>
          <a:xfrm>
            <a:off x="320040" y="2084832"/>
            <a:ext cx="8503920" cy="82296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3" name="Shape 11"/>
          <p:cNvSpPr/>
          <p:nvPr/>
        </p:nvSpPr>
        <p:spPr>
          <a:xfrm>
            <a:off x="320040" y="2084832"/>
            <a:ext cx="475488" cy="822960"/>
          </a:xfrm>
          <a:prstGeom prst="rect">
            <a:avLst/>
          </a:prstGeom>
          <a:solidFill>
            <a:srgbClr val="4A7FA8"/>
          </a:solidFill>
          <a:ln/>
        </p:spPr>
      </p:sp>
      <p:sp>
        <p:nvSpPr>
          <p:cNvPr id="14" name="Text 12"/>
          <p:cNvSpPr/>
          <p:nvPr/>
        </p:nvSpPr>
        <p:spPr>
          <a:xfrm>
            <a:off x="320040" y="2084832"/>
            <a:ext cx="475488" cy="82296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5" name="Text 13"/>
          <p:cNvSpPr/>
          <p:nvPr/>
        </p:nvSpPr>
        <p:spPr>
          <a:xfrm>
            <a:off x="896112" y="2121408"/>
            <a:ext cx="2194560" cy="274320"/>
          </a:xfrm>
          <a:prstGeom prst="rect">
            <a:avLst/>
          </a:prstGeom>
          <a:noFill/>
          <a:ln/>
        </p:spPr>
        <p:txBody>
          <a:bodyPr wrap="square" lIns="0" tIns="0" rIns="0" bIns="0" rtlCol="0" anchor="ctr"/>
          <a:lstStyle/>
          <a:p>
            <a:pPr indent="0" marL="0">
              <a:buNone/>
            </a:pPr>
            <a:r>
              <a:rPr lang="en-US" sz="1200" b="1" dirty="0">
                <a:solidFill>
                  <a:srgbClr val="1C3557"/>
                </a:solidFill>
              </a:rPr>
              <a:t>Apply the TDD cycle</a:t>
            </a:r>
            <a:endParaRPr lang="en-US" sz="1200" dirty="0"/>
          </a:p>
        </p:txBody>
      </p:sp>
      <p:sp>
        <p:nvSpPr>
          <p:cNvPr id="16" name="Shape 14"/>
          <p:cNvSpPr/>
          <p:nvPr/>
        </p:nvSpPr>
        <p:spPr>
          <a:xfrm>
            <a:off x="896112" y="2432304"/>
            <a:ext cx="685800" cy="201168"/>
          </a:xfrm>
          <a:prstGeom prst="rect">
            <a:avLst/>
          </a:prstGeom>
          <a:solidFill>
            <a:srgbClr val="4A7FA8">
              <a:alpha val="20000"/>
            </a:srgbClr>
          </a:solidFill>
          <a:ln/>
        </p:spPr>
      </p:sp>
      <p:sp>
        <p:nvSpPr>
          <p:cNvPr id="17" name="Text 15"/>
          <p:cNvSpPr/>
          <p:nvPr/>
        </p:nvSpPr>
        <p:spPr>
          <a:xfrm>
            <a:off x="896112" y="2432304"/>
            <a:ext cx="685800" cy="201168"/>
          </a:xfrm>
          <a:prstGeom prst="rect">
            <a:avLst/>
          </a:prstGeom>
          <a:noFill/>
          <a:ln/>
        </p:spPr>
        <p:txBody>
          <a:bodyPr wrap="square" lIns="0" tIns="0" rIns="0" bIns="0" rtlCol="0" anchor="ctr"/>
          <a:lstStyle/>
          <a:p>
            <a:pPr algn="ctr" indent="0" marL="0">
              <a:buNone/>
            </a:pPr>
            <a:r>
              <a:rPr lang="en-US" sz="1000" b="1" dirty="0">
                <a:solidFill>
                  <a:srgbClr val="4A7FA8"/>
                </a:solidFill>
              </a:rPr>
              <a:t>12 min</a:t>
            </a:r>
            <a:endParaRPr lang="en-US" sz="1000" dirty="0"/>
          </a:p>
        </p:txBody>
      </p:sp>
      <p:sp>
        <p:nvSpPr>
          <p:cNvPr id="18" name="Text 16"/>
          <p:cNvSpPr/>
          <p:nvPr/>
        </p:nvSpPr>
        <p:spPr>
          <a:xfrm>
            <a:off x="1700784" y="2139696"/>
            <a:ext cx="7022592" cy="713232"/>
          </a:xfrm>
          <a:prstGeom prst="rect">
            <a:avLst/>
          </a:prstGeom>
          <a:noFill/>
          <a:ln/>
        </p:spPr>
        <p:txBody>
          <a:bodyPr wrap="square" lIns="0" tIns="0" rIns="0" bIns="0" rtlCol="0" anchor="ctr"/>
          <a:lstStyle/>
          <a:p>
            <a:pPr indent="0" marL="0">
              <a:buNone/>
            </a:pPr>
            <a:r>
              <a:rPr lang="en-US" sz="1000" dirty="0">
                <a:solidFill>
                  <a:srgbClr val="7A90A8"/>
                </a:solidFill>
              </a:rPr>
              <a:t>Choose one testable AC. Write the failing test (Red) — verify it fails for the right reason. Write the minimum code to pass it (Green). Refactor the implementation without touching the test. If using an agent, instruct it to follow the TDD cycle explicitly and review each step.</a:t>
            </a:r>
            <a:endParaRPr lang="en-US" sz="1000" dirty="0"/>
          </a:p>
        </p:txBody>
      </p:sp>
      <p:sp>
        <p:nvSpPr>
          <p:cNvPr id="19" name="Shape 17"/>
          <p:cNvSpPr/>
          <p:nvPr/>
        </p:nvSpPr>
        <p:spPr>
          <a:xfrm>
            <a:off x="320040" y="2999232"/>
            <a:ext cx="8503920" cy="82296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20" name="Shape 18"/>
          <p:cNvSpPr/>
          <p:nvPr/>
        </p:nvSpPr>
        <p:spPr>
          <a:xfrm>
            <a:off x="320040" y="2999232"/>
            <a:ext cx="475488" cy="822960"/>
          </a:xfrm>
          <a:prstGeom prst="rect">
            <a:avLst/>
          </a:prstGeom>
          <a:solidFill>
            <a:srgbClr val="3A7E6E"/>
          </a:solidFill>
          <a:ln/>
        </p:spPr>
      </p:sp>
      <p:sp>
        <p:nvSpPr>
          <p:cNvPr id="21" name="Text 19"/>
          <p:cNvSpPr/>
          <p:nvPr/>
        </p:nvSpPr>
        <p:spPr>
          <a:xfrm>
            <a:off x="320040" y="2999232"/>
            <a:ext cx="475488" cy="82296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2" name="Text 20"/>
          <p:cNvSpPr/>
          <p:nvPr/>
        </p:nvSpPr>
        <p:spPr>
          <a:xfrm>
            <a:off x="896112" y="3035808"/>
            <a:ext cx="2194560" cy="274320"/>
          </a:xfrm>
          <a:prstGeom prst="rect">
            <a:avLst/>
          </a:prstGeom>
          <a:noFill/>
          <a:ln/>
        </p:spPr>
        <p:txBody>
          <a:bodyPr wrap="square" lIns="0" tIns="0" rIns="0" bIns="0" rtlCol="0" anchor="ctr"/>
          <a:lstStyle/>
          <a:p>
            <a:pPr indent="0" marL="0">
              <a:buNone/>
            </a:pPr>
            <a:r>
              <a:rPr lang="en-US" sz="1200" b="1" dirty="0">
                <a:solidFill>
                  <a:srgbClr val="1C3557"/>
                </a:solidFill>
              </a:rPr>
              <a:t>Audit coverage and the DoD gate</a:t>
            </a:r>
            <a:endParaRPr lang="en-US" sz="1200" dirty="0"/>
          </a:p>
        </p:txBody>
      </p:sp>
      <p:sp>
        <p:nvSpPr>
          <p:cNvPr id="23" name="Shape 21"/>
          <p:cNvSpPr/>
          <p:nvPr/>
        </p:nvSpPr>
        <p:spPr>
          <a:xfrm>
            <a:off x="896112" y="3346704"/>
            <a:ext cx="685800" cy="201168"/>
          </a:xfrm>
          <a:prstGeom prst="rect">
            <a:avLst/>
          </a:prstGeom>
          <a:solidFill>
            <a:srgbClr val="3A7E6E">
              <a:alpha val="20000"/>
            </a:srgbClr>
          </a:solidFill>
          <a:ln/>
        </p:spPr>
      </p:sp>
      <p:sp>
        <p:nvSpPr>
          <p:cNvPr id="24" name="Text 22"/>
          <p:cNvSpPr/>
          <p:nvPr/>
        </p:nvSpPr>
        <p:spPr>
          <a:xfrm>
            <a:off x="896112" y="3346704"/>
            <a:ext cx="685800" cy="201168"/>
          </a:xfrm>
          <a:prstGeom prst="rect">
            <a:avLst/>
          </a:prstGeom>
          <a:noFill/>
          <a:ln/>
        </p:spPr>
        <p:txBody>
          <a:bodyPr wrap="square" lIns="0" tIns="0" rIns="0" bIns="0" rtlCol="0" anchor="ctr"/>
          <a:lstStyle/>
          <a:p>
            <a:pPr algn="ctr" indent="0" marL="0">
              <a:buNone/>
            </a:pPr>
            <a:r>
              <a:rPr lang="en-US" sz="1000" b="1" dirty="0">
                <a:solidFill>
                  <a:srgbClr val="3A7E6E"/>
                </a:solidFill>
              </a:rPr>
              <a:t>10 min</a:t>
            </a:r>
            <a:endParaRPr lang="en-US" sz="1000" dirty="0"/>
          </a:p>
        </p:txBody>
      </p:sp>
      <p:sp>
        <p:nvSpPr>
          <p:cNvPr id="25" name="Text 23"/>
          <p:cNvSpPr/>
          <p:nvPr/>
        </p:nvSpPr>
        <p:spPr>
          <a:xfrm>
            <a:off x="1700784" y="3054096"/>
            <a:ext cx="7022592" cy="713232"/>
          </a:xfrm>
          <a:prstGeom prst="rect">
            <a:avLst/>
          </a:prstGeom>
          <a:noFill/>
          <a:ln/>
        </p:spPr>
        <p:txBody>
          <a:bodyPr wrap="square" lIns="0" tIns="0" rIns="0" bIns="0" rtlCol="0" anchor="ctr"/>
          <a:lstStyle/>
          <a:p>
            <a:pPr indent="0" marL="0">
              <a:buNone/>
            </a:pPr>
            <a:r>
              <a:rPr lang="en-US" sz="1000" dirty="0">
                <a:solidFill>
                  <a:srgbClr val="7A90A8"/>
                </a:solidFill>
              </a:rPr>
              <a:t>Run the test suite with coverage. What is the current percentage? Write (or find) the CI configuration that enforces the 85% threshold. Identify one area below 60%: what AC would drive tests to bring it above 85%?</a:t>
            </a:r>
            <a:endParaRPr lang="en-US" sz="1000" dirty="0"/>
          </a:p>
        </p:txBody>
      </p:sp>
      <p:sp>
        <p:nvSpPr>
          <p:cNvPr id="26" name="Shape 24"/>
          <p:cNvSpPr/>
          <p:nvPr/>
        </p:nvSpPr>
        <p:spPr>
          <a:xfrm>
            <a:off x="320040" y="3913632"/>
            <a:ext cx="8503920" cy="82296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27" name="Shape 25"/>
          <p:cNvSpPr/>
          <p:nvPr/>
        </p:nvSpPr>
        <p:spPr>
          <a:xfrm>
            <a:off x="320040" y="3913632"/>
            <a:ext cx="475488" cy="822960"/>
          </a:xfrm>
          <a:prstGeom prst="rect">
            <a:avLst/>
          </a:prstGeom>
          <a:solidFill>
            <a:srgbClr val="8096B0"/>
          </a:solidFill>
          <a:ln/>
        </p:spPr>
      </p:sp>
      <p:sp>
        <p:nvSpPr>
          <p:cNvPr id="28" name="Text 26"/>
          <p:cNvSpPr/>
          <p:nvPr/>
        </p:nvSpPr>
        <p:spPr>
          <a:xfrm>
            <a:off x="320040" y="3913632"/>
            <a:ext cx="475488" cy="82296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9" name="Text 27"/>
          <p:cNvSpPr/>
          <p:nvPr/>
        </p:nvSpPr>
        <p:spPr>
          <a:xfrm>
            <a:off x="896112" y="3950208"/>
            <a:ext cx="2194560" cy="274320"/>
          </a:xfrm>
          <a:prstGeom prst="rect">
            <a:avLst/>
          </a:prstGeom>
          <a:noFill/>
          <a:ln/>
        </p:spPr>
        <p:txBody>
          <a:bodyPr wrap="square" lIns="0" tIns="0" rIns="0" bIns="0" rtlCol="0" anchor="ctr"/>
          <a:lstStyle/>
          <a:p>
            <a:pPr indent="0" marL="0">
              <a:buNone/>
            </a:pPr>
            <a:r>
              <a:rPr lang="en-US" sz="1200" b="1" dirty="0">
                <a:solidFill>
                  <a:srgbClr val="1C3557"/>
                </a:solidFill>
              </a:rPr>
              <a:t>Scope your E2E tests</a:t>
            </a:r>
            <a:endParaRPr lang="en-US" sz="1200" dirty="0"/>
          </a:p>
        </p:txBody>
      </p:sp>
      <p:sp>
        <p:nvSpPr>
          <p:cNvPr id="30" name="Shape 28"/>
          <p:cNvSpPr/>
          <p:nvPr/>
        </p:nvSpPr>
        <p:spPr>
          <a:xfrm>
            <a:off x="896112" y="4261104"/>
            <a:ext cx="685800" cy="201168"/>
          </a:xfrm>
          <a:prstGeom prst="rect">
            <a:avLst/>
          </a:prstGeom>
          <a:solidFill>
            <a:srgbClr val="8096B0">
              <a:alpha val="20000"/>
            </a:srgbClr>
          </a:solidFill>
          <a:ln/>
        </p:spPr>
      </p:sp>
      <p:sp>
        <p:nvSpPr>
          <p:cNvPr id="31" name="Text 29"/>
          <p:cNvSpPr/>
          <p:nvPr/>
        </p:nvSpPr>
        <p:spPr>
          <a:xfrm>
            <a:off x="896112" y="4261104"/>
            <a:ext cx="685800" cy="201168"/>
          </a:xfrm>
          <a:prstGeom prst="rect">
            <a:avLst/>
          </a:prstGeom>
          <a:noFill/>
          <a:ln/>
        </p:spPr>
        <p:txBody>
          <a:bodyPr wrap="square" lIns="0" tIns="0" rIns="0" bIns="0" rtlCol="0" anchor="ctr"/>
          <a:lstStyle/>
          <a:p>
            <a:pPr algn="ctr" indent="0" marL="0">
              <a:buNone/>
            </a:pPr>
            <a:r>
              <a:rPr lang="en-US" sz="1000" b="1" dirty="0">
                <a:solidFill>
                  <a:srgbClr val="8096B0"/>
                </a:solidFill>
              </a:rPr>
              <a:t>8 min</a:t>
            </a:r>
            <a:endParaRPr lang="en-US" sz="1000" dirty="0"/>
          </a:p>
        </p:txBody>
      </p:sp>
      <p:sp>
        <p:nvSpPr>
          <p:cNvPr id="32" name="Text 30"/>
          <p:cNvSpPr/>
          <p:nvPr/>
        </p:nvSpPr>
        <p:spPr>
          <a:xfrm>
            <a:off x="1700784" y="3968496"/>
            <a:ext cx="7022592" cy="713232"/>
          </a:xfrm>
          <a:prstGeom prst="rect">
            <a:avLst/>
          </a:prstGeom>
          <a:noFill/>
          <a:ln/>
        </p:spPr>
        <p:txBody>
          <a:bodyPr wrap="square" lIns="0" tIns="0" rIns="0" bIns="0" rtlCol="0" anchor="ctr"/>
          <a:lstStyle/>
          <a:p>
            <a:pPr indent="0" marL="0">
              <a:buNone/>
            </a:pPr>
            <a:r>
              <a:rPr lang="en-US" sz="1000" dirty="0">
                <a:solidFill>
                  <a:srgbClr val="7A90A8"/>
                </a:solidFill>
              </a:rPr>
              <a:t>Identify three user journeys. For each: does it warrant E2E coverage? Apply the criteria — core flow, regulatory obligation, high-impact integration. For each that does: who owns it? If it crosses another team's boundary, is there an agreement? Mark unowned tests for governance review.</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3557"/>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E5073"/>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300" b="1" spc="300" kern="0" dirty="0">
                <a:solidFill>
                  <a:srgbClr val="FFFFFF"/>
                </a:solidFill>
              </a:rPr>
              <a:t>MODULE 05  —  DISCUSSION &amp; KEY TAKEAWAYS</a:t>
            </a:r>
            <a:endParaRPr lang="en-US" sz="1300" dirty="0"/>
          </a:p>
        </p:txBody>
      </p:sp>
      <p:sp>
        <p:nvSpPr>
          <p:cNvPr id="4" name="Shape 2"/>
          <p:cNvSpPr/>
          <p:nvPr/>
        </p:nvSpPr>
        <p:spPr>
          <a:xfrm>
            <a:off x="320040" y="804672"/>
            <a:ext cx="4160520" cy="3913632"/>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5" name="Text 3"/>
          <p:cNvSpPr/>
          <p:nvPr/>
        </p:nvSpPr>
        <p:spPr>
          <a:xfrm>
            <a:off x="502920" y="914400"/>
            <a:ext cx="3200400" cy="320040"/>
          </a:xfrm>
          <a:prstGeom prst="rect">
            <a:avLst/>
          </a:prstGeom>
          <a:noFill/>
          <a:ln/>
        </p:spPr>
        <p:txBody>
          <a:bodyPr wrap="square" lIns="0" tIns="0" rIns="0" bIns="0" rtlCol="0" anchor="ctr"/>
          <a:lstStyle/>
          <a:p>
            <a:pPr indent="0" marL="0">
              <a:buNone/>
            </a:pPr>
            <a:r>
              <a:rPr lang="en-US" sz="1100" b="1" spc="300" kern="0" dirty="0">
                <a:solidFill>
                  <a:srgbClr val="5B8DB8"/>
                </a:solidFill>
              </a:rPr>
              <a:t>DISCUSSION</a:t>
            </a:r>
            <a:endParaRPr lang="en-US" sz="1100" dirty="0"/>
          </a:p>
        </p:txBody>
      </p:sp>
      <p:sp>
        <p:nvSpPr>
          <p:cNvPr id="6" name="Shape 4"/>
          <p:cNvSpPr/>
          <p:nvPr/>
        </p:nvSpPr>
        <p:spPr>
          <a:xfrm>
            <a:off x="457200" y="1335024"/>
            <a:ext cx="256032" cy="256032"/>
          </a:xfrm>
          <a:prstGeom prst="rect">
            <a:avLst/>
          </a:prstGeom>
          <a:solidFill>
            <a:srgbClr val="3A7DC9"/>
          </a:solidFill>
          <a:ln/>
        </p:spPr>
      </p:sp>
      <p:sp>
        <p:nvSpPr>
          <p:cNvPr id="7" name="Text 5"/>
          <p:cNvSpPr/>
          <p:nvPr/>
        </p:nvSpPr>
        <p:spPr>
          <a:xfrm>
            <a:off x="457200" y="133502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Q1</a:t>
            </a:r>
            <a:endParaRPr lang="en-US" sz="900" dirty="0"/>
          </a:p>
        </p:txBody>
      </p:sp>
      <p:sp>
        <p:nvSpPr>
          <p:cNvPr id="8" name="Text 6"/>
          <p:cNvSpPr/>
          <p:nvPr/>
        </p:nvSpPr>
        <p:spPr>
          <a:xfrm>
            <a:off x="822960" y="1335024"/>
            <a:ext cx="3520440" cy="768096"/>
          </a:xfrm>
          <a:prstGeom prst="rect">
            <a:avLst/>
          </a:prstGeom>
          <a:noFill/>
          <a:ln/>
        </p:spPr>
        <p:txBody>
          <a:bodyPr wrap="square" lIns="0" tIns="0" rIns="0" bIns="0" rtlCol="0" anchor="ctr"/>
          <a:lstStyle/>
          <a:p>
            <a:pPr indent="0" marL="0">
              <a:buNone/>
            </a:pPr>
            <a:r>
              <a:rPr lang="en-US" sz="1000" dirty="0">
                <a:solidFill>
                  <a:srgbClr val="D4E4F0"/>
                </a:solidFill>
              </a:rPr>
              <a:t>Your team has been told to reach 85% coverage. How do you distinguish tests that genuinely add protection from tests written only to inflate the number? What would you put in your test review checklist?</a:t>
            </a:r>
            <a:endParaRPr lang="en-US" sz="1000" dirty="0"/>
          </a:p>
        </p:txBody>
      </p:sp>
      <p:sp>
        <p:nvSpPr>
          <p:cNvPr id="9" name="Shape 7"/>
          <p:cNvSpPr/>
          <p:nvPr/>
        </p:nvSpPr>
        <p:spPr>
          <a:xfrm>
            <a:off x="457200" y="2194560"/>
            <a:ext cx="256032" cy="256032"/>
          </a:xfrm>
          <a:prstGeom prst="rect">
            <a:avLst/>
          </a:prstGeom>
          <a:solidFill>
            <a:srgbClr val="3A7DC9"/>
          </a:solidFill>
          <a:ln/>
        </p:spPr>
      </p:sp>
      <p:sp>
        <p:nvSpPr>
          <p:cNvPr id="10" name="Text 8"/>
          <p:cNvSpPr/>
          <p:nvPr/>
        </p:nvSpPr>
        <p:spPr>
          <a:xfrm>
            <a:off x="457200" y="219456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Q2</a:t>
            </a:r>
            <a:endParaRPr lang="en-US" sz="900" dirty="0"/>
          </a:p>
        </p:txBody>
      </p:sp>
      <p:sp>
        <p:nvSpPr>
          <p:cNvPr id="11" name="Text 9"/>
          <p:cNvSpPr/>
          <p:nvPr/>
        </p:nvSpPr>
        <p:spPr>
          <a:xfrm>
            <a:off x="822960" y="2194560"/>
            <a:ext cx="3520440" cy="768096"/>
          </a:xfrm>
          <a:prstGeom prst="rect">
            <a:avLst/>
          </a:prstGeom>
          <a:noFill/>
          <a:ln/>
        </p:spPr>
        <p:txBody>
          <a:bodyPr wrap="square" lIns="0" tIns="0" rIns="0" bIns="0" rtlCol="0" anchor="ctr"/>
          <a:lstStyle/>
          <a:p>
            <a:pPr indent="0" marL="0">
              <a:buNone/>
            </a:pPr>
            <a:r>
              <a:rPr lang="en-US" sz="1000" dirty="0">
                <a:solidFill>
                  <a:srgbClr val="D4E4F0"/>
                </a:solidFill>
              </a:rPr>
              <a:t>Think of a bug that reached production in the last year. Would a regression test have caught it? What would the AC that drove that test have looked like?</a:t>
            </a:r>
            <a:endParaRPr lang="en-US" sz="1000" dirty="0"/>
          </a:p>
        </p:txBody>
      </p:sp>
      <p:sp>
        <p:nvSpPr>
          <p:cNvPr id="12" name="Shape 10"/>
          <p:cNvSpPr/>
          <p:nvPr/>
        </p:nvSpPr>
        <p:spPr>
          <a:xfrm>
            <a:off x="457200" y="3054096"/>
            <a:ext cx="256032" cy="256032"/>
          </a:xfrm>
          <a:prstGeom prst="rect">
            <a:avLst/>
          </a:prstGeom>
          <a:solidFill>
            <a:srgbClr val="3A7DC9"/>
          </a:solidFill>
          <a:ln/>
        </p:spPr>
      </p:sp>
      <p:sp>
        <p:nvSpPr>
          <p:cNvPr id="13" name="Text 11"/>
          <p:cNvSpPr/>
          <p:nvPr/>
        </p:nvSpPr>
        <p:spPr>
          <a:xfrm>
            <a:off x="457200" y="305409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Q3</a:t>
            </a:r>
            <a:endParaRPr lang="en-US" sz="900" dirty="0"/>
          </a:p>
        </p:txBody>
      </p:sp>
      <p:sp>
        <p:nvSpPr>
          <p:cNvPr id="14" name="Text 12"/>
          <p:cNvSpPr/>
          <p:nvPr/>
        </p:nvSpPr>
        <p:spPr>
          <a:xfrm>
            <a:off x="822960" y="3054096"/>
            <a:ext cx="3520440" cy="768096"/>
          </a:xfrm>
          <a:prstGeom prst="rect">
            <a:avLst/>
          </a:prstGeom>
          <a:noFill/>
          <a:ln/>
        </p:spPr>
        <p:txBody>
          <a:bodyPr wrap="square" lIns="0" tIns="0" rIns="0" bIns="0" rtlCol="0" anchor="ctr"/>
          <a:lstStyle/>
          <a:p>
            <a:pPr indent="0" marL="0">
              <a:buNone/>
            </a:pPr>
            <a:r>
              <a:rPr lang="en-US" sz="1000" dirty="0">
                <a:solidFill>
                  <a:srgbClr val="D4E4F0"/>
                </a:solidFill>
              </a:rPr>
              <a:t>Where in your current codebase do you have E2E tests that cross another team's boundary? Is there an explicit ownership agreement? What happens when they break?</a:t>
            </a:r>
            <a:endParaRPr lang="en-US" sz="1000" dirty="0"/>
          </a:p>
        </p:txBody>
      </p:sp>
      <p:sp>
        <p:nvSpPr>
          <p:cNvPr id="15" name="Shape 13"/>
          <p:cNvSpPr/>
          <p:nvPr/>
        </p:nvSpPr>
        <p:spPr>
          <a:xfrm>
            <a:off x="457200" y="3913632"/>
            <a:ext cx="256032" cy="256032"/>
          </a:xfrm>
          <a:prstGeom prst="rect">
            <a:avLst/>
          </a:prstGeom>
          <a:solidFill>
            <a:srgbClr val="3A7DC9"/>
          </a:solidFill>
          <a:ln/>
        </p:spPr>
      </p:sp>
      <p:sp>
        <p:nvSpPr>
          <p:cNvPr id="16" name="Text 14"/>
          <p:cNvSpPr/>
          <p:nvPr/>
        </p:nvSpPr>
        <p:spPr>
          <a:xfrm>
            <a:off x="457200" y="39136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Q4</a:t>
            </a:r>
            <a:endParaRPr lang="en-US" sz="900" dirty="0"/>
          </a:p>
        </p:txBody>
      </p:sp>
      <p:sp>
        <p:nvSpPr>
          <p:cNvPr id="17" name="Text 15"/>
          <p:cNvSpPr/>
          <p:nvPr/>
        </p:nvSpPr>
        <p:spPr>
          <a:xfrm>
            <a:off x="822960" y="3913632"/>
            <a:ext cx="3520440" cy="768096"/>
          </a:xfrm>
          <a:prstGeom prst="rect">
            <a:avLst/>
          </a:prstGeom>
          <a:noFill/>
          <a:ln/>
        </p:spPr>
        <p:txBody>
          <a:bodyPr wrap="square" lIns="0" tIns="0" rIns="0" bIns="0" rtlCol="0" anchor="ctr"/>
          <a:lstStyle/>
          <a:p>
            <a:pPr indent="0" marL="0">
              <a:buNone/>
            </a:pPr>
            <a:r>
              <a:rPr lang="en-US" sz="1000" dirty="0">
                <a:solidFill>
                  <a:srgbClr val="D4E4F0"/>
                </a:solidFill>
              </a:rPr>
              <a:t>TDD has been the recommended practice for 25 years. What has prevented your team from adopting it? Does that barrier still exist if the agent writes the tests?</a:t>
            </a:r>
            <a:endParaRPr lang="en-US" sz="1000" dirty="0"/>
          </a:p>
        </p:txBody>
      </p:sp>
      <p:sp>
        <p:nvSpPr>
          <p:cNvPr id="18" name="Shape 16"/>
          <p:cNvSpPr/>
          <p:nvPr/>
        </p:nvSpPr>
        <p:spPr>
          <a:xfrm>
            <a:off x="4663440" y="804672"/>
            <a:ext cx="4160520" cy="3913632"/>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19" name="Text 17"/>
          <p:cNvSpPr/>
          <p:nvPr/>
        </p:nvSpPr>
        <p:spPr>
          <a:xfrm>
            <a:off x="4846320" y="914400"/>
            <a:ext cx="3200400" cy="320040"/>
          </a:xfrm>
          <a:prstGeom prst="rect">
            <a:avLst/>
          </a:prstGeom>
          <a:noFill/>
          <a:ln/>
        </p:spPr>
        <p:txBody>
          <a:bodyPr wrap="square" lIns="0" tIns="0" rIns="0" bIns="0" rtlCol="0" anchor="ctr"/>
          <a:lstStyle/>
          <a:p>
            <a:pPr indent="0" marL="0">
              <a:buNone/>
            </a:pPr>
            <a:r>
              <a:rPr lang="en-US" sz="1100" b="1" spc="300" kern="0" dirty="0">
                <a:solidFill>
                  <a:srgbClr val="5B8DB8"/>
                </a:solidFill>
              </a:rPr>
              <a:t>KEY TAKEAWAYS</a:t>
            </a:r>
            <a:endParaRPr lang="en-US" sz="1100" dirty="0"/>
          </a:p>
        </p:txBody>
      </p:sp>
      <p:sp>
        <p:nvSpPr>
          <p:cNvPr id="20" name="Shape 18"/>
          <p:cNvSpPr/>
          <p:nvPr/>
        </p:nvSpPr>
        <p:spPr>
          <a:xfrm>
            <a:off x="4800600" y="1335024"/>
            <a:ext cx="54864" cy="594360"/>
          </a:xfrm>
          <a:prstGeom prst="rect">
            <a:avLst/>
          </a:prstGeom>
          <a:solidFill>
            <a:srgbClr val="3A7DC9"/>
          </a:solidFill>
          <a:ln/>
        </p:spPr>
      </p:sp>
      <p:sp>
        <p:nvSpPr>
          <p:cNvPr id="21" name="Text 19"/>
          <p:cNvSpPr/>
          <p:nvPr/>
        </p:nvSpPr>
        <p:spPr>
          <a:xfrm>
            <a:off x="4956048" y="1335024"/>
            <a:ext cx="3749040" cy="594360"/>
          </a:xfrm>
          <a:prstGeom prst="rect">
            <a:avLst/>
          </a:prstGeom>
          <a:noFill/>
          <a:ln/>
        </p:spPr>
        <p:txBody>
          <a:bodyPr wrap="square" lIns="0" tIns="0" rIns="0" bIns="0" rtlCol="0" anchor="ctr"/>
          <a:lstStyle/>
          <a:p>
            <a:pPr indent="0" marL="0">
              <a:buNone/>
            </a:pPr>
            <a:r>
              <a:rPr lang="en-US" sz="1050" dirty="0">
                <a:solidFill>
                  <a:srgbClr val="D4E4F0"/>
                </a:solidFill>
              </a:rPr>
              <a:t>TDD was always correct. Agents fix the economics. The failing test first is now the default, not the discipline.</a:t>
            </a:r>
            <a:endParaRPr lang="en-US" sz="1050" dirty="0"/>
          </a:p>
        </p:txBody>
      </p:sp>
      <p:sp>
        <p:nvSpPr>
          <p:cNvPr id="22" name="Shape 20"/>
          <p:cNvSpPr/>
          <p:nvPr/>
        </p:nvSpPr>
        <p:spPr>
          <a:xfrm>
            <a:off x="4800600" y="2029968"/>
            <a:ext cx="54864" cy="594360"/>
          </a:xfrm>
          <a:prstGeom prst="rect">
            <a:avLst/>
          </a:prstGeom>
          <a:solidFill>
            <a:srgbClr val="4A7FA8"/>
          </a:solidFill>
          <a:ln/>
        </p:spPr>
      </p:sp>
      <p:sp>
        <p:nvSpPr>
          <p:cNvPr id="23" name="Text 21"/>
          <p:cNvSpPr/>
          <p:nvPr/>
        </p:nvSpPr>
        <p:spPr>
          <a:xfrm>
            <a:off x="4956048" y="2029968"/>
            <a:ext cx="3749040" cy="594360"/>
          </a:xfrm>
          <a:prstGeom prst="rect">
            <a:avLst/>
          </a:prstGeom>
          <a:noFill/>
          <a:ln/>
        </p:spPr>
        <p:txBody>
          <a:bodyPr wrap="square" lIns="0" tIns="0" rIns="0" bIns="0" rtlCol="0" anchor="ctr"/>
          <a:lstStyle/>
          <a:p>
            <a:pPr indent="0" marL="0">
              <a:buNone/>
            </a:pPr>
            <a:r>
              <a:rPr lang="en-US" sz="1050" dirty="0">
                <a:solidFill>
                  <a:srgbClr val="D4E4F0"/>
                </a:solidFill>
              </a:rPr>
              <a:t>The human's job is not to write tests — it is to write AC precise enough to generate them. AC quality is the binding constraint.</a:t>
            </a:r>
            <a:endParaRPr lang="en-US" sz="1050" dirty="0"/>
          </a:p>
        </p:txBody>
      </p:sp>
      <p:sp>
        <p:nvSpPr>
          <p:cNvPr id="24" name="Shape 22"/>
          <p:cNvSpPr/>
          <p:nvPr/>
        </p:nvSpPr>
        <p:spPr>
          <a:xfrm>
            <a:off x="4800600" y="2724912"/>
            <a:ext cx="54864" cy="594360"/>
          </a:xfrm>
          <a:prstGeom prst="rect">
            <a:avLst/>
          </a:prstGeom>
          <a:solidFill>
            <a:srgbClr val="3A7E6E"/>
          </a:solidFill>
          <a:ln/>
        </p:spPr>
      </p:sp>
      <p:sp>
        <p:nvSpPr>
          <p:cNvPr id="25" name="Text 23"/>
          <p:cNvSpPr/>
          <p:nvPr/>
        </p:nvSpPr>
        <p:spPr>
          <a:xfrm>
            <a:off x="4956048" y="2724912"/>
            <a:ext cx="3749040" cy="594360"/>
          </a:xfrm>
          <a:prstGeom prst="rect">
            <a:avLst/>
          </a:prstGeom>
          <a:noFill/>
          <a:ln/>
        </p:spPr>
        <p:txBody>
          <a:bodyPr wrap="square" lIns="0" tIns="0" rIns="0" bIns="0" rtlCol="0" anchor="ctr"/>
          <a:lstStyle/>
          <a:p>
            <a:pPr indent="0" marL="0">
              <a:buNone/>
            </a:pPr>
            <a:r>
              <a:rPr lang="en-US" sz="1050" dirty="0">
                <a:solidFill>
                  <a:srgbClr val="D4E4F0"/>
                </a:solidFill>
              </a:rPr>
              <a:t>85% coverage is a DoD gate enforced in CI. Coverage is a floor for protection; code review is where test quality is enforced.</a:t>
            </a:r>
            <a:endParaRPr lang="en-US" sz="1050" dirty="0"/>
          </a:p>
        </p:txBody>
      </p:sp>
      <p:sp>
        <p:nvSpPr>
          <p:cNvPr id="26" name="Shape 24"/>
          <p:cNvSpPr/>
          <p:nvPr/>
        </p:nvSpPr>
        <p:spPr>
          <a:xfrm>
            <a:off x="4800600" y="3419856"/>
            <a:ext cx="54864" cy="594360"/>
          </a:xfrm>
          <a:prstGeom prst="rect">
            <a:avLst/>
          </a:prstGeom>
          <a:solidFill>
            <a:srgbClr val="B87820"/>
          </a:solidFill>
          <a:ln/>
        </p:spPr>
      </p:sp>
      <p:sp>
        <p:nvSpPr>
          <p:cNvPr id="27" name="Text 25"/>
          <p:cNvSpPr/>
          <p:nvPr/>
        </p:nvSpPr>
        <p:spPr>
          <a:xfrm>
            <a:off x="4956048" y="3419856"/>
            <a:ext cx="3749040" cy="594360"/>
          </a:xfrm>
          <a:prstGeom prst="rect">
            <a:avLst/>
          </a:prstGeom>
          <a:noFill/>
          <a:ln/>
        </p:spPr>
        <p:txBody>
          <a:bodyPr wrap="square" lIns="0" tIns="0" rIns="0" bIns="0" rtlCol="0" anchor="ctr"/>
          <a:lstStyle/>
          <a:p>
            <a:pPr indent="0" marL="0">
              <a:buNone/>
            </a:pPr>
            <a:r>
              <a:rPr lang="en-US" sz="1050" dirty="0">
                <a:solidFill>
                  <a:srgbClr val="D4E4F0"/>
                </a:solidFill>
              </a:rPr>
              <a:t>When fixing a bug, the regression test comes before the fix. No bug is fixed without a test that proves it cannot return silently.</a:t>
            </a:r>
            <a:endParaRPr lang="en-US" sz="1050" dirty="0"/>
          </a:p>
        </p:txBody>
      </p:sp>
      <p:sp>
        <p:nvSpPr>
          <p:cNvPr id="28" name="Shape 26"/>
          <p:cNvSpPr/>
          <p:nvPr/>
        </p:nvSpPr>
        <p:spPr>
          <a:xfrm>
            <a:off x="4800600" y="4114800"/>
            <a:ext cx="54864" cy="594360"/>
          </a:xfrm>
          <a:prstGeom prst="rect">
            <a:avLst/>
          </a:prstGeom>
          <a:solidFill>
            <a:srgbClr val="8096B0"/>
          </a:solidFill>
          <a:ln/>
        </p:spPr>
      </p:sp>
      <p:sp>
        <p:nvSpPr>
          <p:cNvPr id="29" name="Text 27"/>
          <p:cNvSpPr/>
          <p:nvPr/>
        </p:nvSpPr>
        <p:spPr>
          <a:xfrm>
            <a:off x="4956048" y="4114800"/>
            <a:ext cx="3749040" cy="594360"/>
          </a:xfrm>
          <a:prstGeom prst="rect">
            <a:avLst/>
          </a:prstGeom>
          <a:noFill/>
          <a:ln/>
        </p:spPr>
        <p:txBody>
          <a:bodyPr wrap="square" lIns="0" tIns="0" rIns="0" bIns="0" rtlCol="0" anchor="ctr"/>
          <a:lstStyle/>
          <a:p>
            <a:pPr indent="0" marL="0">
              <a:buNone/>
            </a:pPr>
            <a:r>
              <a:rPr lang="en-US" sz="1050" dirty="0">
                <a:solidFill>
                  <a:srgbClr val="D4E4F0"/>
                </a:solidFill>
              </a:rPr>
              <a:t>E2E tests require explicit cross-team ownership agreements before being written. An unowned E2E test is a liability, not an asset.</a:t>
            </a:r>
            <a:endParaRPr lang="en-US" sz="1050" dirty="0"/>
          </a:p>
        </p:txBody>
      </p:sp>
      <p:sp>
        <p:nvSpPr>
          <p:cNvPr id="30" name="Shape 28"/>
          <p:cNvSpPr/>
          <p:nvPr/>
        </p:nvSpPr>
        <p:spPr>
          <a:xfrm>
            <a:off x="0" y="4846320"/>
            <a:ext cx="9144000" cy="297180"/>
          </a:xfrm>
          <a:prstGeom prst="rect">
            <a:avLst/>
          </a:prstGeom>
          <a:solidFill>
            <a:srgbClr val="3A7DC9"/>
          </a:solidFill>
          <a:ln/>
        </p:spPr>
      </p:sp>
      <p:sp>
        <p:nvSpPr>
          <p:cNvPr id="31" name="Text 29"/>
          <p:cNvSpPr/>
          <p:nvPr/>
        </p:nvSpPr>
        <p:spPr>
          <a:xfrm>
            <a:off x="365760" y="4846320"/>
            <a:ext cx="8412480" cy="297180"/>
          </a:xfrm>
          <a:prstGeom prst="rect">
            <a:avLst/>
          </a:prstGeom>
          <a:noFill/>
          <a:ln/>
        </p:spPr>
        <p:txBody>
          <a:bodyPr wrap="square" lIns="0" tIns="0" rIns="0" bIns="0" rtlCol="0" anchor="ctr"/>
          <a:lstStyle/>
          <a:p>
            <a:pPr indent="0" marL="0">
              <a:buNone/>
            </a:pPr>
            <a:r>
              <a:rPr lang="en-US" sz="1100" b="1" dirty="0">
                <a:solidFill>
                  <a:srgbClr val="FFFFFF"/>
                </a:solidFill>
              </a:rPr>
              <a:t>NEXT  ·  Module 06: Spec-Driven Development &amp; PRDs  —  Writing specs that agents can execute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 Automated Testing</dc:title>
  <dc:subject>PptxGenJS Presentation</dc:subject>
  <dc:creator>Enterprise Architect Training Series</dc:creator>
  <cp:lastModifiedBy>Enterprise Architect Training Series</cp:lastModifiedBy>
  <cp:revision>1</cp:revision>
  <dcterms:created xsi:type="dcterms:W3CDTF">2026-04-07T23:58:11Z</dcterms:created>
  <dcterms:modified xsi:type="dcterms:W3CDTF">2026-04-07T23:58:11Z</dcterms:modified>
</cp:coreProperties>
</file>