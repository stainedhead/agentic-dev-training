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Observability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48716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8DB8"/>
                </a:solidFill>
              </a:rPr>
              <a:t>Seeing inside your agents: tracing, logging, evaluation, and monitoring in production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218688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3832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60–75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Advanced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658368"/>
            <a:ext cx="1920240" cy="841248"/>
          </a:xfrm>
          <a:prstGeom prst="rect">
            <a:avLst/>
          </a:prstGeom>
          <a:solidFill>
            <a:srgbClr val="3A7DC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03720" y="65836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Monitoring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1920240" cy="841248"/>
          </a:xfrm>
          <a:prstGeom prst="rect">
            <a:avLst/>
          </a:prstGeom>
          <a:solidFill>
            <a:srgbClr val="4A7FA8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73736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Tracing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03720" y="2816352"/>
            <a:ext cx="1920240" cy="841248"/>
          </a:xfrm>
          <a:prstGeom prst="rect">
            <a:avLst/>
          </a:prstGeom>
          <a:solidFill>
            <a:srgbClr val="3A7E6E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281635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Logging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03720" y="3895344"/>
            <a:ext cx="1920240" cy="841248"/>
          </a:xfrm>
          <a:prstGeom prst="rect">
            <a:avLst/>
          </a:prstGeom>
          <a:solidFill>
            <a:srgbClr val="8096B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3895344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4572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The 4 Pillars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WHY AGENT OBSERVABILITY IS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Traditional APM tells you what happened. Agent observability must tell you why, how, and whether it was correct.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8503920" cy="329184"/>
          </a:xfrm>
          <a:prstGeom prst="rect">
            <a:avLst/>
          </a:prstGeom>
          <a:solidFill>
            <a:srgbClr val="2E5073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704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DB8"/>
                </a:solidFill>
              </a:rPr>
              <a:t>DIMENSION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40280" y="1170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096B0"/>
                </a:solidFill>
              </a:rPr>
              <a:t>TRADITIONAL SOFTWARE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77840" y="1170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7DC9"/>
                </a:solidFill>
              </a:rPr>
              <a:t>AGENTIC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8503920" cy="530352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5448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</a:rPr>
              <a:t>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15544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HTTP request with defined schema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77840" y="15544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Natural language prompt + conversation history + loaded context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39696"/>
            <a:ext cx="8503920" cy="530352"/>
          </a:xfrm>
          <a:prstGeom prst="rect">
            <a:avLst/>
          </a:prstGeom>
          <a:solidFill>
            <a:srgbClr val="2A4870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13969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213969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Deterministic code path, predictable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77840" y="213969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Non-deterministic LLM reasoning — same input ≠ same output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724912"/>
            <a:ext cx="8503920" cy="530352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72491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272491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Structured response, validatable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7840" y="272491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Natural language, code, tool calls — correctness is semantic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8503920" cy="530352"/>
          </a:xfrm>
          <a:prstGeom prst="rect">
            <a:avLst/>
          </a:prstGeom>
          <a:solidFill>
            <a:srgbClr val="2A4870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31012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</a:rPr>
              <a:t>Error Signal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40280" y="331012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Exception, 500 status, stacktrace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77840" y="331012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Plausible-sounding wrong answer — no exception thrown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895344"/>
            <a:ext cx="8503920" cy="530352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89534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40280" y="389534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Latency, throughput, error rate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840" y="389534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Latency + token cost + quality + safety + alignment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480560"/>
            <a:ext cx="8503920" cy="530352"/>
          </a:xfrm>
          <a:prstGeom prst="rect">
            <a:avLst/>
          </a:prstGeom>
          <a:solidFill>
            <a:srgbClr val="2A4870">
              <a:alpha val="7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48056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DB8"/>
                </a:solidFill>
              </a:rPr>
              <a:t>Root Cause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40280" y="448056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Code bug, infra failure, timeout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77840" y="448056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Context pollution, prompt drift, tool misuse, hallucination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50292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Microsoft Security Blog (March 2026): “Making enterprise AI systems observable transforms opaque model behavior into actionable security signals.”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FOUR PILLARS OF AGENT OBSERVABILITY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011680" cy="62179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91440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Continuous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C3557"/>
                </a:solidFill>
              </a:rPr>
              <a:t>WHAT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Real-time tracking of agent actions, decisions, and tool calls. Surface anomalies, unexpected behaviour, and performance drift before humans notice.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852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Track: request volume, latency, token cost, tool invocation frequency, error rate, model version drift.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" y="3822192"/>
            <a:ext cx="1865376" cy="987552"/>
          </a:xfrm>
          <a:prstGeom prst="rect">
            <a:avLst/>
          </a:prstGeom>
          <a:solidFill>
            <a:srgbClr val="1C3557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" y="38587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C3557"/>
                </a:solidFill>
              </a:rPr>
              <a:t>TOOLING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8056" y="4078224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3557"/>
                </a:solidFill>
              </a:rPr>
              <a:t>Azure AI Foundry, Dynatrace, Datadog LLM Observability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96312" y="914400"/>
            <a:ext cx="201168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914400"/>
            <a:ext cx="2011680" cy="62179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6" name="Text 14"/>
          <p:cNvSpPr/>
          <p:nvPr/>
        </p:nvSpPr>
        <p:spPr>
          <a:xfrm>
            <a:off x="2496312" y="91440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71800" y="91440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Tracing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87752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DC9"/>
                </a:solidFill>
              </a:rPr>
              <a:t>WHAT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87752" y="1792224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Capture full execution flows: how the agent reasoned through a task, which tools it selected, what arguments it passed, and in what order.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87752" y="2852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Answer not just “what happened” but “why and how did it happen” — enabling forensic reconstruction of agent decisions.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9464" y="3822192"/>
            <a:ext cx="1865376" cy="987552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624328" y="38587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DC9"/>
                </a:solidFill>
              </a:rPr>
              <a:t>TOOLING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24328" y="4078224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7DC9"/>
                </a:solidFill>
              </a:rPr>
              <a:t>OpenTelemetry GenAI spans, Langfuse, Traceloop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72584" y="914400"/>
            <a:ext cx="201168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914400"/>
            <a:ext cx="2011680" cy="621792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6" name="Text 24"/>
          <p:cNvSpPr/>
          <p:nvPr/>
        </p:nvSpPr>
        <p:spPr>
          <a:xfrm>
            <a:off x="4672584" y="91440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48072" y="91440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Logging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64024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WHAT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64024" y="1792224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Record agent decisions, tool calls, internal state changes, and context snapshots at each significant step. Support debugging and audit.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64024" y="2852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Log: user prompt, model response, tools invoked, arguments passed, permissions in effect, context size at each step.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45736" y="3822192"/>
            <a:ext cx="1865376" cy="987552"/>
          </a:xfrm>
          <a:prstGeom prst="rect">
            <a:avLst/>
          </a:prstGeom>
          <a:solidFill>
            <a:srgbClr val="3A7E6E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38587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TOOLING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0600" y="4078224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7E6E"/>
                </a:solidFill>
              </a:rPr>
              <a:t>Structured JSON logs → SIEM (Sentinel, Splunk)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48856" y="914400"/>
            <a:ext cx="201168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48856" y="914400"/>
            <a:ext cx="2011680" cy="621792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36" name="Text 34"/>
          <p:cNvSpPr/>
          <p:nvPr/>
        </p:nvSpPr>
        <p:spPr>
          <a:xfrm>
            <a:off x="6848856" y="91440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24344" y="91440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0296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96B0"/>
                </a:solidFill>
              </a:rPr>
              <a:t>WHAT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40296" y="1792224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Systematically assess agent outputs for quality, safety, compliance, and alignment with user intent. Both automated and human-in-the-loop.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0296" y="2852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Evaluate: did the output meet AC? Was it factually correct? Did it stay in scope? Is it safe for the use case?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22008" y="3822192"/>
            <a:ext cx="1865376" cy="987552"/>
          </a:xfrm>
          <a:prstGeom prst="rect">
            <a:avLst/>
          </a:prstGeom>
          <a:solidFill>
            <a:srgbClr val="8096B0">
              <a:alpha val="1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976872" y="385876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96B0"/>
                </a:solidFill>
              </a:rPr>
              <a:t>TOOLING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76872" y="4078224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6B0"/>
                </a:solidFill>
              </a:rPr>
              <a:t>Azure Red Teaming Agent, LLM-as-judge, human spot-checks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WHAT TO CAPTURE IN EVERY AGENT TRACE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Capture the full context at every decision point — enough to enable forensic reconstruction from any agent run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7373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206240" cy="38404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70432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" y="162763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User prompt (verbatim)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" y="188366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System prompt and CLAUDE.md version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" y="213969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Skills loaded and their trigger reasons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" y="239572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Context window size at invocation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" y="265176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Conversation history length and token count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170432"/>
            <a:ext cx="4206240" cy="17373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70432"/>
            <a:ext cx="4206240" cy="38404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1170432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Reasoning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55464" y="162763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Tool selection and arguments passed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55464" y="188366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Reasoning chain (if extended thinking enabled)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55464" y="213969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Files read / grepped / searched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55464" y="239572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Planning steps taken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55464" y="265176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Self-corrections and retry attempts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044952"/>
            <a:ext cx="4206240" cy="17373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44952"/>
            <a:ext cx="4206240" cy="38404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3044952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 Execution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" y="350215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Every tool call: name, args, result, latency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" y="375818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Files modified (before and after diff)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" y="401421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External API calls made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" y="427024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Bash commands executed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" y="452628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Permissions in effect for each action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044952"/>
            <a:ext cx="4206240" cy="173736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044952"/>
            <a:ext cx="4206240" cy="38404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3044952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 &amp; Assessment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55464" y="350215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Final response or artifact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55464" y="375818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Token usage (input vs output, cost)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55464" y="401421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Verifier/Judge verdicts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55464" y="427024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AC items checked and results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55464" y="452628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• PR opened / changes merged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0040" y="484632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Data contracts must balance forensic needs against privacy, data residency, and retention requirements. Redact PII at capture time.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KEY OBSERVABILITY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Measure what matters: reliability, quality, cost, and safety — not just latency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792224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4206240" cy="384048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70432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Reliability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62763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C9"/>
                </a:solidFill>
              </a:rPr>
              <a:t>MTTD: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8056" y="1810512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Mean Time to Detect unsafe/unexpected behaviour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" y="195681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C9"/>
                </a:solidFill>
              </a:rPr>
              <a:t>MTTI: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" y="2139696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Mean Time to Intervene once unsafe behaviour detected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8056" y="228600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C9"/>
                </a:solidFill>
              </a:rPr>
              <a:t>Agent PR failure mode ratio: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056" y="2468880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% of PRs in each of the 3 failure modes (CI fail / wrong / nonsensical)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056" y="261518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C9"/>
                </a:solidFill>
              </a:rPr>
              <a:t>Task success rate by tier: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" y="2798064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Success rate segmented by task complexity tier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170432"/>
            <a:ext cx="4206240" cy="1792224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170432"/>
            <a:ext cx="4206240" cy="384048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18888" y="1170432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Quality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37176" y="162763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A8"/>
                </a:solidFill>
              </a:rPr>
              <a:t>AC coverage per run: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37176" y="1810512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% of acceptance criteria verified in each agent task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37176" y="195681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A8"/>
                </a:solidFill>
              </a:rPr>
              <a:t>Hallucination rate: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37176" y="2139696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% of tool calls or facts that were fabricated (requires Judge evaluation)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37176" y="228600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A8"/>
                </a:solidFill>
              </a:rPr>
              <a:t>Scope adherence: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37176" y="2468880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% of runs where agent stayed within specified file/task boundaries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37176" y="261518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7FA8"/>
                </a:solidFill>
              </a:rPr>
              <a:t>Rework rate: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37176" y="2798064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% of agent PRs requiring &gt;1 human redirect before merge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090672"/>
            <a:ext cx="4206240" cy="1792224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0672"/>
            <a:ext cx="4206240" cy="384048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" y="3090672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Cost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" y="354787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E6E"/>
                </a:solidFill>
              </a:rPr>
              <a:t>Cost per task: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8056" y="3730752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Total token spend divided by tasks completed (input + output tokens)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" y="387705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E6E"/>
                </a:solidFill>
              </a:rPr>
              <a:t>Token efficiency: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056" y="4059936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Output quality per token spent — track flat or declining as scale grows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8056" y="420624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E6E"/>
                </a:solidFill>
              </a:rPr>
              <a:t>Context utilisation: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8056" y="4389120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% of context window used at peak — high utilisation signals compaction need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8056" y="453542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E6E"/>
                </a:solidFill>
              </a:rPr>
              <a:t>Model routing efficiency: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8056" y="4718304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% of tasks routed to cheaper models without quality loss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090672"/>
            <a:ext cx="4206240" cy="1792224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090672"/>
            <a:ext cx="4206240" cy="384048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18888" y="3090672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Safety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37176" y="354787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096B0"/>
                </a:solidFill>
              </a:rPr>
              <a:t>Anomalous tool invocations: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37176" y="3730752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Spike in tool calls to unexpected domains or with unusual arguments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37176" y="387705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096B0"/>
                </a:solidFill>
              </a:rPr>
              <a:t>Permission boundary violations: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37176" y="4059936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Agent attempted action outside its granted permission scope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37176" y="420624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096B0"/>
                </a:solidFill>
              </a:rPr>
              <a:t>Prompt injection signals: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37176" y="4389120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Detected patterns consistent with prompt injection attempts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37176" y="453542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096B0"/>
                </a:solidFill>
              </a:rPr>
              <a:t>HITL gate trigger rate: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37176" y="4718304"/>
            <a:ext cx="4005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How often agents hit hard gates — rising rate = escalating risk profile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OBSERVABILITY TOOLING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Start with OpenTelemetry GenAI semantic conventions as the foundation — everything else plugs in on top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1371600" cy="86868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Instrumentation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10512" y="1280160"/>
            <a:ext cx="2139696" cy="658368"/>
          </a:xfrm>
          <a:prstGeom prst="rect">
            <a:avLst/>
          </a:prstGeom>
          <a:solidFill>
            <a:srgbClr val="1C3557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883664" y="12984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OpenTelemetry GenAI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83664" y="15727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Standard spans for prompts, tool calls, and safety filters. The foundation.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78224" y="1280160"/>
            <a:ext cx="2139696" cy="658368"/>
          </a:xfrm>
          <a:prstGeom prst="rect">
            <a:avLst/>
          </a:prstGeom>
          <a:solidFill>
            <a:srgbClr val="1C3557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151376" y="12984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Anthropic Admin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51376" y="15727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Token usage, cost, per-request metadata. Native to Claude.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45936" y="1280160"/>
            <a:ext cx="2139696" cy="658368"/>
          </a:xfrm>
          <a:prstGeom prst="rect">
            <a:avLst/>
          </a:prstGeom>
          <a:solidFill>
            <a:srgbClr val="1C3557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12984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Custom span attributes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19088" y="157276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Add business context: task ID, user ID, feature flag, spec version.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30552"/>
            <a:ext cx="8503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30552"/>
            <a:ext cx="1371600" cy="8686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13055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Tracing &amp; Logging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10512" y="2240280"/>
            <a:ext cx="2139696" cy="658368"/>
          </a:xfrm>
          <a:prstGeom prst="rect">
            <a:avLst/>
          </a:prstGeom>
          <a:solidFill>
            <a:srgbClr val="3A7DC9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883664" y="22585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DC9"/>
                </a:solidFill>
              </a:rPr>
              <a:t>Langfuse / Traceloop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83664" y="253288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Open-source LLM tracing with cost attribution at trace and span level.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78224" y="2240280"/>
            <a:ext cx="2139696" cy="658368"/>
          </a:xfrm>
          <a:prstGeom prst="rect">
            <a:avLst/>
          </a:prstGeom>
          <a:solidFill>
            <a:srgbClr val="3A7DC9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151376" y="22585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DC9"/>
                </a:solidFill>
              </a:rPr>
              <a:t>Portkey / Helicone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51376" y="253288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LLM gateway proxies: per-request cost tracking, budget limits, routing.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45936" y="2240280"/>
            <a:ext cx="2139696" cy="658368"/>
          </a:xfrm>
          <a:prstGeom prst="rect">
            <a:avLst/>
          </a:prstGeom>
          <a:solidFill>
            <a:srgbClr val="3A7DC9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22585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DC9"/>
                </a:solidFill>
              </a:rPr>
              <a:t>Datadog LLM Observability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53288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Enterprise-grade; integrates with existing cloud cost management.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090672"/>
            <a:ext cx="8503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090672"/>
            <a:ext cx="1371600" cy="86868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09067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Enterprise SIEM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10512" y="3200400"/>
            <a:ext cx="2139696" cy="658368"/>
          </a:xfrm>
          <a:prstGeom prst="rect">
            <a:avLst/>
          </a:prstGeom>
          <a:solidFill>
            <a:srgbClr val="4A7FA8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883664" y="32186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Microsoft Sentinel + KQL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83664" y="349300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Stream agent telemetry. Define analytics rules to flag anomalies.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078224" y="3200400"/>
            <a:ext cx="2139696" cy="658368"/>
          </a:xfrm>
          <a:prstGeom prst="rect">
            <a:avLst/>
          </a:prstGeom>
          <a:solidFill>
            <a:srgbClr val="4A7FA8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151376" y="32186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Splunk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51376" y="349300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Correlate agent events with broader security signals across the enterprise.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45936" y="3200400"/>
            <a:ext cx="2139696" cy="658368"/>
          </a:xfrm>
          <a:prstGeom prst="rect">
            <a:avLst/>
          </a:prstGeom>
          <a:solidFill>
            <a:srgbClr val="4A7FA8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19088" y="32186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Azure AI Foundry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19088" y="349300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Native tracing for Claude deployments via Foundry. OTel-based.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050792"/>
            <a:ext cx="8503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4050792"/>
            <a:ext cx="1371600" cy="86868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405079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10512" y="4160520"/>
            <a:ext cx="2139696" cy="658368"/>
          </a:xfrm>
          <a:prstGeom prst="rect">
            <a:avLst/>
          </a:prstGeom>
          <a:solidFill>
            <a:srgbClr val="3A7E6E">
              <a:alpha val="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883664" y="41788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6E"/>
                </a:solidFill>
              </a:rPr>
              <a:t>LLM-as-Judge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883664" y="445312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Use a separate LLM to evaluate output correctness, scope, and quality.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078224" y="4160520"/>
            <a:ext cx="2139696" cy="658368"/>
          </a:xfrm>
          <a:prstGeom prst="rect">
            <a:avLst/>
          </a:prstGeom>
          <a:solidFill>
            <a:srgbClr val="3A7E6E">
              <a:alpha val="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151376" y="41788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6E"/>
                </a:solidFill>
              </a:rPr>
              <a:t>Azure AI Red Teaming Agent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51376" y="445312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Automated adversarial testing against your deployed agent.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45936" y="4160520"/>
            <a:ext cx="2139696" cy="658368"/>
          </a:xfrm>
          <a:prstGeom prst="rect">
            <a:avLst/>
          </a:prstGeom>
          <a:solidFill>
            <a:srgbClr val="3A7E6E">
              <a:alpha val="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19088" y="417880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6E"/>
                </a:solidFill>
              </a:rPr>
              <a:t>Human spot-check queues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19088" y="445312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Random sampling of agent runs for human quality review.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SIEM INTEGRATION  —  AGENTS AS SECURITY SIGNALS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Agent telemetry must stream to your SIEM. In Sentinel, define KQL analytics rules to flag agent anomalies.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603504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70432"/>
            <a:ext cx="54864" cy="603504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7" name="Shape 5"/>
          <p:cNvSpPr/>
          <p:nvPr/>
        </p:nvSpPr>
        <p:spPr>
          <a:xfrm>
            <a:off x="7635240" y="1243584"/>
            <a:ext cx="1097280" cy="274320"/>
          </a:xfrm>
          <a:prstGeom prst="rect">
            <a:avLst/>
          </a:prstGeom>
          <a:solidFill>
            <a:srgbClr val="E07030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243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25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Sudden spike in tool invocations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99616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Signal: Agent called bash 40x in 5 minutes vs. baseline of 3-5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850392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828800"/>
            <a:ext cx="54864" cy="603504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13" name="Shape 11"/>
          <p:cNvSpPr/>
          <p:nvPr/>
        </p:nvSpPr>
        <p:spPr>
          <a:xfrm>
            <a:off x="7635240" y="1901952"/>
            <a:ext cx="1097280" cy="274320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1901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883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New external domain accessed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157984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Signal: Agent made HTTP call to domain not on allowlist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8503920" cy="603504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2487168"/>
            <a:ext cx="54864" cy="603504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19" name="Shape 17"/>
          <p:cNvSpPr/>
          <p:nvPr/>
        </p:nvSpPr>
        <p:spPr>
          <a:xfrm>
            <a:off x="7635240" y="2560320"/>
            <a:ext cx="1097280" cy="274320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542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Prompt injection signature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81635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Signal: Tool call arguments contain known injection patterns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145536"/>
            <a:ext cx="850392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145536"/>
            <a:ext cx="54864" cy="603504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25" name="Shape 23"/>
          <p:cNvSpPr/>
          <p:nvPr/>
        </p:nvSpPr>
        <p:spPr>
          <a:xfrm>
            <a:off x="7635240" y="3218688"/>
            <a:ext cx="1097280" cy="274320"/>
          </a:xfrm>
          <a:prstGeom prst="rect">
            <a:avLst/>
          </a:prstGeom>
          <a:solidFill>
            <a:srgbClr val="E07030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200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Permission boundary breach attempt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474720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Signal: Agent attempted action on file/API outside granted scope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803904"/>
            <a:ext cx="8503920" cy="603504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3803904"/>
            <a:ext cx="54864" cy="603504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31" name="Shape 29"/>
          <p:cNvSpPr/>
          <p:nvPr/>
        </p:nvSpPr>
        <p:spPr>
          <a:xfrm>
            <a:off x="7635240" y="3877056"/>
            <a:ext cx="1097280" cy="274320"/>
          </a:xfrm>
          <a:prstGeom prst="rect">
            <a:avLst/>
          </a:prstGeom>
          <a:solidFill>
            <a:srgbClr val="8096B0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3877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858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Unusual output volume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133088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Signal: Agent response &gt;50K tokens vs. baseline of &lt;2K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462272"/>
            <a:ext cx="850392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" y="4462272"/>
            <a:ext cx="54864" cy="603504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37" name="Shape 35"/>
          <p:cNvSpPr/>
          <p:nvPr/>
        </p:nvSpPr>
        <p:spPr>
          <a:xfrm>
            <a:off x="7635240" y="4535424"/>
            <a:ext cx="1097280" cy="274320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38" name="Text 36"/>
          <p:cNvSpPr/>
          <p:nvPr/>
        </p:nvSpPr>
        <p:spPr>
          <a:xfrm>
            <a:off x="7635240" y="4535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517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HITL gate bypass attempt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791456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Signal: Agent attempted irreversible action without hard gate approval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51389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SOAR automation: quarantine agent namespace, revoke credentials, or force HITL gates when alert fires — Skywork AI Best Practices 2025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OBSERVABILITY-FIRST CULTURE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Gartner: 40% of agentic AI projects will be cancelled by 2027 due to unclear business value and inadequate risk controls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" y="124358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Observe before you optimise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" y="1627632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Don’t tune agents based on intuition. Collect baseline traces first, then let data drive improvement. You cannot optimise what you cannot see.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45059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450592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" y="252374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Every trace tells a story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" y="2907792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 trace is a forensic record of an agent’s decisions. Treat it like a flight data recorder — invaluable after an incident, essential for continuous improvement.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73075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730752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" y="380390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Make cost visible to engineers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" y="4187952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Token spend is engineering spend. Show per-request cost on every PR. Engineers who see the cost of their prompt design change their behaviour.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17043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170432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8" name="Text 16"/>
          <p:cNvSpPr/>
          <p:nvPr/>
        </p:nvSpPr>
        <p:spPr>
          <a:xfrm>
            <a:off x="4855464" y="124358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Evaluation is continuous, not periodic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55464" y="1627632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Don’t evaluate quality quarterly. Run evaluation on every significant agent run. Automated Judge + human spot-checks. Quality drift is invisible without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5059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50592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252374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Security and observability are the same problem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55464" y="2907792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Every observability gap is a security gap. An agent action you can’t see is an agent action you can’t audit, control, or roll back.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730752"/>
            <a:ext cx="420624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730752"/>
            <a:ext cx="54864" cy="117043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6" name="Text 24"/>
          <p:cNvSpPr/>
          <p:nvPr/>
        </p:nvSpPr>
        <p:spPr>
          <a:xfrm>
            <a:off x="4855464" y="3803904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Build trust through transparency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55464" y="4187952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44% of organisations rely on manual methods to monitor agent interactions. The path to full automation runs through full visibility first.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90-DAY OBSERVABILITY ACTION PLAN  ·  Dynatrace 2026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From experimentation to production — the research-backed path to observable agentic systems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2697480" cy="65836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704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Days 1–30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5179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" y="19202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1. Instrument all agent calls with OpenTelemetry GenAI spans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" y="250545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2. Establish baseline metrics: latency, token cost, task success rate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056" y="309067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3. Define data contracts: what to log, retain, and redact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" y="367588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4. Set up SIEM integration and first anomaly detection rules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" y="426110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5. Identify top 3 failure patterns from existing agent runs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27432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A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1170432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70432"/>
            <a:ext cx="2697480" cy="65836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11704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Days 31–60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15179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Quality Gates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8416" y="19202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1. Deploy LLM-as-Judge evaluation on all production agent runs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28416" y="250545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2. Add cost visibility to every PR (per-request cost in CI)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28416" y="309067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3. Create human spot-check queue for 5% random sample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28416" y="367588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4. Define MTTD and MTTI baselines, set alert thresholds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28416" y="426110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5. Run first red-team exercise using Azure AI Red Teaming Agent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97880" y="274320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A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80760" y="1170432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170432"/>
            <a:ext cx="2697480" cy="65836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117043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Days 61–90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80760" y="15179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 Control Plane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08776" y="192024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1. SOAR automation: quarantine, revoke, escalate on critical alerts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08776" y="250545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2. Continuous evaluation dashboard: quality drift visible in real time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08776" y="3090672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3. Cost optimisation: model routing based on trace-informed complexity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08776" y="3675888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4. Monthly observability review: what did we learn, what did we miss?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08776" y="4261104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5. Publish agent health score: single metric visible to engineering org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OBSERVABILITY ANTI-PATTERNS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88% of AI pilots fail to reach production. Lack of observability is a primary cause.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225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Logging only outputs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You can see what the agent said but not why, what tools it used, or what context it had.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938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Log the full trace: prompt, context, tool calls, reasoning, and output. All of 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68880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4688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No cost visibility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852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Token spend explodes unnoticed. Finance discovers the overrun at month-end.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Track cost per request in real time. Show it in CI. Set budget alerts that fire before damage is done.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767328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67328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6732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Manual monitoring only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44% of orgs use manual monitoring. It doesn’t scale. Incidents are discovered by users, not operators.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4535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Automate anomaly detection with KQL/SIEM rules. Human monitoring of exception queues only.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70432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1170432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1225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Evaluation as an afterthought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1554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Quality drift is invisible until users complain. By then, technical debt is compounded.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66360" y="19385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Run automated evaluation on every production run. Don’t wait for quarterly reviews.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468880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468880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46888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No forensic retention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2852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When an incident occurs, you have no way to reconstruct what the agent did and why.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166360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Retain full traces for 90 days minimum. Define data contracts for PII redaction at capture time.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3767328"/>
            <a:ext cx="4160520" cy="118872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767328"/>
            <a:ext cx="411480" cy="1188720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767328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66360" y="3822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Monitoring metrics not business value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3040"/>
                </a:solidFill>
              </a:rPr>
              <a:t>⚠ You know the latency but not whether the agent is creating value. ROI stays invisible.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66360" y="4535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7E6E"/>
                </a:solidFill>
              </a:rPr>
              <a:t>✓ Connect metrics to business outcomes: cost-per-task vs. value-per-task. Justify investment with data.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30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3557"/>
                </a:solidFill>
              </a:rPr>
              <a:t>Design an Observability Plan for Your Agentic Pipeline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89888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6968" y="1444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Define your capture contract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90088" y="14447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792224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For the agent workflow from Module 2, list every data point you would capture at each step. What’s a prompt, what’s a tool call, what’s an output? Where would PII appear and how would you redact it?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76856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76856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276856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6968" y="2331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Choose your metrics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90088" y="2331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679192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From the 4 metric categories (Reliability, Quality, Cost, Safety), pick 2 from each that are most relevant to your team. For each, define: baseline, alert threshold, and remediation action.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63824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63824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163824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6968" y="32186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Design 3 SIEM alert rules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90088" y="32186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566160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Write 3 KQL-style alert rules for your agent workflow. Describe the signal, the threshold, the severity, and the automated response. Think like an attacker: what would a compromised agent look like in your logs?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050792"/>
            <a:ext cx="8503920" cy="79552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050792"/>
            <a:ext cx="475488" cy="79552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050792"/>
            <a:ext cx="475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86968" y="41056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Build your 90-day roadmap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990088" y="41056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4453128"/>
            <a:ext cx="7818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0A8"/>
                </a:solidFill>
              </a:rPr>
              <a:t>Using the Dynatrace framework, draft your team’s 90-day observability plan. What can you do in month 1 with no new tooling? What needs budget? What’s the single most important first step?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DISCUSSION + MODULE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solidFill>
            <a:srgbClr val="5B8DB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DISCUSSION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Q1.  If an agent produced a wrong answer in production today, how would you find out, and how quickly?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Q2.  Which of the 4 pillars is most absent from your current tooling? What’s the impact?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Q3.  What would a ‘daily agent health score’ look like for your team? What would go into it?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Q4.  An agent in your pipeline just made 40 bash calls in 5 minutes. Walk through your incident response.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29184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4 pillars: monitor, trace, log, evaluate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Agent observability ≠ traditional APM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Capture the full context at every decision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MTTD + MTTI are your reliability metrics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OpenTelemetry GenAI is the standard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Stream to SIEM: agents = security signals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90-day plan: foundation → gates → control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3A7DC9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  ·  Module 08: Reliability &amp; Security Engineering  —  Identity, sandboxing, OWASP GenAI, kill switches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Observability</dc:title>
  <dc:subject>PptxGenJS Presentation</dc:subject>
  <dc:creator>PptxGenJS</dc:creator>
  <cp:lastModifiedBy>PptxGenJS</cp:lastModifiedBy>
  <cp:revision>1</cp:revision>
  <dcterms:created xsi:type="dcterms:W3CDTF">2026-04-05T19:46:33Z</dcterms:created>
  <dcterms:modified xsi:type="dcterms:W3CDTF">2026-04-05T19:46:33Z</dcterms:modified>
</cp:coreProperties>
</file>