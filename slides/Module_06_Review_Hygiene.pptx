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6583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Review Cycles,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Hygiene &amp;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Continuous Improvement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Keeping humans in control while agents move at machine speed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58768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00507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03720" y="566928"/>
            <a:ext cx="1920240" cy="685800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03720" y="5669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Deploy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543800" y="126187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03720" y="1435608"/>
            <a:ext cx="1920240" cy="685800"/>
          </a:xfrm>
          <a:prstGeom prst="rect">
            <a:avLst/>
          </a:prstGeom>
          <a:solidFill>
            <a:srgbClr val="4A7FA8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03720" y="143560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Observe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543800" y="21305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03720" y="2304288"/>
            <a:ext cx="1920240" cy="6858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230428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Review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43800" y="29992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903720" y="3172968"/>
            <a:ext cx="1920240" cy="685800"/>
          </a:xfrm>
          <a:prstGeom prst="rect">
            <a:avLst/>
          </a:prstGeom>
          <a:solidFill>
            <a:srgbClr val="3A7E6E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03720" y="31729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Improve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543800" y="386791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903720" y="4041648"/>
            <a:ext cx="1920240" cy="685800"/>
          </a:xfrm>
          <a:prstGeom prst="rect">
            <a:avLst/>
          </a:prstGeom>
          <a:solidFill>
            <a:srgbClr val="1C3557">
              <a:alpha val="6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903720" y="404164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Repeat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HITL Architecture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Specify human-in-the-loop gates, approval flows, and escalation paths that balance speed with control.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Run Effective Agent PR Reviews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the new mental model for reviewing AI-generated diffs: scope, intent, hallucination, and debt.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Maintain Living ADRs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Capture architectural decisions continuously using agents — turning Slack threads into auditable records.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Build a Continuous Improvement Loop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Deploy → observe → detect drift → update spec → re-run agent. The self-improving agentic system.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SUPERVISED DEVELOPMENT  —  THE NEW CONTRACT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20040" y="749808"/>
            <a:ext cx="8503920" cy="1005840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804672"/>
            <a:ext cx="8229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“When I speak to my most senior engineers — the best developers we have — they say they have not written a single line of code since December. They only generate code and supervise it.”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— Alex Söderström, Spotify Co-CEO  ·  Q4 2025 Earnings Call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901952"/>
            <a:ext cx="8503920" cy="329184"/>
          </a:xfrm>
          <a:prstGeom prst="rect">
            <a:avLst/>
          </a:prstGeom>
          <a:solidFill>
            <a:srgbClr val="2E5073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9019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8DB8"/>
                </a:solidFill>
              </a:rPr>
              <a:t>ROLE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94560" y="190195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096B0"/>
                </a:solidFill>
              </a:rPr>
              <a:t>BEFORE (Chat Era)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0" y="190195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7DC9"/>
                </a:solidFill>
              </a:rPr>
              <a:t>AFTER (Agent Era)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2286000"/>
            <a:ext cx="8503920" cy="62179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286000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Code Author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94560" y="2286000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Types every line. Owns syntax, logic, and tests.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0" y="2286000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Defines intent via spec and AC. Reviews and approves agent output.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962656"/>
            <a:ext cx="8503920" cy="62179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2962656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Architect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94560" y="2962656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Designs system, documents decisions after-the-fact.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0" y="2962656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Designs agent architecture, reviews plans, signs off before implementation.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639312"/>
            <a:ext cx="8503920" cy="621792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639312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Tech Lead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Writes code alongside team. Reviews human PRs.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0" y="3639312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Approves agent plans and task lists. Sets HITL gates. Owns verification criteria.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4315968"/>
            <a:ext cx="8503920" cy="621792"/>
          </a:xfrm>
          <a:prstGeom prst="rect">
            <a:avLst/>
          </a:prstGeom>
          <a:solidFill>
            <a:srgbClr val="2A4870">
              <a:alpha val="75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4315968"/>
            <a:ext cx="1691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Engineering Manager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194560" y="4315968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Tracks velocity, manages human developers.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0" y="431596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Tracks agent throughput, manages context quality, defines DoD and review standards.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DESIGNING HUMAN-IN-THE-LOOP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HITL must be designed into the agent system from day one — retrofitting it is expensive and fragile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697480" cy="56692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FULLY AUTOMATED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55448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Low-risk, reversible, self-correcting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29768" y="18288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EXAMPLE ACTIONS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9768" y="2029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Dependency version bumps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9768" y="24323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Doc generation and sync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9768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Translation of new strings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9768" y="32369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Log analysis and alerting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9768" y="3639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Test coverage gap reports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4169664"/>
            <a:ext cx="2514600" cy="621792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" y="4206240"/>
            <a:ext cx="2404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HUMAN ROLE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66344" y="440740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Humans review aggregate reports, not individual actions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0" y="1170432"/>
            <a:ext cx="2697480" cy="56692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117043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SOFT GATE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155448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Medium-risk, recoverable, agent opens PR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10128" y="18288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EXAMPLE ACTIONS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10128" y="2029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Feature implementation PRs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10128" y="24323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Refactoring PRs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310128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API integration changes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310128" y="32369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Configuration changes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310128" y="3639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New test generation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91840" y="4169664"/>
            <a:ext cx="2514600" cy="621792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346704" y="4206240"/>
            <a:ext cx="2404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HUMAN ROLE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346704" y="440740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Human must approve PR before merge. Can reject and redirect agent.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80760" y="1170432"/>
            <a:ext cx="2697480" cy="566928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33" name="Text 31"/>
          <p:cNvSpPr/>
          <p:nvPr/>
        </p:nvSpPr>
        <p:spPr>
          <a:xfrm>
            <a:off x="6080760" y="117043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HARD GATE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080760" y="155448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High-risk, irreversible, human decides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90488" y="18288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B03040"/>
                </a:solidFill>
              </a:rPr>
              <a:t>EXAMPLE ACTIONS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190488" y="2029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Production database changes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190488" y="24323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Security config modification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190488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Public API contract changes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90488" y="323697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Production deploys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90488" y="36393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Payments or financial ops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172200" y="4169664"/>
            <a:ext cx="2514600" cy="621792"/>
          </a:xfrm>
          <a:prstGeom prst="rect">
            <a:avLst/>
          </a:prstGeom>
          <a:solidFill>
            <a:srgbClr val="B03040">
              <a:alpha val="12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6227064" y="4206240"/>
            <a:ext cx="2404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B03040"/>
                </a:solidFill>
              </a:rPr>
              <a:t>HUMAN ROLE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227064" y="4407408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Human authorises explicitly. Agent surfaces options only, does not execute.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REVIEWING AI-GENERATED PULL REQUESTS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Reviewing AI code takes as much mental energy as writing it — reviewers must be paranoid about hallucinations and scope creep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1225296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1. Did the agent stay in scope?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6344" y="162763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Check which files changed. Were all of them listed in the task spec? Any unexpected files changed = scope creep. Fail the PR.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68880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" y="2523744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2. Does the diff match the plan?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6344" y="2926080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Compare implementation against plan.md. Did agent execute what was agreed? If it deviated, was the deviation justified in a comment?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3767328"/>
            <a:ext cx="54864" cy="11887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" y="3822192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3. Are AC tests present and correct?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" y="4224528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Every AC must have a corresponding test. Read the test names against the acceptance criteria — not just line coverage.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170432"/>
            <a:ext cx="54864" cy="11887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225296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4. Are there hallucinated APIs or deps?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9744" y="162763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invent APIs and package versions that don’t exist. Check every import, every external call, every version number.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468880"/>
            <a:ext cx="54864" cy="11887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3" name="Text 21"/>
          <p:cNvSpPr/>
          <p:nvPr/>
        </p:nvSpPr>
        <p:spPr>
          <a:xfrm>
            <a:off x="4809744" y="2523744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5. Is technical debt being introduced?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09744" y="2926080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optimise for passing tests, not maintainability. Check for: magic numbers, duplicated logic, missing error handling, no comments.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3767328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7" name="Text 25"/>
          <p:cNvSpPr/>
          <p:nvPr/>
        </p:nvSpPr>
        <p:spPr>
          <a:xfrm>
            <a:off x="4809744" y="3822192"/>
            <a:ext cx="3959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6. Does behaviour match intent?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9744" y="4224528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the feature mentally against your AC. Did the agent build what you wanted, even if tests pass? Functional correctness matters.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ARCHITECTURE DECISION RECORDS AS LIVING CONTEXT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Spotify engineers use agents to capture ADRs from Slack threads — making architectural reasoning continuous, not retrospective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ADR ANATOMY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6642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6642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Title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938528" y="16642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ADR-0042: Use PostgreSQL for board state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" y="21214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1214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Status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938528" y="21214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Accepted / Proposed / Deprecated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5786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5786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Context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938528" y="25786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Why did we face this decision? What were the constraints?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" y="30358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0358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Decision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38528" y="30358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exactly did we decide to do?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34930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4930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Consequences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938528" y="34930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are the trade-offs? What does this enable/prevent?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29768" y="39502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950208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Alternatives Considered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938528" y="39502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did we reject and why?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29768" y="4462272"/>
            <a:ext cx="3931920" cy="36576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4462272"/>
            <a:ext cx="3785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3557"/>
                </a:solidFill>
              </a:rPr>
              <a:t>Store in: adr/ folder in repo root · Reference in CLAUDE.md for JIT loading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AGENT-ASSISTED ADR WORKFLOW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73168" y="166420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2" name="Text 30"/>
          <p:cNvSpPr/>
          <p:nvPr/>
        </p:nvSpPr>
        <p:spPr>
          <a:xfrm>
            <a:off x="4773168" y="166420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175504" y="170078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Architectural discussion happens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75504" y="195681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Engineers debate an approach in Slack, GitHub comments, or a design doc.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73168" y="230428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6" name="Text 34"/>
          <p:cNvSpPr/>
          <p:nvPr/>
        </p:nvSpPr>
        <p:spPr>
          <a:xfrm>
            <a:off x="4773168" y="230428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175504" y="234086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Agent reads the thread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75504" y="259689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Ask the agent: “Read this Slack thread and produce a draft ADR in our standard format.”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73168" y="294436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0" name="Text 38"/>
          <p:cNvSpPr/>
          <p:nvPr/>
        </p:nvSpPr>
        <p:spPr>
          <a:xfrm>
            <a:off x="4773168" y="294436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175504" y="298094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Human reviews and edits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175504" y="323697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Engineer fills in missing context, verifies accuracy, and updates the status.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73168" y="358444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4" name="Text 42"/>
          <p:cNvSpPr/>
          <p:nvPr/>
        </p:nvSpPr>
        <p:spPr>
          <a:xfrm>
            <a:off x="4773168" y="358444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175504" y="362102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ADR committed to repo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175504" y="387705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The decision is now in version control alongside the code it governs.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773168" y="4224528"/>
            <a:ext cx="329184" cy="54864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8" name="Text 46"/>
          <p:cNvSpPr/>
          <p:nvPr/>
        </p:nvSpPr>
        <p:spPr>
          <a:xfrm>
            <a:off x="4773168" y="4224528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175504" y="426110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Agent references ADR in future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175504" y="4517136"/>
            <a:ext cx="3538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When making related changes, agent loads the relevant ADR as just-in-time context.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DEFINITION OF DONE  —  ENFORCED BY THE 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Without DoD embedded in the agent system, “done” is whatever the agent or reviewer decides in the moment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4206240" cy="182880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420624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143000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Specification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" y="1600200"/>
            <a:ext cx="237744" cy="25603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29768" y="1600200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0664" y="160020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All AC from SPEC.md explicitly met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" y="1929384"/>
            <a:ext cx="237744" cy="25603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929384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0664" y="1929384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 features added beyond spec scope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" y="2258568"/>
            <a:ext cx="237744" cy="25603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2258568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0664" y="22585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Non-goals have not been implemented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" y="2587752"/>
            <a:ext cx="237744" cy="25603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2587752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0664" y="258775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Edge cases from spec are handled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1143000"/>
            <a:ext cx="4206240" cy="182880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143000"/>
            <a:ext cx="420624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818888" y="1143000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Code Quality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18888" y="1600200"/>
            <a:ext cx="237744" cy="256032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818888" y="1600200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9784" y="160020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Linter: zero warnings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18888" y="1929384"/>
            <a:ext cx="237744" cy="256032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818888" y="1929384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29784" y="1929384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Type checker: clean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18888" y="2258568"/>
            <a:ext cx="237744" cy="256032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818888" y="2258568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29784" y="22585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 dead code or commented-out blocks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18888" y="2587752"/>
            <a:ext cx="237744" cy="256032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2587752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9784" y="258775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No magic numbers or hardcoded strings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3081528"/>
            <a:ext cx="4206240" cy="182880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3081528"/>
            <a:ext cx="420624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29768" y="3081528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Testing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29768" y="3538728"/>
            <a:ext cx="237744" cy="256032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" y="3538728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40664" y="353872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100% of AC have corresponding tests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29768" y="3867912"/>
            <a:ext cx="237744" cy="256032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29768" y="3867912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40664" y="386791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All tests passing in CI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9768" y="4197096"/>
            <a:ext cx="237744" cy="256032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" y="41970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40664" y="4197096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Coverage threshold met on changed files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29768" y="4526280"/>
            <a:ext cx="237744" cy="256032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29768" y="4526280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40664" y="452628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Edge case tests present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709160" y="3081528"/>
            <a:ext cx="4206240" cy="182880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709160" y="3081528"/>
            <a:ext cx="4206240" cy="38404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4818888" y="3081528"/>
            <a:ext cx="4041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Documentation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4818888" y="3538728"/>
            <a:ext cx="237744" cy="25603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818888" y="3538728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129784" y="353872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ADR updated if architectural decision made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818888" y="3867912"/>
            <a:ext cx="237744" cy="25603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4818888" y="3867912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129784" y="3867912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API docs reflect changes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818888" y="4197096"/>
            <a:ext cx="237744" cy="25603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4818888" y="4197096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129784" y="4197096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CLAUDE.md updated if agent rules changed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818888" y="4526280"/>
            <a:ext cx="237744" cy="25603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4818888" y="4526280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129784" y="452628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Inline comments for complex logic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320040" y="4873752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Embed this DoD as a checklist in your PR template. Make it the Verifier’s exit criteria. Agents that don’t meet DoD don’t get to open PRs.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CONTINUOUS IMPROVEMENT 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 self-improving agentic system: every deployment is an opportunity to make the next one better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1572768" cy="56692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Deploy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 opens PR. Human reviews and merges. Agent output enters production.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92808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039112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039112" y="1188720"/>
            <a:ext cx="1572768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2039112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96312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Observe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30552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Monitor for regressions, user feedback, performance issues. Agents help here too (log analysis, alerting).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11880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58184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758184" y="1188720"/>
            <a:ext cx="1572768" cy="56692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3758184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15384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Detect Drift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49624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Identify where agent output diverged from intent: new bugs, edge cases missed, scope that should have been in spec.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30952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77256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77256" y="1188720"/>
            <a:ext cx="1572768" cy="56692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5" name="Text 23"/>
          <p:cNvSpPr/>
          <p:nvPr/>
        </p:nvSpPr>
        <p:spPr>
          <a:xfrm>
            <a:off x="5477256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934456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Update Spec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68696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Update SPEC.md with clarifications, new AC, or corrected non-goals. Update CLAUDE.md or Skills if agent behaviour needs tuning.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50024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196328" y="1188720"/>
            <a:ext cx="1572768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96328" y="1188720"/>
            <a:ext cx="1572768" cy="56692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1" name="Text 29"/>
          <p:cNvSpPr/>
          <p:nvPr/>
        </p:nvSpPr>
        <p:spPr>
          <a:xfrm>
            <a:off x="7196328" y="1188720"/>
            <a:ext cx="438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653528" y="1188720"/>
            <a:ext cx="107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Re-run Agent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287768" y="1828800"/>
            <a:ext cx="1389888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Apply the updated spec to the fix or new feature. Better context → better agent output. The loop compounds.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4828032"/>
            <a:ext cx="8503920" cy="274320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5" name="Text 33"/>
          <p:cNvSpPr/>
          <p:nvPr/>
        </p:nvSpPr>
        <p:spPr>
          <a:xfrm>
            <a:off x="411480" y="482803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Hygiene practices: weekly SPEC.md review · monthly CLAUDE.md audit · quarterly Skills refresh · continuous ADR capture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REVIEW HYGIENE ANTI-PATTERNS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Common ways that review processes break down when agents write the 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Rubber-stamping agent PRs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Reviewers merge without reading diffs. Technical debt accumulates at machine speed.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Review AI PRs with the same rigour as human PRs. Scope + intent + correctness. No exceptions.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Not checking for scope creep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adds 47 files when asked to change 3. Nobody notices. Codebase becomes incoherent.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First review question: which files changed and were they all in scope? Hard fail if not.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Trusting tests implicitly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writes tests to match its implementation, not the spec. Tests pass; feature is wrong.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Read test names against AC. Do the tests verify the spec, or the agent’s interpretation of it?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Letting ADRs go stale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makes architectural decisions contradicting past decisions nobody remembers.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Make ADR capture part of the PR checklist. Agent can draft the ADR from the PR description.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feedback loop to spec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Same types of errors recur. Agent keeps making the same mistakes. Process doesn’t improve.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When a bug is found in agent output, trace it to a spec gap and fix SPEC.md before next sprint.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HITL gates too late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663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has already done irreversible things (prod write, email sent) before human can intervene.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Design HITL gates before irreversible actions, not after. Treat hard gates as non-negotiable.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METRICS FOR A HEALTHY AGENTIC 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</a:rPr>
              <a:t>If you can’t measure it, you can’t improve it. Track these to know if your agentic process is working.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269748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430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Quality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618488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" y="167335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Agent PR failure mode ratio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4632" y="2002536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% of PRs in each of the 3 failure modes. Shift over time shows Verifier maturity.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97480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" y="2752344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AC coverage per PR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" y="3081528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% of AC items covered by tests. Target: 100%. Decline indicates spec quality issue.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3776472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" y="3831336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Rework rate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" y="4160520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% of agent PRs that required &gt;1 human redirect before merge. Measures spec clarity.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0" y="1143000"/>
            <a:ext cx="269748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0" y="11430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Velocity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618488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0" name="Text 18"/>
          <p:cNvSpPr/>
          <p:nvPr/>
        </p:nvSpPr>
        <p:spPr>
          <a:xfrm>
            <a:off x="3364992" y="167335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Agent PRs per sprint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64992" y="2002536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Volume of agent-generated PRs. Rising = adoption. Flat = bottleneck in review or spec.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91840" y="2697480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3" name="Text 21"/>
          <p:cNvSpPr/>
          <p:nvPr/>
        </p:nvSpPr>
        <p:spPr>
          <a:xfrm>
            <a:off x="3364992" y="2752344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Time to HITL approval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64992" y="3081528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How long humans take to review agent output. Rising = too many PRs or too-complex diffs.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3776472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6" name="Text 24"/>
          <p:cNvSpPr/>
          <p:nvPr/>
        </p:nvSpPr>
        <p:spPr>
          <a:xfrm>
            <a:off x="3364992" y="3831336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Spec-to-merge cycle time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64992" y="4160520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From requirements.md to merged PR. Measures end-to-end SDD efficiency.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8076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80760" y="1143000"/>
            <a:ext cx="269748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080760" y="114300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Hygiene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72200" y="1618488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2" name="Text 30"/>
          <p:cNvSpPr/>
          <p:nvPr/>
        </p:nvSpPr>
        <p:spPr>
          <a:xfrm>
            <a:off x="6245352" y="1673352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ADR creation rate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45352" y="2002536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ADRs per sprint. Measures whether architectural decisions are being captured continuously.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697480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5" name="Text 33"/>
          <p:cNvSpPr/>
          <p:nvPr/>
        </p:nvSpPr>
        <p:spPr>
          <a:xfrm>
            <a:off x="6245352" y="2752344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SPEC.md staleness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45352" y="3081528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Days since last SPEC.md update. Rising = spec and reality diverging.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3776472"/>
            <a:ext cx="2514600" cy="100584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8" name="Text 36"/>
          <p:cNvSpPr/>
          <p:nvPr/>
        </p:nvSpPr>
        <p:spPr>
          <a:xfrm>
            <a:off x="6245352" y="3831336"/>
            <a:ext cx="236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E6E"/>
                </a:solidFill>
              </a:rPr>
              <a:t>CLAUDE.md line count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245352" y="4160520"/>
            <a:ext cx="2368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Lines in CLAUDE.md. Rising = bloat. Should stay under 300.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Design Your Team’s Review System for an Agentic Pipeline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Map your HITL gates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92224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For the workflow you designed in Module 2, place every agent action into the 3-tier HITL model. Where are your hard gates? Where can you fully automate? Where are the soft gates?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your PR review checklist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3317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79192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Using the 6-dimension framework from Slide 5, create a PR template checklist for your team’s first agentic PR. What would a reviewer actually check for AI-generated code?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Draft a DoD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321868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66160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Write a Definition of Done for a feature your team is planning. Include: AC coverage, code quality, test requirements, and documentation. Make every item machine-verifiable.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Identify your feedback loop gap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410565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53128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Where in your current process does the loop from production bug back to SPEC.md update break down? What’s missing? Design the one improvement that would have the highest impact.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How would your team’s review culture need to change to adopt the 6-dimension PR review framework?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Which of the 3 HITL tiers do you think would be most contentious to agree on with your manager?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architectural decision from last quarter should have been an ADR? What did you lose by not capturing it?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If you could only track one metric from Slide 10 to start, which would give you the most insight?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Supervised development = the new engineer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HITL: design 3 tiers before you start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AI PR review needs 6-dimension checklist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ADRs: capture continuously, not retrospectively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DoD must be machine-verifiable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Continuous improvement = spec → agent → observe → update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Anti-patterns compound at machine speed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07: Observability  —  Tracing, logging, evaluation, and monitoring for production agent systems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6: Review Cycles, Hygiene &amp; Continuous Improvement</dc:title>
  <dc:subject>PptxGenJS Presentation</dc:subject>
  <dc:creator>PptxGenJS</dc:creator>
  <cp:lastModifiedBy>PptxGenJS</cp:lastModifiedBy>
  <cp:revision>1</cp:revision>
  <dcterms:created xsi:type="dcterms:W3CDTF">2026-04-05T18:24:10Z</dcterms:created>
  <dcterms:modified xsi:type="dcterms:W3CDTF">2026-04-05T18:24:10Z</dcterms:modified>
</cp:coreProperties>
</file>