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3557"/>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3A7DC9"/>
          </a:solidFill>
          <a:ln/>
        </p:spPr>
      </p:sp>
      <p:sp>
        <p:nvSpPr>
          <p:cNvPr id="3" name="Text 1"/>
          <p:cNvSpPr/>
          <p:nvPr/>
        </p:nvSpPr>
        <p:spPr>
          <a:xfrm>
            <a:off x="365760" y="292608"/>
            <a:ext cx="8412480" cy="320040"/>
          </a:xfrm>
          <a:prstGeom prst="rect">
            <a:avLst/>
          </a:prstGeom>
          <a:noFill/>
          <a:ln/>
        </p:spPr>
        <p:txBody>
          <a:bodyPr wrap="square" lIns="0" tIns="0" rIns="0" bIns="0" rtlCol="0" anchor="ctr"/>
          <a:lstStyle/>
          <a:p>
            <a:pPr indent="0" marL="0">
              <a:buNone/>
            </a:pPr>
            <a:r>
              <a:rPr lang="en-US" sz="1000" b="1" spc="400" kern="0" dirty="0">
                <a:solidFill>
                  <a:srgbClr val="5B8DB8"/>
                </a:solidFill>
              </a:rPr>
              <a:t>ENTERPRISE AGENTIC PRACTICES</a:t>
            </a:r>
            <a:endParaRPr lang="en-US" sz="1000" dirty="0"/>
          </a:p>
        </p:txBody>
      </p:sp>
      <p:sp>
        <p:nvSpPr>
          <p:cNvPr id="4" name="Shape 2"/>
          <p:cNvSpPr/>
          <p:nvPr/>
        </p:nvSpPr>
        <p:spPr>
          <a:xfrm>
            <a:off x="365760" y="749808"/>
            <a:ext cx="1371600" cy="347472"/>
          </a:xfrm>
          <a:prstGeom prst="rect">
            <a:avLst/>
          </a:prstGeom>
          <a:solidFill>
            <a:srgbClr val="3A7DC9"/>
          </a:solidFill>
          <a:ln/>
        </p:spPr>
      </p:sp>
      <p:sp>
        <p:nvSpPr>
          <p:cNvPr id="5" name="Text 3"/>
          <p:cNvSpPr/>
          <p:nvPr/>
        </p:nvSpPr>
        <p:spPr>
          <a:xfrm>
            <a:off x="365760" y="749808"/>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rPr>
              <a:t>MODULE 06</a:t>
            </a:r>
            <a:endParaRPr lang="en-US" sz="1100" dirty="0"/>
          </a:p>
        </p:txBody>
      </p:sp>
      <p:sp>
        <p:nvSpPr>
          <p:cNvPr id="6" name="Text 4"/>
          <p:cNvSpPr/>
          <p:nvPr/>
        </p:nvSpPr>
        <p:spPr>
          <a:xfrm>
            <a:off x="365760" y="1170432"/>
            <a:ext cx="6583680" cy="2011680"/>
          </a:xfrm>
          <a:prstGeom prst="rect">
            <a:avLst/>
          </a:prstGeom>
          <a:noFill/>
          <a:ln/>
        </p:spPr>
        <p:txBody>
          <a:bodyPr wrap="square" lIns="0" tIns="0" rIns="0" bIns="0" rtlCol="0" anchor="ctr"/>
          <a:lstStyle/>
          <a:p>
            <a:pPr indent="0" marL="0">
              <a:buNone/>
            </a:pPr>
            <a:r>
              <a:rPr lang="en-US" sz="3800" b="1" dirty="0">
                <a:solidFill>
                  <a:srgbClr val="FFFFFF"/>
                </a:solidFill>
              </a:rPr>
              <a:t>Review Cycles,</a:t>
            </a:r>
            <a:endParaRPr lang="en-US" sz="3800" dirty="0"/>
          </a:p>
          <a:p>
            <a:pPr indent="0" marL="0">
              <a:buNone/>
            </a:pPr>
            <a:r>
              <a:rPr lang="en-US" sz="3800" b="1" dirty="0">
                <a:solidFill>
                  <a:srgbClr val="FFFFFF"/>
                </a:solidFill>
              </a:rPr>
              <a:t>Hygiene &amp;</a:t>
            </a:r>
            <a:endParaRPr lang="en-US" sz="3800" dirty="0"/>
          </a:p>
          <a:p>
            <a:pPr indent="0" marL="0">
              <a:buNone/>
            </a:pPr>
            <a:r>
              <a:rPr lang="en-US" sz="3800" b="1" dirty="0">
                <a:solidFill>
                  <a:srgbClr val="FFFFFF"/>
                </a:solidFill>
              </a:rPr>
              <a:t>Continuous Improvement</a:t>
            </a:r>
            <a:endParaRPr lang="en-US" sz="3800" dirty="0"/>
          </a:p>
        </p:txBody>
      </p:sp>
      <p:sp>
        <p:nvSpPr>
          <p:cNvPr id="7" name="Text 5"/>
          <p:cNvSpPr/>
          <p:nvPr/>
        </p:nvSpPr>
        <p:spPr>
          <a:xfrm>
            <a:off x="365760" y="3291840"/>
            <a:ext cx="6583680" cy="457200"/>
          </a:xfrm>
          <a:prstGeom prst="rect">
            <a:avLst/>
          </a:prstGeom>
          <a:noFill/>
          <a:ln/>
        </p:spPr>
        <p:txBody>
          <a:bodyPr wrap="square" lIns="0" tIns="0" rIns="0" bIns="0" rtlCol="0" anchor="ctr"/>
          <a:lstStyle/>
          <a:p>
            <a:pPr indent="0" marL="0">
              <a:buNone/>
            </a:pPr>
            <a:r>
              <a:rPr lang="en-US" sz="1800" i="1" dirty="0">
                <a:solidFill>
                  <a:srgbClr val="5B8DB8"/>
                </a:solidFill>
              </a:rPr>
              <a:t>Keeping humans in control while agents move at machine speed</a:t>
            </a:r>
            <a:endParaRPr lang="en-US" sz="1800" dirty="0"/>
          </a:p>
        </p:txBody>
      </p:sp>
      <p:sp>
        <p:nvSpPr>
          <p:cNvPr id="8" name="Shape 6"/>
          <p:cNvSpPr/>
          <p:nvPr/>
        </p:nvSpPr>
        <p:spPr>
          <a:xfrm>
            <a:off x="365760" y="3858768"/>
            <a:ext cx="3200400" cy="36576"/>
          </a:xfrm>
          <a:prstGeom prst="rect">
            <a:avLst/>
          </a:prstGeom>
          <a:solidFill>
            <a:srgbClr val="3A7DC9"/>
          </a:solidFill>
          <a:ln/>
        </p:spPr>
      </p:sp>
      <p:sp>
        <p:nvSpPr>
          <p:cNvPr id="9" name="Text 7"/>
          <p:cNvSpPr/>
          <p:nvPr/>
        </p:nvSpPr>
        <p:spPr>
          <a:xfrm>
            <a:off x="365760" y="4005072"/>
            <a:ext cx="4572000" cy="347472"/>
          </a:xfrm>
          <a:prstGeom prst="rect">
            <a:avLst/>
          </a:prstGeom>
          <a:noFill/>
          <a:ln/>
        </p:spPr>
        <p:txBody>
          <a:bodyPr wrap="square" lIns="0" tIns="0" rIns="0" bIns="0" rtlCol="0" anchor="ctr"/>
          <a:lstStyle/>
          <a:p>
            <a:pPr indent="0" marL="0">
              <a:buNone/>
            </a:pPr>
            <a:r>
              <a:rPr lang="en-US" sz="1300" b="1" dirty="0">
                <a:solidFill>
                  <a:srgbClr val="7A90A8"/>
                </a:solidFill>
              </a:rPr>
              <a:t>Duration: </a:t>
            </a:r>
            <a:pPr indent="0" marL="0">
              <a:buNone/>
            </a:pPr>
            <a:r>
              <a:rPr lang="en-US" sz="1300" dirty="0">
                <a:solidFill>
                  <a:srgbClr val="7A90A8"/>
                </a:solidFill>
              </a:rPr>
              <a:t>60–75 min  </a:t>
            </a:r>
            <a:pPr indent="0" marL="0">
              <a:buNone/>
            </a:pPr>
            <a:r>
              <a:rPr lang="en-US" sz="1300" dirty="0">
                <a:solidFill>
                  <a:srgbClr val="7A90A8"/>
                </a:solidFill>
              </a:rPr>
              <a:t>  |  </a:t>
            </a:r>
            <a:pPr indent="0" marL="0">
              <a:buNone/>
            </a:pPr>
            <a:r>
              <a:rPr lang="en-US" sz="1300" b="1" dirty="0">
                <a:solidFill>
                  <a:srgbClr val="7A90A8"/>
                </a:solidFill>
              </a:rPr>
              <a:t>Level: </a:t>
            </a:r>
            <a:pPr indent="0" marL="0">
              <a:buNone/>
            </a:pPr>
            <a:r>
              <a:rPr lang="en-US" sz="1300" dirty="0">
                <a:solidFill>
                  <a:srgbClr val="7A90A8"/>
                </a:solidFill>
              </a:rPr>
              <a:t>Intermediate</a:t>
            </a:r>
            <a:endParaRPr lang="en-US" sz="1300" dirty="0"/>
          </a:p>
        </p:txBody>
      </p:sp>
      <p:sp>
        <p:nvSpPr>
          <p:cNvPr id="10" name="Shape 8"/>
          <p:cNvSpPr/>
          <p:nvPr/>
        </p:nvSpPr>
        <p:spPr>
          <a:xfrm>
            <a:off x="6903720" y="566928"/>
            <a:ext cx="1920240" cy="685800"/>
          </a:xfrm>
          <a:prstGeom prst="rect">
            <a:avLst/>
          </a:prstGeom>
          <a:solidFill>
            <a:srgbClr val="1C3557"/>
          </a:solidFill>
          <a:ln/>
          <a:effectLst>
            <a:outerShdw sx="100000" sy="100000" kx="0" ky="0" algn="bl" rotWithShape="0" blurRad="101600" dist="38100" dir="8100000">
              <a:srgbClr val="000000">
                <a:alpha val="13000"/>
              </a:srgbClr>
            </a:outerShdw>
          </a:effectLst>
        </p:spPr>
      </p:sp>
      <p:sp>
        <p:nvSpPr>
          <p:cNvPr id="11" name="Text 9"/>
          <p:cNvSpPr/>
          <p:nvPr/>
        </p:nvSpPr>
        <p:spPr>
          <a:xfrm>
            <a:off x="6903720" y="566928"/>
            <a:ext cx="1920240" cy="685800"/>
          </a:xfrm>
          <a:prstGeom prst="rect">
            <a:avLst/>
          </a:prstGeom>
          <a:noFill/>
          <a:ln/>
        </p:spPr>
        <p:txBody>
          <a:bodyPr wrap="square" lIns="0" tIns="0" rIns="0" bIns="0" rtlCol="0" anchor="ctr"/>
          <a:lstStyle/>
          <a:p>
            <a:pPr algn="ctr" indent="0" marL="0">
              <a:buNone/>
            </a:pPr>
            <a:r>
              <a:rPr lang="en-US" sz="1400" b="1" dirty="0">
                <a:solidFill>
                  <a:srgbClr val="FFFFFF"/>
                </a:solidFill>
              </a:rPr>
              <a:t>Deploy</a:t>
            </a:r>
            <a:endParaRPr lang="en-US" sz="1400" dirty="0"/>
          </a:p>
        </p:txBody>
      </p:sp>
      <p:sp>
        <p:nvSpPr>
          <p:cNvPr id="12" name="Text 10"/>
          <p:cNvSpPr/>
          <p:nvPr/>
        </p:nvSpPr>
        <p:spPr>
          <a:xfrm>
            <a:off x="7543800" y="1261872"/>
            <a:ext cx="457200" cy="219456"/>
          </a:xfrm>
          <a:prstGeom prst="rect">
            <a:avLst/>
          </a:prstGeom>
          <a:noFill/>
          <a:ln/>
        </p:spPr>
        <p:txBody>
          <a:bodyPr wrap="square" lIns="0" tIns="0" rIns="0" bIns="0" rtlCol="0" anchor="ctr"/>
          <a:lstStyle/>
          <a:p>
            <a:pPr algn="ctr" indent="0" marL="0">
              <a:buNone/>
            </a:pPr>
            <a:r>
              <a:rPr lang="en-US" sz="1400" dirty="0">
                <a:solidFill>
                  <a:srgbClr val="7A90A8"/>
                </a:solidFill>
              </a:rPr>
              <a:t>↓</a:t>
            </a:r>
            <a:endParaRPr lang="en-US" sz="1400" dirty="0"/>
          </a:p>
        </p:txBody>
      </p:sp>
      <p:sp>
        <p:nvSpPr>
          <p:cNvPr id="13" name="Shape 11"/>
          <p:cNvSpPr/>
          <p:nvPr/>
        </p:nvSpPr>
        <p:spPr>
          <a:xfrm>
            <a:off x="6903720" y="1435608"/>
            <a:ext cx="1920240" cy="685800"/>
          </a:xfrm>
          <a:prstGeom prst="rect">
            <a:avLst/>
          </a:prstGeom>
          <a:solidFill>
            <a:srgbClr val="4A7FA8"/>
          </a:solidFill>
          <a:ln/>
          <a:effectLst>
            <a:outerShdw sx="100000" sy="100000" kx="0" ky="0" algn="bl" rotWithShape="0" blurRad="101600" dist="38100" dir="8100000">
              <a:srgbClr val="000000">
                <a:alpha val="13000"/>
              </a:srgbClr>
            </a:outerShdw>
          </a:effectLst>
        </p:spPr>
      </p:sp>
      <p:sp>
        <p:nvSpPr>
          <p:cNvPr id="14" name="Text 12"/>
          <p:cNvSpPr/>
          <p:nvPr/>
        </p:nvSpPr>
        <p:spPr>
          <a:xfrm>
            <a:off x="6903720" y="1435608"/>
            <a:ext cx="1920240" cy="685800"/>
          </a:xfrm>
          <a:prstGeom prst="rect">
            <a:avLst/>
          </a:prstGeom>
          <a:noFill/>
          <a:ln/>
        </p:spPr>
        <p:txBody>
          <a:bodyPr wrap="square" lIns="0" tIns="0" rIns="0" bIns="0" rtlCol="0" anchor="ctr"/>
          <a:lstStyle/>
          <a:p>
            <a:pPr algn="ctr" indent="0" marL="0">
              <a:buNone/>
            </a:pPr>
            <a:r>
              <a:rPr lang="en-US" sz="1400" b="1" dirty="0">
                <a:solidFill>
                  <a:srgbClr val="FFFFFF"/>
                </a:solidFill>
              </a:rPr>
              <a:t>Observe</a:t>
            </a:r>
            <a:endParaRPr lang="en-US" sz="1400" dirty="0"/>
          </a:p>
        </p:txBody>
      </p:sp>
      <p:sp>
        <p:nvSpPr>
          <p:cNvPr id="15" name="Text 13"/>
          <p:cNvSpPr/>
          <p:nvPr/>
        </p:nvSpPr>
        <p:spPr>
          <a:xfrm>
            <a:off x="7543800" y="2130552"/>
            <a:ext cx="457200" cy="219456"/>
          </a:xfrm>
          <a:prstGeom prst="rect">
            <a:avLst/>
          </a:prstGeom>
          <a:noFill/>
          <a:ln/>
        </p:spPr>
        <p:txBody>
          <a:bodyPr wrap="square" lIns="0" tIns="0" rIns="0" bIns="0" rtlCol="0" anchor="ctr"/>
          <a:lstStyle/>
          <a:p>
            <a:pPr algn="ctr" indent="0" marL="0">
              <a:buNone/>
            </a:pPr>
            <a:r>
              <a:rPr lang="en-US" sz="1400" dirty="0">
                <a:solidFill>
                  <a:srgbClr val="7A90A8"/>
                </a:solidFill>
              </a:rPr>
              <a:t>↓</a:t>
            </a:r>
            <a:endParaRPr lang="en-US" sz="1400" dirty="0"/>
          </a:p>
        </p:txBody>
      </p:sp>
      <p:sp>
        <p:nvSpPr>
          <p:cNvPr id="16" name="Shape 14"/>
          <p:cNvSpPr/>
          <p:nvPr/>
        </p:nvSpPr>
        <p:spPr>
          <a:xfrm>
            <a:off x="6903720" y="2304288"/>
            <a:ext cx="1920240" cy="685800"/>
          </a:xfrm>
          <a:prstGeom prst="rect">
            <a:avLst/>
          </a:prstGeom>
          <a:solidFill>
            <a:srgbClr val="3A7DC9"/>
          </a:solidFill>
          <a:ln/>
          <a:effectLst>
            <a:outerShdw sx="100000" sy="100000" kx="0" ky="0" algn="bl" rotWithShape="0" blurRad="101600" dist="38100" dir="8100000">
              <a:srgbClr val="000000">
                <a:alpha val="13000"/>
              </a:srgbClr>
            </a:outerShdw>
          </a:effectLst>
        </p:spPr>
      </p:sp>
      <p:sp>
        <p:nvSpPr>
          <p:cNvPr id="17" name="Text 15"/>
          <p:cNvSpPr/>
          <p:nvPr/>
        </p:nvSpPr>
        <p:spPr>
          <a:xfrm>
            <a:off x="6903720" y="2304288"/>
            <a:ext cx="1920240" cy="685800"/>
          </a:xfrm>
          <a:prstGeom prst="rect">
            <a:avLst/>
          </a:prstGeom>
          <a:noFill/>
          <a:ln/>
        </p:spPr>
        <p:txBody>
          <a:bodyPr wrap="square" lIns="0" tIns="0" rIns="0" bIns="0" rtlCol="0" anchor="ctr"/>
          <a:lstStyle/>
          <a:p>
            <a:pPr algn="ctr" indent="0" marL="0">
              <a:buNone/>
            </a:pPr>
            <a:r>
              <a:rPr lang="en-US" sz="1400" b="1" dirty="0">
                <a:solidFill>
                  <a:srgbClr val="FFFFFF"/>
                </a:solidFill>
              </a:rPr>
              <a:t>Review</a:t>
            </a:r>
            <a:endParaRPr lang="en-US" sz="1400" dirty="0"/>
          </a:p>
        </p:txBody>
      </p:sp>
      <p:sp>
        <p:nvSpPr>
          <p:cNvPr id="18" name="Text 16"/>
          <p:cNvSpPr/>
          <p:nvPr/>
        </p:nvSpPr>
        <p:spPr>
          <a:xfrm>
            <a:off x="7543800" y="2999232"/>
            <a:ext cx="457200" cy="219456"/>
          </a:xfrm>
          <a:prstGeom prst="rect">
            <a:avLst/>
          </a:prstGeom>
          <a:noFill/>
          <a:ln/>
        </p:spPr>
        <p:txBody>
          <a:bodyPr wrap="square" lIns="0" tIns="0" rIns="0" bIns="0" rtlCol="0" anchor="ctr"/>
          <a:lstStyle/>
          <a:p>
            <a:pPr algn="ctr" indent="0" marL="0">
              <a:buNone/>
            </a:pPr>
            <a:r>
              <a:rPr lang="en-US" sz="1400" dirty="0">
                <a:solidFill>
                  <a:srgbClr val="7A90A8"/>
                </a:solidFill>
              </a:rPr>
              <a:t>↓</a:t>
            </a:r>
            <a:endParaRPr lang="en-US" sz="1400" dirty="0"/>
          </a:p>
        </p:txBody>
      </p:sp>
      <p:sp>
        <p:nvSpPr>
          <p:cNvPr id="19" name="Shape 17"/>
          <p:cNvSpPr/>
          <p:nvPr/>
        </p:nvSpPr>
        <p:spPr>
          <a:xfrm>
            <a:off x="6903720" y="3172968"/>
            <a:ext cx="1920240" cy="685800"/>
          </a:xfrm>
          <a:prstGeom prst="rect">
            <a:avLst/>
          </a:prstGeom>
          <a:solidFill>
            <a:srgbClr val="3A7E6E"/>
          </a:solidFill>
          <a:ln/>
          <a:effectLst>
            <a:outerShdw sx="100000" sy="100000" kx="0" ky="0" algn="bl" rotWithShape="0" blurRad="101600" dist="38100" dir="8100000">
              <a:srgbClr val="000000">
                <a:alpha val="13000"/>
              </a:srgbClr>
            </a:outerShdw>
          </a:effectLst>
        </p:spPr>
      </p:sp>
      <p:sp>
        <p:nvSpPr>
          <p:cNvPr id="20" name="Text 18"/>
          <p:cNvSpPr/>
          <p:nvPr/>
        </p:nvSpPr>
        <p:spPr>
          <a:xfrm>
            <a:off x="6903720" y="3172968"/>
            <a:ext cx="1920240" cy="685800"/>
          </a:xfrm>
          <a:prstGeom prst="rect">
            <a:avLst/>
          </a:prstGeom>
          <a:noFill/>
          <a:ln/>
        </p:spPr>
        <p:txBody>
          <a:bodyPr wrap="square" lIns="0" tIns="0" rIns="0" bIns="0" rtlCol="0" anchor="ctr"/>
          <a:lstStyle/>
          <a:p>
            <a:pPr algn="ctr" indent="0" marL="0">
              <a:buNone/>
            </a:pPr>
            <a:r>
              <a:rPr lang="en-US" sz="1400" b="1" dirty="0">
                <a:solidFill>
                  <a:srgbClr val="FFFFFF"/>
                </a:solidFill>
              </a:rPr>
              <a:t>Improve</a:t>
            </a:r>
            <a:endParaRPr lang="en-US" sz="1400" dirty="0"/>
          </a:p>
        </p:txBody>
      </p:sp>
      <p:sp>
        <p:nvSpPr>
          <p:cNvPr id="21" name="Text 19"/>
          <p:cNvSpPr/>
          <p:nvPr/>
        </p:nvSpPr>
        <p:spPr>
          <a:xfrm>
            <a:off x="7543800" y="3867912"/>
            <a:ext cx="457200" cy="219456"/>
          </a:xfrm>
          <a:prstGeom prst="rect">
            <a:avLst/>
          </a:prstGeom>
          <a:noFill/>
          <a:ln/>
        </p:spPr>
        <p:txBody>
          <a:bodyPr wrap="square" lIns="0" tIns="0" rIns="0" bIns="0" rtlCol="0" anchor="ctr"/>
          <a:lstStyle/>
          <a:p>
            <a:pPr algn="ctr" indent="0" marL="0">
              <a:buNone/>
            </a:pPr>
            <a:r>
              <a:rPr lang="en-US" sz="1400" dirty="0">
                <a:solidFill>
                  <a:srgbClr val="7A90A8"/>
                </a:solidFill>
              </a:rPr>
              <a:t>↓</a:t>
            </a:r>
            <a:endParaRPr lang="en-US" sz="1400" dirty="0"/>
          </a:p>
        </p:txBody>
      </p:sp>
      <p:sp>
        <p:nvSpPr>
          <p:cNvPr id="22" name="Shape 20"/>
          <p:cNvSpPr/>
          <p:nvPr/>
        </p:nvSpPr>
        <p:spPr>
          <a:xfrm>
            <a:off x="6903720" y="4041648"/>
            <a:ext cx="1920240" cy="685800"/>
          </a:xfrm>
          <a:prstGeom prst="rect">
            <a:avLst/>
          </a:prstGeom>
          <a:solidFill>
            <a:srgbClr val="1C3557">
              <a:alpha val="65000"/>
            </a:srgbClr>
          </a:solidFill>
          <a:ln/>
          <a:effectLst>
            <a:outerShdw sx="100000" sy="100000" kx="0" ky="0" algn="bl" rotWithShape="0" blurRad="101600" dist="38100" dir="8100000">
              <a:srgbClr val="000000">
                <a:alpha val="13000"/>
              </a:srgbClr>
            </a:outerShdw>
          </a:effectLst>
        </p:spPr>
      </p:sp>
      <p:sp>
        <p:nvSpPr>
          <p:cNvPr id="23" name="Text 21"/>
          <p:cNvSpPr/>
          <p:nvPr/>
        </p:nvSpPr>
        <p:spPr>
          <a:xfrm>
            <a:off x="6903720" y="4041648"/>
            <a:ext cx="1920240" cy="685800"/>
          </a:xfrm>
          <a:prstGeom prst="rect">
            <a:avLst/>
          </a:prstGeom>
          <a:noFill/>
          <a:ln/>
        </p:spPr>
        <p:txBody>
          <a:bodyPr wrap="square" lIns="0" tIns="0" rIns="0" bIns="0" rtlCol="0" anchor="ctr"/>
          <a:lstStyle/>
          <a:p>
            <a:pPr algn="ctr" indent="0" marL="0">
              <a:buNone/>
            </a:pPr>
            <a:r>
              <a:rPr lang="en-US" sz="1400" b="1" dirty="0">
                <a:solidFill>
                  <a:srgbClr val="FFFFFF"/>
                </a:solidFill>
              </a:rPr>
              <a:t>Repeat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LEARNING OBJECTIVES</a:t>
            </a:r>
            <a:endParaRPr lang="en-US" sz="1300" dirty="0"/>
          </a:p>
        </p:txBody>
      </p:sp>
      <p:sp>
        <p:nvSpPr>
          <p:cNvPr id="4" name="Text 2"/>
          <p:cNvSpPr/>
          <p:nvPr/>
        </p:nvSpPr>
        <p:spPr>
          <a:xfrm>
            <a:off x="320040" y="822960"/>
            <a:ext cx="8503920" cy="256032"/>
          </a:xfrm>
          <a:prstGeom prst="rect">
            <a:avLst/>
          </a:prstGeom>
          <a:noFill/>
          <a:ln/>
        </p:spPr>
        <p:txBody>
          <a:bodyPr wrap="square" lIns="0" tIns="0" rIns="0" bIns="0" rtlCol="0" anchor="ctr"/>
          <a:lstStyle/>
          <a:p>
            <a:pPr indent="0" marL="0">
              <a:buNone/>
            </a:pPr>
            <a:r>
              <a:rPr lang="en-US" sz="1100" i="1" dirty="0">
                <a:solidFill>
                  <a:srgbClr val="7A90A8"/>
                </a:solidFill>
              </a:rPr>
              <a:t>By the end of this module you will be able to:</a:t>
            </a:r>
            <a:endParaRPr lang="en-US" sz="1100" dirty="0"/>
          </a:p>
        </p:txBody>
      </p:sp>
      <p:sp>
        <p:nvSpPr>
          <p:cNvPr id="5" name="Shape 3"/>
          <p:cNvSpPr/>
          <p:nvPr/>
        </p:nvSpPr>
        <p:spPr>
          <a:xfrm>
            <a:off x="320040" y="1170432"/>
            <a:ext cx="4160520" cy="1664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170432"/>
            <a:ext cx="64008" cy="1664208"/>
          </a:xfrm>
          <a:prstGeom prst="rect">
            <a:avLst/>
          </a:prstGeom>
          <a:solidFill>
            <a:srgbClr val="3A7DC9"/>
          </a:solidFill>
          <a:ln/>
        </p:spPr>
      </p:sp>
      <p:pic>
        <p:nvPicPr>
          <p:cNvPr id="7" name="Image 0" descr="preencoded.png">    </p:cNvPr>
          <p:cNvPicPr>
            <a:picLocks noChangeAspect="1"/>
          </p:cNvPicPr>
          <p:nvPr/>
        </p:nvPicPr>
        <p:blipFill>
          <a:blip r:embed="rId1"/>
          <a:stretch>
            <a:fillRect/>
          </a:stretch>
        </p:blipFill>
        <p:spPr>
          <a:xfrm>
            <a:off x="484632" y="1371600"/>
            <a:ext cx="365760" cy="365760"/>
          </a:xfrm>
          <a:prstGeom prst="rect">
            <a:avLst/>
          </a:prstGeom>
        </p:spPr>
      </p:pic>
      <p:sp>
        <p:nvSpPr>
          <p:cNvPr id="8" name="Text 5"/>
          <p:cNvSpPr/>
          <p:nvPr/>
        </p:nvSpPr>
        <p:spPr>
          <a:xfrm>
            <a:off x="960120" y="1335024"/>
            <a:ext cx="3383280" cy="384048"/>
          </a:xfrm>
          <a:prstGeom prst="rect">
            <a:avLst/>
          </a:prstGeom>
          <a:noFill/>
          <a:ln/>
        </p:spPr>
        <p:txBody>
          <a:bodyPr wrap="square" lIns="0" tIns="0" rIns="0" bIns="0" rtlCol="0" anchor="ctr"/>
          <a:lstStyle/>
          <a:p>
            <a:pPr indent="0" marL="0">
              <a:buNone/>
            </a:pPr>
            <a:r>
              <a:rPr lang="en-US" sz="1300" b="1" dirty="0">
                <a:solidFill>
                  <a:srgbClr val="1C3557"/>
                </a:solidFill>
              </a:rPr>
              <a:t>Design HITL Architecture</a:t>
            </a:r>
            <a:endParaRPr lang="en-US" sz="1300" dirty="0"/>
          </a:p>
        </p:txBody>
      </p:sp>
      <p:sp>
        <p:nvSpPr>
          <p:cNvPr id="9" name="Text 6"/>
          <p:cNvSpPr/>
          <p:nvPr/>
        </p:nvSpPr>
        <p:spPr>
          <a:xfrm>
            <a:off x="960120" y="1755648"/>
            <a:ext cx="3383280" cy="960120"/>
          </a:xfrm>
          <a:prstGeom prst="rect">
            <a:avLst/>
          </a:prstGeom>
          <a:noFill/>
          <a:ln/>
        </p:spPr>
        <p:txBody>
          <a:bodyPr wrap="square" lIns="0" tIns="0" rIns="0" bIns="0" rtlCol="0" anchor="ctr"/>
          <a:lstStyle/>
          <a:p>
            <a:pPr indent="0" marL="0">
              <a:buNone/>
            </a:pPr>
            <a:r>
              <a:rPr lang="en-US" sz="1150" dirty="0">
                <a:solidFill>
                  <a:srgbClr val="7A90A8"/>
                </a:solidFill>
              </a:rPr>
              <a:t>Specify human-in-the-loop gates, approval flows, and escalation paths that balance speed with control.</a:t>
            </a:r>
            <a:endParaRPr lang="en-US" sz="1150" dirty="0"/>
          </a:p>
        </p:txBody>
      </p:sp>
      <p:sp>
        <p:nvSpPr>
          <p:cNvPr id="10" name="Shape 7"/>
          <p:cNvSpPr/>
          <p:nvPr/>
        </p:nvSpPr>
        <p:spPr>
          <a:xfrm>
            <a:off x="4663440" y="1170432"/>
            <a:ext cx="4160520" cy="1664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1" name="Shape 8"/>
          <p:cNvSpPr/>
          <p:nvPr/>
        </p:nvSpPr>
        <p:spPr>
          <a:xfrm>
            <a:off x="4663440" y="1170432"/>
            <a:ext cx="64008" cy="1664208"/>
          </a:xfrm>
          <a:prstGeom prst="rect">
            <a:avLst/>
          </a:prstGeom>
          <a:solidFill>
            <a:srgbClr val="4A7FA8"/>
          </a:solidFill>
          <a:ln/>
        </p:spPr>
      </p:sp>
      <p:pic>
        <p:nvPicPr>
          <p:cNvPr id="12" name="Image 1" descr="preencoded.png">    </p:cNvPr>
          <p:cNvPicPr>
            <a:picLocks noChangeAspect="1"/>
          </p:cNvPicPr>
          <p:nvPr/>
        </p:nvPicPr>
        <p:blipFill>
          <a:blip r:embed="rId2"/>
          <a:stretch>
            <a:fillRect/>
          </a:stretch>
        </p:blipFill>
        <p:spPr>
          <a:xfrm>
            <a:off x="4828032" y="1371600"/>
            <a:ext cx="365760" cy="365760"/>
          </a:xfrm>
          <a:prstGeom prst="rect">
            <a:avLst/>
          </a:prstGeom>
        </p:spPr>
      </p:pic>
      <p:sp>
        <p:nvSpPr>
          <p:cNvPr id="13" name="Text 9"/>
          <p:cNvSpPr/>
          <p:nvPr/>
        </p:nvSpPr>
        <p:spPr>
          <a:xfrm>
            <a:off x="5303520" y="1335024"/>
            <a:ext cx="3383280" cy="384048"/>
          </a:xfrm>
          <a:prstGeom prst="rect">
            <a:avLst/>
          </a:prstGeom>
          <a:noFill/>
          <a:ln/>
        </p:spPr>
        <p:txBody>
          <a:bodyPr wrap="square" lIns="0" tIns="0" rIns="0" bIns="0" rtlCol="0" anchor="ctr"/>
          <a:lstStyle/>
          <a:p>
            <a:pPr indent="0" marL="0">
              <a:buNone/>
            </a:pPr>
            <a:r>
              <a:rPr lang="en-US" sz="1300" b="1" dirty="0">
                <a:solidFill>
                  <a:srgbClr val="1C3557"/>
                </a:solidFill>
              </a:rPr>
              <a:t>Run Effective Agent PR Reviews</a:t>
            </a:r>
            <a:endParaRPr lang="en-US" sz="1300" dirty="0"/>
          </a:p>
        </p:txBody>
      </p:sp>
      <p:sp>
        <p:nvSpPr>
          <p:cNvPr id="14" name="Text 10"/>
          <p:cNvSpPr/>
          <p:nvPr/>
        </p:nvSpPr>
        <p:spPr>
          <a:xfrm>
            <a:off x="5303520" y="1755648"/>
            <a:ext cx="3383280" cy="960120"/>
          </a:xfrm>
          <a:prstGeom prst="rect">
            <a:avLst/>
          </a:prstGeom>
          <a:noFill/>
          <a:ln/>
        </p:spPr>
        <p:txBody>
          <a:bodyPr wrap="square" lIns="0" tIns="0" rIns="0" bIns="0" rtlCol="0" anchor="ctr"/>
          <a:lstStyle/>
          <a:p>
            <a:pPr indent="0" marL="0">
              <a:buNone/>
            </a:pPr>
            <a:r>
              <a:rPr lang="en-US" sz="1150" dirty="0">
                <a:solidFill>
                  <a:srgbClr val="7A90A8"/>
                </a:solidFill>
              </a:rPr>
              <a:t>Apply the new mental model for reviewing AI-generated diffs: scope, intent, hallucination, and debt.</a:t>
            </a:r>
            <a:endParaRPr lang="en-US" sz="1150" dirty="0"/>
          </a:p>
        </p:txBody>
      </p:sp>
      <p:sp>
        <p:nvSpPr>
          <p:cNvPr id="15" name="Shape 11"/>
          <p:cNvSpPr/>
          <p:nvPr/>
        </p:nvSpPr>
        <p:spPr>
          <a:xfrm>
            <a:off x="320040" y="2999232"/>
            <a:ext cx="4160520" cy="1664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6" name="Shape 12"/>
          <p:cNvSpPr/>
          <p:nvPr/>
        </p:nvSpPr>
        <p:spPr>
          <a:xfrm>
            <a:off x="320040" y="2999232"/>
            <a:ext cx="64008" cy="1664208"/>
          </a:xfrm>
          <a:prstGeom prst="rect">
            <a:avLst/>
          </a:prstGeom>
          <a:solidFill>
            <a:srgbClr val="3A7E6E"/>
          </a:solidFill>
          <a:ln/>
        </p:spPr>
      </p:sp>
      <p:pic>
        <p:nvPicPr>
          <p:cNvPr id="17" name="Image 2" descr="preencoded.png">    </p:cNvPr>
          <p:cNvPicPr>
            <a:picLocks noChangeAspect="1"/>
          </p:cNvPicPr>
          <p:nvPr/>
        </p:nvPicPr>
        <p:blipFill>
          <a:blip r:embed="rId3"/>
          <a:stretch>
            <a:fillRect/>
          </a:stretch>
        </p:blipFill>
        <p:spPr>
          <a:xfrm>
            <a:off x="484632" y="3200400"/>
            <a:ext cx="365760" cy="365760"/>
          </a:xfrm>
          <a:prstGeom prst="rect">
            <a:avLst/>
          </a:prstGeom>
        </p:spPr>
      </p:pic>
      <p:sp>
        <p:nvSpPr>
          <p:cNvPr id="18" name="Text 13"/>
          <p:cNvSpPr/>
          <p:nvPr/>
        </p:nvSpPr>
        <p:spPr>
          <a:xfrm>
            <a:off x="960120" y="3163824"/>
            <a:ext cx="3383280" cy="384048"/>
          </a:xfrm>
          <a:prstGeom prst="rect">
            <a:avLst/>
          </a:prstGeom>
          <a:noFill/>
          <a:ln/>
        </p:spPr>
        <p:txBody>
          <a:bodyPr wrap="square" lIns="0" tIns="0" rIns="0" bIns="0" rtlCol="0" anchor="ctr"/>
          <a:lstStyle/>
          <a:p>
            <a:pPr indent="0" marL="0">
              <a:buNone/>
            </a:pPr>
            <a:r>
              <a:rPr lang="en-US" sz="1300" b="1" dirty="0">
                <a:solidFill>
                  <a:srgbClr val="1C3557"/>
                </a:solidFill>
              </a:rPr>
              <a:t>Maintain Living ADRs</a:t>
            </a:r>
            <a:endParaRPr lang="en-US" sz="1300" dirty="0"/>
          </a:p>
        </p:txBody>
      </p:sp>
      <p:sp>
        <p:nvSpPr>
          <p:cNvPr id="19" name="Text 14"/>
          <p:cNvSpPr/>
          <p:nvPr/>
        </p:nvSpPr>
        <p:spPr>
          <a:xfrm>
            <a:off x="960120" y="3584448"/>
            <a:ext cx="3383280" cy="960120"/>
          </a:xfrm>
          <a:prstGeom prst="rect">
            <a:avLst/>
          </a:prstGeom>
          <a:noFill/>
          <a:ln/>
        </p:spPr>
        <p:txBody>
          <a:bodyPr wrap="square" lIns="0" tIns="0" rIns="0" bIns="0" rtlCol="0" anchor="ctr"/>
          <a:lstStyle/>
          <a:p>
            <a:pPr indent="0" marL="0">
              <a:buNone/>
            </a:pPr>
            <a:r>
              <a:rPr lang="en-US" sz="1150" dirty="0">
                <a:solidFill>
                  <a:srgbClr val="7A90A8"/>
                </a:solidFill>
              </a:rPr>
              <a:t>Capture architectural decisions continuously using agents — turning Slack threads into auditable records.</a:t>
            </a:r>
            <a:endParaRPr lang="en-US" sz="1150" dirty="0"/>
          </a:p>
        </p:txBody>
      </p:sp>
      <p:sp>
        <p:nvSpPr>
          <p:cNvPr id="20" name="Shape 15"/>
          <p:cNvSpPr/>
          <p:nvPr/>
        </p:nvSpPr>
        <p:spPr>
          <a:xfrm>
            <a:off x="4663440" y="2999232"/>
            <a:ext cx="4160520" cy="1664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1" name="Shape 16"/>
          <p:cNvSpPr/>
          <p:nvPr/>
        </p:nvSpPr>
        <p:spPr>
          <a:xfrm>
            <a:off x="4663440" y="2999232"/>
            <a:ext cx="64008" cy="1664208"/>
          </a:xfrm>
          <a:prstGeom prst="rect">
            <a:avLst/>
          </a:prstGeom>
          <a:solidFill>
            <a:srgbClr val="8096B0"/>
          </a:solidFill>
          <a:ln/>
        </p:spPr>
      </p:sp>
      <p:pic>
        <p:nvPicPr>
          <p:cNvPr id="22" name="Image 3" descr="preencoded.png">    </p:cNvPr>
          <p:cNvPicPr>
            <a:picLocks noChangeAspect="1"/>
          </p:cNvPicPr>
          <p:nvPr/>
        </p:nvPicPr>
        <p:blipFill>
          <a:blip r:embed="rId4"/>
          <a:stretch>
            <a:fillRect/>
          </a:stretch>
        </p:blipFill>
        <p:spPr>
          <a:xfrm>
            <a:off x="4828032" y="3200400"/>
            <a:ext cx="365760" cy="365760"/>
          </a:xfrm>
          <a:prstGeom prst="rect">
            <a:avLst/>
          </a:prstGeom>
        </p:spPr>
      </p:pic>
      <p:sp>
        <p:nvSpPr>
          <p:cNvPr id="23" name="Text 17"/>
          <p:cNvSpPr/>
          <p:nvPr/>
        </p:nvSpPr>
        <p:spPr>
          <a:xfrm>
            <a:off x="5303520" y="3163824"/>
            <a:ext cx="3383280" cy="384048"/>
          </a:xfrm>
          <a:prstGeom prst="rect">
            <a:avLst/>
          </a:prstGeom>
          <a:noFill/>
          <a:ln/>
        </p:spPr>
        <p:txBody>
          <a:bodyPr wrap="square" lIns="0" tIns="0" rIns="0" bIns="0" rtlCol="0" anchor="ctr"/>
          <a:lstStyle/>
          <a:p>
            <a:pPr indent="0" marL="0">
              <a:buNone/>
            </a:pPr>
            <a:r>
              <a:rPr lang="en-US" sz="1300" b="1" dirty="0">
                <a:solidFill>
                  <a:srgbClr val="1C3557"/>
                </a:solidFill>
              </a:rPr>
              <a:t>Build a Continuous Improvement Loop</a:t>
            </a:r>
            <a:endParaRPr lang="en-US" sz="1300" dirty="0"/>
          </a:p>
        </p:txBody>
      </p:sp>
      <p:sp>
        <p:nvSpPr>
          <p:cNvPr id="24" name="Text 18"/>
          <p:cNvSpPr/>
          <p:nvPr/>
        </p:nvSpPr>
        <p:spPr>
          <a:xfrm>
            <a:off x="5303520" y="3584448"/>
            <a:ext cx="3383280" cy="960120"/>
          </a:xfrm>
          <a:prstGeom prst="rect">
            <a:avLst/>
          </a:prstGeom>
          <a:noFill/>
          <a:ln/>
        </p:spPr>
        <p:txBody>
          <a:bodyPr wrap="square" lIns="0" tIns="0" rIns="0" bIns="0" rtlCol="0" anchor="ctr"/>
          <a:lstStyle/>
          <a:p>
            <a:pPr indent="0" marL="0">
              <a:buNone/>
            </a:pPr>
            <a:r>
              <a:rPr lang="en-US" sz="1150" dirty="0">
                <a:solidFill>
                  <a:srgbClr val="7A90A8"/>
                </a:solidFill>
              </a:rPr>
              <a:t>Deploy → observe → detect drift → update spec → re-run agent. The self-improving agentic system.</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C3557"/>
        </a:solidFill>
      </p:bgPr>
    </p:bg>
    <p:spTree>
      <p:nvGrpSpPr>
        <p:cNvPr id="1" name=""/>
        <p:cNvGrpSpPr/>
        <p:nvPr/>
      </p:nvGrpSpPr>
      <p:grpSpPr>
        <a:xfrm>
          <a:off x="0" y="0"/>
          <a:ext cx="0" cy="0"/>
          <a:chOff x="0" y="0"/>
          <a:chExt cx="0" cy="0"/>
        </a:xfrm>
      </p:grpSpPr>
      <p:sp>
        <p:nvSpPr>
          <p:cNvPr id="2" name="Text 0"/>
          <p:cNvSpPr/>
          <p:nvPr/>
        </p:nvSpPr>
        <p:spPr>
          <a:xfrm>
            <a:off x="365760" y="201168"/>
            <a:ext cx="8229600" cy="411480"/>
          </a:xfrm>
          <a:prstGeom prst="rect">
            <a:avLst/>
          </a:prstGeom>
          <a:noFill/>
          <a:ln/>
        </p:spPr>
        <p:txBody>
          <a:bodyPr wrap="square" lIns="0" tIns="0" rIns="0" bIns="0" rtlCol="0" anchor="ctr"/>
          <a:lstStyle/>
          <a:p>
            <a:pPr indent="0" marL="0">
              <a:buNone/>
            </a:pPr>
            <a:r>
              <a:rPr lang="en-US" sz="1300" b="1" spc="300" kern="0" dirty="0">
                <a:solidFill>
                  <a:srgbClr val="5B8DB8"/>
                </a:solidFill>
              </a:rPr>
              <a:t>BACKGROUND  —  WHY OBSERVABILITY IS DIFFERENT FOR AGENTS</a:t>
            </a:r>
            <a:endParaRPr lang="en-US" sz="1300" dirty="0"/>
          </a:p>
        </p:txBody>
      </p:sp>
      <p:sp>
        <p:nvSpPr>
          <p:cNvPr id="3" name="Text 1"/>
          <p:cNvSpPr/>
          <p:nvPr/>
        </p:nvSpPr>
        <p:spPr>
          <a:xfrm>
            <a:off x="365760" y="658368"/>
            <a:ext cx="8412480" cy="384048"/>
          </a:xfrm>
          <a:prstGeom prst="rect">
            <a:avLst/>
          </a:prstGeom>
          <a:noFill/>
          <a:ln/>
        </p:spPr>
        <p:txBody>
          <a:bodyPr wrap="square" lIns="0" tIns="0" rIns="0" bIns="0" rtlCol="0" anchor="ctr"/>
          <a:lstStyle/>
          <a:p>
            <a:pPr indent="0" marL="0">
              <a:buNone/>
            </a:pPr>
            <a:r>
              <a:rPr lang="en-US" sz="1300" i="1" dirty="0">
                <a:solidFill>
                  <a:srgbClr val="D4E4F0"/>
                </a:solidFill>
              </a:rPr>
              <a:t>Traditional observability was built for deterministic systems. Agentic systems require a new stack — one that captures what the model decided to do and why.</a:t>
            </a:r>
            <a:endParaRPr lang="en-US" sz="1300" dirty="0"/>
          </a:p>
        </p:txBody>
      </p:sp>
      <p:sp>
        <p:nvSpPr>
          <p:cNvPr id="4" name="Shape 2"/>
          <p:cNvSpPr/>
          <p:nvPr/>
        </p:nvSpPr>
        <p:spPr>
          <a:xfrm>
            <a:off x="320040" y="1170432"/>
            <a:ext cx="8503920" cy="1481328"/>
          </a:xfrm>
          <a:prstGeom prst="rect">
            <a:avLst/>
          </a:prstGeom>
          <a:solidFill>
            <a:srgbClr val="3A7DC9">
              <a:alpha val="90000"/>
            </a:srgbClr>
          </a:solidFill>
          <a:ln/>
          <a:effectLst>
            <a:outerShdw sx="100000" sy="100000" kx="0" ky="0" algn="bl" rotWithShape="0" blurRad="101600" dist="38100" dir="8100000">
              <a:srgbClr val="000000">
                <a:alpha val="13000"/>
              </a:srgbClr>
            </a:outerShdw>
          </a:effectLst>
        </p:spPr>
      </p:sp>
      <p:sp>
        <p:nvSpPr>
          <p:cNvPr id="5" name="Shape 3"/>
          <p:cNvSpPr/>
          <p:nvPr/>
        </p:nvSpPr>
        <p:spPr>
          <a:xfrm>
            <a:off x="320040" y="1170432"/>
            <a:ext cx="8503920" cy="384048"/>
          </a:xfrm>
          <a:prstGeom prst="rect">
            <a:avLst/>
          </a:prstGeom>
          <a:solidFill>
            <a:srgbClr val="3A7DC9"/>
          </a:solidFill>
          <a:ln/>
        </p:spPr>
      </p:sp>
      <p:sp>
        <p:nvSpPr>
          <p:cNvPr id="6" name="Text 4"/>
          <p:cNvSpPr/>
          <p:nvPr/>
        </p:nvSpPr>
        <p:spPr>
          <a:xfrm>
            <a:off x="438912" y="1170432"/>
            <a:ext cx="8229600" cy="384048"/>
          </a:xfrm>
          <a:prstGeom prst="rect">
            <a:avLst/>
          </a:prstGeom>
          <a:noFill/>
          <a:ln/>
        </p:spPr>
        <p:txBody>
          <a:bodyPr wrap="square" lIns="0" tIns="0" rIns="0" bIns="0" rtlCol="0" anchor="ctr"/>
          <a:lstStyle/>
          <a:p>
            <a:pPr indent="0" marL="0">
              <a:buNone/>
            </a:pPr>
            <a:r>
              <a:rPr lang="en-US" sz="1200" b="1" spc="200" kern="0" dirty="0">
                <a:solidFill>
                  <a:srgbClr val="FFFFFF"/>
                </a:solidFill>
              </a:rPr>
              <a:t>PROGRAMME SCOPE NOTE  —  TWO LEVELS</a:t>
            </a:r>
            <a:endParaRPr lang="en-US" sz="1200" dirty="0"/>
          </a:p>
        </p:txBody>
      </p:sp>
      <p:sp>
        <p:nvSpPr>
          <p:cNvPr id="7" name="Text 5"/>
          <p:cNvSpPr/>
          <p:nvPr/>
        </p:nvSpPr>
        <p:spPr>
          <a:xfrm>
            <a:off x="457200" y="1627632"/>
            <a:ext cx="8229600" cy="256032"/>
          </a:xfrm>
          <a:prstGeom prst="rect">
            <a:avLst/>
          </a:prstGeom>
          <a:noFill/>
          <a:ln/>
        </p:spPr>
        <p:txBody>
          <a:bodyPr wrap="square" lIns="0" tIns="0" rIns="0" bIns="0" rtlCol="0" anchor="ctr"/>
          <a:lstStyle/>
          <a:p>
            <a:pPr indent="0" marL="0">
              <a:buNone/>
            </a:pPr>
            <a:r>
              <a:rPr lang="en-US" sz="1200" dirty="0">
                <a:solidFill>
                  <a:srgbClr val="D4E4F0"/>
                </a:solidFill>
              </a:rPr>
              <a:t>This module covers observability, reliability, and security concepts at two levels:</a:t>
            </a:r>
            <a:endParaRPr lang="en-US" sz="1200" dirty="0"/>
          </a:p>
        </p:txBody>
      </p:sp>
      <p:sp>
        <p:nvSpPr>
          <p:cNvPr id="8" name="Text 6"/>
          <p:cNvSpPr/>
          <p:nvPr/>
        </p:nvSpPr>
        <p:spPr>
          <a:xfrm>
            <a:off x="457200" y="1901952"/>
            <a:ext cx="8229600" cy="329184"/>
          </a:xfrm>
          <a:prstGeom prst="rect">
            <a:avLst/>
          </a:prstGeom>
          <a:noFill/>
          <a:ln/>
        </p:spPr>
        <p:txBody>
          <a:bodyPr wrap="square" lIns="0" tIns="0" rIns="0" bIns="0" rtlCol="0" anchor="ctr"/>
          <a:lstStyle/>
          <a:p>
            <a:pPr indent="0" marL="0">
              <a:buNone/>
            </a:pPr>
            <a:r>
              <a:rPr lang="en-US" sz="1150" dirty="0">
                <a:solidFill>
                  <a:srgbClr val="FFFFFF"/>
                </a:solidFill>
              </a:rPr>
              <a:t>■  Your coding agent workflows (Claude Code, Copilot) — monitoring the development loop: what did the agent do, what did it cost, where did it go wrong?</a:t>
            </a:r>
            <a:endParaRPr lang="en-US" sz="1150" dirty="0"/>
          </a:p>
        </p:txBody>
      </p:sp>
      <p:sp>
        <p:nvSpPr>
          <p:cNvPr id="9" name="Text 7"/>
          <p:cNvSpPr/>
          <p:nvPr/>
        </p:nvSpPr>
        <p:spPr>
          <a:xfrm>
            <a:off x="457200" y="2249424"/>
            <a:ext cx="8229600" cy="329184"/>
          </a:xfrm>
          <a:prstGeom prst="rect">
            <a:avLst/>
          </a:prstGeom>
          <a:noFill/>
          <a:ln/>
        </p:spPr>
        <p:txBody>
          <a:bodyPr wrap="square" lIns="0" tIns="0" rIns="0" bIns="0" rtlCol="0" anchor="ctr"/>
          <a:lstStyle/>
          <a:p>
            <a:pPr indent="0" marL="0">
              <a:buNone/>
            </a:pPr>
            <a:r>
              <a:rPr lang="en-US" sz="1150" dirty="0">
                <a:solidFill>
                  <a:srgbClr val="5B8DB8"/>
                </a:solidFill>
              </a:rPr>
              <a:t>■  Production agent systems (AWS Bedrock, Agent Core) — what governance and instrumentation production agents require before going live.</a:t>
            </a:r>
            <a:endParaRPr lang="en-US" sz="1150" dirty="0"/>
          </a:p>
        </p:txBody>
      </p:sp>
      <p:sp>
        <p:nvSpPr>
          <p:cNvPr id="10" name="Text 8"/>
          <p:cNvSpPr/>
          <p:nvPr/>
        </p:nvSpPr>
        <p:spPr>
          <a:xfrm>
            <a:off x="457200" y="2606040"/>
            <a:ext cx="8229600" cy="237744"/>
          </a:xfrm>
          <a:prstGeom prst="rect">
            <a:avLst/>
          </a:prstGeom>
          <a:noFill/>
          <a:ln/>
        </p:spPr>
        <p:txBody>
          <a:bodyPr wrap="square" lIns="0" tIns="0" rIns="0" bIns="0" rtlCol="0" anchor="ctr"/>
          <a:lstStyle/>
          <a:p>
            <a:pPr indent="0" marL="0">
              <a:buNone/>
            </a:pPr>
            <a:r>
              <a:rPr lang="en-US" sz="1050" i="1" dirty="0">
                <a:solidFill>
                  <a:srgbClr val="8096B0"/>
                </a:solidFill>
              </a:rPr>
              <a:t>Both levels matter. The concepts are the same; the implementation layer differs. Where an example is specific to production agents, it is marked as such.</a:t>
            </a:r>
            <a:endParaRPr lang="en-US" sz="1050" dirty="0"/>
          </a:p>
        </p:txBody>
      </p:sp>
      <p:sp>
        <p:nvSpPr>
          <p:cNvPr id="11" name="Shape 9"/>
          <p:cNvSpPr/>
          <p:nvPr/>
        </p:nvSpPr>
        <p:spPr>
          <a:xfrm>
            <a:off x="320040" y="2944368"/>
            <a:ext cx="8503920" cy="310896"/>
          </a:xfrm>
          <a:prstGeom prst="rect">
            <a:avLst/>
          </a:prstGeom>
          <a:solidFill>
            <a:srgbClr val="2E5073">
              <a:alpha val="90000"/>
            </a:srgbClr>
          </a:solidFill>
          <a:ln/>
        </p:spPr>
      </p:sp>
      <p:sp>
        <p:nvSpPr>
          <p:cNvPr id="12" name="Text 10"/>
          <p:cNvSpPr/>
          <p:nvPr/>
        </p:nvSpPr>
        <p:spPr>
          <a:xfrm>
            <a:off x="411480" y="2944368"/>
            <a:ext cx="8229600" cy="310896"/>
          </a:xfrm>
          <a:prstGeom prst="rect">
            <a:avLst/>
          </a:prstGeom>
          <a:noFill/>
          <a:ln/>
        </p:spPr>
        <p:txBody>
          <a:bodyPr wrap="square" lIns="0" tIns="0" rIns="0" bIns="0" rtlCol="0" anchor="ctr"/>
          <a:lstStyle/>
          <a:p>
            <a:pPr indent="0" marL="0">
              <a:buNone/>
            </a:pPr>
            <a:r>
              <a:rPr lang="en-US" sz="1000" b="1" spc="200" kern="0" dirty="0">
                <a:solidFill>
                  <a:srgbClr val="5B8DB8"/>
                </a:solidFill>
              </a:rPr>
              <a:t>THE THREE PILLARS, REVISITED FOR AGENTS</a:t>
            </a:r>
            <a:endParaRPr lang="en-US" sz="1000" dirty="0"/>
          </a:p>
        </p:txBody>
      </p:sp>
      <p:sp>
        <p:nvSpPr>
          <p:cNvPr id="13" name="Shape 11"/>
          <p:cNvSpPr/>
          <p:nvPr/>
        </p:nvSpPr>
        <p:spPr>
          <a:xfrm>
            <a:off x="320040" y="3310128"/>
            <a:ext cx="2697480" cy="1481328"/>
          </a:xfrm>
          <a:prstGeom prst="rect">
            <a:avLst/>
          </a:prstGeom>
          <a:solidFill>
            <a:srgbClr val="2E5073">
              <a:alpha val="85000"/>
            </a:srgbClr>
          </a:solidFill>
          <a:ln/>
          <a:effectLst>
            <a:outerShdw sx="100000" sy="100000" kx="0" ky="0" algn="bl" rotWithShape="0" blurRad="101600" dist="38100" dir="8100000">
              <a:srgbClr val="000000">
                <a:alpha val="13000"/>
              </a:srgbClr>
            </a:outerShdw>
          </a:effectLst>
        </p:spPr>
      </p:sp>
      <p:sp>
        <p:nvSpPr>
          <p:cNvPr id="14" name="Shape 12"/>
          <p:cNvSpPr/>
          <p:nvPr/>
        </p:nvSpPr>
        <p:spPr>
          <a:xfrm>
            <a:off x="320040" y="3310128"/>
            <a:ext cx="2697480" cy="347472"/>
          </a:xfrm>
          <a:prstGeom prst="rect">
            <a:avLst/>
          </a:prstGeom>
          <a:solidFill>
            <a:srgbClr val="4A7FA8">
              <a:alpha val="95000"/>
            </a:srgbClr>
          </a:solidFill>
          <a:ln/>
        </p:spPr>
      </p:sp>
      <p:sp>
        <p:nvSpPr>
          <p:cNvPr id="15" name="Text 13"/>
          <p:cNvSpPr/>
          <p:nvPr/>
        </p:nvSpPr>
        <p:spPr>
          <a:xfrm>
            <a:off x="320040" y="3310128"/>
            <a:ext cx="2697480" cy="347472"/>
          </a:xfrm>
          <a:prstGeom prst="rect">
            <a:avLst/>
          </a:prstGeom>
          <a:noFill/>
          <a:ln/>
        </p:spPr>
        <p:txBody>
          <a:bodyPr wrap="square" lIns="0" tIns="0" rIns="0" bIns="0" rtlCol="0" anchor="ctr"/>
          <a:lstStyle/>
          <a:p>
            <a:pPr algn="ctr" indent="0" marL="0">
              <a:buNone/>
            </a:pPr>
            <a:r>
              <a:rPr lang="en-US" sz="1300" b="1" dirty="0">
                <a:solidFill>
                  <a:srgbClr val="FFFFFF"/>
                </a:solidFill>
              </a:rPr>
              <a:t>Logs</a:t>
            </a:r>
            <a:endParaRPr lang="en-US" sz="1300" dirty="0"/>
          </a:p>
        </p:txBody>
      </p:sp>
      <p:sp>
        <p:nvSpPr>
          <p:cNvPr id="16" name="Text 14"/>
          <p:cNvSpPr/>
          <p:nvPr/>
        </p:nvSpPr>
        <p:spPr>
          <a:xfrm>
            <a:off x="411480" y="3730752"/>
            <a:ext cx="2514600" cy="347472"/>
          </a:xfrm>
          <a:prstGeom prst="rect">
            <a:avLst/>
          </a:prstGeom>
          <a:noFill/>
          <a:ln/>
        </p:spPr>
        <p:txBody>
          <a:bodyPr wrap="square" lIns="0" tIns="0" rIns="0" bIns="0" rtlCol="0" anchor="ctr"/>
          <a:lstStyle/>
          <a:p>
            <a:pPr indent="0" marL="0">
              <a:buNone/>
            </a:pPr>
            <a:r>
              <a:rPr lang="en-US" sz="1050" dirty="0">
                <a:solidFill>
                  <a:srgbClr val="8096B0"/>
                </a:solidFill>
              </a:rPr>
              <a:t>Traditional: Application events</a:t>
            </a:r>
            <a:endParaRPr lang="en-US" sz="1050" dirty="0"/>
          </a:p>
        </p:txBody>
      </p:sp>
      <p:sp>
        <p:nvSpPr>
          <p:cNvPr id="17" name="Text 15"/>
          <p:cNvSpPr/>
          <p:nvPr/>
        </p:nvSpPr>
        <p:spPr>
          <a:xfrm>
            <a:off x="411480" y="4133088"/>
            <a:ext cx="2514600" cy="621792"/>
          </a:xfrm>
          <a:prstGeom prst="rect">
            <a:avLst/>
          </a:prstGeom>
          <a:noFill/>
          <a:ln/>
        </p:spPr>
        <p:txBody>
          <a:bodyPr wrap="square" lIns="0" tIns="0" rIns="0" bIns="0" rtlCol="0" anchor="ctr"/>
          <a:lstStyle/>
          <a:p>
            <a:pPr indent="0" marL="0">
              <a:buNone/>
            </a:pPr>
            <a:r>
              <a:rPr lang="en-US" sz="1050" dirty="0">
                <a:solidFill>
                  <a:srgbClr val="D4E4F0"/>
                </a:solidFill>
              </a:rPr>
              <a:t>+ Agentic: Prompt/response pairs, tool call inputs/outputs, model version</a:t>
            </a:r>
            <a:endParaRPr lang="en-US" sz="1050" dirty="0"/>
          </a:p>
        </p:txBody>
      </p:sp>
      <p:sp>
        <p:nvSpPr>
          <p:cNvPr id="18" name="Shape 16"/>
          <p:cNvSpPr/>
          <p:nvPr/>
        </p:nvSpPr>
        <p:spPr>
          <a:xfrm>
            <a:off x="3172968" y="3310128"/>
            <a:ext cx="2697480" cy="1481328"/>
          </a:xfrm>
          <a:prstGeom prst="rect">
            <a:avLst/>
          </a:prstGeom>
          <a:solidFill>
            <a:srgbClr val="2E5073">
              <a:alpha val="85000"/>
            </a:srgbClr>
          </a:solidFill>
          <a:ln/>
          <a:effectLst>
            <a:outerShdw sx="100000" sy="100000" kx="0" ky="0" algn="bl" rotWithShape="0" blurRad="101600" dist="38100" dir="8100000">
              <a:srgbClr val="000000">
                <a:alpha val="13000"/>
              </a:srgbClr>
            </a:outerShdw>
          </a:effectLst>
        </p:spPr>
      </p:sp>
      <p:sp>
        <p:nvSpPr>
          <p:cNvPr id="19" name="Shape 17"/>
          <p:cNvSpPr/>
          <p:nvPr/>
        </p:nvSpPr>
        <p:spPr>
          <a:xfrm>
            <a:off x="3172968" y="3310128"/>
            <a:ext cx="2697480" cy="347472"/>
          </a:xfrm>
          <a:prstGeom prst="rect">
            <a:avLst/>
          </a:prstGeom>
          <a:solidFill>
            <a:srgbClr val="3A7DC9">
              <a:alpha val="95000"/>
            </a:srgbClr>
          </a:solidFill>
          <a:ln/>
        </p:spPr>
      </p:sp>
      <p:sp>
        <p:nvSpPr>
          <p:cNvPr id="20" name="Text 18"/>
          <p:cNvSpPr/>
          <p:nvPr/>
        </p:nvSpPr>
        <p:spPr>
          <a:xfrm>
            <a:off x="3172968" y="3310128"/>
            <a:ext cx="2697480" cy="347472"/>
          </a:xfrm>
          <a:prstGeom prst="rect">
            <a:avLst/>
          </a:prstGeom>
          <a:noFill/>
          <a:ln/>
        </p:spPr>
        <p:txBody>
          <a:bodyPr wrap="square" lIns="0" tIns="0" rIns="0" bIns="0" rtlCol="0" anchor="ctr"/>
          <a:lstStyle/>
          <a:p>
            <a:pPr algn="ctr" indent="0" marL="0">
              <a:buNone/>
            </a:pPr>
            <a:r>
              <a:rPr lang="en-US" sz="1300" b="1" dirty="0">
                <a:solidFill>
                  <a:srgbClr val="FFFFFF"/>
                </a:solidFill>
              </a:rPr>
              <a:t>Metrics</a:t>
            </a:r>
            <a:endParaRPr lang="en-US" sz="1300" dirty="0"/>
          </a:p>
        </p:txBody>
      </p:sp>
      <p:sp>
        <p:nvSpPr>
          <p:cNvPr id="21" name="Text 19"/>
          <p:cNvSpPr/>
          <p:nvPr/>
        </p:nvSpPr>
        <p:spPr>
          <a:xfrm>
            <a:off x="3264408" y="3730752"/>
            <a:ext cx="2514600" cy="347472"/>
          </a:xfrm>
          <a:prstGeom prst="rect">
            <a:avLst/>
          </a:prstGeom>
          <a:noFill/>
          <a:ln/>
        </p:spPr>
        <p:txBody>
          <a:bodyPr wrap="square" lIns="0" tIns="0" rIns="0" bIns="0" rtlCol="0" anchor="ctr"/>
          <a:lstStyle/>
          <a:p>
            <a:pPr indent="0" marL="0">
              <a:buNone/>
            </a:pPr>
            <a:r>
              <a:rPr lang="en-US" sz="1050" dirty="0">
                <a:solidFill>
                  <a:srgbClr val="8096B0"/>
                </a:solidFill>
              </a:rPr>
              <a:t>Traditional: Latency, error rate</a:t>
            </a:r>
            <a:endParaRPr lang="en-US" sz="1050" dirty="0"/>
          </a:p>
        </p:txBody>
      </p:sp>
      <p:sp>
        <p:nvSpPr>
          <p:cNvPr id="22" name="Text 20"/>
          <p:cNvSpPr/>
          <p:nvPr/>
        </p:nvSpPr>
        <p:spPr>
          <a:xfrm>
            <a:off x="3264408" y="4133088"/>
            <a:ext cx="2514600" cy="621792"/>
          </a:xfrm>
          <a:prstGeom prst="rect">
            <a:avLst/>
          </a:prstGeom>
          <a:noFill/>
          <a:ln/>
        </p:spPr>
        <p:txBody>
          <a:bodyPr wrap="square" lIns="0" tIns="0" rIns="0" bIns="0" rtlCol="0" anchor="ctr"/>
          <a:lstStyle/>
          <a:p>
            <a:pPr indent="0" marL="0">
              <a:buNone/>
            </a:pPr>
            <a:r>
              <a:rPr lang="en-US" sz="1050" dirty="0">
                <a:solidFill>
                  <a:srgbClr val="D4E4F0"/>
                </a:solidFill>
              </a:rPr>
              <a:t>+ Agentic: Token usage, cost per task, tool call frequency, retry rate</a:t>
            </a:r>
            <a:endParaRPr lang="en-US" sz="1050" dirty="0"/>
          </a:p>
        </p:txBody>
      </p:sp>
      <p:sp>
        <p:nvSpPr>
          <p:cNvPr id="23" name="Shape 21"/>
          <p:cNvSpPr/>
          <p:nvPr/>
        </p:nvSpPr>
        <p:spPr>
          <a:xfrm>
            <a:off x="6025896" y="3310128"/>
            <a:ext cx="2697480" cy="1481328"/>
          </a:xfrm>
          <a:prstGeom prst="rect">
            <a:avLst/>
          </a:prstGeom>
          <a:solidFill>
            <a:srgbClr val="2E5073">
              <a:alpha val="85000"/>
            </a:srgbClr>
          </a:solidFill>
          <a:ln/>
          <a:effectLst>
            <a:outerShdw sx="100000" sy="100000" kx="0" ky="0" algn="bl" rotWithShape="0" blurRad="101600" dist="38100" dir="8100000">
              <a:srgbClr val="000000">
                <a:alpha val="13000"/>
              </a:srgbClr>
            </a:outerShdw>
          </a:effectLst>
        </p:spPr>
      </p:sp>
      <p:sp>
        <p:nvSpPr>
          <p:cNvPr id="24" name="Shape 22"/>
          <p:cNvSpPr/>
          <p:nvPr/>
        </p:nvSpPr>
        <p:spPr>
          <a:xfrm>
            <a:off x="6025896" y="3310128"/>
            <a:ext cx="2697480" cy="347472"/>
          </a:xfrm>
          <a:prstGeom prst="rect">
            <a:avLst/>
          </a:prstGeom>
          <a:solidFill>
            <a:srgbClr val="3A7E6E">
              <a:alpha val="95000"/>
            </a:srgbClr>
          </a:solidFill>
          <a:ln/>
        </p:spPr>
      </p:sp>
      <p:sp>
        <p:nvSpPr>
          <p:cNvPr id="25" name="Text 23"/>
          <p:cNvSpPr/>
          <p:nvPr/>
        </p:nvSpPr>
        <p:spPr>
          <a:xfrm>
            <a:off x="6025896" y="3310128"/>
            <a:ext cx="2697480" cy="347472"/>
          </a:xfrm>
          <a:prstGeom prst="rect">
            <a:avLst/>
          </a:prstGeom>
          <a:noFill/>
          <a:ln/>
        </p:spPr>
        <p:txBody>
          <a:bodyPr wrap="square" lIns="0" tIns="0" rIns="0" bIns="0" rtlCol="0" anchor="ctr"/>
          <a:lstStyle/>
          <a:p>
            <a:pPr algn="ctr" indent="0" marL="0">
              <a:buNone/>
            </a:pPr>
            <a:r>
              <a:rPr lang="en-US" sz="1300" b="1" dirty="0">
                <a:solidFill>
                  <a:srgbClr val="FFFFFF"/>
                </a:solidFill>
              </a:rPr>
              <a:t>Traces</a:t>
            </a:r>
            <a:endParaRPr lang="en-US" sz="1300" dirty="0"/>
          </a:p>
        </p:txBody>
      </p:sp>
      <p:sp>
        <p:nvSpPr>
          <p:cNvPr id="26" name="Text 24"/>
          <p:cNvSpPr/>
          <p:nvPr/>
        </p:nvSpPr>
        <p:spPr>
          <a:xfrm>
            <a:off x="6117336" y="3730752"/>
            <a:ext cx="2514600" cy="347472"/>
          </a:xfrm>
          <a:prstGeom prst="rect">
            <a:avLst/>
          </a:prstGeom>
          <a:noFill/>
          <a:ln/>
        </p:spPr>
        <p:txBody>
          <a:bodyPr wrap="square" lIns="0" tIns="0" rIns="0" bIns="0" rtlCol="0" anchor="ctr"/>
          <a:lstStyle/>
          <a:p>
            <a:pPr indent="0" marL="0">
              <a:buNone/>
            </a:pPr>
            <a:r>
              <a:rPr lang="en-US" sz="1050" dirty="0">
                <a:solidFill>
                  <a:srgbClr val="8096B0"/>
                </a:solidFill>
              </a:rPr>
              <a:t>Traditional: Request span tree</a:t>
            </a:r>
            <a:endParaRPr lang="en-US" sz="1050" dirty="0"/>
          </a:p>
        </p:txBody>
      </p:sp>
      <p:sp>
        <p:nvSpPr>
          <p:cNvPr id="27" name="Text 25"/>
          <p:cNvSpPr/>
          <p:nvPr/>
        </p:nvSpPr>
        <p:spPr>
          <a:xfrm>
            <a:off x="6117336" y="4133088"/>
            <a:ext cx="2514600" cy="621792"/>
          </a:xfrm>
          <a:prstGeom prst="rect">
            <a:avLst/>
          </a:prstGeom>
          <a:noFill/>
          <a:ln/>
        </p:spPr>
        <p:txBody>
          <a:bodyPr wrap="square" lIns="0" tIns="0" rIns="0" bIns="0" rtlCol="0" anchor="ctr"/>
          <a:lstStyle/>
          <a:p>
            <a:pPr indent="0" marL="0">
              <a:buNone/>
            </a:pPr>
            <a:r>
              <a:rPr lang="en-US" sz="1050" dirty="0">
                <a:solidFill>
                  <a:srgbClr val="D4E4F0"/>
                </a:solidFill>
              </a:rPr>
              <a:t>+ Agentic: Agent reasoning spans, multi-agent call graph, compaction events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22960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DESIGNING HUMAN-IN-THE-LOOP GATES</a:t>
            </a:r>
            <a:endParaRPr lang="en-US" sz="1300" dirty="0"/>
          </a:p>
        </p:txBody>
      </p:sp>
      <p:sp>
        <p:nvSpPr>
          <p:cNvPr id="4" name="Text 2"/>
          <p:cNvSpPr/>
          <p:nvPr/>
        </p:nvSpPr>
        <p:spPr>
          <a:xfrm>
            <a:off x="365760" y="822960"/>
            <a:ext cx="8412480" cy="274320"/>
          </a:xfrm>
          <a:prstGeom prst="rect">
            <a:avLst/>
          </a:prstGeom>
          <a:noFill/>
          <a:ln/>
        </p:spPr>
        <p:txBody>
          <a:bodyPr wrap="square" lIns="0" tIns="0" rIns="0" bIns="0" rtlCol="0" anchor="ctr"/>
          <a:lstStyle/>
          <a:p>
            <a:pPr indent="0" marL="0">
              <a:buNone/>
            </a:pPr>
            <a:r>
              <a:rPr lang="en-US" sz="1200" i="1" dirty="0">
                <a:solidFill>
                  <a:srgbClr val="7A90A8"/>
                </a:solidFill>
              </a:rPr>
              <a:t>HITL must be designed into the agent system from day one — retrofitting it is expensive and fragile</a:t>
            </a:r>
            <a:endParaRPr lang="en-US" sz="1200" dirty="0"/>
          </a:p>
        </p:txBody>
      </p:sp>
      <p:sp>
        <p:nvSpPr>
          <p:cNvPr id="5" name="Shape 3"/>
          <p:cNvSpPr/>
          <p:nvPr/>
        </p:nvSpPr>
        <p:spPr>
          <a:xfrm>
            <a:off x="320040" y="1170432"/>
            <a:ext cx="2697480" cy="374904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170432"/>
            <a:ext cx="2697480" cy="566928"/>
          </a:xfrm>
          <a:prstGeom prst="rect">
            <a:avLst/>
          </a:prstGeom>
          <a:solidFill>
            <a:srgbClr val="3A7E6E"/>
          </a:solidFill>
          <a:ln/>
        </p:spPr>
      </p:sp>
      <p:sp>
        <p:nvSpPr>
          <p:cNvPr id="7" name="Text 5"/>
          <p:cNvSpPr/>
          <p:nvPr/>
        </p:nvSpPr>
        <p:spPr>
          <a:xfrm>
            <a:off x="320040" y="1170432"/>
            <a:ext cx="269748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rPr>
              <a:t>FULLY AUTOMATED</a:t>
            </a:r>
            <a:endParaRPr lang="en-US" sz="1200" dirty="0"/>
          </a:p>
        </p:txBody>
      </p:sp>
      <p:sp>
        <p:nvSpPr>
          <p:cNvPr id="8" name="Text 6"/>
          <p:cNvSpPr/>
          <p:nvPr/>
        </p:nvSpPr>
        <p:spPr>
          <a:xfrm>
            <a:off x="320040" y="1554480"/>
            <a:ext cx="2697480" cy="201168"/>
          </a:xfrm>
          <a:prstGeom prst="rect">
            <a:avLst/>
          </a:prstGeom>
          <a:noFill/>
          <a:ln/>
        </p:spPr>
        <p:txBody>
          <a:bodyPr wrap="square" lIns="0" tIns="0" rIns="0" bIns="0" rtlCol="0" anchor="ctr"/>
          <a:lstStyle/>
          <a:p>
            <a:pPr algn="ctr" indent="0" marL="0">
              <a:buNone/>
            </a:pPr>
            <a:r>
              <a:rPr lang="en-US" sz="950" dirty="0">
                <a:solidFill>
                  <a:srgbClr val="FFFFFF"/>
                </a:solidFill>
              </a:rPr>
              <a:t>Low-risk, reversible, self-correcting</a:t>
            </a:r>
            <a:endParaRPr lang="en-US" sz="950" dirty="0"/>
          </a:p>
        </p:txBody>
      </p:sp>
      <p:sp>
        <p:nvSpPr>
          <p:cNvPr id="9" name="Text 7"/>
          <p:cNvSpPr/>
          <p:nvPr/>
        </p:nvSpPr>
        <p:spPr>
          <a:xfrm>
            <a:off x="429768" y="1828800"/>
            <a:ext cx="2468880" cy="201168"/>
          </a:xfrm>
          <a:prstGeom prst="rect">
            <a:avLst/>
          </a:prstGeom>
          <a:noFill/>
          <a:ln/>
        </p:spPr>
        <p:txBody>
          <a:bodyPr wrap="square" lIns="0" tIns="0" rIns="0" bIns="0" rtlCol="0" anchor="ctr"/>
          <a:lstStyle/>
          <a:p>
            <a:pPr indent="0" marL="0">
              <a:buNone/>
            </a:pPr>
            <a:r>
              <a:rPr lang="en-US" sz="850" b="1" spc="200" kern="0" dirty="0">
                <a:solidFill>
                  <a:srgbClr val="3A7E6E"/>
                </a:solidFill>
              </a:rPr>
              <a:t>EXAMPLE ACTIONS</a:t>
            </a:r>
            <a:endParaRPr lang="en-US" sz="850" dirty="0"/>
          </a:p>
        </p:txBody>
      </p:sp>
      <p:sp>
        <p:nvSpPr>
          <p:cNvPr id="10" name="Text 8"/>
          <p:cNvSpPr/>
          <p:nvPr/>
        </p:nvSpPr>
        <p:spPr>
          <a:xfrm>
            <a:off x="429768" y="2029968"/>
            <a:ext cx="2468880" cy="365760"/>
          </a:xfrm>
          <a:prstGeom prst="rect">
            <a:avLst/>
          </a:prstGeom>
          <a:noFill/>
          <a:ln/>
        </p:spPr>
        <p:txBody>
          <a:bodyPr wrap="square" lIns="0" tIns="0" rIns="0" bIns="0" rtlCol="0" anchor="ctr"/>
          <a:lstStyle/>
          <a:p>
            <a:pPr indent="0" marL="0">
              <a:buNone/>
            </a:pPr>
            <a:r>
              <a:rPr lang="en-US" sz="1050" dirty="0">
                <a:solidFill>
                  <a:srgbClr val="1E2D3D"/>
                </a:solidFill>
              </a:rPr>
              <a:t>• Dependency version bumps</a:t>
            </a:r>
            <a:endParaRPr lang="en-US" sz="1050" dirty="0"/>
          </a:p>
        </p:txBody>
      </p:sp>
      <p:sp>
        <p:nvSpPr>
          <p:cNvPr id="11" name="Text 9"/>
          <p:cNvSpPr/>
          <p:nvPr/>
        </p:nvSpPr>
        <p:spPr>
          <a:xfrm>
            <a:off x="429768" y="2432304"/>
            <a:ext cx="2468880" cy="365760"/>
          </a:xfrm>
          <a:prstGeom prst="rect">
            <a:avLst/>
          </a:prstGeom>
          <a:noFill/>
          <a:ln/>
        </p:spPr>
        <p:txBody>
          <a:bodyPr wrap="square" lIns="0" tIns="0" rIns="0" bIns="0" rtlCol="0" anchor="ctr"/>
          <a:lstStyle/>
          <a:p>
            <a:pPr indent="0" marL="0">
              <a:buNone/>
            </a:pPr>
            <a:r>
              <a:rPr lang="en-US" sz="1050" dirty="0">
                <a:solidFill>
                  <a:srgbClr val="1E2D3D"/>
                </a:solidFill>
              </a:rPr>
              <a:t>• Doc generation and sync</a:t>
            </a:r>
            <a:endParaRPr lang="en-US" sz="1050" dirty="0"/>
          </a:p>
        </p:txBody>
      </p:sp>
      <p:sp>
        <p:nvSpPr>
          <p:cNvPr id="12" name="Text 10"/>
          <p:cNvSpPr/>
          <p:nvPr/>
        </p:nvSpPr>
        <p:spPr>
          <a:xfrm>
            <a:off x="429768" y="2834640"/>
            <a:ext cx="2468880" cy="365760"/>
          </a:xfrm>
          <a:prstGeom prst="rect">
            <a:avLst/>
          </a:prstGeom>
          <a:noFill/>
          <a:ln/>
        </p:spPr>
        <p:txBody>
          <a:bodyPr wrap="square" lIns="0" tIns="0" rIns="0" bIns="0" rtlCol="0" anchor="ctr"/>
          <a:lstStyle/>
          <a:p>
            <a:pPr indent="0" marL="0">
              <a:buNone/>
            </a:pPr>
            <a:r>
              <a:rPr lang="en-US" sz="1050" dirty="0">
                <a:solidFill>
                  <a:srgbClr val="1E2D3D"/>
                </a:solidFill>
              </a:rPr>
              <a:t>• Translation of new strings</a:t>
            </a:r>
            <a:endParaRPr lang="en-US" sz="1050" dirty="0"/>
          </a:p>
        </p:txBody>
      </p:sp>
      <p:sp>
        <p:nvSpPr>
          <p:cNvPr id="13" name="Text 11"/>
          <p:cNvSpPr/>
          <p:nvPr/>
        </p:nvSpPr>
        <p:spPr>
          <a:xfrm>
            <a:off x="429768" y="3236976"/>
            <a:ext cx="2468880" cy="365760"/>
          </a:xfrm>
          <a:prstGeom prst="rect">
            <a:avLst/>
          </a:prstGeom>
          <a:noFill/>
          <a:ln/>
        </p:spPr>
        <p:txBody>
          <a:bodyPr wrap="square" lIns="0" tIns="0" rIns="0" bIns="0" rtlCol="0" anchor="ctr"/>
          <a:lstStyle/>
          <a:p>
            <a:pPr indent="0" marL="0">
              <a:buNone/>
            </a:pPr>
            <a:r>
              <a:rPr lang="en-US" sz="1050" dirty="0">
                <a:solidFill>
                  <a:srgbClr val="1E2D3D"/>
                </a:solidFill>
              </a:rPr>
              <a:t>• Log analysis and alerting</a:t>
            </a:r>
            <a:endParaRPr lang="en-US" sz="1050" dirty="0"/>
          </a:p>
        </p:txBody>
      </p:sp>
      <p:sp>
        <p:nvSpPr>
          <p:cNvPr id="14" name="Text 12"/>
          <p:cNvSpPr/>
          <p:nvPr/>
        </p:nvSpPr>
        <p:spPr>
          <a:xfrm>
            <a:off x="429768" y="3639312"/>
            <a:ext cx="2468880" cy="365760"/>
          </a:xfrm>
          <a:prstGeom prst="rect">
            <a:avLst/>
          </a:prstGeom>
          <a:noFill/>
          <a:ln/>
        </p:spPr>
        <p:txBody>
          <a:bodyPr wrap="square" lIns="0" tIns="0" rIns="0" bIns="0" rtlCol="0" anchor="ctr"/>
          <a:lstStyle/>
          <a:p>
            <a:pPr indent="0" marL="0">
              <a:buNone/>
            </a:pPr>
            <a:r>
              <a:rPr lang="en-US" sz="1050" dirty="0">
                <a:solidFill>
                  <a:srgbClr val="1E2D3D"/>
                </a:solidFill>
              </a:rPr>
              <a:t>• Test coverage gap reports</a:t>
            </a:r>
            <a:endParaRPr lang="en-US" sz="1050" dirty="0"/>
          </a:p>
        </p:txBody>
      </p:sp>
      <p:sp>
        <p:nvSpPr>
          <p:cNvPr id="15" name="Shape 13"/>
          <p:cNvSpPr/>
          <p:nvPr/>
        </p:nvSpPr>
        <p:spPr>
          <a:xfrm>
            <a:off x="411480" y="4169664"/>
            <a:ext cx="2514600" cy="621792"/>
          </a:xfrm>
          <a:prstGeom prst="rect">
            <a:avLst/>
          </a:prstGeom>
          <a:solidFill>
            <a:srgbClr val="3A7E6E">
              <a:alpha val="12000"/>
            </a:srgbClr>
          </a:solidFill>
          <a:ln/>
        </p:spPr>
      </p:sp>
      <p:sp>
        <p:nvSpPr>
          <p:cNvPr id="16" name="Text 14"/>
          <p:cNvSpPr/>
          <p:nvPr/>
        </p:nvSpPr>
        <p:spPr>
          <a:xfrm>
            <a:off x="466344" y="4206240"/>
            <a:ext cx="2404872" cy="201168"/>
          </a:xfrm>
          <a:prstGeom prst="rect">
            <a:avLst/>
          </a:prstGeom>
          <a:noFill/>
          <a:ln/>
        </p:spPr>
        <p:txBody>
          <a:bodyPr wrap="square" lIns="0" tIns="0" rIns="0" bIns="0" rtlCol="0" anchor="ctr"/>
          <a:lstStyle/>
          <a:p>
            <a:pPr indent="0" marL="0">
              <a:buNone/>
            </a:pPr>
            <a:r>
              <a:rPr lang="en-US" sz="850" b="1" spc="200" kern="0" dirty="0">
                <a:solidFill>
                  <a:srgbClr val="3A7E6E"/>
                </a:solidFill>
              </a:rPr>
              <a:t>HUMAN ROLE</a:t>
            </a:r>
            <a:endParaRPr lang="en-US" sz="850" dirty="0"/>
          </a:p>
        </p:txBody>
      </p:sp>
      <p:sp>
        <p:nvSpPr>
          <p:cNvPr id="17" name="Text 15"/>
          <p:cNvSpPr/>
          <p:nvPr/>
        </p:nvSpPr>
        <p:spPr>
          <a:xfrm>
            <a:off x="466344" y="4407408"/>
            <a:ext cx="2404872" cy="329184"/>
          </a:xfrm>
          <a:prstGeom prst="rect">
            <a:avLst/>
          </a:prstGeom>
          <a:noFill/>
          <a:ln/>
        </p:spPr>
        <p:txBody>
          <a:bodyPr wrap="square" lIns="0" tIns="0" rIns="0" bIns="0" rtlCol="0" anchor="ctr"/>
          <a:lstStyle/>
          <a:p>
            <a:pPr indent="0" marL="0">
              <a:buNone/>
            </a:pPr>
            <a:r>
              <a:rPr lang="en-US" sz="950" i="1" dirty="0">
                <a:solidFill>
                  <a:srgbClr val="7A90A8"/>
                </a:solidFill>
              </a:rPr>
              <a:t>Humans review aggregate reports, not individual actions</a:t>
            </a:r>
            <a:endParaRPr lang="en-US" sz="950" dirty="0"/>
          </a:p>
        </p:txBody>
      </p:sp>
      <p:sp>
        <p:nvSpPr>
          <p:cNvPr id="18" name="Shape 16"/>
          <p:cNvSpPr/>
          <p:nvPr/>
        </p:nvSpPr>
        <p:spPr>
          <a:xfrm>
            <a:off x="3200400" y="1170432"/>
            <a:ext cx="2697480" cy="374904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19" name="Shape 17"/>
          <p:cNvSpPr/>
          <p:nvPr/>
        </p:nvSpPr>
        <p:spPr>
          <a:xfrm>
            <a:off x="3200400" y="1170432"/>
            <a:ext cx="2697480" cy="566928"/>
          </a:xfrm>
          <a:prstGeom prst="rect">
            <a:avLst/>
          </a:prstGeom>
          <a:solidFill>
            <a:srgbClr val="3A7DC9"/>
          </a:solidFill>
          <a:ln/>
        </p:spPr>
      </p:sp>
      <p:sp>
        <p:nvSpPr>
          <p:cNvPr id="20" name="Text 18"/>
          <p:cNvSpPr/>
          <p:nvPr/>
        </p:nvSpPr>
        <p:spPr>
          <a:xfrm>
            <a:off x="3200400" y="1170432"/>
            <a:ext cx="269748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rPr>
              <a:t>SOFT GATE</a:t>
            </a:r>
            <a:endParaRPr lang="en-US" sz="1200" dirty="0"/>
          </a:p>
        </p:txBody>
      </p:sp>
      <p:sp>
        <p:nvSpPr>
          <p:cNvPr id="21" name="Text 19"/>
          <p:cNvSpPr/>
          <p:nvPr/>
        </p:nvSpPr>
        <p:spPr>
          <a:xfrm>
            <a:off x="3200400" y="1554480"/>
            <a:ext cx="2697480" cy="201168"/>
          </a:xfrm>
          <a:prstGeom prst="rect">
            <a:avLst/>
          </a:prstGeom>
          <a:noFill/>
          <a:ln/>
        </p:spPr>
        <p:txBody>
          <a:bodyPr wrap="square" lIns="0" tIns="0" rIns="0" bIns="0" rtlCol="0" anchor="ctr"/>
          <a:lstStyle/>
          <a:p>
            <a:pPr algn="ctr" indent="0" marL="0">
              <a:buNone/>
            </a:pPr>
            <a:r>
              <a:rPr lang="en-US" sz="950" dirty="0">
                <a:solidFill>
                  <a:srgbClr val="FFFFFF"/>
                </a:solidFill>
              </a:rPr>
              <a:t>Medium-risk, recoverable, agent opens PR</a:t>
            </a:r>
            <a:endParaRPr lang="en-US" sz="950" dirty="0"/>
          </a:p>
        </p:txBody>
      </p:sp>
      <p:sp>
        <p:nvSpPr>
          <p:cNvPr id="22" name="Text 20"/>
          <p:cNvSpPr/>
          <p:nvPr/>
        </p:nvSpPr>
        <p:spPr>
          <a:xfrm>
            <a:off x="3310128" y="1828800"/>
            <a:ext cx="2468880" cy="201168"/>
          </a:xfrm>
          <a:prstGeom prst="rect">
            <a:avLst/>
          </a:prstGeom>
          <a:noFill/>
          <a:ln/>
        </p:spPr>
        <p:txBody>
          <a:bodyPr wrap="square" lIns="0" tIns="0" rIns="0" bIns="0" rtlCol="0" anchor="ctr"/>
          <a:lstStyle/>
          <a:p>
            <a:pPr indent="0" marL="0">
              <a:buNone/>
            </a:pPr>
            <a:r>
              <a:rPr lang="en-US" sz="850" b="1" spc="200" kern="0" dirty="0">
                <a:solidFill>
                  <a:srgbClr val="3A7DC9"/>
                </a:solidFill>
              </a:rPr>
              <a:t>EXAMPLE ACTIONS</a:t>
            </a:r>
            <a:endParaRPr lang="en-US" sz="850" dirty="0"/>
          </a:p>
        </p:txBody>
      </p:sp>
      <p:sp>
        <p:nvSpPr>
          <p:cNvPr id="23" name="Text 21"/>
          <p:cNvSpPr/>
          <p:nvPr/>
        </p:nvSpPr>
        <p:spPr>
          <a:xfrm>
            <a:off x="3310128" y="2029968"/>
            <a:ext cx="2468880" cy="365760"/>
          </a:xfrm>
          <a:prstGeom prst="rect">
            <a:avLst/>
          </a:prstGeom>
          <a:noFill/>
          <a:ln/>
        </p:spPr>
        <p:txBody>
          <a:bodyPr wrap="square" lIns="0" tIns="0" rIns="0" bIns="0" rtlCol="0" anchor="ctr"/>
          <a:lstStyle/>
          <a:p>
            <a:pPr indent="0" marL="0">
              <a:buNone/>
            </a:pPr>
            <a:r>
              <a:rPr lang="en-US" sz="1050" dirty="0">
                <a:solidFill>
                  <a:srgbClr val="1E2D3D"/>
                </a:solidFill>
              </a:rPr>
              <a:t>• Feature implementation PRs</a:t>
            </a:r>
            <a:endParaRPr lang="en-US" sz="1050" dirty="0"/>
          </a:p>
        </p:txBody>
      </p:sp>
      <p:sp>
        <p:nvSpPr>
          <p:cNvPr id="24" name="Text 22"/>
          <p:cNvSpPr/>
          <p:nvPr/>
        </p:nvSpPr>
        <p:spPr>
          <a:xfrm>
            <a:off x="3310128" y="2432304"/>
            <a:ext cx="2468880" cy="365760"/>
          </a:xfrm>
          <a:prstGeom prst="rect">
            <a:avLst/>
          </a:prstGeom>
          <a:noFill/>
          <a:ln/>
        </p:spPr>
        <p:txBody>
          <a:bodyPr wrap="square" lIns="0" tIns="0" rIns="0" bIns="0" rtlCol="0" anchor="ctr"/>
          <a:lstStyle/>
          <a:p>
            <a:pPr indent="0" marL="0">
              <a:buNone/>
            </a:pPr>
            <a:r>
              <a:rPr lang="en-US" sz="1050" dirty="0">
                <a:solidFill>
                  <a:srgbClr val="1E2D3D"/>
                </a:solidFill>
              </a:rPr>
              <a:t>• Refactoring PRs</a:t>
            </a:r>
            <a:endParaRPr lang="en-US" sz="1050" dirty="0"/>
          </a:p>
        </p:txBody>
      </p:sp>
      <p:sp>
        <p:nvSpPr>
          <p:cNvPr id="25" name="Text 23"/>
          <p:cNvSpPr/>
          <p:nvPr/>
        </p:nvSpPr>
        <p:spPr>
          <a:xfrm>
            <a:off x="3310128" y="2834640"/>
            <a:ext cx="2468880" cy="365760"/>
          </a:xfrm>
          <a:prstGeom prst="rect">
            <a:avLst/>
          </a:prstGeom>
          <a:noFill/>
          <a:ln/>
        </p:spPr>
        <p:txBody>
          <a:bodyPr wrap="square" lIns="0" tIns="0" rIns="0" bIns="0" rtlCol="0" anchor="ctr"/>
          <a:lstStyle/>
          <a:p>
            <a:pPr indent="0" marL="0">
              <a:buNone/>
            </a:pPr>
            <a:r>
              <a:rPr lang="en-US" sz="1050" dirty="0">
                <a:solidFill>
                  <a:srgbClr val="1E2D3D"/>
                </a:solidFill>
              </a:rPr>
              <a:t>• API integration changes</a:t>
            </a:r>
            <a:endParaRPr lang="en-US" sz="1050" dirty="0"/>
          </a:p>
        </p:txBody>
      </p:sp>
      <p:sp>
        <p:nvSpPr>
          <p:cNvPr id="26" name="Text 24"/>
          <p:cNvSpPr/>
          <p:nvPr/>
        </p:nvSpPr>
        <p:spPr>
          <a:xfrm>
            <a:off x="3310128" y="3236976"/>
            <a:ext cx="2468880" cy="365760"/>
          </a:xfrm>
          <a:prstGeom prst="rect">
            <a:avLst/>
          </a:prstGeom>
          <a:noFill/>
          <a:ln/>
        </p:spPr>
        <p:txBody>
          <a:bodyPr wrap="square" lIns="0" tIns="0" rIns="0" bIns="0" rtlCol="0" anchor="ctr"/>
          <a:lstStyle/>
          <a:p>
            <a:pPr indent="0" marL="0">
              <a:buNone/>
            </a:pPr>
            <a:r>
              <a:rPr lang="en-US" sz="1050" dirty="0">
                <a:solidFill>
                  <a:srgbClr val="1E2D3D"/>
                </a:solidFill>
              </a:rPr>
              <a:t>• Configuration changes</a:t>
            </a:r>
            <a:endParaRPr lang="en-US" sz="1050" dirty="0"/>
          </a:p>
        </p:txBody>
      </p:sp>
      <p:sp>
        <p:nvSpPr>
          <p:cNvPr id="27" name="Text 25"/>
          <p:cNvSpPr/>
          <p:nvPr/>
        </p:nvSpPr>
        <p:spPr>
          <a:xfrm>
            <a:off x="3310128" y="3639312"/>
            <a:ext cx="2468880" cy="365760"/>
          </a:xfrm>
          <a:prstGeom prst="rect">
            <a:avLst/>
          </a:prstGeom>
          <a:noFill/>
          <a:ln/>
        </p:spPr>
        <p:txBody>
          <a:bodyPr wrap="square" lIns="0" tIns="0" rIns="0" bIns="0" rtlCol="0" anchor="ctr"/>
          <a:lstStyle/>
          <a:p>
            <a:pPr indent="0" marL="0">
              <a:buNone/>
            </a:pPr>
            <a:r>
              <a:rPr lang="en-US" sz="1050" dirty="0">
                <a:solidFill>
                  <a:srgbClr val="1E2D3D"/>
                </a:solidFill>
              </a:rPr>
              <a:t>• New test generation</a:t>
            </a:r>
            <a:endParaRPr lang="en-US" sz="1050" dirty="0"/>
          </a:p>
        </p:txBody>
      </p:sp>
      <p:sp>
        <p:nvSpPr>
          <p:cNvPr id="28" name="Shape 26"/>
          <p:cNvSpPr/>
          <p:nvPr/>
        </p:nvSpPr>
        <p:spPr>
          <a:xfrm>
            <a:off x="3291840" y="4169664"/>
            <a:ext cx="2514600" cy="621792"/>
          </a:xfrm>
          <a:prstGeom prst="rect">
            <a:avLst/>
          </a:prstGeom>
          <a:solidFill>
            <a:srgbClr val="3A7DC9">
              <a:alpha val="12000"/>
            </a:srgbClr>
          </a:solidFill>
          <a:ln/>
        </p:spPr>
      </p:sp>
      <p:sp>
        <p:nvSpPr>
          <p:cNvPr id="29" name="Text 27"/>
          <p:cNvSpPr/>
          <p:nvPr/>
        </p:nvSpPr>
        <p:spPr>
          <a:xfrm>
            <a:off x="3346704" y="4206240"/>
            <a:ext cx="2404872" cy="201168"/>
          </a:xfrm>
          <a:prstGeom prst="rect">
            <a:avLst/>
          </a:prstGeom>
          <a:noFill/>
          <a:ln/>
        </p:spPr>
        <p:txBody>
          <a:bodyPr wrap="square" lIns="0" tIns="0" rIns="0" bIns="0" rtlCol="0" anchor="ctr"/>
          <a:lstStyle/>
          <a:p>
            <a:pPr indent="0" marL="0">
              <a:buNone/>
            </a:pPr>
            <a:r>
              <a:rPr lang="en-US" sz="850" b="1" spc="200" kern="0" dirty="0">
                <a:solidFill>
                  <a:srgbClr val="3A7DC9"/>
                </a:solidFill>
              </a:rPr>
              <a:t>HUMAN ROLE</a:t>
            </a:r>
            <a:endParaRPr lang="en-US" sz="850" dirty="0"/>
          </a:p>
        </p:txBody>
      </p:sp>
      <p:sp>
        <p:nvSpPr>
          <p:cNvPr id="30" name="Text 28"/>
          <p:cNvSpPr/>
          <p:nvPr/>
        </p:nvSpPr>
        <p:spPr>
          <a:xfrm>
            <a:off x="3346704" y="4407408"/>
            <a:ext cx="2404872" cy="329184"/>
          </a:xfrm>
          <a:prstGeom prst="rect">
            <a:avLst/>
          </a:prstGeom>
          <a:noFill/>
          <a:ln/>
        </p:spPr>
        <p:txBody>
          <a:bodyPr wrap="square" lIns="0" tIns="0" rIns="0" bIns="0" rtlCol="0" anchor="ctr"/>
          <a:lstStyle/>
          <a:p>
            <a:pPr indent="0" marL="0">
              <a:buNone/>
            </a:pPr>
            <a:r>
              <a:rPr lang="en-US" sz="950" i="1" dirty="0">
                <a:solidFill>
                  <a:srgbClr val="7A90A8"/>
                </a:solidFill>
              </a:rPr>
              <a:t>Human must approve PR before merge. Can reject and redirect agent.</a:t>
            </a:r>
            <a:endParaRPr lang="en-US" sz="950" dirty="0"/>
          </a:p>
        </p:txBody>
      </p:sp>
      <p:sp>
        <p:nvSpPr>
          <p:cNvPr id="31" name="Shape 29"/>
          <p:cNvSpPr/>
          <p:nvPr/>
        </p:nvSpPr>
        <p:spPr>
          <a:xfrm>
            <a:off x="6080760" y="1170432"/>
            <a:ext cx="2697480" cy="374904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32" name="Shape 30"/>
          <p:cNvSpPr/>
          <p:nvPr/>
        </p:nvSpPr>
        <p:spPr>
          <a:xfrm>
            <a:off x="6080760" y="1170432"/>
            <a:ext cx="2697480" cy="566928"/>
          </a:xfrm>
          <a:prstGeom prst="rect">
            <a:avLst/>
          </a:prstGeom>
          <a:solidFill>
            <a:srgbClr val="B03040"/>
          </a:solidFill>
          <a:ln/>
        </p:spPr>
      </p:sp>
      <p:sp>
        <p:nvSpPr>
          <p:cNvPr id="33" name="Text 31"/>
          <p:cNvSpPr/>
          <p:nvPr/>
        </p:nvSpPr>
        <p:spPr>
          <a:xfrm>
            <a:off x="6080760" y="1170432"/>
            <a:ext cx="2697480" cy="384048"/>
          </a:xfrm>
          <a:prstGeom prst="rect">
            <a:avLst/>
          </a:prstGeom>
          <a:noFill/>
          <a:ln/>
        </p:spPr>
        <p:txBody>
          <a:bodyPr wrap="square" lIns="0" tIns="0" rIns="0" bIns="0" rtlCol="0" anchor="ctr"/>
          <a:lstStyle/>
          <a:p>
            <a:pPr algn="ctr" indent="0" marL="0">
              <a:buNone/>
            </a:pPr>
            <a:r>
              <a:rPr lang="en-US" sz="1200" b="1" spc="200" kern="0" dirty="0">
                <a:solidFill>
                  <a:srgbClr val="FFFFFF"/>
                </a:solidFill>
              </a:rPr>
              <a:t>HARD GATE</a:t>
            </a:r>
            <a:endParaRPr lang="en-US" sz="1200" dirty="0"/>
          </a:p>
        </p:txBody>
      </p:sp>
      <p:sp>
        <p:nvSpPr>
          <p:cNvPr id="34" name="Text 32"/>
          <p:cNvSpPr/>
          <p:nvPr/>
        </p:nvSpPr>
        <p:spPr>
          <a:xfrm>
            <a:off x="6080760" y="1554480"/>
            <a:ext cx="2697480" cy="201168"/>
          </a:xfrm>
          <a:prstGeom prst="rect">
            <a:avLst/>
          </a:prstGeom>
          <a:noFill/>
          <a:ln/>
        </p:spPr>
        <p:txBody>
          <a:bodyPr wrap="square" lIns="0" tIns="0" rIns="0" bIns="0" rtlCol="0" anchor="ctr"/>
          <a:lstStyle/>
          <a:p>
            <a:pPr algn="ctr" indent="0" marL="0">
              <a:buNone/>
            </a:pPr>
            <a:r>
              <a:rPr lang="en-US" sz="950" dirty="0">
                <a:solidFill>
                  <a:srgbClr val="FFFFFF"/>
                </a:solidFill>
              </a:rPr>
              <a:t>High-risk, irreversible, human decides</a:t>
            </a:r>
            <a:endParaRPr lang="en-US" sz="950" dirty="0"/>
          </a:p>
        </p:txBody>
      </p:sp>
      <p:sp>
        <p:nvSpPr>
          <p:cNvPr id="35" name="Text 33"/>
          <p:cNvSpPr/>
          <p:nvPr/>
        </p:nvSpPr>
        <p:spPr>
          <a:xfrm>
            <a:off x="6190488" y="1828800"/>
            <a:ext cx="2468880" cy="201168"/>
          </a:xfrm>
          <a:prstGeom prst="rect">
            <a:avLst/>
          </a:prstGeom>
          <a:noFill/>
          <a:ln/>
        </p:spPr>
        <p:txBody>
          <a:bodyPr wrap="square" lIns="0" tIns="0" rIns="0" bIns="0" rtlCol="0" anchor="ctr"/>
          <a:lstStyle/>
          <a:p>
            <a:pPr indent="0" marL="0">
              <a:buNone/>
            </a:pPr>
            <a:r>
              <a:rPr lang="en-US" sz="850" b="1" spc="200" kern="0" dirty="0">
                <a:solidFill>
                  <a:srgbClr val="B03040"/>
                </a:solidFill>
              </a:rPr>
              <a:t>EXAMPLE ACTIONS</a:t>
            </a:r>
            <a:endParaRPr lang="en-US" sz="850" dirty="0"/>
          </a:p>
        </p:txBody>
      </p:sp>
      <p:sp>
        <p:nvSpPr>
          <p:cNvPr id="36" name="Text 34"/>
          <p:cNvSpPr/>
          <p:nvPr/>
        </p:nvSpPr>
        <p:spPr>
          <a:xfrm>
            <a:off x="6190488" y="2029968"/>
            <a:ext cx="2468880" cy="365760"/>
          </a:xfrm>
          <a:prstGeom prst="rect">
            <a:avLst/>
          </a:prstGeom>
          <a:noFill/>
          <a:ln/>
        </p:spPr>
        <p:txBody>
          <a:bodyPr wrap="square" lIns="0" tIns="0" rIns="0" bIns="0" rtlCol="0" anchor="ctr"/>
          <a:lstStyle/>
          <a:p>
            <a:pPr indent="0" marL="0">
              <a:buNone/>
            </a:pPr>
            <a:r>
              <a:rPr lang="en-US" sz="1050" dirty="0">
                <a:solidFill>
                  <a:srgbClr val="1E2D3D"/>
                </a:solidFill>
              </a:rPr>
              <a:t>• Production database changes</a:t>
            </a:r>
            <a:endParaRPr lang="en-US" sz="1050" dirty="0"/>
          </a:p>
        </p:txBody>
      </p:sp>
      <p:sp>
        <p:nvSpPr>
          <p:cNvPr id="37" name="Text 35"/>
          <p:cNvSpPr/>
          <p:nvPr/>
        </p:nvSpPr>
        <p:spPr>
          <a:xfrm>
            <a:off x="6190488" y="2432304"/>
            <a:ext cx="2468880" cy="365760"/>
          </a:xfrm>
          <a:prstGeom prst="rect">
            <a:avLst/>
          </a:prstGeom>
          <a:noFill/>
          <a:ln/>
        </p:spPr>
        <p:txBody>
          <a:bodyPr wrap="square" lIns="0" tIns="0" rIns="0" bIns="0" rtlCol="0" anchor="ctr"/>
          <a:lstStyle/>
          <a:p>
            <a:pPr indent="0" marL="0">
              <a:buNone/>
            </a:pPr>
            <a:r>
              <a:rPr lang="en-US" sz="1050" dirty="0">
                <a:solidFill>
                  <a:srgbClr val="1E2D3D"/>
                </a:solidFill>
              </a:rPr>
              <a:t>• Security config modification</a:t>
            </a:r>
            <a:endParaRPr lang="en-US" sz="1050" dirty="0"/>
          </a:p>
        </p:txBody>
      </p:sp>
      <p:sp>
        <p:nvSpPr>
          <p:cNvPr id="38" name="Text 36"/>
          <p:cNvSpPr/>
          <p:nvPr/>
        </p:nvSpPr>
        <p:spPr>
          <a:xfrm>
            <a:off x="6190488" y="2834640"/>
            <a:ext cx="2468880" cy="365760"/>
          </a:xfrm>
          <a:prstGeom prst="rect">
            <a:avLst/>
          </a:prstGeom>
          <a:noFill/>
          <a:ln/>
        </p:spPr>
        <p:txBody>
          <a:bodyPr wrap="square" lIns="0" tIns="0" rIns="0" bIns="0" rtlCol="0" anchor="ctr"/>
          <a:lstStyle/>
          <a:p>
            <a:pPr indent="0" marL="0">
              <a:buNone/>
            </a:pPr>
            <a:r>
              <a:rPr lang="en-US" sz="1050" dirty="0">
                <a:solidFill>
                  <a:srgbClr val="1E2D3D"/>
                </a:solidFill>
              </a:rPr>
              <a:t>• Public API contract changes</a:t>
            </a:r>
            <a:endParaRPr lang="en-US" sz="1050" dirty="0"/>
          </a:p>
        </p:txBody>
      </p:sp>
      <p:sp>
        <p:nvSpPr>
          <p:cNvPr id="39" name="Text 37"/>
          <p:cNvSpPr/>
          <p:nvPr/>
        </p:nvSpPr>
        <p:spPr>
          <a:xfrm>
            <a:off x="6190488" y="3236976"/>
            <a:ext cx="2468880" cy="365760"/>
          </a:xfrm>
          <a:prstGeom prst="rect">
            <a:avLst/>
          </a:prstGeom>
          <a:noFill/>
          <a:ln/>
        </p:spPr>
        <p:txBody>
          <a:bodyPr wrap="square" lIns="0" tIns="0" rIns="0" bIns="0" rtlCol="0" anchor="ctr"/>
          <a:lstStyle/>
          <a:p>
            <a:pPr indent="0" marL="0">
              <a:buNone/>
            </a:pPr>
            <a:r>
              <a:rPr lang="en-US" sz="1050" dirty="0">
                <a:solidFill>
                  <a:srgbClr val="1E2D3D"/>
                </a:solidFill>
              </a:rPr>
              <a:t>• Production deploys</a:t>
            </a:r>
            <a:endParaRPr lang="en-US" sz="1050" dirty="0"/>
          </a:p>
        </p:txBody>
      </p:sp>
      <p:sp>
        <p:nvSpPr>
          <p:cNvPr id="40" name="Text 38"/>
          <p:cNvSpPr/>
          <p:nvPr/>
        </p:nvSpPr>
        <p:spPr>
          <a:xfrm>
            <a:off x="6190488" y="3639312"/>
            <a:ext cx="2468880" cy="365760"/>
          </a:xfrm>
          <a:prstGeom prst="rect">
            <a:avLst/>
          </a:prstGeom>
          <a:noFill/>
          <a:ln/>
        </p:spPr>
        <p:txBody>
          <a:bodyPr wrap="square" lIns="0" tIns="0" rIns="0" bIns="0" rtlCol="0" anchor="ctr"/>
          <a:lstStyle/>
          <a:p>
            <a:pPr indent="0" marL="0">
              <a:buNone/>
            </a:pPr>
            <a:r>
              <a:rPr lang="en-US" sz="1050" dirty="0">
                <a:solidFill>
                  <a:srgbClr val="1E2D3D"/>
                </a:solidFill>
              </a:rPr>
              <a:t>• Payments or financial ops</a:t>
            </a:r>
            <a:endParaRPr lang="en-US" sz="1050" dirty="0"/>
          </a:p>
        </p:txBody>
      </p:sp>
      <p:sp>
        <p:nvSpPr>
          <p:cNvPr id="41" name="Shape 39"/>
          <p:cNvSpPr/>
          <p:nvPr/>
        </p:nvSpPr>
        <p:spPr>
          <a:xfrm>
            <a:off x="6172200" y="4169664"/>
            <a:ext cx="2514600" cy="621792"/>
          </a:xfrm>
          <a:prstGeom prst="rect">
            <a:avLst/>
          </a:prstGeom>
          <a:solidFill>
            <a:srgbClr val="B03040">
              <a:alpha val="12000"/>
            </a:srgbClr>
          </a:solidFill>
          <a:ln/>
        </p:spPr>
      </p:sp>
      <p:sp>
        <p:nvSpPr>
          <p:cNvPr id="42" name="Text 40"/>
          <p:cNvSpPr/>
          <p:nvPr/>
        </p:nvSpPr>
        <p:spPr>
          <a:xfrm>
            <a:off x="6227064" y="4206240"/>
            <a:ext cx="2404872" cy="201168"/>
          </a:xfrm>
          <a:prstGeom prst="rect">
            <a:avLst/>
          </a:prstGeom>
          <a:noFill/>
          <a:ln/>
        </p:spPr>
        <p:txBody>
          <a:bodyPr wrap="square" lIns="0" tIns="0" rIns="0" bIns="0" rtlCol="0" anchor="ctr"/>
          <a:lstStyle/>
          <a:p>
            <a:pPr indent="0" marL="0">
              <a:buNone/>
            </a:pPr>
            <a:r>
              <a:rPr lang="en-US" sz="850" b="1" spc="200" kern="0" dirty="0">
                <a:solidFill>
                  <a:srgbClr val="B03040"/>
                </a:solidFill>
              </a:rPr>
              <a:t>HUMAN ROLE</a:t>
            </a:r>
            <a:endParaRPr lang="en-US" sz="850" dirty="0"/>
          </a:p>
        </p:txBody>
      </p:sp>
      <p:sp>
        <p:nvSpPr>
          <p:cNvPr id="43" name="Text 41"/>
          <p:cNvSpPr/>
          <p:nvPr/>
        </p:nvSpPr>
        <p:spPr>
          <a:xfrm>
            <a:off x="6227064" y="4407408"/>
            <a:ext cx="2404872" cy="329184"/>
          </a:xfrm>
          <a:prstGeom prst="rect">
            <a:avLst/>
          </a:prstGeom>
          <a:noFill/>
          <a:ln/>
        </p:spPr>
        <p:txBody>
          <a:bodyPr wrap="square" lIns="0" tIns="0" rIns="0" bIns="0" rtlCol="0" anchor="ctr"/>
          <a:lstStyle/>
          <a:p>
            <a:pPr indent="0" marL="0">
              <a:buNone/>
            </a:pPr>
            <a:r>
              <a:rPr lang="en-US" sz="950" i="1" dirty="0">
                <a:solidFill>
                  <a:srgbClr val="7A90A8"/>
                </a:solidFill>
              </a:rPr>
              <a:t>Human authorises explicitly. Agent surfaces options only, does not execute.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4A7FA8"/>
          </a:solidFill>
          <a:ln/>
        </p:spPr>
      </p:sp>
      <p:sp>
        <p:nvSpPr>
          <p:cNvPr id="3" name="Text 1"/>
          <p:cNvSpPr/>
          <p:nvPr/>
        </p:nvSpPr>
        <p:spPr>
          <a:xfrm>
            <a:off x="365760" y="0"/>
            <a:ext cx="822960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REVIEWING AI-GENERATED PULL REQUESTS</a:t>
            </a:r>
            <a:endParaRPr lang="en-US" sz="1300" dirty="0"/>
          </a:p>
        </p:txBody>
      </p:sp>
      <p:sp>
        <p:nvSpPr>
          <p:cNvPr id="4" name="Text 2"/>
          <p:cNvSpPr/>
          <p:nvPr/>
        </p:nvSpPr>
        <p:spPr>
          <a:xfrm>
            <a:off x="365760" y="822960"/>
            <a:ext cx="8412480" cy="274320"/>
          </a:xfrm>
          <a:prstGeom prst="rect">
            <a:avLst/>
          </a:prstGeom>
          <a:noFill/>
          <a:ln/>
        </p:spPr>
        <p:txBody>
          <a:bodyPr wrap="square" lIns="0" tIns="0" rIns="0" bIns="0" rtlCol="0" anchor="ctr"/>
          <a:lstStyle/>
          <a:p>
            <a:pPr indent="0" marL="0">
              <a:buNone/>
            </a:pPr>
            <a:r>
              <a:rPr lang="en-US" sz="1150" i="1" dirty="0">
                <a:solidFill>
                  <a:srgbClr val="7A90A8"/>
                </a:solidFill>
              </a:rPr>
              <a:t>Reviewing AI code takes as much mental energy as writing it — reviewers must be paranoid about hallucinations and scope creep</a:t>
            </a:r>
            <a:endParaRPr lang="en-US" sz="1150" dirty="0"/>
          </a:p>
        </p:txBody>
      </p:sp>
      <p:sp>
        <p:nvSpPr>
          <p:cNvPr id="5" name="Shape 3"/>
          <p:cNvSpPr/>
          <p:nvPr/>
        </p:nvSpPr>
        <p:spPr>
          <a:xfrm>
            <a:off x="320040" y="1170432"/>
            <a:ext cx="4160520" cy="118872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170432"/>
            <a:ext cx="54864" cy="1188720"/>
          </a:xfrm>
          <a:prstGeom prst="rect">
            <a:avLst/>
          </a:prstGeom>
          <a:solidFill>
            <a:srgbClr val="3A7DC9"/>
          </a:solidFill>
          <a:ln/>
        </p:spPr>
      </p:sp>
      <p:sp>
        <p:nvSpPr>
          <p:cNvPr id="7" name="Text 5"/>
          <p:cNvSpPr/>
          <p:nvPr/>
        </p:nvSpPr>
        <p:spPr>
          <a:xfrm>
            <a:off x="466344" y="1225296"/>
            <a:ext cx="3959352" cy="347472"/>
          </a:xfrm>
          <a:prstGeom prst="rect">
            <a:avLst/>
          </a:prstGeom>
          <a:noFill/>
          <a:ln/>
        </p:spPr>
        <p:txBody>
          <a:bodyPr wrap="square" lIns="0" tIns="0" rIns="0" bIns="0" rtlCol="0" anchor="ctr"/>
          <a:lstStyle/>
          <a:p>
            <a:pPr indent="0" marL="0">
              <a:buNone/>
            </a:pPr>
            <a:r>
              <a:rPr lang="en-US" sz="1200" b="1" dirty="0">
                <a:solidFill>
                  <a:srgbClr val="1C3557"/>
                </a:solidFill>
              </a:rPr>
              <a:t>1. Did the agent stay in scope?</a:t>
            </a:r>
            <a:endParaRPr lang="en-US" sz="1200" dirty="0"/>
          </a:p>
        </p:txBody>
      </p:sp>
      <p:sp>
        <p:nvSpPr>
          <p:cNvPr id="8" name="Text 6"/>
          <p:cNvSpPr/>
          <p:nvPr/>
        </p:nvSpPr>
        <p:spPr>
          <a:xfrm>
            <a:off x="466344" y="1627632"/>
            <a:ext cx="3959352" cy="658368"/>
          </a:xfrm>
          <a:prstGeom prst="rect">
            <a:avLst/>
          </a:prstGeom>
          <a:noFill/>
          <a:ln/>
        </p:spPr>
        <p:txBody>
          <a:bodyPr wrap="square" lIns="0" tIns="0" rIns="0" bIns="0" rtlCol="0" anchor="ctr"/>
          <a:lstStyle/>
          <a:p>
            <a:pPr indent="0" marL="0">
              <a:buNone/>
            </a:pPr>
            <a:r>
              <a:rPr lang="en-US" sz="1100" dirty="0">
                <a:solidFill>
                  <a:srgbClr val="7A90A8"/>
                </a:solidFill>
              </a:rPr>
              <a:t>Check which files changed. Were all of them listed in the task spec? Any unexpected files changed = scope creep. Fail the PR.</a:t>
            </a:r>
            <a:endParaRPr lang="en-US" sz="1100" dirty="0"/>
          </a:p>
        </p:txBody>
      </p:sp>
      <p:sp>
        <p:nvSpPr>
          <p:cNvPr id="9" name="Shape 7"/>
          <p:cNvSpPr/>
          <p:nvPr/>
        </p:nvSpPr>
        <p:spPr>
          <a:xfrm>
            <a:off x="320040" y="2468880"/>
            <a:ext cx="4160520" cy="118872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0" name="Shape 8"/>
          <p:cNvSpPr/>
          <p:nvPr/>
        </p:nvSpPr>
        <p:spPr>
          <a:xfrm>
            <a:off x="320040" y="2468880"/>
            <a:ext cx="54864" cy="1188720"/>
          </a:xfrm>
          <a:prstGeom prst="rect">
            <a:avLst/>
          </a:prstGeom>
          <a:solidFill>
            <a:srgbClr val="4A7FA8"/>
          </a:solidFill>
          <a:ln/>
        </p:spPr>
      </p:sp>
      <p:sp>
        <p:nvSpPr>
          <p:cNvPr id="11" name="Text 9"/>
          <p:cNvSpPr/>
          <p:nvPr/>
        </p:nvSpPr>
        <p:spPr>
          <a:xfrm>
            <a:off x="466344" y="2523744"/>
            <a:ext cx="3959352" cy="347472"/>
          </a:xfrm>
          <a:prstGeom prst="rect">
            <a:avLst/>
          </a:prstGeom>
          <a:noFill/>
          <a:ln/>
        </p:spPr>
        <p:txBody>
          <a:bodyPr wrap="square" lIns="0" tIns="0" rIns="0" bIns="0" rtlCol="0" anchor="ctr"/>
          <a:lstStyle/>
          <a:p>
            <a:pPr indent="0" marL="0">
              <a:buNone/>
            </a:pPr>
            <a:r>
              <a:rPr lang="en-US" sz="1200" b="1" dirty="0">
                <a:solidFill>
                  <a:srgbClr val="1C3557"/>
                </a:solidFill>
              </a:rPr>
              <a:t>2. Does the diff match the plan?</a:t>
            </a:r>
            <a:endParaRPr lang="en-US" sz="1200" dirty="0"/>
          </a:p>
        </p:txBody>
      </p:sp>
      <p:sp>
        <p:nvSpPr>
          <p:cNvPr id="12" name="Text 10"/>
          <p:cNvSpPr/>
          <p:nvPr/>
        </p:nvSpPr>
        <p:spPr>
          <a:xfrm>
            <a:off x="466344" y="2926080"/>
            <a:ext cx="3959352" cy="658368"/>
          </a:xfrm>
          <a:prstGeom prst="rect">
            <a:avLst/>
          </a:prstGeom>
          <a:noFill/>
          <a:ln/>
        </p:spPr>
        <p:txBody>
          <a:bodyPr wrap="square" lIns="0" tIns="0" rIns="0" bIns="0" rtlCol="0" anchor="ctr"/>
          <a:lstStyle/>
          <a:p>
            <a:pPr indent="0" marL="0">
              <a:buNone/>
            </a:pPr>
            <a:r>
              <a:rPr lang="en-US" sz="1100" dirty="0">
                <a:solidFill>
                  <a:srgbClr val="7A90A8"/>
                </a:solidFill>
              </a:rPr>
              <a:t>Compare implementation against plan.md. Did agent execute what was agreed? If it deviated, was the deviation justified in a comment?</a:t>
            </a:r>
            <a:endParaRPr lang="en-US" sz="1100" dirty="0"/>
          </a:p>
        </p:txBody>
      </p:sp>
      <p:sp>
        <p:nvSpPr>
          <p:cNvPr id="13" name="Shape 11"/>
          <p:cNvSpPr/>
          <p:nvPr/>
        </p:nvSpPr>
        <p:spPr>
          <a:xfrm>
            <a:off x="320040" y="3767328"/>
            <a:ext cx="4160520" cy="118872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4" name="Shape 12"/>
          <p:cNvSpPr/>
          <p:nvPr/>
        </p:nvSpPr>
        <p:spPr>
          <a:xfrm>
            <a:off x="320040" y="3767328"/>
            <a:ext cx="54864" cy="1188720"/>
          </a:xfrm>
          <a:prstGeom prst="rect">
            <a:avLst/>
          </a:prstGeom>
          <a:solidFill>
            <a:srgbClr val="3A7E6E"/>
          </a:solidFill>
          <a:ln/>
        </p:spPr>
      </p:sp>
      <p:sp>
        <p:nvSpPr>
          <p:cNvPr id="15" name="Text 13"/>
          <p:cNvSpPr/>
          <p:nvPr/>
        </p:nvSpPr>
        <p:spPr>
          <a:xfrm>
            <a:off x="466344" y="3822192"/>
            <a:ext cx="3959352" cy="347472"/>
          </a:xfrm>
          <a:prstGeom prst="rect">
            <a:avLst/>
          </a:prstGeom>
          <a:noFill/>
          <a:ln/>
        </p:spPr>
        <p:txBody>
          <a:bodyPr wrap="square" lIns="0" tIns="0" rIns="0" bIns="0" rtlCol="0" anchor="ctr"/>
          <a:lstStyle/>
          <a:p>
            <a:pPr indent="0" marL="0">
              <a:buNone/>
            </a:pPr>
            <a:r>
              <a:rPr lang="en-US" sz="1200" b="1" dirty="0">
                <a:solidFill>
                  <a:srgbClr val="1C3557"/>
                </a:solidFill>
              </a:rPr>
              <a:t>3. Are AC tests present and correct?</a:t>
            </a:r>
            <a:endParaRPr lang="en-US" sz="1200" dirty="0"/>
          </a:p>
        </p:txBody>
      </p:sp>
      <p:sp>
        <p:nvSpPr>
          <p:cNvPr id="16" name="Text 14"/>
          <p:cNvSpPr/>
          <p:nvPr/>
        </p:nvSpPr>
        <p:spPr>
          <a:xfrm>
            <a:off x="466344" y="4224528"/>
            <a:ext cx="3959352" cy="658368"/>
          </a:xfrm>
          <a:prstGeom prst="rect">
            <a:avLst/>
          </a:prstGeom>
          <a:noFill/>
          <a:ln/>
        </p:spPr>
        <p:txBody>
          <a:bodyPr wrap="square" lIns="0" tIns="0" rIns="0" bIns="0" rtlCol="0" anchor="ctr"/>
          <a:lstStyle/>
          <a:p>
            <a:pPr indent="0" marL="0">
              <a:buNone/>
            </a:pPr>
            <a:r>
              <a:rPr lang="en-US" sz="1100" dirty="0">
                <a:solidFill>
                  <a:srgbClr val="7A90A8"/>
                </a:solidFill>
              </a:rPr>
              <a:t>Every AC must have a corresponding test. Read the test names against the acceptance criteria — not just line coverage.</a:t>
            </a:r>
            <a:endParaRPr lang="en-US" sz="1100" dirty="0"/>
          </a:p>
        </p:txBody>
      </p:sp>
      <p:sp>
        <p:nvSpPr>
          <p:cNvPr id="17" name="Shape 15"/>
          <p:cNvSpPr/>
          <p:nvPr/>
        </p:nvSpPr>
        <p:spPr>
          <a:xfrm>
            <a:off x="4663440" y="1170432"/>
            <a:ext cx="4160520" cy="118872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8" name="Shape 16"/>
          <p:cNvSpPr/>
          <p:nvPr/>
        </p:nvSpPr>
        <p:spPr>
          <a:xfrm>
            <a:off x="4663440" y="1170432"/>
            <a:ext cx="54864" cy="1188720"/>
          </a:xfrm>
          <a:prstGeom prst="rect">
            <a:avLst/>
          </a:prstGeom>
          <a:solidFill>
            <a:srgbClr val="8096B0"/>
          </a:solidFill>
          <a:ln/>
        </p:spPr>
      </p:sp>
      <p:sp>
        <p:nvSpPr>
          <p:cNvPr id="19" name="Text 17"/>
          <p:cNvSpPr/>
          <p:nvPr/>
        </p:nvSpPr>
        <p:spPr>
          <a:xfrm>
            <a:off x="4809744" y="1225296"/>
            <a:ext cx="3959352" cy="347472"/>
          </a:xfrm>
          <a:prstGeom prst="rect">
            <a:avLst/>
          </a:prstGeom>
          <a:noFill/>
          <a:ln/>
        </p:spPr>
        <p:txBody>
          <a:bodyPr wrap="square" lIns="0" tIns="0" rIns="0" bIns="0" rtlCol="0" anchor="ctr"/>
          <a:lstStyle/>
          <a:p>
            <a:pPr indent="0" marL="0">
              <a:buNone/>
            </a:pPr>
            <a:r>
              <a:rPr lang="en-US" sz="1200" b="1" dirty="0">
                <a:solidFill>
                  <a:srgbClr val="1C3557"/>
                </a:solidFill>
              </a:rPr>
              <a:t>4. Are there hallucinated APIs or deps?</a:t>
            </a:r>
            <a:endParaRPr lang="en-US" sz="1200" dirty="0"/>
          </a:p>
        </p:txBody>
      </p:sp>
      <p:sp>
        <p:nvSpPr>
          <p:cNvPr id="20" name="Text 18"/>
          <p:cNvSpPr/>
          <p:nvPr/>
        </p:nvSpPr>
        <p:spPr>
          <a:xfrm>
            <a:off x="4809744" y="1627632"/>
            <a:ext cx="3959352" cy="658368"/>
          </a:xfrm>
          <a:prstGeom prst="rect">
            <a:avLst/>
          </a:prstGeom>
          <a:noFill/>
          <a:ln/>
        </p:spPr>
        <p:txBody>
          <a:bodyPr wrap="square" lIns="0" tIns="0" rIns="0" bIns="0" rtlCol="0" anchor="ctr"/>
          <a:lstStyle/>
          <a:p>
            <a:pPr indent="0" marL="0">
              <a:buNone/>
            </a:pPr>
            <a:r>
              <a:rPr lang="en-US" sz="1100" dirty="0">
                <a:solidFill>
                  <a:srgbClr val="7A90A8"/>
                </a:solidFill>
              </a:rPr>
              <a:t>Agents invent APIs and package versions that don’t exist. Check every import, every external call, every version number.</a:t>
            </a:r>
            <a:endParaRPr lang="en-US" sz="1100" dirty="0"/>
          </a:p>
        </p:txBody>
      </p:sp>
      <p:sp>
        <p:nvSpPr>
          <p:cNvPr id="21" name="Shape 19"/>
          <p:cNvSpPr/>
          <p:nvPr/>
        </p:nvSpPr>
        <p:spPr>
          <a:xfrm>
            <a:off x="4663440" y="2468880"/>
            <a:ext cx="4160520" cy="118872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2" name="Shape 20"/>
          <p:cNvSpPr/>
          <p:nvPr/>
        </p:nvSpPr>
        <p:spPr>
          <a:xfrm>
            <a:off x="4663440" y="2468880"/>
            <a:ext cx="54864" cy="1188720"/>
          </a:xfrm>
          <a:prstGeom prst="rect">
            <a:avLst/>
          </a:prstGeom>
          <a:solidFill>
            <a:srgbClr val="1C3557"/>
          </a:solidFill>
          <a:ln/>
        </p:spPr>
      </p:sp>
      <p:sp>
        <p:nvSpPr>
          <p:cNvPr id="23" name="Text 21"/>
          <p:cNvSpPr/>
          <p:nvPr/>
        </p:nvSpPr>
        <p:spPr>
          <a:xfrm>
            <a:off x="4809744" y="2523744"/>
            <a:ext cx="3959352" cy="347472"/>
          </a:xfrm>
          <a:prstGeom prst="rect">
            <a:avLst/>
          </a:prstGeom>
          <a:noFill/>
          <a:ln/>
        </p:spPr>
        <p:txBody>
          <a:bodyPr wrap="square" lIns="0" tIns="0" rIns="0" bIns="0" rtlCol="0" anchor="ctr"/>
          <a:lstStyle/>
          <a:p>
            <a:pPr indent="0" marL="0">
              <a:buNone/>
            </a:pPr>
            <a:r>
              <a:rPr lang="en-US" sz="1200" b="1" dirty="0">
                <a:solidFill>
                  <a:srgbClr val="1C3557"/>
                </a:solidFill>
              </a:rPr>
              <a:t>5. Is technical debt being introduced?</a:t>
            </a:r>
            <a:endParaRPr lang="en-US" sz="1200" dirty="0"/>
          </a:p>
        </p:txBody>
      </p:sp>
      <p:sp>
        <p:nvSpPr>
          <p:cNvPr id="24" name="Text 22"/>
          <p:cNvSpPr/>
          <p:nvPr/>
        </p:nvSpPr>
        <p:spPr>
          <a:xfrm>
            <a:off x="4809744" y="2926080"/>
            <a:ext cx="3959352" cy="658368"/>
          </a:xfrm>
          <a:prstGeom prst="rect">
            <a:avLst/>
          </a:prstGeom>
          <a:noFill/>
          <a:ln/>
        </p:spPr>
        <p:txBody>
          <a:bodyPr wrap="square" lIns="0" tIns="0" rIns="0" bIns="0" rtlCol="0" anchor="ctr"/>
          <a:lstStyle/>
          <a:p>
            <a:pPr indent="0" marL="0">
              <a:buNone/>
            </a:pPr>
            <a:r>
              <a:rPr lang="en-US" sz="1100" dirty="0">
                <a:solidFill>
                  <a:srgbClr val="7A90A8"/>
                </a:solidFill>
              </a:rPr>
              <a:t>Agents optimise for passing tests, not maintainability. Check for: magic numbers, duplicated logic, missing error handling, no comments.</a:t>
            </a:r>
            <a:endParaRPr lang="en-US" sz="1100" dirty="0"/>
          </a:p>
        </p:txBody>
      </p:sp>
      <p:sp>
        <p:nvSpPr>
          <p:cNvPr id="25" name="Shape 23"/>
          <p:cNvSpPr/>
          <p:nvPr/>
        </p:nvSpPr>
        <p:spPr>
          <a:xfrm>
            <a:off x="4663440" y="3767328"/>
            <a:ext cx="4160520" cy="118872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6" name="Shape 24"/>
          <p:cNvSpPr/>
          <p:nvPr/>
        </p:nvSpPr>
        <p:spPr>
          <a:xfrm>
            <a:off x="4663440" y="3767328"/>
            <a:ext cx="54864" cy="1188720"/>
          </a:xfrm>
          <a:prstGeom prst="rect">
            <a:avLst/>
          </a:prstGeom>
          <a:solidFill>
            <a:srgbClr val="3A7DC9"/>
          </a:solidFill>
          <a:ln/>
        </p:spPr>
      </p:sp>
      <p:sp>
        <p:nvSpPr>
          <p:cNvPr id="27" name="Text 25"/>
          <p:cNvSpPr/>
          <p:nvPr/>
        </p:nvSpPr>
        <p:spPr>
          <a:xfrm>
            <a:off x="4809744" y="3822192"/>
            <a:ext cx="3959352" cy="347472"/>
          </a:xfrm>
          <a:prstGeom prst="rect">
            <a:avLst/>
          </a:prstGeom>
          <a:noFill/>
          <a:ln/>
        </p:spPr>
        <p:txBody>
          <a:bodyPr wrap="square" lIns="0" tIns="0" rIns="0" bIns="0" rtlCol="0" anchor="ctr"/>
          <a:lstStyle/>
          <a:p>
            <a:pPr indent="0" marL="0">
              <a:buNone/>
            </a:pPr>
            <a:r>
              <a:rPr lang="en-US" sz="1200" b="1" dirty="0">
                <a:solidFill>
                  <a:srgbClr val="1C3557"/>
                </a:solidFill>
              </a:rPr>
              <a:t>6. Does behaviour match intent?</a:t>
            </a:r>
            <a:endParaRPr lang="en-US" sz="1200" dirty="0"/>
          </a:p>
        </p:txBody>
      </p:sp>
      <p:sp>
        <p:nvSpPr>
          <p:cNvPr id="28" name="Text 26"/>
          <p:cNvSpPr/>
          <p:nvPr/>
        </p:nvSpPr>
        <p:spPr>
          <a:xfrm>
            <a:off x="4809744" y="4224528"/>
            <a:ext cx="3959352" cy="658368"/>
          </a:xfrm>
          <a:prstGeom prst="rect">
            <a:avLst/>
          </a:prstGeom>
          <a:noFill/>
          <a:ln/>
        </p:spPr>
        <p:txBody>
          <a:bodyPr wrap="square" lIns="0" tIns="0" rIns="0" bIns="0" rtlCol="0" anchor="ctr"/>
          <a:lstStyle/>
          <a:p>
            <a:pPr indent="0" marL="0">
              <a:buNone/>
            </a:pPr>
            <a:r>
              <a:rPr lang="en-US" sz="1100" dirty="0">
                <a:solidFill>
                  <a:srgbClr val="7A90A8"/>
                </a:solidFill>
              </a:rPr>
              <a:t>Run the feature mentally against your AC. Did the agent build what you wanted, even if tests pass? Functional correctness matters.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22960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ARCHITECTURE DECISION RECORDS AS LIVING CONTEXT</a:t>
            </a:r>
            <a:endParaRPr lang="en-US" sz="1300" dirty="0"/>
          </a:p>
        </p:txBody>
      </p:sp>
      <p:sp>
        <p:nvSpPr>
          <p:cNvPr id="4" name="Text 2"/>
          <p:cNvSpPr/>
          <p:nvPr/>
        </p:nvSpPr>
        <p:spPr>
          <a:xfrm>
            <a:off x="365760" y="822960"/>
            <a:ext cx="8412480" cy="274320"/>
          </a:xfrm>
          <a:prstGeom prst="rect">
            <a:avLst/>
          </a:prstGeom>
          <a:noFill/>
          <a:ln/>
        </p:spPr>
        <p:txBody>
          <a:bodyPr wrap="square" lIns="0" tIns="0" rIns="0" bIns="0" rtlCol="0" anchor="ctr"/>
          <a:lstStyle/>
          <a:p>
            <a:pPr indent="0" marL="0">
              <a:buNone/>
            </a:pPr>
            <a:r>
              <a:rPr lang="en-US" sz="1150" i="1" dirty="0">
                <a:solidFill>
                  <a:srgbClr val="7A90A8"/>
                </a:solidFill>
              </a:rPr>
              <a:t>Spotify engineers use agents to capture ADRs from Slack threads — making architectural reasoning continuous, not retrospective</a:t>
            </a:r>
            <a:endParaRPr lang="en-US" sz="1150" dirty="0"/>
          </a:p>
        </p:txBody>
      </p:sp>
      <p:sp>
        <p:nvSpPr>
          <p:cNvPr id="5" name="Shape 3"/>
          <p:cNvSpPr/>
          <p:nvPr/>
        </p:nvSpPr>
        <p:spPr>
          <a:xfrm>
            <a:off x="320040" y="1170432"/>
            <a:ext cx="4160520" cy="374904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170432"/>
            <a:ext cx="4160520" cy="384048"/>
          </a:xfrm>
          <a:prstGeom prst="rect">
            <a:avLst/>
          </a:prstGeom>
          <a:solidFill>
            <a:srgbClr val="1C3557"/>
          </a:solidFill>
          <a:ln/>
        </p:spPr>
      </p:sp>
      <p:sp>
        <p:nvSpPr>
          <p:cNvPr id="7" name="Text 5"/>
          <p:cNvSpPr/>
          <p:nvPr/>
        </p:nvSpPr>
        <p:spPr>
          <a:xfrm>
            <a:off x="320040" y="1170432"/>
            <a:ext cx="4160520" cy="384048"/>
          </a:xfrm>
          <a:prstGeom prst="rect">
            <a:avLst/>
          </a:prstGeom>
          <a:noFill/>
          <a:ln/>
        </p:spPr>
        <p:txBody>
          <a:bodyPr wrap="square" lIns="0" tIns="0" rIns="0" bIns="0" rtlCol="0" anchor="ctr"/>
          <a:lstStyle/>
          <a:p>
            <a:pPr algn="ctr" indent="0" marL="0">
              <a:buNone/>
            </a:pPr>
            <a:r>
              <a:rPr lang="en-US" sz="1100" b="1" spc="200" kern="0" dirty="0">
                <a:solidFill>
                  <a:srgbClr val="FFFFFF"/>
                </a:solidFill>
              </a:rPr>
              <a:t>ADR ANATOMY</a:t>
            </a:r>
            <a:endParaRPr lang="en-US" sz="1100" dirty="0"/>
          </a:p>
        </p:txBody>
      </p:sp>
      <p:sp>
        <p:nvSpPr>
          <p:cNvPr id="8" name="Shape 6"/>
          <p:cNvSpPr/>
          <p:nvPr/>
        </p:nvSpPr>
        <p:spPr>
          <a:xfrm>
            <a:off x="429768" y="1664208"/>
            <a:ext cx="3931920" cy="402336"/>
          </a:xfrm>
          <a:prstGeom prst="rect">
            <a:avLst/>
          </a:prstGeom>
          <a:solidFill>
            <a:srgbClr val="FFFFFF"/>
          </a:solidFill>
          <a:ln/>
        </p:spPr>
      </p:sp>
      <p:sp>
        <p:nvSpPr>
          <p:cNvPr id="9" name="Text 7"/>
          <p:cNvSpPr/>
          <p:nvPr/>
        </p:nvSpPr>
        <p:spPr>
          <a:xfrm>
            <a:off x="502920" y="1664208"/>
            <a:ext cx="1417320" cy="402336"/>
          </a:xfrm>
          <a:prstGeom prst="rect">
            <a:avLst/>
          </a:prstGeom>
          <a:noFill/>
          <a:ln/>
        </p:spPr>
        <p:txBody>
          <a:bodyPr wrap="square" lIns="0" tIns="0" rIns="0" bIns="0" rtlCol="0" anchor="ctr"/>
          <a:lstStyle/>
          <a:p>
            <a:pPr indent="0" marL="0">
              <a:buNone/>
            </a:pPr>
            <a:r>
              <a:rPr lang="en-US" sz="1150" b="1" dirty="0">
                <a:solidFill>
                  <a:srgbClr val="3A7DC9"/>
                </a:solidFill>
              </a:rPr>
              <a:t>Title</a:t>
            </a:r>
            <a:endParaRPr lang="en-US" sz="1150" dirty="0"/>
          </a:p>
        </p:txBody>
      </p:sp>
      <p:sp>
        <p:nvSpPr>
          <p:cNvPr id="10" name="Text 8"/>
          <p:cNvSpPr/>
          <p:nvPr/>
        </p:nvSpPr>
        <p:spPr>
          <a:xfrm>
            <a:off x="1938528" y="1664208"/>
            <a:ext cx="2331720" cy="402336"/>
          </a:xfrm>
          <a:prstGeom prst="rect">
            <a:avLst/>
          </a:prstGeom>
          <a:noFill/>
          <a:ln/>
        </p:spPr>
        <p:txBody>
          <a:bodyPr wrap="square" lIns="0" tIns="0" rIns="0" bIns="0" rtlCol="0" anchor="ctr"/>
          <a:lstStyle/>
          <a:p>
            <a:pPr indent="0" marL="0">
              <a:buNone/>
            </a:pPr>
            <a:r>
              <a:rPr lang="en-US" sz="1050" dirty="0">
                <a:solidFill>
                  <a:srgbClr val="7A90A8"/>
                </a:solidFill>
              </a:rPr>
              <a:t>ADR-0042: Use PostgreSQL for board state</a:t>
            </a:r>
            <a:endParaRPr lang="en-US" sz="1050" dirty="0"/>
          </a:p>
        </p:txBody>
      </p:sp>
      <p:sp>
        <p:nvSpPr>
          <p:cNvPr id="11" name="Shape 9"/>
          <p:cNvSpPr/>
          <p:nvPr/>
        </p:nvSpPr>
        <p:spPr>
          <a:xfrm>
            <a:off x="429768" y="2121408"/>
            <a:ext cx="3931920" cy="402336"/>
          </a:xfrm>
          <a:prstGeom prst="rect">
            <a:avLst/>
          </a:prstGeom>
          <a:solidFill>
            <a:srgbClr val="F3F6F9"/>
          </a:solidFill>
          <a:ln/>
        </p:spPr>
      </p:sp>
      <p:sp>
        <p:nvSpPr>
          <p:cNvPr id="12" name="Text 10"/>
          <p:cNvSpPr/>
          <p:nvPr/>
        </p:nvSpPr>
        <p:spPr>
          <a:xfrm>
            <a:off x="502920" y="2121408"/>
            <a:ext cx="1417320" cy="402336"/>
          </a:xfrm>
          <a:prstGeom prst="rect">
            <a:avLst/>
          </a:prstGeom>
          <a:noFill/>
          <a:ln/>
        </p:spPr>
        <p:txBody>
          <a:bodyPr wrap="square" lIns="0" tIns="0" rIns="0" bIns="0" rtlCol="0" anchor="ctr"/>
          <a:lstStyle/>
          <a:p>
            <a:pPr indent="0" marL="0">
              <a:buNone/>
            </a:pPr>
            <a:r>
              <a:rPr lang="en-US" sz="1150" b="1" dirty="0">
                <a:solidFill>
                  <a:srgbClr val="3A7DC9"/>
                </a:solidFill>
              </a:rPr>
              <a:t>Status</a:t>
            </a:r>
            <a:endParaRPr lang="en-US" sz="1150" dirty="0"/>
          </a:p>
        </p:txBody>
      </p:sp>
      <p:sp>
        <p:nvSpPr>
          <p:cNvPr id="13" name="Text 11"/>
          <p:cNvSpPr/>
          <p:nvPr/>
        </p:nvSpPr>
        <p:spPr>
          <a:xfrm>
            <a:off x="1938528" y="2121408"/>
            <a:ext cx="2331720" cy="402336"/>
          </a:xfrm>
          <a:prstGeom prst="rect">
            <a:avLst/>
          </a:prstGeom>
          <a:noFill/>
          <a:ln/>
        </p:spPr>
        <p:txBody>
          <a:bodyPr wrap="square" lIns="0" tIns="0" rIns="0" bIns="0" rtlCol="0" anchor="ctr"/>
          <a:lstStyle/>
          <a:p>
            <a:pPr indent="0" marL="0">
              <a:buNone/>
            </a:pPr>
            <a:r>
              <a:rPr lang="en-US" sz="1050" dirty="0">
                <a:solidFill>
                  <a:srgbClr val="7A90A8"/>
                </a:solidFill>
              </a:rPr>
              <a:t>Accepted / Proposed / Deprecated</a:t>
            </a:r>
            <a:endParaRPr lang="en-US" sz="1050" dirty="0"/>
          </a:p>
        </p:txBody>
      </p:sp>
      <p:sp>
        <p:nvSpPr>
          <p:cNvPr id="14" name="Shape 12"/>
          <p:cNvSpPr/>
          <p:nvPr/>
        </p:nvSpPr>
        <p:spPr>
          <a:xfrm>
            <a:off x="429768" y="2578608"/>
            <a:ext cx="3931920" cy="402336"/>
          </a:xfrm>
          <a:prstGeom prst="rect">
            <a:avLst/>
          </a:prstGeom>
          <a:solidFill>
            <a:srgbClr val="FFFFFF"/>
          </a:solidFill>
          <a:ln/>
        </p:spPr>
      </p:sp>
      <p:sp>
        <p:nvSpPr>
          <p:cNvPr id="15" name="Text 13"/>
          <p:cNvSpPr/>
          <p:nvPr/>
        </p:nvSpPr>
        <p:spPr>
          <a:xfrm>
            <a:off x="502920" y="2578608"/>
            <a:ext cx="1417320" cy="402336"/>
          </a:xfrm>
          <a:prstGeom prst="rect">
            <a:avLst/>
          </a:prstGeom>
          <a:noFill/>
          <a:ln/>
        </p:spPr>
        <p:txBody>
          <a:bodyPr wrap="square" lIns="0" tIns="0" rIns="0" bIns="0" rtlCol="0" anchor="ctr"/>
          <a:lstStyle/>
          <a:p>
            <a:pPr indent="0" marL="0">
              <a:buNone/>
            </a:pPr>
            <a:r>
              <a:rPr lang="en-US" sz="1150" b="1" dirty="0">
                <a:solidFill>
                  <a:srgbClr val="3A7DC9"/>
                </a:solidFill>
              </a:rPr>
              <a:t>Context</a:t>
            </a:r>
            <a:endParaRPr lang="en-US" sz="1150" dirty="0"/>
          </a:p>
        </p:txBody>
      </p:sp>
      <p:sp>
        <p:nvSpPr>
          <p:cNvPr id="16" name="Text 14"/>
          <p:cNvSpPr/>
          <p:nvPr/>
        </p:nvSpPr>
        <p:spPr>
          <a:xfrm>
            <a:off x="1938528" y="2578608"/>
            <a:ext cx="2331720" cy="402336"/>
          </a:xfrm>
          <a:prstGeom prst="rect">
            <a:avLst/>
          </a:prstGeom>
          <a:noFill/>
          <a:ln/>
        </p:spPr>
        <p:txBody>
          <a:bodyPr wrap="square" lIns="0" tIns="0" rIns="0" bIns="0" rtlCol="0" anchor="ctr"/>
          <a:lstStyle/>
          <a:p>
            <a:pPr indent="0" marL="0">
              <a:buNone/>
            </a:pPr>
            <a:r>
              <a:rPr lang="en-US" sz="1050" dirty="0">
                <a:solidFill>
                  <a:srgbClr val="7A90A8"/>
                </a:solidFill>
              </a:rPr>
              <a:t>Why did we face this decision? What were the constraints?</a:t>
            </a:r>
            <a:endParaRPr lang="en-US" sz="1050" dirty="0"/>
          </a:p>
        </p:txBody>
      </p:sp>
      <p:sp>
        <p:nvSpPr>
          <p:cNvPr id="17" name="Shape 15"/>
          <p:cNvSpPr/>
          <p:nvPr/>
        </p:nvSpPr>
        <p:spPr>
          <a:xfrm>
            <a:off x="429768" y="3035808"/>
            <a:ext cx="3931920" cy="402336"/>
          </a:xfrm>
          <a:prstGeom prst="rect">
            <a:avLst/>
          </a:prstGeom>
          <a:solidFill>
            <a:srgbClr val="F3F6F9"/>
          </a:solidFill>
          <a:ln/>
        </p:spPr>
      </p:sp>
      <p:sp>
        <p:nvSpPr>
          <p:cNvPr id="18" name="Text 16"/>
          <p:cNvSpPr/>
          <p:nvPr/>
        </p:nvSpPr>
        <p:spPr>
          <a:xfrm>
            <a:off x="502920" y="3035808"/>
            <a:ext cx="1417320" cy="402336"/>
          </a:xfrm>
          <a:prstGeom prst="rect">
            <a:avLst/>
          </a:prstGeom>
          <a:noFill/>
          <a:ln/>
        </p:spPr>
        <p:txBody>
          <a:bodyPr wrap="square" lIns="0" tIns="0" rIns="0" bIns="0" rtlCol="0" anchor="ctr"/>
          <a:lstStyle/>
          <a:p>
            <a:pPr indent="0" marL="0">
              <a:buNone/>
            </a:pPr>
            <a:r>
              <a:rPr lang="en-US" sz="1150" b="1" dirty="0">
                <a:solidFill>
                  <a:srgbClr val="3A7DC9"/>
                </a:solidFill>
              </a:rPr>
              <a:t>Decision</a:t>
            </a:r>
            <a:endParaRPr lang="en-US" sz="1150" dirty="0"/>
          </a:p>
        </p:txBody>
      </p:sp>
      <p:sp>
        <p:nvSpPr>
          <p:cNvPr id="19" name="Text 17"/>
          <p:cNvSpPr/>
          <p:nvPr/>
        </p:nvSpPr>
        <p:spPr>
          <a:xfrm>
            <a:off x="1938528" y="3035808"/>
            <a:ext cx="2331720" cy="402336"/>
          </a:xfrm>
          <a:prstGeom prst="rect">
            <a:avLst/>
          </a:prstGeom>
          <a:noFill/>
          <a:ln/>
        </p:spPr>
        <p:txBody>
          <a:bodyPr wrap="square" lIns="0" tIns="0" rIns="0" bIns="0" rtlCol="0" anchor="ctr"/>
          <a:lstStyle/>
          <a:p>
            <a:pPr indent="0" marL="0">
              <a:buNone/>
            </a:pPr>
            <a:r>
              <a:rPr lang="en-US" sz="1050" dirty="0">
                <a:solidFill>
                  <a:srgbClr val="7A90A8"/>
                </a:solidFill>
              </a:rPr>
              <a:t>What exactly did we decide to do?</a:t>
            </a:r>
            <a:endParaRPr lang="en-US" sz="1050" dirty="0"/>
          </a:p>
        </p:txBody>
      </p:sp>
      <p:sp>
        <p:nvSpPr>
          <p:cNvPr id="20" name="Shape 18"/>
          <p:cNvSpPr/>
          <p:nvPr/>
        </p:nvSpPr>
        <p:spPr>
          <a:xfrm>
            <a:off x="429768" y="3493008"/>
            <a:ext cx="3931920" cy="402336"/>
          </a:xfrm>
          <a:prstGeom prst="rect">
            <a:avLst/>
          </a:prstGeom>
          <a:solidFill>
            <a:srgbClr val="FFFFFF"/>
          </a:solidFill>
          <a:ln/>
        </p:spPr>
      </p:sp>
      <p:sp>
        <p:nvSpPr>
          <p:cNvPr id="21" name="Text 19"/>
          <p:cNvSpPr/>
          <p:nvPr/>
        </p:nvSpPr>
        <p:spPr>
          <a:xfrm>
            <a:off x="502920" y="3493008"/>
            <a:ext cx="1417320" cy="402336"/>
          </a:xfrm>
          <a:prstGeom prst="rect">
            <a:avLst/>
          </a:prstGeom>
          <a:noFill/>
          <a:ln/>
        </p:spPr>
        <p:txBody>
          <a:bodyPr wrap="square" lIns="0" tIns="0" rIns="0" bIns="0" rtlCol="0" anchor="ctr"/>
          <a:lstStyle/>
          <a:p>
            <a:pPr indent="0" marL="0">
              <a:buNone/>
            </a:pPr>
            <a:r>
              <a:rPr lang="en-US" sz="1150" b="1" dirty="0">
                <a:solidFill>
                  <a:srgbClr val="3A7DC9"/>
                </a:solidFill>
              </a:rPr>
              <a:t>Consequences</a:t>
            </a:r>
            <a:endParaRPr lang="en-US" sz="1150" dirty="0"/>
          </a:p>
        </p:txBody>
      </p:sp>
      <p:sp>
        <p:nvSpPr>
          <p:cNvPr id="22" name="Text 20"/>
          <p:cNvSpPr/>
          <p:nvPr/>
        </p:nvSpPr>
        <p:spPr>
          <a:xfrm>
            <a:off x="1938528" y="3493008"/>
            <a:ext cx="2331720" cy="402336"/>
          </a:xfrm>
          <a:prstGeom prst="rect">
            <a:avLst/>
          </a:prstGeom>
          <a:noFill/>
          <a:ln/>
        </p:spPr>
        <p:txBody>
          <a:bodyPr wrap="square" lIns="0" tIns="0" rIns="0" bIns="0" rtlCol="0" anchor="ctr"/>
          <a:lstStyle/>
          <a:p>
            <a:pPr indent="0" marL="0">
              <a:buNone/>
            </a:pPr>
            <a:r>
              <a:rPr lang="en-US" sz="1050" dirty="0">
                <a:solidFill>
                  <a:srgbClr val="7A90A8"/>
                </a:solidFill>
              </a:rPr>
              <a:t>What are the trade-offs? What does this enable/prevent?</a:t>
            </a:r>
            <a:endParaRPr lang="en-US" sz="1050" dirty="0"/>
          </a:p>
        </p:txBody>
      </p:sp>
      <p:sp>
        <p:nvSpPr>
          <p:cNvPr id="23" name="Shape 21"/>
          <p:cNvSpPr/>
          <p:nvPr/>
        </p:nvSpPr>
        <p:spPr>
          <a:xfrm>
            <a:off x="429768" y="3950208"/>
            <a:ext cx="3931920" cy="402336"/>
          </a:xfrm>
          <a:prstGeom prst="rect">
            <a:avLst/>
          </a:prstGeom>
          <a:solidFill>
            <a:srgbClr val="F3F6F9"/>
          </a:solidFill>
          <a:ln/>
        </p:spPr>
      </p:sp>
      <p:sp>
        <p:nvSpPr>
          <p:cNvPr id="24" name="Text 22"/>
          <p:cNvSpPr/>
          <p:nvPr/>
        </p:nvSpPr>
        <p:spPr>
          <a:xfrm>
            <a:off x="502920" y="3950208"/>
            <a:ext cx="1417320" cy="402336"/>
          </a:xfrm>
          <a:prstGeom prst="rect">
            <a:avLst/>
          </a:prstGeom>
          <a:noFill/>
          <a:ln/>
        </p:spPr>
        <p:txBody>
          <a:bodyPr wrap="square" lIns="0" tIns="0" rIns="0" bIns="0" rtlCol="0" anchor="ctr"/>
          <a:lstStyle/>
          <a:p>
            <a:pPr indent="0" marL="0">
              <a:buNone/>
            </a:pPr>
            <a:r>
              <a:rPr lang="en-US" sz="1150" b="1" dirty="0">
                <a:solidFill>
                  <a:srgbClr val="3A7DC9"/>
                </a:solidFill>
              </a:rPr>
              <a:t>Alternatives Considered</a:t>
            </a:r>
            <a:endParaRPr lang="en-US" sz="1150" dirty="0"/>
          </a:p>
        </p:txBody>
      </p:sp>
      <p:sp>
        <p:nvSpPr>
          <p:cNvPr id="25" name="Text 23"/>
          <p:cNvSpPr/>
          <p:nvPr/>
        </p:nvSpPr>
        <p:spPr>
          <a:xfrm>
            <a:off x="1938528" y="3950208"/>
            <a:ext cx="2331720" cy="402336"/>
          </a:xfrm>
          <a:prstGeom prst="rect">
            <a:avLst/>
          </a:prstGeom>
          <a:noFill/>
          <a:ln/>
        </p:spPr>
        <p:txBody>
          <a:bodyPr wrap="square" lIns="0" tIns="0" rIns="0" bIns="0" rtlCol="0" anchor="ctr"/>
          <a:lstStyle/>
          <a:p>
            <a:pPr indent="0" marL="0">
              <a:buNone/>
            </a:pPr>
            <a:r>
              <a:rPr lang="en-US" sz="1050" dirty="0">
                <a:solidFill>
                  <a:srgbClr val="7A90A8"/>
                </a:solidFill>
              </a:rPr>
              <a:t>What did we reject and why?</a:t>
            </a:r>
            <a:endParaRPr lang="en-US" sz="1050" dirty="0"/>
          </a:p>
        </p:txBody>
      </p:sp>
      <p:sp>
        <p:nvSpPr>
          <p:cNvPr id="26" name="Shape 24"/>
          <p:cNvSpPr/>
          <p:nvPr/>
        </p:nvSpPr>
        <p:spPr>
          <a:xfrm>
            <a:off x="429768" y="4462272"/>
            <a:ext cx="3931920" cy="365760"/>
          </a:xfrm>
          <a:prstGeom prst="rect">
            <a:avLst/>
          </a:prstGeom>
          <a:solidFill>
            <a:srgbClr val="D4E4F0"/>
          </a:solidFill>
          <a:ln/>
        </p:spPr>
      </p:sp>
      <p:sp>
        <p:nvSpPr>
          <p:cNvPr id="27" name="Text 25"/>
          <p:cNvSpPr/>
          <p:nvPr/>
        </p:nvSpPr>
        <p:spPr>
          <a:xfrm>
            <a:off x="502920" y="4462272"/>
            <a:ext cx="3785616" cy="365760"/>
          </a:xfrm>
          <a:prstGeom prst="rect">
            <a:avLst/>
          </a:prstGeom>
          <a:noFill/>
          <a:ln/>
        </p:spPr>
        <p:txBody>
          <a:bodyPr wrap="square" lIns="0" tIns="0" rIns="0" bIns="0" rtlCol="0" anchor="ctr"/>
          <a:lstStyle/>
          <a:p>
            <a:pPr indent="0" marL="0">
              <a:buNone/>
            </a:pPr>
            <a:r>
              <a:rPr lang="en-US" sz="1000" dirty="0">
                <a:solidFill>
                  <a:srgbClr val="1C3557"/>
                </a:solidFill>
              </a:rPr>
              <a:t>Store in: adr/ folder in repo root · Reference in CLAUDE.md for JIT loading</a:t>
            </a:r>
            <a:endParaRPr lang="en-US" sz="1000" dirty="0"/>
          </a:p>
        </p:txBody>
      </p:sp>
      <p:sp>
        <p:nvSpPr>
          <p:cNvPr id="28" name="Shape 26"/>
          <p:cNvSpPr/>
          <p:nvPr/>
        </p:nvSpPr>
        <p:spPr>
          <a:xfrm>
            <a:off x="4663440" y="1170432"/>
            <a:ext cx="4160520" cy="374904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29" name="Shape 27"/>
          <p:cNvSpPr/>
          <p:nvPr/>
        </p:nvSpPr>
        <p:spPr>
          <a:xfrm>
            <a:off x="4663440" y="1170432"/>
            <a:ext cx="4160520" cy="384048"/>
          </a:xfrm>
          <a:prstGeom prst="rect">
            <a:avLst/>
          </a:prstGeom>
          <a:solidFill>
            <a:srgbClr val="1C3557"/>
          </a:solidFill>
          <a:ln/>
        </p:spPr>
      </p:sp>
      <p:sp>
        <p:nvSpPr>
          <p:cNvPr id="30" name="Text 28"/>
          <p:cNvSpPr/>
          <p:nvPr/>
        </p:nvSpPr>
        <p:spPr>
          <a:xfrm>
            <a:off x="4663440" y="1170432"/>
            <a:ext cx="4160520" cy="384048"/>
          </a:xfrm>
          <a:prstGeom prst="rect">
            <a:avLst/>
          </a:prstGeom>
          <a:noFill/>
          <a:ln/>
        </p:spPr>
        <p:txBody>
          <a:bodyPr wrap="square" lIns="0" tIns="0" rIns="0" bIns="0" rtlCol="0" anchor="ctr"/>
          <a:lstStyle/>
          <a:p>
            <a:pPr algn="ctr" indent="0" marL="0">
              <a:buNone/>
            </a:pPr>
            <a:r>
              <a:rPr lang="en-US" sz="1100" b="1" spc="200" kern="0" dirty="0">
                <a:solidFill>
                  <a:srgbClr val="FFFFFF"/>
                </a:solidFill>
              </a:rPr>
              <a:t>AGENT-ASSISTED ADR WORKFLOW</a:t>
            </a:r>
            <a:endParaRPr lang="en-US" sz="1100" dirty="0"/>
          </a:p>
        </p:txBody>
      </p:sp>
      <p:sp>
        <p:nvSpPr>
          <p:cNvPr id="31" name="Shape 29"/>
          <p:cNvSpPr/>
          <p:nvPr/>
        </p:nvSpPr>
        <p:spPr>
          <a:xfrm>
            <a:off x="4773168" y="1664208"/>
            <a:ext cx="329184" cy="548640"/>
          </a:xfrm>
          <a:prstGeom prst="rect">
            <a:avLst/>
          </a:prstGeom>
          <a:solidFill>
            <a:srgbClr val="3A7DC9"/>
          </a:solidFill>
          <a:ln/>
        </p:spPr>
      </p:sp>
      <p:sp>
        <p:nvSpPr>
          <p:cNvPr id="32" name="Text 30"/>
          <p:cNvSpPr/>
          <p:nvPr/>
        </p:nvSpPr>
        <p:spPr>
          <a:xfrm>
            <a:off x="4773168" y="1664208"/>
            <a:ext cx="329184" cy="54864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33" name="Text 31"/>
          <p:cNvSpPr/>
          <p:nvPr/>
        </p:nvSpPr>
        <p:spPr>
          <a:xfrm>
            <a:off x="5175504" y="1700784"/>
            <a:ext cx="3538728" cy="256032"/>
          </a:xfrm>
          <a:prstGeom prst="rect">
            <a:avLst/>
          </a:prstGeom>
          <a:noFill/>
          <a:ln/>
        </p:spPr>
        <p:txBody>
          <a:bodyPr wrap="square" lIns="0" tIns="0" rIns="0" bIns="0" rtlCol="0" anchor="ctr"/>
          <a:lstStyle/>
          <a:p>
            <a:pPr indent="0" marL="0">
              <a:buNone/>
            </a:pPr>
            <a:r>
              <a:rPr lang="en-US" sz="1200" b="1" dirty="0">
                <a:solidFill>
                  <a:srgbClr val="1C3557"/>
                </a:solidFill>
              </a:rPr>
              <a:t>Architectural discussion happens</a:t>
            </a:r>
            <a:endParaRPr lang="en-US" sz="1200" dirty="0"/>
          </a:p>
        </p:txBody>
      </p:sp>
      <p:sp>
        <p:nvSpPr>
          <p:cNvPr id="34" name="Text 32"/>
          <p:cNvSpPr/>
          <p:nvPr/>
        </p:nvSpPr>
        <p:spPr>
          <a:xfrm>
            <a:off x="5175504" y="1956816"/>
            <a:ext cx="3538728" cy="237744"/>
          </a:xfrm>
          <a:prstGeom prst="rect">
            <a:avLst/>
          </a:prstGeom>
          <a:noFill/>
          <a:ln/>
        </p:spPr>
        <p:txBody>
          <a:bodyPr wrap="square" lIns="0" tIns="0" rIns="0" bIns="0" rtlCol="0" anchor="ctr"/>
          <a:lstStyle/>
          <a:p>
            <a:pPr indent="0" marL="0">
              <a:buNone/>
            </a:pPr>
            <a:r>
              <a:rPr lang="en-US" sz="1050" dirty="0">
                <a:solidFill>
                  <a:srgbClr val="7A90A8"/>
                </a:solidFill>
              </a:rPr>
              <a:t>Engineers debate an approach in Slack, GitHub comments, or a design doc.</a:t>
            </a:r>
            <a:endParaRPr lang="en-US" sz="1050" dirty="0"/>
          </a:p>
        </p:txBody>
      </p:sp>
      <p:sp>
        <p:nvSpPr>
          <p:cNvPr id="35" name="Shape 33"/>
          <p:cNvSpPr/>
          <p:nvPr/>
        </p:nvSpPr>
        <p:spPr>
          <a:xfrm>
            <a:off x="4773168" y="2304288"/>
            <a:ext cx="329184" cy="548640"/>
          </a:xfrm>
          <a:prstGeom prst="rect">
            <a:avLst/>
          </a:prstGeom>
          <a:solidFill>
            <a:srgbClr val="3A7DC9"/>
          </a:solidFill>
          <a:ln/>
        </p:spPr>
      </p:sp>
      <p:sp>
        <p:nvSpPr>
          <p:cNvPr id="36" name="Text 34"/>
          <p:cNvSpPr/>
          <p:nvPr/>
        </p:nvSpPr>
        <p:spPr>
          <a:xfrm>
            <a:off x="4773168" y="2304288"/>
            <a:ext cx="329184" cy="54864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37" name="Text 35"/>
          <p:cNvSpPr/>
          <p:nvPr/>
        </p:nvSpPr>
        <p:spPr>
          <a:xfrm>
            <a:off x="5175504" y="2340864"/>
            <a:ext cx="3538728" cy="256032"/>
          </a:xfrm>
          <a:prstGeom prst="rect">
            <a:avLst/>
          </a:prstGeom>
          <a:noFill/>
          <a:ln/>
        </p:spPr>
        <p:txBody>
          <a:bodyPr wrap="square" lIns="0" tIns="0" rIns="0" bIns="0" rtlCol="0" anchor="ctr"/>
          <a:lstStyle/>
          <a:p>
            <a:pPr indent="0" marL="0">
              <a:buNone/>
            </a:pPr>
            <a:r>
              <a:rPr lang="en-US" sz="1200" b="1" dirty="0">
                <a:solidFill>
                  <a:srgbClr val="1C3557"/>
                </a:solidFill>
              </a:rPr>
              <a:t>Agent reads the thread</a:t>
            </a:r>
            <a:endParaRPr lang="en-US" sz="1200" dirty="0"/>
          </a:p>
        </p:txBody>
      </p:sp>
      <p:sp>
        <p:nvSpPr>
          <p:cNvPr id="38" name="Text 36"/>
          <p:cNvSpPr/>
          <p:nvPr/>
        </p:nvSpPr>
        <p:spPr>
          <a:xfrm>
            <a:off x="5175504" y="2596896"/>
            <a:ext cx="3538728" cy="237744"/>
          </a:xfrm>
          <a:prstGeom prst="rect">
            <a:avLst/>
          </a:prstGeom>
          <a:noFill/>
          <a:ln/>
        </p:spPr>
        <p:txBody>
          <a:bodyPr wrap="square" lIns="0" tIns="0" rIns="0" bIns="0" rtlCol="0" anchor="ctr"/>
          <a:lstStyle/>
          <a:p>
            <a:pPr indent="0" marL="0">
              <a:buNone/>
            </a:pPr>
            <a:r>
              <a:rPr lang="en-US" sz="1050" dirty="0">
                <a:solidFill>
                  <a:srgbClr val="7A90A8"/>
                </a:solidFill>
              </a:rPr>
              <a:t>Ask the agent: “Read this Slack thread and produce a draft ADR in our standard format.”</a:t>
            </a:r>
            <a:endParaRPr lang="en-US" sz="1050" dirty="0"/>
          </a:p>
        </p:txBody>
      </p:sp>
      <p:sp>
        <p:nvSpPr>
          <p:cNvPr id="39" name="Shape 37"/>
          <p:cNvSpPr/>
          <p:nvPr/>
        </p:nvSpPr>
        <p:spPr>
          <a:xfrm>
            <a:off x="4773168" y="2944368"/>
            <a:ext cx="329184" cy="548640"/>
          </a:xfrm>
          <a:prstGeom prst="rect">
            <a:avLst/>
          </a:prstGeom>
          <a:solidFill>
            <a:srgbClr val="3A7DC9"/>
          </a:solidFill>
          <a:ln/>
        </p:spPr>
      </p:sp>
      <p:sp>
        <p:nvSpPr>
          <p:cNvPr id="40" name="Text 38"/>
          <p:cNvSpPr/>
          <p:nvPr/>
        </p:nvSpPr>
        <p:spPr>
          <a:xfrm>
            <a:off x="4773168" y="2944368"/>
            <a:ext cx="329184" cy="54864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41" name="Text 39"/>
          <p:cNvSpPr/>
          <p:nvPr/>
        </p:nvSpPr>
        <p:spPr>
          <a:xfrm>
            <a:off x="5175504" y="2980944"/>
            <a:ext cx="3538728" cy="256032"/>
          </a:xfrm>
          <a:prstGeom prst="rect">
            <a:avLst/>
          </a:prstGeom>
          <a:noFill/>
          <a:ln/>
        </p:spPr>
        <p:txBody>
          <a:bodyPr wrap="square" lIns="0" tIns="0" rIns="0" bIns="0" rtlCol="0" anchor="ctr"/>
          <a:lstStyle/>
          <a:p>
            <a:pPr indent="0" marL="0">
              <a:buNone/>
            </a:pPr>
            <a:r>
              <a:rPr lang="en-US" sz="1200" b="1" dirty="0">
                <a:solidFill>
                  <a:srgbClr val="1C3557"/>
                </a:solidFill>
              </a:rPr>
              <a:t>Human reviews and edits</a:t>
            </a:r>
            <a:endParaRPr lang="en-US" sz="1200" dirty="0"/>
          </a:p>
        </p:txBody>
      </p:sp>
      <p:sp>
        <p:nvSpPr>
          <p:cNvPr id="42" name="Text 40"/>
          <p:cNvSpPr/>
          <p:nvPr/>
        </p:nvSpPr>
        <p:spPr>
          <a:xfrm>
            <a:off x="5175504" y="3236976"/>
            <a:ext cx="3538728" cy="237744"/>
          </a:xfrm>
          <a:prstGeom prst="rect">
            <a:avLst/>
          </a:prstGeom>
          <a:noFill/>
          <a:ln/>
        </p:spPr>
        <p:txBody>
          <a:bodyPr wrap="square" lIns="0" tIns="0" rIns="0" bIns="0" rtlCol="0" anchor="ctr"/>
          <a:lstStyle/>
          <a:p>
            <a:pPr indent="0" marL="0">
              <a:buNone/>
            </a:pPr>
            <a:r>
              <a:rPr lang="en-US" sz="1050" dirty="0">
                <a:solidFill>
                  <a:srgbClr val="7A90A8"/>
                </a:solidFill>
              </a:rPr>
              <a:t>Engineer fills in missing context, verifies accuracy, and updates the status.</a:t>
            </a:r>
            <a:endParaRPr lang="en-US" sz="1050" dirty="0"/>
          </a:p>
        </p:txBody>
      </p:sp>
      <p:sp>
        <p:nvSpPr>
          <p:cNvPr id="43" name="Shape 41"/>
          <p:cNvSpPr/>
          <p:nvPr/>
        </p:nvSpPr>
        <p:spPr>
          <a:xfrm>
            <a:off x="4773168" y="3584448"/>
            <a:ext cx="329184" cy="548640"/>
          </a:xfrm>
          <a:prstGeom prst="rect">
            <a:avLst/>
          </a:prstGeom>
          <a:solidFill>
            <a:srgbClr val="3A7DC9"/>
          </a:solidFill>
          <a:ln/>
        </p:spPr>
      </p:sp>
      <p:sp>
        <p:nvSpPr>
          <p:cNvPr id="44" name="Text 42"/>
          <p:cNvSpPr/>
          <p:nvPr/>
        </p:nvSpPr>
        <p:spPr>
          <a:xfrm>
            <a:off x="4773168" y="3584448"/>
            <a:ext cx="329184" cy="54864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45" name="Text 43"/>
          <p:cNvSpPr/>
          <p:nvPr/>
        </p:nvSpPr>
        <p:spPr>
          <a:xfrm>
            <a:off x="5175504" y="3621024"/>
            <a:ext cx="3538728" cy="256032"/>
          </a:xfrm>
          <a:prstGeom prst="rect">
            <a:avLst/>
          </a:prstGeom>
          <a:noFill/>
          <a:ln/>
        </p:spPr>
        <p:txBody>
          <a:bodyPr wrap="square" lIns="0" tIns="0" rIns="0" bIns="0" rtlCol="0" anchor="ctr"/>
          <a:lstStyle/>
          <a:p>
            <a:pPr indent="0" marL="0">
              <a:buNone/>
            </a:pPr>
            <a:r>
              <a:rPr lang="en-US" sz="1200" b="1" dirty="0">
                <a:solidFill>
                  <a:srgbClr val="1C3557"/>
                </a:solidFill>
              </a:rPr>
              <a:t>ADR committed to repo</a:t>
            </a:r>
            <a:endParaRPr lang="en-US" sz="1200" dirty="0"/>
          </a:p>
        </p:txBody>
      </p:sp>
      <p:sp>
        <p:nvSpPr>
          <p:cNvPr id="46" name="Text 44"/>
          <p:cNvSpPr/>
          <p:nvPr/>
        </p:nvSpPr>
        <p:spPr>
          <a:xfrm>
            <a:off x="5175504" y="3877056"/>
            <a:ext cx="3538728" cy="237744"/>
          </a:xfrm>
          <a:prstGeom prst="rect">
            <a:avLst/>
          </a:prstGeom>
          <a:noFill/>
          <a:ln/>
        </p:spPr>
        <p:txBody>
          <a:bodyPr wrap="square" lIns="0" tIns="0" rIns="0" bIns="0" rtlCol="0" anchor="ctr"/>
          <a:lstStyle/>
          <a:p>
            <a:pPr indent="0" marL="0">
              <a:buNone/>
            </a:pPr>
            <a:r>
              <a:rPr lang="en-US" sz="1050" dirty="0">
                <a:solidFill>
                  <a:srgbClr val="7A90A8"/>
                </a:solidFill>
              </a:rPr>
              <a:t>The decision is now in version control alongside the code it governs.</a:t>
            </a:r>
            <a:endParaRPr lang="en-US" sz="1050" dirty="0"/>
          </a:p>
        </p:txBody>
      </p:sp>
      <p:sp>
        <p:nvSpPr>
          <p:cNvPr id="47" name="Shape 45"/>
          <p:cNvSpPr/>
          <p:nvPr/>
        </p:nvSpPr>
        <p:spPr>
          <a:xfrm>
            <a:off x="4773168" y="4224528"/>
            <a:ext cx="329184" cy="548640"/>
          </a:xfrm>
          <a:prstGeom prst="rect">
            <a:avLst/>
          </a:prstGeom>
          <a:solidFill>
            <a:srgbClr val="3A7DC9"/>
          </a:solidFill>
          <a:ln/>
        </p:spPr>
      </p:sp>
      <p:sp>
        <p:nvSpPr>
          <p:cNvPr id="48" name="Text 46"/>
          <p:cNvSpPr/>
          <p:nvPr/>
        </p:nvSpPr>
        <p:spPr>
          <a:xfrm>
            <a:off x="4773168" y="4224528"/>
            <a:ext cx="329184" cy="548640"/>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49" name="Text 47"/>
          <p:cNvSpPr/>
          <p:nvPr/>
        </p:nvSpPr>
        <p:spPr>
          <a:xfrm>
            <a:off x="5175504" y="4261104"/>
            <a:ext cx="3538728" cy="256032"/>
          </a:xfrm>
          <a:prstGeom prst="rect">
            <a:avLst/>
          </a:prstGeom>
          <a:noFill/>
          <a:ln/>
        </p:spPr>
        <p:txBody>
          <a:bodyPr wrap="square" lIns="0" tIns="0" rIns="0" bIns="0" rtlCol="0" anchor="ctr"/>
          <a:lstStyle/>
          <a:p>
            <a:pPr indent="0" marL="0">
              <a:buNone/>
            </a:pPr>
            <a:r>
              <a:rPr lang="en-US" sz="1200" b="1" dirty="0">
                <a:solidFill>
                  <a:srgbClr val="1C3557"/>
                </a:solidFill>
              </a:rPr>
              <a:t>Agent references ADR in future</a:t>
            </a:r>
            <a:endParaRPr lang="en-US" sz="1200" dirty="0"/>
          </a:p>
        </p:txBody>
      </p:sp>
      <p:sp>
        <p:nvSpPr>
          <p:cNvPr id="50" name="Text 48"/>
          <p:cNvSpPr/>
          <p:nvPr/>
        </p:nvSpPr>
        <p:spPr>
          <a:xfrm>
            <a:off x="5175504" y="4517136"/>
            <a:ext cx="3538728" cy="237744"/>
          </a:xfrm>
          <a:prstGeom prst="rect">
            <a:avLst/>
          </a:prstGeom>
          <a:noFill/>
          <a:ln/>
        </p:spPr>
        <p:txBody>
          <a:bodyPr wrap="square" lIns="0" tIns="0" rIns="0" bIns="0" rtlCol="0" anchor="ctr"/>
          <a:lstStyle/>
          <a:p>
            <a:pPr indent="0" marL="0">
              <a:buNone/>
            </a:pPr>
            <a:r>
              <a:rPr lang="en-US" sz="1050" dirty="0">
                <a:solidFill>
                  <a:srgbClr val="7A90A8"/>
                </a:solidFill>
              </a:rPr>
              <a:t>When making related changes, agent loads the relevant ADR as just-in-time context.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C3557"/>
        </a:solidFill>
      </p:bgPr>
    </p:bg>
    <p:spTree>
      <p:nvGrpSpPr>
        <p:cNvPr id="1" name=""/>
        <p:cNvGrpSpPr/>
        <p:nvPr/>
      </p:nvGrpSpPr>
      <p:grpSpPr>
        <a:xfrm>
          <a:off x="0" y="0"/>
          <a:ext cx="0" cy="0"/>
          <a:chOff x="0" y="0"/>
          <a:chExt cx="0" cy="0"/>
        </a:xfrm>
      </p:grpSpPr>
      <p:sp>
        <p:nvSpPr>
          <p:cNvPr id="2" name="Text 0"/>
          <p:cNvSpPr/>
          <p:nvPr/>
        </p:nvSpPr>
        <p:spPr>
          <a:xfrm>
            <a:off x="365760" y="201168"/>
            <a:ext cx="8229600" cy="411480"/>
          </a:xfrm>
          <a:prstGeom prst="rect">
            <a:avLst/>
          </a:prstGeom>
          <a:noFill/>
          <a:ln/>
        </p:spPr>
        <p:txBody>
          <a:bodyPr wrap="square" lIns="0" tIns="0" rIns="0" bIns="0" rtlCol="0" anchor="ctr"/>
          <a:lstStyle/>
          <a:p>
            <a:pPr indent="0" marL="0">
              <a:buNone/>
            </a:pPr>
            <a:r>
              <a:rPr lang="en-US" sz="1300" b="1" spc="300" kern="0" dirty="0">
                <a:solidFill>
                  <a:srgbClr val="5B8DB8"/>
                </a:solidFill>
              </a:rPr>
              <a:t>DEFINITION OF DONE  —  ENFORCED BY THE SYSTEM</a:t>
            </a:r>
            <a:endParaRPr lang="en-US" sz="1300" dirty="0"/>
          </a:p>
        </p:txBody>
      </p:sp>
      <p:sp>
        <p:nvSpPr>
          <p:cNvPr id="3" name="Text 1"/>
          <p:cNvSpPr/>
          <p:nvPr/>
        </p:nvSpPr>
        <p:spPr>
          <a:xfrm>
            <a:off x="365760" y="658368"/>
            <a:ext cx="8229600" cy="329184"/>
          </a:xfrm>
          <a:prstGeom prst="rect">
            <a:avLst/>
          </a:prstGeom>
          <a:noFill/>
          <a:ln/>
        </p:spPr>
        <p:txBody>
          <a:bodyPr wrap="square" lIns="0" tIns="0" rIns="0" bIns="0" rtlCol="0" anchor="ctr"/>
          <a:lstStyle/>
          <a:p>
            <a:pPr indent="0" marL="0">
              <a:buNone/>
            </a:pPr>
            <a:r>
              <a:rPr lang="en-US" sz="1500" i="1" dirty="0">
                <a:solidFill>
                  <a:srgbClr val="FFFFFF"/>
                </a:solidFill>
              </a:rPr>
              <a:t>Without DoD embedded in the agent system, “done” is whatever the agent or reviewer decides in the moment</a:t>
            </a:r>
            <a:endParaRPr lang="en-US" sz="1500" dirty="0"/>
          </a:p>
        </p:txBody>
      </p:sp>
      <p:sp>
        <p:nvSpPr>
          <p:cNvPr id="4" name="Shape 2"/>
          <p:cNvSpPr/>
          <p:nvPr/>
        </p:nvSpPr>
        <p:spPr>
          <a:xfrm>
            <a:off x="320040" y="1143000"/>
            <a:ext cx="4206240" cy="1828800"/>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5" name="Shape 3"/>
          <p:cNvSpPr/>
          <p:nvPr/>
        </p:nvSpPr>
        <p:spPr>
          <a:xfrm>
            <a:off x="320040" y="1143000"/>
            <a:ext cx="4206240" cy="384048"/>
          </a:xfrm>
          <a:prstGeom prst="rect">
            <a:avLst/>
          </a:prstGeom>
          <a:solidFill>
            <a:srgbClr val="3A7DC9">
              <a:alpha val="90000"/>
            </a:srgbClr>
          </a:solidFill>
          <a:ln/>
        </p:spPr>
      </p:sp>
      <p:sp>
        <p:nvSpPr>
          <p:cNvPr id="6" name="Text 4"/>
          <p:cNvSpPr/>
          <p:nvPr/>
        </p:nvSpPr>
        <p:spPr>
          <a:xfrm>
            <a:off x="429768" y="1143000"/>
            <a:ext cx="4041648" cy="384048"/>
          </a:xfrm>
          <a:prstGeom prst="rect">
            <a:avLst/>
          </a:prstGeom>
          <a:noFill/>
          <a:ln/>
        </p:spPr>
        <p:txBody>
          <a:bodyPr wrap="square" lIns="0" tIns="0" rIns="0" bIns="0" rtlCol="0" anchor="ctr"/>
          <a:lstStyle/>
          <a:p>
            <a:pPr indent="0" marL="0">
              <a:buNone/>
            </a:pPr>
            <a:r>
              <a:rPr lang="en-US" sz="1300" b="1" spc="200" kern="0" dirty="0">
                <a:solidFill>
                  <a:srgbClr val="FFFFFF"/>
                </a:solidFill>
              </a:rPr>
              <a:t>Specification</a:t>
            </a:r>
            <a:endParaRPr lang="en-US" sz="1300" dirty="0"/>
          </a:p>
        </p:txBody>
      </p:sp>
      <p:sp>
        <p:nvSpPr>
          <p:cNvPr id="7" name="Shape 5"/>
          <p:cNvSpPr/>
          <p:nvPr/>
        </p:nvSpPr>
        <p:spPr>
          <a:xfrm>
            <a:off x="429768" y="1600200"/>
            <a:ext cx="237744" cy="256032"/>
          </a:xfrm>
          <a:prstGeom prst="rect">
            <a:avLst/>
          </a:prstGeom>
          <a:solidFill>
            <a:srgbClr val="3A7DC9">
              <a:alpha val="80000"/>
            </a:srgbClr>
          </a:solidFill>
          <a:ln/>
        </p:spPr>
      </p:sp>
      <p:sp>
        <p:nvSpPr>
          <p:cNvPr id="8" name="Text 6"/>
          <p:cNvSpPr/>
          <p:nvPr/>
        </p:nvSpPr>
        <p:spPr>
          <a:xfrm>
            <a:off x="429768" y="1600200"/>
            <a:ext cx="237744" cy="256032"/>
          </a:xfrm>
          <a:prstGeom prst="rect">
            <a:avLst/>
          </a:prstGeom>
          <a:noFill/>
          <a:ln/>
        </p:spPr>
        <p:txBody>
          <a:bodyPr wrap="square" lIns="0" tIns="0" rIns="0" bIns="0" rtlCol="0" anchor="ctr"/>
          <a:lstStyle/>
          <a:p>
            <a:pPr algn="ctr" indent="0" marL="0">
              <a:buNone/>
            </a:pPr>
            <a:r>
              <a:rPr lang="en-US" sz="1200" dirty="0">
                <a:solidFill>
                  <a:srgbClr val="3A7DC9"/>
                </a:solidFill>
              </a:rPr>
              <a:t>□</a:t>
            </a:r>
            <a:endParaRPr lang="en-US" sz="1200" dirty="0"/>
          </a:p>
        </p:txBody>
      </p:sp>
      <p:sp>
        <p:nvSpPr>
          <p:cNvPr id="9" name="Text 7"/>
          <p:cNvSpPr/>
          <p:nvPr/>
        </p:nvSpPr>
        <p:spPr>
          <a:xfrm>
            <a:off x="740664" y="1600200"/>
            <a:ext cx="3675888" cy="274320"/>
          </a:xfrm>
          <a:prstGeom prst="rect">
            <a:avLst/>
          </a:prstGeom>
          <a:noFill/>
          <a:ln/>
        </p:spPr>
        <p:txBody>
          <a:bodyPr wrap="square" lIns="0" tIns="0" rIns="0" bIns="0" rtlCol="0" anchor="ctr"/>
          <a:lstStyle/>
          <a:p>
            <a:pPr indent="0" marL="0">
              <a:buNone/>
            </a:pPr>
            <a:r>
              <a:rPr lang="en-US" sz="1100" dirty="0">
                <a:solidFill>
                  <a:srgbClr val="D4E4F0"/>
                </a:solidFill>
              </a:rPr>
              <a:t>All AC from SPEC.md explicitly met</a:t>
            </a:r>
            <a:endParaRPr lang="en-US" sz="1100" dirty="0"/>
          </a:p>
        </p:txBody>
      </p:sp>
      <p:sp>
        <p:nvSpPr>
          <p:cNvPr id="10" name="Shape 8"/>
          <p:cNvSpPr/>
          <p:nvPr/>
        </p:nvSpPr>
        <p:spPr>
          <a:xfrm>
            <a:off x="429768" y="1929384"/>
            <a:ext cx="237744" cy="256032"/>
          </a:xfrm>
          <a:prstGeom prst="rect">
            <a:avLst/>
          </a:prstGeom>
          <a:solidFill>
            <a:srgbClr val="3A7DC9">
              <a:alpha val="80000"/>
            </a:srgbClr>
          </a:solidFill>
          <a:ln/>
        </p:spPr>
      </p:sp>
      <p:sp>
        <p:nvSpPr>
          <p:cNvPr id="11" name="Text 9"/>
          <p:cNvSpPr/>
          <p:nvPr/>
        </p:nvSpPr>
        <p:spPr>
          <a:xfrm>
            <a:off x="429768" y="1929384"/>
            <a:ext cx="237744" cy="256032"/>
          </a:xfrm>
          <a:prstGeom prst="rect">
            <a:avLst/>
          </a:prstGeom>
          <a:noFill/>
          <a:ln/>
        </p:spPr>
        <p:txBody>
          <a:bodyPr wrap="square" lIns="0" tIns="0" rIns="0" bIns="0" rtlCol="0" anchor="ctr"/>
          <a:lstStyle/>
          <a:p>
            <a:pPr algn="ctr" indent="0" marL="0">
              <a:buNone/>
            </a:pPr>
            <a:r>
              <a:rPr lang="en-US" sz="1200" dirty="0">
                <a:solidFill>
                  <a:srgbClr val="3A7DC9"/>
                </a:solidFill>
              </a:rPr>
              <a:t>□</a:t>
            </a:r>
            <a:endParaRPr lang="en-US" sz="1200" dirty="0"/>
          </a:p>
        </p:txBody>
      </p:sp>
      <p:sp>
        <p:nvSpPr>
          <p:cNvPr id="12" name="Text 10"/>
          <p:cNvSpPr/>
          <p:nvPr/>
        </p:nvSpPr>
        <p:spPr>
          <a:xfrm>
            <a:off x="740664" y="1929384"/>
            <a:ext cx="3675888" cy="274320"/>
          </a:xfrm>
          <a:prstGeom prst="rect">
            <a:avLst/>
          </a:prstGeom>
          <a:noFill/>
          <a:ln/>
        </p:spPr>
        <p:txBody>
          <a:bodyPr wrap="square" lIns="0" tIns="0" rIns="0" bIns="0" rtlCol="0" anchor="ctr"/>
          <a:lstStyle/>
          <a:p>
            <a:pPr indent="0" marL="0">
              <a:buNone/>
            </a:pPr>
            <a:r>
              <a:rPr lang="en-US" sz="1100" dirty="0">
                <a:solidFill>
                  <a:srgbClr val="D4E4F0"/>
                </a:solidFill>
              </a:rPr>
              <a:t>No features added beyond spec scope</a:t>
            </a:r>
            <a:endParaRPr lang="en-US" sz="1100" dirty="0"/>
          </a:p>
        </p:txBody>
      </p:sp>
      <p:sp>
        <p:nvSpPr>
          <p:cNvPr id="13" name="Shape 11"/>
          <p:cNvSpPr/>
          <p:nvPr/>
        </p:nvSpPr>
        <p:spPr>
          <a:xfrm>
            <a:off x="429768" y="2258568"/>
            <a:ext cx="237744" cy="256032"/>
          </a:xfrm>
          <a:prstGeom prst="rect">
            <a:avLst/>
          </a:prstGeom>
          <a:solidFill>
            <a:srgbClr val="3A7DC9">
              <a:alpha val="80000"/>
            </a:srgbClr>
          </a:solidFill>
          <a:ln/>
        </p:spPr>
      </p:sp>
      <p:sp>
        <p:nvSpPr>
          <p:cNvPr id="14" name="Text 12"/>
          <p:cNvSpPr/>
          <p:nvPr/>
        </p:nvSpPr>
        <p:spPr>
          <a:xfrm>
            <a:off x="429768" y="2258568"/>
            <a:ext cx="237744" cy="256032"/>
          </a:xfrm>
          <a:prstGeom prst="rect">
            <a:avLst/>
          </a:prstGeom>
          <a:noFill/>
          <a:ln/>
        </p:spPr>
        <p:txBody>
          <a:bodyPr wrap="square" lIns="0" tIns="0" rIns="0" bIns="0" rtlCol="0" anchor="ctr"/>
          <a:lstStyle/>
          <a:p>
            <a:pPr algn="ctr" indent="0" marL="0">
              <a:buNone/>
            </a:pPr>
            <a:r>
              <a:rPr lang="en-US" sz="1200" dirty="0">
                <a:solidFill>
                  <a:srgbClr val="3A7DC9"/>
                </a:solidFill>
              </a:rPr>
              <a:t>□</a:t>
            </a:r>
            <a:endParaRPr lang="en-US" sz="1200" dirty="0"/>
          </a:p>
        </p:txBody>
      </p:sp>
      <p:sp>
        <p:nvSpPr>
          <p:cNvPr id="15" name="Text 13"/>
          <p:cNvSpPr/>
          <p:nvPr/>
        </p:nvSpPr>
        <p:spPr>
          <a:xfrm>
            <a:off x="740664" y="2258568"/>
            <a:ext cx="3675888" cy="274320"/>
          </a:xfrm>
          <a:prstGeom prst="rect">
            <a:avLst/>
          </a:prstGeom>
          <a:noFill/>
          <a:ln/>
        </p:spPr>
        <p:txBody>
          <a:bodyPr wrap="square" lIns="0" tIns="0" rIns="0" bIns="0" rtlCol="0" anchor="ctr"/>
          <a:lstStyle/>
          <a:p>
            <a:pPr indent="0" marL="0">
              <a:buNone/>
            </a:pPr>
            <a:r>
              <a:rPr lang="en-US" sz="1100" dirty="0">
                <a:solidFill>
                  <a:srgbClr val="D4E4F0"/>
                </a:solidFill>
              </a:rPr>
              <a:t>Non-goals have not been implemented</a:t>
            </a:r>
            <a:endParaRPr lang="en-US" sz="1100" dirty="0"/>
          </a:p>
        </p:txBody>
      </p:sp>
      <p:sp>
        <p:nvSpPr>
          <p:cNvPr id="16" name="Shape 14"/>
          <p:cNvSpPr/>
          <p:nvPr/>
        </p:nvSpPr>
        <p:spPr>
          <a:xfrm>
            <a:off x="429768" y="2587752"/>
            <a:ext cx="237744" cy="256032"/>
          </a:xfrm>
          <a:prstGeom prst="rect">
            <a:avLst/>
          </a:prstGeom>
          <a:solidFill>
            <a:srgbClr val="3A7DC9">
              <a:alpha val="80000"/>
            </a:srgbClr>
          </a:solidFill>
          <a:ln/>
        </p:spPr>
      </p:sp>
      <p:sp>
        <p:nvSpPr>
          <p:cNvPr id="17" name="Text 15"/>
          <p:cNvSpPr/>
          <p:nvPr/>
        </p:nvSpPr>
        <p:spPr>
          <a:xfrm>
            <a:off x="429768" y="2587752"/>
            <a:ext cx="237744" cy="256032"/>
          </a:xfrm>
          <a:prstGeom prst="rect">
            <a:avLst/>
          </a:prstGeom>
          <a:noFill/>
          <a:ln/>
        </p:spPr>
        <p:txBody>
          <a:bodyPr wrap="square" lIns="0" tIns="0" rIns="0" bIns="0" rtlCol="0" anchor="ctr"/>
          <a:lstStyle/>
          <a:p>
            <a:pPr algn="ctr" indent="0" marL="0">
              <a:buNone/>
            </a:pPr>
            <a:r>
              <a:rPr lang="en-US" sz="1200" dirty="0">
                <a:solidFill>
                  <a:srgbClr val="3A7DC9"/>
                </a:solidFill>
              </a:rPr>
              <a:t>□</a:t>
            </a:r>
            <a:endParaRPr lang="en-US" sz="1200" dirty="0"/>
          </a:p>
        </p:txBody>
      </p:sp>
      <p:sp>
        <p:nvSpPr>
          <p:cNvPr id="18" name="Text 16"/>
          <p:cNvSpPr/>
          <p:nvPr/>
        </p:nvSpPr>
        <p:spPr>
          <a:xfrm>
            <a:off x="740664" y="2587752"/>
            <a:ext cx="3675888" cy="274320"/>
          </a:xfrm>
          <a:prstGeom prst="rect">
            <a:avLst/>
          </a:prstGeom>
          <a:noFill/>
          <a:ln/>
        </p:spPr>
        <p:txBody>
          <a:bodyPr wrap="square" lIns="0" tIns="0" rIns="0" bIns="0" rtlCol="0" anchor="ctr"/>
          <a:lstStyle/>
          <a:p>
            <a:pPr indent="0" marL="0">
              <a:buNone/>
            </a:pPr>
            <a:r>
              <a:rPr lang="en-US" sz="1100" dirty="0">
                <a:solidFill>
                  <a:srgbClr val="D4E4F0"/>
                </a:solidFill>
              </a:rPr>
              <a:t>Edge cases from spec are handled</a:t>
            </a:r>
            <a:endParaRPr lang="en-US" sz="1100" dirty="0"/>
          </a:p>
        </p:txBody>
      </p:sp>
      <p:sp>
        <p:nvSpPr>
          <p:cNvPr id="19" name="Shape 17"/>
          <p:cNvSpPr/>
          <p:nvPr/>
        </p:nvSpPr>
        <p:spPr>
          <a:xfrm>
            <a:off x="4709160" y="1143000"/>
            <a:ext cx="4206240" cy="1828800"/>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20" name="Shape 18"/>
          <p:cNvSpPr/>
          <p:nvPr/>
        </p:nvSpPr>
        <p:spPr>
          <a:xfrm>
            <a:off x="4709160" y="1143000"/>
            <a:ext cx="4206240" cy="384048"/>
          </a:xfrm>
          <a:prstGeom prst="rect">
            <a:avLst/>
          </a:prstGeom>
          <a:solidFill>
            <a:srgbClr val="4A7FA8">
              <a:alpha val="90000"/>
            </a:srgbClr>
          </a:solidFill>
          <a:ln/>
        </p:spPr>
      </p:sp>
      <p:sp>
        <p:nvSpPr>
          <p:cNvPr id="21" name="Text 19"/>
          <p:cNvSpPr/>
          <p:nvPr/>
        </p:nvSpPr>
        <p:spPr>
          <a:xfrm>
            <a:off x="4818888" y="1143000"/>
            <a:ext cx="4041648" cy="384048"/>
          </a:xfrm>
          <a:prstGeom prst="rect">
            <a:avLst/>
          </a:prstGeom>
          <a:noFill/>
          <a:ln/>
        </p:spPr>
        <p:txBody>
          <a:bodyPr wrap="square" lIns="0" tIns="0" rIns="0" bIns="0" rtlCol="0" anchor="ctr"/>
          <a:lstStyle/>
          <a:p>
            <a:pPr indent="0" marL="0">
              <a:buNone/>
            </a:pPr>
            <a:r>
              <a:rPr lang="en-US" sz="1300" b="1" spc="200" kern="0" dirty="0">
                <a:solidFill>
                  <a:srgbClr val="FFFFFF"/>
                </a:solidFill>
              </a:rPr>
              <a:t>Code Quality</a:t>
            </a:r>
            <a:endParaRPr lang="en-US" sz="1300" dirty="0"/>
          </a:p>
        </p:txBody>
      </p:sp>
      <p:sp>
        <p:nvSpPr>
          <p:cNvPr id="22" name="Shape 20"/>
          <p:cNvSpPr/>
          <p:nvPr/>
        </p:nvSpPr>
        <p:spPr>
          <a:xfrm>
            <a:off x="4818888" y="1600200"/>
            <a:ext cx="237744" cy="256032"/>
          </a:xfrm>
          <a:prstGeom prst="rect">
            <a:avLst/>
          </a:prstGeom>
          <a:solidFill>
            <a:srgbClr val="4A7FA8">
              <a:alpha val="80000"/>
            </a:srgbClr>
          </a:solidFill>
          <a:ln/>
        </p:spPr>
      </p:sp>
      <p:sp>
        <p:nvSpPr>
          <p:cNvPr id="23" name="Text 21"/>
          <p:cNvSpPr/>
          <p:nvPr/>
        </p:nvSpPr>
        <p:spPr>
          <a:xfrm>
            <a:off x="4818888" y="1600200"/>
            <a:ext cx="237744" cy="256032"/>
          </a:xfrm>
          <a:prstGeom prst="rect">
            <a:avLst/>
          </a:prstGeom>
          <a:noFill/>
          <a:ln/>
        </p:spPr>
        <p:txBody>
          <a:bodyPr wrap="square" lIns="0" tIns="0" rIns="0" bIns="0" rtlCol="0" anchor="ctr"/>
          <a:lstStyle/>
          <a:p>
            <a:pPr algn="ctr" indent="0" marL="0">
              <a:buNone/>
            </a:pPr>
            <a:r>
              <a:rPr lang="en-US" sz="1200" dirty="0">
                <a:solidFill>
                  <a:srgbClr val="4A7FA8"/>
                </a:solidFill>
              </a:rPr>
              <a:t>□</a:t>
            </a:r>
            <a:endParaRPr lang="en-US" sz="1200" dirty="0"/>
          </a:p>
        </p:txBody>
      </p:sp>
      <p:sp>
        <p:nvSpPr>
          <p:cNvPr id="24" name="Text 22"/>
          <p:cNvSpPr/>
          <p:nvPr/>
        </p:nvSpPr>
        <p:spPr>
          <a:xfrm>
            <a:off x="5129784" y="1600200"/>
            <a:ext cx="3675888" cy="274320"/>
          </a:xfrm>
          <a:prstGeom prst="rect">
            <a:avLst/>
          </a:prstGeom>
          <a:noFill/>
          <a:ln/>
        </p:spPr>
        <p:txBody>
          <a:bodyPr wrap="square" lIns="0" tIns="0" rIns="0" bIns="0" rtlCol="0" anchor="ctr"/>
          <a:lstStyle/>
          <a:p>
            <a:pPr indent="0" marL="0">
              <a:buNone/>
            </a:pPr>
            <a:r>
              <a:rPr lang="en-US" sz="1100" dirty="0">
                <a:solidFill>
                  <a:srgbClr val="D4E4F0"/>
                </a:solidFill>
              </a:rPr>
              <a:t>Linter: zero warnings</a:t>
            </a:r>
            <a:endParaRPr lang="en-US" sz="1100" dirty="0"/>
          </a:p>
        </p:txBody>
      </p:sp>
      <p:sp>
        <p:nvSpPr>
          <p:cNvPr id="25" name="Shape 23"/>
          <p:cNvSpPr/>
          <p:nvPr/>
        </p:nvSpPr>
        <p:spPr>
          <a:xfrm>
            <a:off x="4818888" y="1929384"/>
            <a:ext cx="237744" cy="256032"/>
          </a:xfrm>
          <a:prstGeom prst="rect">
            <a:avLst/>
          </a:prstGeom>
          <a:solidFill>
            <a:srgbClr val="4A7FA8">
              <a:alpha val="80000"/>
            </a:srgbClr>
          </a:solidFill>
          <a:ln/>
        </p:spPr>
      </p:sp>
      <p:sp>
        <p:nvSpPr>
          <p:cNvPr id="26" name="Text 24"/>
          <p:cNvSpPr/>
          <p:nvPr/>
        </p:nvSpPr>
        <p:spPr>
          <a:xfrm>
            <a:off x="4818888" y="1929384"/>
            <a:ext cx="237744" cy="256032"/>
          </a:xfrm>
          <a:prstGeom prst="rect">
            <a:avLst/>
          </a:prstGeom>
          <a:noFill/>
          <a:ln/>
        </p:spPr>
        <p:txBody>
          <a:bodyPr wrap="square" lIns="0" tIns="0" rIns="0" bIns="0" rtlCol="0" anchor="ctr"/>
          <a:lstStyle/>
          <a:p>
            <a:pPr algn="ctr" indent="0" marL="0">
              <a:buNone/>
            </a:pPr>
            <a:r>
              <a:rPr lang="en-US" sz="1200" dirty="0">
                <a:solidFill>
                  <a:srgbClr val="4A7FA8"/>
                </a:solidFill>
              </a:rPr>
              <a:t>□</a:t>
            </a:r>
            <a:endParaRPr lang="en-US" sz="1200" dirty="0"/>
          </a:p>
        </p:txBody>
      </p:sp>
      <p:sp>
        <p:nvSpPr>
          <p:cNvPr id="27" name="Text 25"/>
          <p:cNvSpPr/>
          <p:nvPr/>
        </p:nvSpPr>
        <p:spPr>
          <a:xfrm>
            <a:off x="5129784" y="1929384"/>
            <a:ext cx="3675888" cy="274320"/>
          </a:xfrm>
          <a:prstGeom prst="rect">
            <a:avLst/>
          </a:prstGeom>
          <a:noFill/>
          <a:ln/>
        </p:spPr>
        <p:txBody>
          <a:bodyPr wrap="square" lIns="0" tIns="0" rIns="0" bIns="0" rtlCol="0" anchor="ctr"/>
          <a:lstStyle/>
          <a:p>
            <a:pPr indent="0" marL="0">
              <a:buNone/>
            </a:pPr>
            <a:r>
              <a:rPr lang="en-US" sz="1100" dirty="0">
                <a:solidFill>
                  <a:srgbClr val="D4E4F0"/>
                </a:solidFill>
              </a:rPr>
              <a:t>Type checker: clean</a:t>
            </a:r>
            <a:endParaRPr lang="en-US" sz="1100" dirty="0"/>
          </a:p>
        </p:txBody>
      </p:sp>
      <p:sp>
        <p:nvSpPr>
          <p:cNvPr id="28" name="Shape 26"/>
          <p:cNvSpPr/>
          <p:nvPr/>
        </p:nvSpPr>
        <p:spPr>
          <a:xfrm>
            <a:off x="4818888" y="2258568"/>
            <a:ext cx="237744" cy="256032"/>
          </a:xfrm>
          <a:prstGeom prst="rect">
            <a:avLst/>
          </a:prstGeom>
          <a:solidFill>
            <a:srgbClr val="4A7FA8">
              <a:alpha val="80000"/>
            </a:srgbClr>
          </a:solidFill>
          <a:ln/>
        </p:spPr>
      </p:sp>
      <p:sp>
        <p:nvSpPr>
          <p:cNvPr id="29" name="Text 27"/>
          <p:cNvSpPr/>
          <p:nvPr/>
        </p:nvSpPr>
        <p:spPr>
          <a:xfrm>
            <a:off x="4818888" y="2258568"/>
            <a:ext cx="237744" cy="256032"/>
          </a:xfrm>
          <a:prstGeom prst="rect">
            <a:avLst/>
          </a:prstGeom>
          <a:noFill/>
          <a:ln/>
        </p:spPr>
        <p:txBody>
          <a:bodyPr wrap="square" lIns="0" tIns="0" rIns="0" bIns="0" rtlCol="0" anchor="ctr"/>
          <a:lstStyle/>
          <a:p>
            <a:pPr algn="ctr" indent="0" marL="0">
              <a:buNone/>
            </a:pPr>
            <a:r>
              <a:rPr lang="en-US" sz="1200" dirty="0">
                <a:solidFill>
                  <a:srgbClr val="4A7FA8"/>
                </a:solidFill>
              </a:rPr>
              <a:t>□</a:t>
            </a:r>
            <a:endParaRPr lang="en-US" sz="1200" dirty="0"/>
          </a:p>
        </p:txBody>
      </p:sp>
      <p:sp>
        <p:nvSpPr>
          <p:cNvPr id="30" name="Text 28"/>
          <p:cNvSpPr/>
          <p:nvPr/>
        </p:nvSpPr>
        <p:spPr>
          <a:xfrm>
            <a:off x="5129784" y="2258568"/>
            <a:ext cx="3675888" cy="274320"/>
          </a:xfrm>
          <a:prstGeom prst="rect">
            <a:avLst/>
          </a:prstGeom>
          <a:noFill/>
          <a:ln/>
        </p:spPr>
        <p:txBody>
          <a:bodyPr wrap="square" lIns="0" tIns="0" rIns="0" bIns="0" rtlCol="0" anchor="ctr"/>
          <a:lstStyle/>
          <a:p>
            <a:pPr indent="0" marL="0">
              <a:buNone/>
            </a:pPr>
            <a:r>
              <a:rPr lang="en-US" sz="1100" dirty="0">
                <a:solidFill>
                  <a:srgbClr val="D4E4F0"/>
                </a:solidFill>
              </a:rPr>
              <a:t>No dead code or commented-out blocks</a:t>
            </a:r>
            <a:endParaRPr lang="en-US" sz="1100" dirty="0"/>
          </a:p>
        </p:txBody>
      </p:sp>
      <p:sp>
        <p:nvSpPr>
          <p:cNvPr id="31" name="Shape 29"/>
          <p:cNvSpPr/>
          <p:nvPr/>
        </p:nvSpPr>
        <p:spPr>
          <a:xfrm>
            <a:off x="4818888" y="2587752"/>
            <a:ext cx="237744" cy="256032"/>
          </a:xfrm>
          <a:prstGeom prst="rect">
            <a:avLst/>
          </a:prstGeom>
          <a:solidFill>
            <a:srgbClr val="4A7FA8">
              <a:alpha val="80000"/>
            </a:srgbClr>
          </a:solidFill>
          <a:ln/>
        </p:spPr>
      </p:sp>
      <p:sp>
        <p:nvSpPr>
          <p:cNvPr id="32" name="Text 30"/>
          <p:cNvSpPr/>
          <p:nvPr/>
        </p:nvSpPr>
        <p:spPr>
          <a:xfrm>
            <a:off x="4818888" y="2587752"/>
            <a:ext cx="237744" cy="256032"/>
          </a:xfrm>
          <a:prstGeom prst="rect">
            <a:avLst/>
          </a:prstGeom>
          <a:noFill/>
          <a:ln/>
        </p:spPr>
        <p:txBody>
          <a:bodyPr wrap="square" lIns="0" tIns="0" rIns="0" bIns="0" rtlCol="0" anchor="ctr"/>
          <a:lstStyle/>
          <a:p>
            <a:pPr algn="ctr" indent="0" marL="0">
              <a:buNone/>
            </a:pPr>
            <a:r>
              <a:rPr lang="en-US" sz="1200" dirty="0">
                <a:solidFill>
                  <a:srgbClr val="4A7FA8"/>
                </a:solidFill>
              </a:rPr>
              <a:t>□</a:t>
            </a:r>
            <a:endParaRPr lang="en-US" sz="1200" dirty="0"/>
          </a:p>
        </p:txBody>
      </p:sp>
      <p:sp>
        <p:nvSpPr>
          <p:cNvPr id="33" name="Text 31"/>
          <p:cNvSpPr/>
          <p:nvPr/>
        </p:nvSpPr>
        <p:spPr>
          <a:xfrm>
            <a:off x="5129784" y="2587752"/>
            <a:ext cx="3675888" cy="274320"/>
          </a:xfrm>
          <a:prstGeom prst="rect">
            <a:avLst/>
          </a:prstGeom>
          <a:noFill/>
          <a:ln/>
        </p:spPr>
        <p:txBody>
          <a:bodyPr wrap="square" lIns="0" tIns="0" rIns="0" bIns="0" rtlCol="0" anchor="ctr"/>
          <a:lstStyle/>
          <a:p>
            <a:pPr indent="0" marL="0">
              <a:buNone/>
            </a:pPr>
            <a:r>
              <a:rPr lang="en-US" sz="1100" dirty="0">
                <a:solidFill>
                  <a:srgbClr val="D4E4F0"/>
                </a:solidFill>
              </a:rPr>
              <a:t>No magic numbers or hardcoded strings</a:t>
            </a:r>
            <a:endParaRPr lang="en-US" sz="1100" dirty="0"/>
          </a:p>
        </p:txBody>
      </p:sp>
      <p:sp>
        <p:nvSpPr>
          <p:cNvPr id="34" name="Shape 32"/>
          <p:cNvSpPr/>
          <p:nvPr/>
        </p:nvSpPr>
        <p:spPr>
          <a:xfrm>
            <a:off x="320040" y="3081528"/>
            <a:ext cx="4206240" cy="1828800"/>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35" name="Shape 33"/>
          <p:cNvSpPr/>
          <p:nvPr/>
        </p:nvSpPr>
        <p:spPr>
          <a:xfrm>
            <a:off x="320040" y="3081528"/>
            <a:ext cx="4206240" cy="384048"/>
          </a:xfrm>
          <a:prstGeom prst="rect">
            <a:avLst/>
          </a:prstGeom>
          <a:solidFill>
            <a:srgbClr val="3A7E6E">
              <a:alpha val="90000"/>
            </a:srgbClr>
          </a:solidFill>
          <a:ln/>
        </p:spPr>
      </p:sp>
      <p:sp>
        <p:nvSpPr>
          <p:cNvPr id="36" name="Text 34"/>
          <p:cNvSpPr/>
          <p:nvPr/>
        </p:nvSpPr>
        <p:spPr>
          <a:xfrm>
            <a:off x="429768" y="3081528"/>
            <a:ext cx="4041648" cy="384048"/>
          </a:xfrm>
          <a:prstGeom prst="rect">
            <a:avLst/>
          </a:prstGeom>
          <a:noFill/>
          <a:ln/>
        </p:spPr>
        <p:txBody>
          <a:bodyPr wrap="square" lIns="0" tIns="0" rIns="0" bIns="0" rtlCol="0" anchor="ctr"/>
          <a:lstStyle/>
          <a:p>
            <a:pPr indent="0" marL="0">
              <a:buNone/>
            </a:pPr>
            <a:r>
              <a:rPr lang="en-US" sz="1300" b="1" spc="200" kern="0" dirty="0">
                <a:solidFill>
                  <a:srgbClr val="FFFFFF"/>
                </a:solidFill>
              </a:rPr>
              <a:t>Testing</a:t>
            </a:r>
            <a:endParaRPr lang="en-US" sz="1300" dirty="0"/>
          </a:p>
        </p:txBody>
      </p:sp>
      <p:sp>
        <p:nvSpPr>
          <p:cNvPr id="37" name="Shape 35"/>
          <p:cNvSpPr/>
          <p:nvPr/>
        </p:nvSpPr>
        <p:spPr>
          <a:xfrm>
            <a:off x="429768" y="3538728"/>
            <a:ext cx="237744" cy="256032"/>
          </a:xfrm>
          <a:prstGeom prst="rect">
            <a:avLst/>
          </a:prstGeom>
          <a:solidFill>
            <a:srgbClr val="3A7E6E">
              <a:alpha val="80000"/>
            </a:srgbClr>
          </a:solidFill>
          <a:ln/>
        </p:spPr>
      </p:sp>
      <p:sp>
        <p:nvSpPr>
          <p:cNvPr id="38" name="Text 36"/>
          <p:cNvSpPr/>
          <p:nvPr/>
        </p:nvSpPr>
        <p:spPr>
          <a:xfrm>
            <a:off x="429768" y="3538728"/>
            <a:ext cx="237744" cy="256032"/>
          </a:xfrm>
          <a:prstGeom prst="rect">
            <a:avLst/>
          </a:prstGeom>
          <a:noFill/>
          <a:ln/>
        </p:spPr>
        <p:txBody>
          <a:bodyPr wrap="square" lIns="0" tIns="0" rIns="0" bIns="0" rtlCol="0" anchor="ctr"/>
          <a:lstStyle/>
          <a:p>
            <a:pPr algn="ctr" indent="0" marL="0">
              <a:buNone/>
            </a:pPr>
            <a:r>
              <a:rPr lang="en-US" sz="1200" dirty="0">
                <a:solidFill>
                  <a:srgbClr val="3A7E6E"/>
                </a:solidFill>
              </a:rPr>
              <a:t>□</a:t>
            </a:r>
            <a:endParaRPr lang="en-US" sz="1200" dirty="0"/>
          </a:p>
        </p:txBody>
      </p:sp>
      <p:sp>
        <p:nvSpPr>
          <p:cNvPr id="39" name="Text 37"/>
          <p:cNvSpPr/>
          <p:nvPr/>
        </p:nvSpPr>
        <p:spPr>
          <a:xfrm>
            <a:off x="740664" y="3538728"/>
            <a:ext cx="3675888" cy="274320"/>
          </a:xfrm>
          <a:prstGeom prst="rect">
            <a:avLst/>
          </a:prstGeom>
          <a:noFill/>
          <a:ln/>
        </p:spPr>
        <p:txBody>
          <a:bodyPr wrap="square" lIns="0" tIns="0" rIns="0" bIns="0" rtlCol="0" anchor="ctr"/>
          <a:lstStyle/>
          <a:p>
            <a:pPr indent="0" marL="0">
              <a:buNone/>
            </a:pPr>
            <a:r>
              <a:rPr lang="en-US" sz="1100" dirty="0">
                <a:solidFill>
                  <a:srgbClr val="D4E4F0"/>
                </a:solidFill>
              </a:rPr>
              <a:t>100% of AC have corresponding tests</a:t>
            </a:r>
            <a:endParaRPr lang="en-US" sz="1100" dirty="0"/>
          </a:p>
        </p:txBody>
      </p:sp>
      <p:sp>
        <p:nvSpPr>
          <p:cNvPr id="40" name="Shape 38"/>
          <p:cNvSpPr/>
          <p:nvPr/>
        </p:nvSpPr>
        <p:spPr>
          <a:xfrm>
            <a:off x="429768" y="3867912"/>
            <a:ext cx="237744" cy="256032"/>
          </a:xfrm>
          <a:prstGeom prst="rect">
            <a:avLst/>
          </a:prstGeom>
          <a:solidFill>
            <a:srgbClr val="3A7E6E">
              <a:alpha val="80000"/>
            </a:srgbClr>
          </a:solidFill>
          <a:ln/>
        </p:spPr>
      </p:sp>
      <p:sp>
        <p:nvSpPr>
          <p:cNvPr id="41" name="Text 39"/>
          <p:cNvSpPr/>
          <p:nvPr/>
        </p:nvSpPr>
        <p:spPr>
          <a:xfrm>
            <a:off x="429768" y="3867912"/>
            <a:ext cx="237744" cy="256032"/>
          </a:xfrm>
          <a:prstGeom prst="rect">
            <a:avLst/>
          </a:prstGeom>
          <a:noFill/>
          <a:ln/>
        </p:spPr>
        <p:txBody>
          <a:bodyPr wrap="square" lIns="0" tIns="0" rIns="0" bIns="0" rtlCol="0" anchor="ctr"/>
          <a:lstStyle/>
          <a:p>
            <a:pPr algn="ctr" indent="0" marL="0">
              <a:buNone/>
            </a:pPr>
            <a:r>
              <a:rPr lang="en-US" sz="1200" dirty="0">
                <a:solidFill>
                  <a:srgbClr val="3A7E6E"/>
                </a:solidFill>
              </a:rPr>
              <a:t>□</a:t>
            </a:r>
            <a:endParaRPr lang="en-US" sz="1200" dirty="0"/>
          </a:p>
        </p:txBody>
      </p:sp>
      <p:sp>
        <p:nvSpPr>
          <p:cNvPr id="42" name="Text 40"/>
          <p:cNvSpPr/>
          <p:nvPr/>
        </p:nvSpPr>
        <p:spPr>
          <a:xfrm>
            <a:off x="740664" y="3867912"/>
            <a:ext cx="3675888" cy="274320"/>
          </a:xfrm>
          <a:prstGeom prst="rect">
            <a:avLst/>
          </a:prstGeom>
          <a:noFill/>
          <a:ln/>
        </p:spPr>
        <p:txBody>
          <a:bodyPr wrap="square" lIns="0" tIns="0" rIns="0" bIns="0" rtlCol="0" anchor="ctr"/>
          <a:lstStyle/>
          <a:p>
            <a:pPr indent="0" marL="0">
              <a:buNone/>
            </a:pPr>
            <a:r>
              <a:rPr lang="en-US" sz="1100" dirty="0">
                <a:solidFill>
                  <a:srgbClr val="D4E4F0"/>
                </a:solidFill>
              </a:rPr>
              <a:t>All tests passing in CI</a:t>
            </a:r>
            <a:endParaRPr lang="en-US" sz="1100" dirty="0"/>
          </a:p>
        </p:txBody>
      </p:sp>
      <p:sp>
        <p:nvSpPr>
          <p:cNvPr id="43" name="Shape 41"/>
          <p:cNvSpPr/>
          <p:nvPr/>
        </p:nvSpPr>
        <p:spPr>
          <a:xfrm>
            <a:off x="429768" y="4197096"/>
            <a:ext cx="237744" cy="256032"/>
          </a:xfrm>
          <a:prstGeom prst="rect">
            <a:avLst/>
          </a:prstGeom>
          <a:solidFill>
            <a:srgbClr val="3A7E6E">
              <a:alpha val="80000"/>
            </a:srgbClr>
          </a:solidFill>
          <a:ln/>
        </p:spPr>
      </p:sp>
      <p:sp>
        <p:nvSpPr>
          <p:cNvPr id="44" name="Text 42"/>
          <p:cNvSpPr/>
          <p:nvPr/>
        </p:nvSpPr>
        <p:spPr>
          <a:xfrm>
            <a:off x="429768" y="4197096"/>
            <a:ext cx="237744" cy="256032"/>
          </a:xfrm>
          <a:prstGeom prst="rect">
            <a:avLst/>
          </a:prstGeom>
          <a:noFill/>
          <a:ln/>
        </p:spPr>
        <p:txBody>
          <a:bodyPr wrap="square" lIns="0" tIns="0" rIns="0" bIns="0" rtlCol="0" anchor="ctr"/>
          <a:lstStyle/>
          <a:p>
            <a:pPr algn="ctr" indent="0" marL="0">
              <a:buNone/>
            </a:pPr>
            <a:r>
              <a:rPr lang="en-US" sz="1200" dirty="0">
                <a:solidFill>
                  <a:srgbClr val="3A7E6E"/>
                </a:solidFill>
              </a:rPr>
              <a:t>□</a:t>
            </a:r>
            <a:endParaRPr lang="en-US" sz="1200" dirty="0"/>
          </a:p>
        </p:txBody>
      </p:sp>
      <p:sp>
        <p:nvSpPr>
          <p:cNvPr id="45" name="Text 43"/>
          <p:cNvSpPr/>
          <p:nvPr/>
        </p:nvSpPr>
        <p:spPr>
          <a:xfrm>
            <a:off x="740664" y="4197096"/>
            <a:ext cx="3675888" cy="274320"/>
          </a:xfrm>
          <a:prstGeom prst="rect">
            <a:avLst/>
          </a:prstGeom>
          <a:noFill/>
          <a:ln/>
        </p:spPr>
        <p:txBody>
          <a:bodyPr wrap="square" lIns="0" tIns="0" rIns="0" bIns="0" rtlCol="0" anchor="ctr"/>
          <a:lstStyle/>
          <a:p>
            <a:pPr indent="0" marL="0">
              <a:buNone/>
            </a:pPr>
            <a:r>
              <a:rPr lang="en-US" sz="1100" dirty="0">
                <a:solidFill>
                  <a:srgbClr val="D4E4F0"/>
                </a:solidFill>
              </a:rPr>
              <a:t>Coverage threshold met on changed files</a:t>
            </a:r>
            <a:endParaRPr lang="en-US" sz="1100" dirty="0"/>
          </a:p>
        </p:txBody>
      </p:sp>
      <p:sp>
        <p:nvSpPr>
          <p:cNvPr id="46" name="Shape 44"/>
          <p:cNvSpPr/>
          <p:nvPr/>
        </p:nvSpPr>
        <p:spPr>
          <a:xfrm>
            <a:off x="429768" y="4526280"/>
            <a:ext cx="237744" cy="256032"/>
          </a:xfrm>
          <a:prstGeom prst="rect">
            <a:avLst/>
          </a:prstGeom>
          <a:solidFill>
            <a:srgbClr val="3A7E6E">
              <a:alpha val="80000"/>
            </a:srgbClr>
          </a:solidFill>
          <a:ln/>
        </p:spPr>
      </p:sp>
      <p:sp>
        <p:nvSpPr>
          <p:cNvPr id="47" name="Text 45"/>
          <p:cNvSpPr/>
          <p:nvPr/>
        </p:nvSpPr>
        <p:spPr>
          <a:xfrm>
            <a:off x="429768" y="4526280"/>
            <a:ext cx="237744" cy="256032"/>
          </a:xfrm>
          <a:prstGeom prst="rect">
            <a:avLst/>
          </a:prstGeom>
          <a:noFill/>
          <a:ln/>
        </p:spPr>
        <p:txBody>
          <a:bodyPr wrap="square" lIns="0" tIns="0" rIns="0" bIns="0" rtlCol="0" anchor="ctr"/>
          <a:lstStyle/>
          <a:p>
            <a:pPr algn="ctr" indent="0" marL="0">
              <a:buNone/>
            </a:pPr>
            <a:r>
              <a:rPr lang="en-US" sz="1200" dirty="0">
                <a:solidFill>
                  <a:srgbClr val="3A7E6E"/>
                </a:solidFill>
              </a:rPr>
              <a:t>□</a:t>
            </a:r>
            <a:endParaRPr lang="en-US" sz="1200" dirty="0"/>
          </a:p>
        </p:txBody>
      </p:sp>
      <p:sp>
        <p:nvSpPr>
          <p:cNvPr id="48" name="Text 46"/>
          <p:cNvSpPr/>
          <p:nvPr/>
        </p:nvSpPr>
        <p:spPr>
          <a:xfrm>
            <a:off x="740664" y="4526280"/>
            <a:ext cx="3675888" cy="274320"/>
          </a:xfrm>
          <a:prstGeom prst="rect">
            <a:avLst/>
          </a:prstGeom>
          <a:noFill/>
          <a:ln/>
        </p:spPr>
        <p:txBody>
          <a:bodyPr wrap="square" lIns="0" tIns="0" rIns="0" bIns="0" rtlCol="0" anchor="ctr"/>
          <a:lstStyle/>
          <a:p>
            <a:pPr indent="0" marL="0">
              <a:buNone/>
            </a:pPr>
            <a:r>
              <a:rPr lang="en-US" sz="1100" dirty="0">
                <a:solidFill>
                  <a:srgbClr val="D4E4F0"/>
                </a:solidFill>
              </a:rPr>
              <a:t>Edge case tests present</a:t>
            </a:r>
            <a:endParaRPr lang="en-US" sz="1100" dirty="0"/>
          </a:p>
        </p:txBody>
      </p:sp>
      <p:sp>
        <p:nvSpPr>
          <p:cNvPr id="49" name="Shape 47"/>
          <p:cNvSpPr/>
          <p:nvPr/>
        </p:nvSpPr>
        <p:spPr>
          <a:xfrm>
            <a:off x="4709160" y="3081528"/>
            <a:ext cx="4206240" cy="1828800"/>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50" name="Shape 48"/>
          <p:cNvSpPr/>
          <p:nvPr/>
        </p:nvSpPr>
        <p:spPr>
          <a:xfrm>
            <a:off x="4709160" y="3081528"/>
            <a:ext cx="4206240" cy="384048"/>
          </a:xfrm>
          <a:prstGeom prst="rect">
            <a:avLst/>
          </a:prstGeom>
          <a:solidFill>
            <a:srgbClr val="8096B0">
              <a:alpha val="90000"/>
            </a:srgbClr>
          </a:solidFill>
          <a:ln/>
        </p:spPr>
      </p:sp>
      <p:sp>
        <p:nvSpPr>
          <p:cNvPr id="51" name="Text 49"/>
          <p:cNvSpPr/>
          <p:nvPr/>
        </p:nvSpPr>
        <p:spPr>
          <a:xfrm>
            <a:off x="4818888" y="3081528"/>
            <a:ext cx="4041648" cy="384048"/>
          </a:xfrm>
          <a:prstGeom prst="rect">
            <a:avLst/>
          </a:prstGeom>
          <a:noFill/>
          <a:ln/>
        </p:spPr>
        <p:txBody>
          <a:bodyPr wrap="square" lIns="0" tIns="0" rIns="0" bIns="0" rtlCol="0" anchor="ctr"/>
          <a:lstStyle/>
          <a:p>
            <a:pPr indent="0" marL="0">
              <a:buNone/>
            </a:pPr>
            <a:r>
              <a:rPr lang="en-US" sz="1300" b="1" spc="200" kern="0" dirty="0">
                <a:solidFill>
                  <a:srgbClr val="FFFFFF"/>
                </a:solidFill>
              </a:rPr>
              <a:t>Documentation</a:t>
            </a:r>
            <a:endParaRPr lang="en-US" sz="1300" dirty="0"/>
          </a:p>
        </p:txBody>
      </p:sp>
      <p:sp>
        <p:nvSpPr>
          <p:cNvPr id="52" name="Shape 50"/>
          <p:cNvSpPr/>
          <p:nvPr/>
        </p:nvSpPr>
        <p:spPr>
          <a:xfrm>
            <a:off x="4818888" y="3538728"/>
            <a:ext cx="237744" cy="256032"/>
          </a:xfrm>
          <a:prstGeom prst="rect">
            <a:avLst/>
          </a:prstGeom>
          <a:solidFill>
            <a:srgbClr val="8096B0">
              <a:alpha val="80000"/>
            </a:srgbClr>
          </a:solidFill>
          <a:ln/>
        </p:spPr>
      </p:sp>
      <p:sp>
        <p:nvSpPr>
          <p:cNvPr id="53" name="Text 51"/>
          <p:cNvSpPr/>
          <p:nvPr/>
        </p:nvSpPr>
        <p:spPr>
          <a:xfrm>
            <a:off x="4818888" y="3538728"/>
            <a:ext cx="237744" cy="256032"/>
          </a:xfrm>
          <a:prstGeom prst="rect">
            <a:avLst/>
          </a:prstGeom>
          <a:noFill/>
          <a:ln/>
        </p:spPr>
        <p:txBody>
          <a:bodyPr wrap="square" lIns="0" tIns="0" rIns="0" bIns="0" rtlCol="0" anchor="ctr"/>
          <a:lstStyle/>
          <a:p>
            <a:pPr algn="ctr" indent="0" marL="0">
              <a:buNone/>
            </a:pPr>
            <a:r>
              <a:rPr lang="en-US" sz="1200" dirty="0">
                <a:solidFill>
                  <a:srgbClr val="8096B0"/>
                </a:solidFill>
              </a:rPr>
              <a:t>□</a:t>
            </a:r>
            <a:endParaRPr lang="en-US" sz="1200" dirty="0"/>
          </a:p>
        </p:txBody>
      </p:sp>
      <p:sp>
        <p:nvSpPr>
          <p:cNvPr id="54" name="Text 52"/>
          <p:cNvSpPr/>
          <p:nvPr/>
        </p:nvSpPr>
        <p:spPr>
          <a:xfrm>
            <a:off x="5129784" y="3538728"/>
            <a:ext cx="3675888" cy="274320"/>
          </a:xfrm>
          <a:prstGeom prst="rect">
            <a:avLst/>
          </a:prstGeom>
          <a:noFill/>
          <a:ln/>
        </p:spPr>
        <p:txBody>
          <a:bodyPr wrap="square" lIns="0" tIns="0" rIns="0" bIns="0" rtlCol="0" anchor="ctr"/>
          <a:lstStyle/>
          <a:p>
            <a:pPr indent="0" marL="0">
              <a:buNone/>
            </a:pPr>
            <a:r>
              <a:rPr lang="en-US" sz="1100" dirty="0">
                <a:solidFill>
                  <a:srgbClr val="D4E4F0"/>
                </a:solidFill>
              </a:rPr>
              <a:t>ADR updated if architectural decision made</a:t>
            </a:r>
            <a:endParaRPr lang="en-US" sz="1100" dirty="0"/>
          </a:p>
        </p:txBody>
      </p:sp>
      <p:sp>
        <p:nvSpPr>
          <p:cNvPr id="55" name="Shape 53"/>
          <p:cNvSpPr/>
          <p:nvPr/>
        </p:nvSpPr>
        <p:spPr>
          <a:xfrm>
            <a:off x="4818888" y="3867912"/>
            <a:ext cx="237744" cy="256032"/>
          </a:xfrm>
          <a:prstGeom prst="rect">
            <a:avLst/>
          </a:prstGeom>
          <a:solidFill>
            <a:srgbClr val="8096B0">
              <a:alpha val="80000"/>
            </a:srgbClr>
          </a:solidFill>
          <a:ln/>
        </p:spPr>
      </p:sp>
      <p:sp>
        <p:nvSpPr>
          <p:cNvPr id="56" name="Text 54"/>
          <p:cNvSpPr/>
          <p:nvPr/>
        </p:nvSpPr>
        <p:spPr>
          <a:xfrm>
            <a:off x="4818888" y="3867912"/>
            <a:ext cx="237744" cy="256032"/>
          </a:xfrm>
          <a:prstGeom prst="rect">
            <a:avLst/>
          </a:prstGeom>
          <a:noFill/>
          <a:ln/>
        </p:spPr>
        <p:txBody>
          <a:bodyPr wrap="square" lIns="0" tIns="0" rIns="0" bIns="0" rtlCol="0" anchor="ctr"/>
          <a:lstStyle/>
          <a:p>
            <a:pPr algn="ctr" indent="0" marL="0">
              <a:buNone/>
            </a:pPr>
            <a:r>
              <a:rPr lang="en-US" sz="1200" dirty="0">
                <a:solidFill>
                  <a:srgbClr val="8096B0"/>
                </a:solidFill>
              </a:rPr>
              <a:t>□</a:t>
            </a:r>
            <a:endParaRPr lang="en-US" sz="1200" dirty="0"/>
          </a:p>
        </p:txBody>
      </p:sp>
      <p:sp>
        <p:nvSpPr>
          <p:cNvPr id="57" name="Text 55"/>
          <p:cNvSpPr/>
          <p:nvPr/>
        </p:nvSpPr>
        <p:spPr>
          <a:xfrm>
            <a:off x="5129784" y="3867912"/>
            <a:ext cx="3675888" cy="274320"/>
          </a:xfrm>
          <a:prstGeom prst="rect">
            <a:avLst/>
          </a:prstGeom>
          <a:noFill/>
          <a:ln/>
        </p:spPr>
        <p:txBody>
          <a:bodyPr wrap="square" lIns="0" tIns="0" rIns="0" bIns="0" rtlCol="0" anchor="ctr"/>
          <a:lstStyle/>
          <a:p>
            <a:pPr indent="0" marL="0">
              <a:buNone/>
            </a:pPr>
            <a:r>
              <a:rPr lang="en-US" sz="1100" dirty="0">
                <a:solidFill>
                  <a:srgbClr val="D4E4F0"/>
                </a:solidFill>
              </a:rPr>
              <a:t>API docs reflect changes</a:t>
            </a:r>
            <a:endParaRPr lang="en-US" sz="1100" dirty="0"/>
          </a:p>
        </p:txBody>
      </p:sp>
      <p:sp>
        <p:nvSpPr>
          <p:cNvPr id="58" name="Shape 56"/>
          <p:cNvSpPr/>
          <p:nvPr/>
        </p:nvSpPr>
        <p:spPr>
          <a:xfrm>
            <a:off x="4818888" y="4197096"/>
            <a:ext cx="237744" cy="256032"/>
          </a:xfrm>
          <a:prstGeom prst="rect">
            <a:avLst/>
          </a:prstGeom>
          <a:solidFill>
            <a:srgbClr val="8096B0">
              <a:alpha val="80000"/>
            </a:srgbClr>
          </a:solidFill>
          <a:ln/>
        </p:spPr>
      </p:sp>
      <p:sp>
        <p:nvSpPr>
          <p:cNvPr id="59" name="Text 57"/>
          <p:cNvSpPr/>
          <p:nvPr/>
        </p:nvSpPr>
        <p:spPr>
          <a:xfrm>
            <a:off x="4818888" y="4197096"/>
            <a:ext cx="237744" cy="256032"/>
          </a:xfrm>
          <a:prstGeom prst="rect">
            <a:avLst/>
          </a:prstGeom>
          <a:noFill/>
          <a:ln/>
        </p:spPr>
        <p:txBody>
          <a:bodyPr wrap="square" lIns="0" tIns="0" rIns="0" bIns="0" rtlCol="0" anchor="ctr"/>
          <a:lstStyle/>
          <a:p>
            <a:pPr algn="ctr" indent="0" marL="0">
              <a:buNone/>
            </a:pPr>
            <a:r>
              <a:rPr lang="en-US" sz="1200" dirty="0">
                <a:solidFill>
                  <a:srgbClr val="8096B0"/>
                </a:solidFill>
              </a:rPr>
              <a:t>□</a:t>
            </a:r>
            <a:endParaRPr lang="en-US" sz="1200" dirty="0"/>
          </a:p>
        </p:txBody>
      </p:sp>
      <p:sp>
        <p:nvSpPr>
          <p:cNvPr id="60" name="Text 58"/>
          <p:cNvSpPr/>
          <p:nvPr/>
        </p:nvSpPr>
        <p:spPr>
          <a:xfrm>
            <a:off x="5129784" y="4197096"/>
            <a:ext cx="3675888" cy="274320"/>
          </a:xfrm>
          <a:prstGeom prst="rect">
            <a:avLst/>
          </a:prstGeom>
          <a:noFill/>
          <a:ln/>
        </p:spPr>
        <p:txBody>
          <a:bodyPr wrap="square" lIns="0" tIns="0" rIns="0" bIns="0" rtlCol="0" anchor="ctr"/>
          <a:lstStyle/>
          <a:p>
            <a:pPr indent="0" marL="0">
              <a:buNone/>
            </a:pPr>
            <a:r>
              <a:rPr lang="en-US" sz="1100" dirty="0">
                <a:solidFill>
                  <a:srgbClr val="D4E4F0"/>
                </a:solidFill>
              </a:rPr>
              <a:t>CLAUDE.md updated if agent rules changed</a:t>
            </a:r>
            <a:endParaRPr lang="en-US" sz="1100" dirty="0"/>
          </a:p>
        </p:txBody>
      </p:sp>
      <p:sp>
        <p:nvSpPr>
          <p:cNvPr id="61" name="Shape 59"/>
          <p:cNvSpPr/>
          <p:nvPr/>
        </p:nvSpPr>
        <p:spPr>
          <a:xfrm>
            <a:off x="4818888" y="4526280"/>
            <a:ext cx="237744" cy="256032"/>
          </a:xfrm>
          <a:prstGeom prst="rect">
            <a:avLst/>
          </a:prstGeom>
          <a:solidFill>
            <a:srgbClr val="8096B0">
              <a:alpha val="80000"/>
            </a:srgbClr>
          </a:solidFill>
          <a:ln/>
        </p:spPr>
      </p:sp>
      <p:sp>
        <p:nvSpPr>
          <p:cNvPr id="62" name="Text 60"/>
          <p:cNvSpPr/>
          <p:nvPr/>
        </p:nvSpPr>
        <p:spPr>
          <a:xfrm>
            <a:off x="4818888" y="4526280"/>
            <a:ext cx="237744" cy="256032"/>
          </a:xfrm>
          <a:prstGeom prst="rect">
            <a:avLst/>
          </a:prstGeom>
          <a:noFill/>
          <a:ln/>
        </p:spPr>
        <p:txBody>
          <a:bodyPr wrap="square" lIns="0" tIns="0" rIns="0" bIns="0" rtlCol="0" anchor="ctr"/>
          <a:lstStyle/>
          <a:p>
            <a:pPr algn="ctr" indent="0" marL="0">
              <a:buNone/>
            </a:pPr>
            <a:r>
              <a:rPr lang="en-US" sz="1200" dirty="0">
                <a:solidFill>
                  <a:srgbClr val="8096B0"/>
                </a:solidFill>
              </a:rPr>
              <a:t>□</a:t>
            </a:r>
            <a:endParaRPr lang="en-US" sz="1200" dirty="0"/>
          </a:p>
        </p:txBody>
      </p:sp>
      <p:sp>
        <p:nvSpPr>
          <p:cNvPr id="63" name="Text 61"/>
          <p:cNvSpPr/>
          <p:nvPr/>
        </p:nvSpPr>
        <p:spPr>
          <a:xfrm>
            <a:off x="5129784" y="4526280"/>
            <a:ext cx="3675888" cy="274320"/>
          </a:xfrm>
          <a:prstGeom prst="rect">
            <a:avLst/>
          </a:prstGeom>
          <a:noFill/>
          <a:ln/>
        </p:spPr>
        <p:txBody>
          <a:bodyPr wrap="square" lIns="0" tIns="0" rIns="0" bIns="0" rtlCol="0" anchor="ctr"/>
          <a:lstStyle/>
          <a:p>
            <a:pPr indent="0" marL="0">
              <a:buNone/>
            </a:pPr>
            <a:r>
              <a:rPr lang="en-US" sz="1100" dirty="0">
                <a:solidFill>
                  <a:srgbClr val="D4E4F0"/>
                </a:solidFill>
              </a:rPr>
              <a:t>Inline comments for complex logic</a:t>
            </a:r>
            <a:endParaRPr lang="en-US" sz="1100" dirty="0"/>
          </a:p>
        </p:txBody>
      </p:sp>
      <p:sp>
        <p:nvSpPr>
          <p:cNvPr id="64" name="Text 62"/>
          <p:cNvSpPr/>
          <p:nvPr/>
        </p:nvSpPr>
        <p:spPr>
          <a:xfrm>
            <a:off x="320040" y="4873752"/>
            <a:ext cx="8503920" cy="237744"/>
          </a:xfrm>
          <a:prstGeom prst="rect">
            <a:avLst/>
          </a:prstGeom>
          <a:noFill/>
          <a:ln/>
        </p:spPr>
        <p:txBody>
          <a:bodyPr wrap="square" lIns="0" tIns="0" rIns="0" bIns="0" rtlCol="0" anchor="ctr"/>
          <a:lstStyle/>
          <a:p>
            <a:pPr indent="0" marL="0">
              <a:buNone/>
            </a:pPr>
            <a:r>
              <a:rPr lang="en-US" sz="1050" i="1" dirty="0">
                <a:solidFill>
                  <a:srgbClr val="7A90A8"/>
                </a:solidFill>
              </a:rPr>
              <a:t>Embed this DoD as a checklist in your PR template. Make it the Verifier’s exit criteria. Agents that don’t meet DoD don’t get to open PRs.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22960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THE CONTINUOUS IMPROVEMENT LOOP</a:t>
            </a:r>
            <a:endParaRPr lang="en-US" sz="1300" dirty="0"/>
          </a:p>
        </p:txBody>
      </p:sp>
      <p:sp>
        <p:nvSpPr>
          <p:cNvPr id="4" name="Text 2"/>
          <p:cNvSpPr/>
          <p:nvPr/>
        </p:nvSpPr>
        <p:spPr>
          <a:xfrm>
            <a:off x="365760" y="822960"/>
            <a:ext cx="8412480" cy="274320"/>
          </a:xfrm>
          <a:prstGeom prst="rect">
            <a:avLst/>
          </a:prstGeom>
          <a:noFill/>
          <a:ln/>
        </p:spPr>
        <p:txBody>
          <a:bodyPr wrap="square" lIns="0" tIns="0" rIns="0" bIns="0" rtlCol="0" anchor="ctr"/>
          <a:lstStyle/>
          <a:p>
            <a:pPr indent="0" marL="0">
              <a:buNone/>
            </a:pPr>
            <a:r>
              <a:rPr lang="en-US" sz="1200" i="1" dirty="0">
                <a:solidFill>
                  <a:srgbClr val="7A90A8"/>
                </a:solidFill>
              </a:rPr>
              <a:t>The self-improving agentic system: every deployment is an opportunity to make the next one better</a:t>
            </a:r>
            <a:endParaRPr lang="en-US" sz="1200" dirty="0"/>
          </a:p>
        </p:txBody>
      </p:sp>
      <p:sp>
        <p:nvSpPr>
          <p:cNvPr id="5" name="Shape 3"/>
          <p:cNvSpPr/>
          <p:nvPr/>
        </p:nvSpPr>
        <p:spPr>
          <a:xfrm>
            <a:off x="320040" y="1188720"/>
            <a:ext cx="1572768" cy="356616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188720"/>
            <a:ext cx="1572768" cy="566928"/>
          </a:xfrm>
          <a:prstGeom prst="rect">
            <a:avLst/>
          </a:prstGeom>
          <a:solidFill>
            <a:srgbClr val="1C3557"/>
          </a:solidFill>
          <a:ln/>
        </p:spPr>
      </p:sp>
      <p:sp>
        <p:nvSpPr>
          <p:cNvPr id="7" name="Text 5"/>
          <p:cNvSpPr/>
          <p:nvPr/>
        </p:nvSpPr>
        <p:spPr>
          <a:xfrm>
            <a:off x="320040" y="1188720"/>
            <a:ext cx="438912" cy="566928"/>
          </a:xfrm>
          <a:prstGeom prst="rect">
            <a:avLst/>
          </a:prstGeom>
          <a:noFill/>
          <a:ln/>
        </p:spPr>
        <p:txBody>
          <a:bodyPr wrap="square" lIns="0" tIns="0" rIns="0" bIns="0" rtlCol="0" anchor="ctr"/>
          <a:lstStyle/>
          <a:p>
            <a:pPr algn="ctr" indent="0" marL="0">
              <a:buNone/>
            </a:pPr>
            <a:r>
              <a:rPr lang="en-US" sz="1800" b="1" dirty="0">
                <a:solidFill>
                  <a:srgbClr val="FFFFFF"/>
                </a:solidFill>
              </a:rPr>
              <a:t>01</a:t>
            </a:r>
            <a:endParaRPr lang="en-US" sz="1800" dirty="0"/>
          </a:p>
        </p:txBody>
      </p:sp>
      <p:sp>
        <p:nvSpPr>
          <p:cNvPr id="8" name="Text 6"/>
          <p:cNvSpPr/>
          <p:nvPr/>
        </p:nvSpPr>
        <p:spPr>
          <a:xfrm>
            <a:off x="777240" y="1188720"/>
            <a:ext cx="1078992" cy="566928"/>
          </a:xfrm>
          <a:prstGeom prst="rect">
            <a:avLst/>
          </a:prstGeom>
          <a:noFill/>
          <a:ln/>
        </p:spPr>
        <p:txBody>
          <a:bodyPr wrap="square" lIns="0" tIns="0" rIns="0" bIns="0" rtlCol="0" anchor="ctr"/>
          <a:lstStyle/>
          <a:p>
            <a:pPr indent="0" marL="0">
              <a:buNone/>
            </a:pPr>
            <a:r>
              <a:rPr lang="en-US" sz="1300" b="1" dirty="0">
                <a:solidFill>
                  <a:srgbClr val="FFFFFF"/>
                </a:solidFill>
              </a:rPr>
              <a:t>Deploy</a:t>
            </a:r>
            <a:endParaRPr lang="en-US" sz="1300" dirty="0"/>
          </a:p>
        </p:txBody>
      </p:sp>
      <p:sp>
        <p:nvSpPr>
          <p:cNvPr id="9" name="Text 7"/>
          <p:cNvSpPr/>
          <p:nvPr/>
        </p:nvSpPr>
        <p:spPr>
          <a:xfrm>
            <a:off x="411480" y="1828800"/>
            <a:ext cx="1389888" cy="2761488"/>
          </a:xfrm>
          <a:prstGeom prst="rect">
            <a:avLst/>
          </a:prstGeom>
          <a:noFill/>
          <a:ln/>
        </p:spPr>
        <p:txBody>
          <a:bodyPr wrap="square" lIns="0" tIns="0" rIns="0" bIns="0" rtlCol="0" anchor="ctr"/>
          <a:lstStyle/>
          <a:p>
            <a:pPr indent="0" marL="0">
              <a:buNone/>
            </a:pPr>
            <a:r>
              <a:rPr lang="en-US" sz="1100" dirty="0">
                <a:solidFill>
                  <a:srgbClr val="1E2D3D"/>
                </a:solidFill>
              </a:rPr>
              <a:t>Agent opens PR. Human reviews and merges. Agent output enters production.</a:t>
            </a:r>
            <a:endParaRPr lang="en-US" sz="1100" dirty="0"/>
          </a:p>
        </p:txBody>
      </p:sp>
      <p:sp>
        <p:nvSpPr>
          <p:cNvPr id="10" name="Text 8"/>
          <p:cNvSpPr/>
          <p:nvPr/>
        </p:nvSpPr>
        <p:spPr>
          <a:xfrm>
            <a:off x="1892808" y="2761488"/>
            <a:ext cx="146304" cy="347472"/>
          </a:xfrm>
          <a:prstGeom prst="rect">
            <a:avLst/>
          </a:prstGeom>
          <a:noFill/>
          <a:ln/>
        </p:spPr>
        <p:txBody>
          <a:bodyPr wrap="square" lIns="0" tIns="0" rIns="0" bIns="0" rtlCol="0" anchor="ctr"/>
          <a:lstStyle/>
          <a:p>
            <a:pPr algn="ctr" indent="0" marL="0">
              <a:buNone/>
            </a:pPr>
            <a:r>
              <a:rPr lang="en-US" sz="1600" dirty="0">
                <a:solidFill>
                  <a:srgbClr val="7A90A8"/>
                </a:solidFill>
              </a:rPr>
              <a:t>→</a:t>
            </a:r>
            <a:endParaRPr lang="en-US" sz="1600" dirty="0"/>
          </a:p>
        </p:txBody>
      </p:sp>
      <p:sp>
        <p:nvSpPr>
          <p:cNvPr id="11" name="Shape 9"/>
          <p:cNvSpPr/>
          <p:nvPr/>
        </p:nvSpPr>
        <p:spPr>
          <a:xfrm>
            <a:off x="2039112" y="1188720"/>
            <a:ext cx="1572768" cy="356616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2" name="Shape 10"/>
          <p:cNvSpPr/>
          <p:nvPr/>
        </p:nvSpPr>
        <p:spPr>
          <a:xfrm>
            <a:off x="2039112" y="1188720"/>
            <a:ext cx="1572768" cy="566928"/>
          </a:xfrm>
          <a:prstGeom prst="rect">
            <a:avLst/>
          </a:prstGeom>
          <a:solidFill>
            <a:srgbClr val="4A7FA8"/>
          </a:solidFill>
          <a:ln/>
        </p:spPr>
      </p:sp>
      <p:sp>
        <p:nvSpPr>
          <p:cNvPr id="13" name="Text 11"/>
          <p:cNvSpPr/>
          <p:nvPr/>
        </p:nvSpPr>
        <p:spPr>
          <a:xfrm>
            <a:off x="2039112" y="1188720"/>
            <a:ext cx="438912" cy="566928"/>
          </a:xfrm>
          <a:prstGeom prst="rect">
            <a:avLst/>
          </a:prstGeom>
          <a:noFill/>
          <a:ln/>
        </p:spPr>
        <p:txBody>
          <a:bodyPr wrap="square" lIns="0" tIns="0" rIns="0" bIns="0" rtlCol="0" anchor="ctr"/>
          <a:lstStyle/>
          <a:p>
            <a:pPr algn="ctr" indent="0" marL="0">
              <a:buNone/>
            </a:pPr>
            <a:r>
              <a:rPr lang="en-US" sz="1800" b="1" dirty="0">
                <a:solidFill>
                  <a:srgbClr val="FFFFFF"/>
                </a:solidFill>
              </a:rPr>
              <a:t>02</a:t>
            </a:r>
            <a:endParaRPr lang="en-US" sz="1800" dirty="0"/>
          </a:p>
        </p:txBody>
      </p:sp>
      <p:sp>
        <p:nvSpPr>
          <p:cNvPr id="14" name="Text 12"/>
          <p:cNvSpPr/>
          <p:nvPr/>
        </p:nvSpPr>
        <p:spPr>
          <a:xfrm>
            <a:off x="2496312" y="1188720"/>
            <a:ext cx="1078992" cy="566928"/>
          </a:xfrm>
          <a:prstGeom prst="rect">
            <a:avLst/>
          </a:prstGeom>
          <a:noFill/>
          <a:ln/>
        </p:spPr>
        <p:txBody>
          <a:bodyPr wrap="square" lIns="0" tIns="0" rIns="0" bIns="0" rtlCol="0" anchor="ctr"/>
          <a:lstStyle/>
          <a:p>
            <a:pPr indent="0" marL="0">
              <a:buNone/>
            </a:pPr>
            <a:r>
              <a:rPr lang="en-US" sz="1300" b="1" dirty="0">
                <a:solidFill>
                  <a:srgbClr val="FFFFFF"/>
                </a:solidFill>
              </a:rPr>
              <a:t>Observe</a:t>
            </a:r>
            <a:endParaRPr lang="en-US" sz="1300" dirty="0"/>
          </a:p>
        </p:txBody>
      </p:sp>
      <p:sp>
        <p:nvSpPr>
          <p:cNvPr id="15" name="Text 13"/>
          <p:cNvSpPr/>
          <p:nvPr/>
        </p:nvSpPr>
        <p:spPr>
          <a:xfrm>
            <a:off x="2130552" y="1828800"/>
            <a:ext cx="1389888" cy="2761488"/>
          </a:xfrm>
          <a:prstGeom prst="rect">
            <a:avLst/>
          </a:prstGeom>
          <a:noFill/>
          <a:ln/>
        </p:spPr>
        <p:txBody>
          <a:bodyPr wrap="square" lIns="0" tIns="0" rIns="0" bIns="0" rtlCol="0" anchor="ctr"/>
          <a:lstStyle/>
          <a:p>
            <a:pPr indent="0" marL="0">
              <a:buNone/>
            </a:pPr>
            <a:r>
              <a:rPr lang="en-US" sz="1100" dirty="0">
                <a:solidFill>
                  <a:srgbClr val="1E2D3D"/>
                </a:solidFill>
              </a:rPr>
              <a:t>Monitor for regressions, user feedback, performance issues. Agents help here too (log analysis, alerting).</a:t>
            </a:r>
            <a:endParaRPr lang="en-US" sz="1100" dirty="0"/>
          </a:p>
        </p:txBody>
      </p:sp>
      <p:sp>
        <p:nvSpPr>
          <p:cNvPr id="16" name="Text 14"/>
          <p:cNvSpPr/>
          <p:nvPr/>
        </p:nvSpPr>
        <p:spPr>
          <a:xfrm>
            <a:off x="3611880" y="2761488"/>
            <a:ext cx="146304" cy="347472"/>
          </a:xfrm>
          <a:prstGeom prst="rect">
            <a:avLst/>
          </a:prstGeom>
          <a:noFill/>
          <a:ln/>
        </p:spPr>
        <p:txBody>
          <a:bodyPr wrap="square" lIns="0" tIns="0" rIns="0" bIns="0" rtlCol="0" anchor="ctr"/>
          <a:lstStyle/>
          <a:p>
            <a:pPr algn="ctr" indent="0" marL="0">
              <a:buNone/>
            </a:pPr>
            <a:r>
              <a:rPr lang="en-US" sz="1600" dirty="0">
                <a:solidFill>
                  <a:srgbClr val="7A90A8"/>
                </a:solidFill>
              </a:rPr>
              <a:t>→</a:t>
            </a:r>
            <a:endParaRPr lang="en-US" sz="1600" dirty="0"/>
          </a:p>
        </p:txBody>
      </p:sp>
      <p:sp>
        <p:nvSpPr>
          <p:cNvPr id="17" name="Shape 15"/>
          <p:cNvSpPr/>
          <p:nvPr/>
        </p:nvSpPr>
        <p:spPr>
          <a:xfrm>
            <a:off x="3758184" y="1188720"/>
            <a:ext cx="1572768" cy="356616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8" name="Shape 16"/>
          <p:cNvSpPr/>
          <p:nvPr/>
        </p:nvSpPr>
        <p:spPr>
          <a:xfrm>
            <a:off x="3758184" y="1188720"/>
            <a:ext cx="1572768" cy="566928"/>
          </a:xfrm>
          <a:prstGeom prst="rect">
            <a:avLst/>
          </a:prstGeom>
          <a:solidFill>
            <a:srgbClr val="3A7DC9"/>
          </a:solidFill>
          <a:ln/>
        </p:spPr>
      </p:sp>
      <p:sp>
        <p:nvSpPr>
          <p:cNvPr id="19" name="Text 17"/>
          <p:cNvSpPr/>
          <p:nvPr/>
        </p:nvSpPr>
        <p:spPr>
          <a:xfrm>
            <a:off x="3758184" y="1188720"/>
            <a:ext cx="438912" cy="566928"/>
          </a:xfrm>
          <a:prstGeom prst="rect">
            <a:avLst/>
          </a:prstGeom>
          <a:noFill/>
          <a:ln/>
        </p:spPr>
        <p:txBody>
          <a:bodyPr wrap="square" lIns="0" tIns="0" rIns="0" bIns="0" rtlCol="0" anchor="ctr"/>
          <a:lstStyle/>
          <a:p>
            <a:pPr algn="ctr" indent="0" marL="0">
              <a:buNone/>
            </a:pPr>
            <a:r>
              <a:rPr lang="en-US" sz="1800" b="1" dirty="0">
                <a:solidFill>
                  <a:srgbClr val="FFFFFF"/>
                </a:solidFill>
              </a:rPr>
              <a:t>03</a:t>
            </a:r>
            <a:endParaRPr lang="en-US" sz="1800" dirty="0"/>
          </a:p>
        </p:txBody>
      </p:sp>
      <p:sp>
        <p:nvSpPr>
          <p:cNvPr id="20" name="Text 18"/>
          <p:cNvSpPr/>
          <p:nvPr/>
        </p:nvSpPr>
        <p:spPr>
          <a:xfrm>
            <a:off x="4215384" y="1188720"/>
            <a:ext cx="1078992" cy="566928"/>
          </a:xfrm>
          <a:prstGeom prst="rect">
            <a:avLst/>
          </a:prstGeom>
          <a:noFill/>
          <a:ln/>
        </p:spPr>
        <p:txBody>
          <a:bodyPr wrap="square" lIns="0" tIns="0" rIns="0" bIns="0" rtlCol="0" anchor="ctr"/>
          <a:lstStyle/>
          <a:p>
            <a:pPr indent="0" marL="0">
              <a:buNone/>
            </a:pPr>
            <a:r>
              <a:rPr lang="en-US" sz="1300" b="1" dirty="0">
                <a:solidFill>
                  <a:srgbClr val="FFFFFF"/>
                </a:solidFill>
              </a:rPr>
              <a:t>Detect Drift</a:t>
            </a:r>
            <a:endParaRPr lang="en-US" sz="1300" dirty="0"/>
          </a:p>
        </p:txBody>
      </p:sp>
      <p:sp>
        <p:nvSpPr>
          <p:cNvPr id="21" name="Text 19"/>
          <p:cNvSpPr/>
          <p:nvPr/>
        </p:nvSpPr>
        <p:spPr>
          <a:xfrm>
            <a:off x="3849624" y="1828800"/>
            <a:ext cx="1389888" cy="2761488"/>
          </a:xfrm>
          <a:prstGeom prst="rect">
            <a:avLst/>
          </a:prstGeom>
          <a:noFill/>
          <a:ln/>
        </p:spPr>
        <p:txBody>
          <a:bodyPr wrap="square" lIns="0" tIns="0" rIns="0" bIns="0" rtlCol="0" anchor="ctr"/>
          <a:lstStyle/>
          <a:p>
            <a:pPr indent="0" marL="0">
              <a:buNone/>
            </a:pPr>
            <a:r>
              <a:rPr lang="en-US" sz="1100" dirty="0">
                <a:solidFill>
                  <a:srgbClr val="1E2D3D"/>
                </a:solidFill>
              </a:rPr>
              <a:t>Identify where agent output diverged from intent: new bugs, edge cases missed, scope that should have been in spec.</a:t>
            </a:r>
            <a:endParaRPr lang="en-US" sz="1100" dirty="0"/>
          </a:p>
        </p:txBody>
      </p:sp>
      <p:sp>
        <p:nvSpPr>
          <p:cNvPr id="22" name="Text 20"/>
          <p:cNvSpPr/>
          <p:nvPr/>
        </p:nvSpPr>
        <p:spPr>
          <a:xfrm>
            <a:off x="5330952" y="2761488"/>
            <a:ext cx="146304" cy="347472"/>
          </a:xfrm>
          <a:prstGeom prst="rect">
            <a:avLst/>
          </a:prstGeom>
          <a:noFill/>
          <a:ln/>
        </p:spPr>
        <p:txBody>
          <a:bodyPr wrap="square" lIns="0" tIns="0" rIns="0" bIns="0" rtlCol="0" anchor="ctr"/>
          <a:lstStyle/>
          <a:p>
            <a:pPr algn="ctr" indent="0" marL="0">
              <a:buNone/>
            </a:pPr>
            <a:r>
              <a:rPr lang="en-US" sz="1600" dirty="0">
                <a:solidFill>
                  <a:srgbClr val="7A90A8"/>
                </a:solidFill>
              </a:rPr>
              <a:t>→</a:t>
            </a:r>
            <a:endParaRPr lang="en-US" sz="1600" dirty="0"/>
          </a:p>
        </p:txBody>
      </p:sp>
      <p:sp>
        <p:nvSpPr>
          <p:cNvPr id="23" name="Shape 21"/>
          <p:cNvSpPr/>
          <p:nvPr/>
        </p:nvSpPr>
        <p:spPr>
          <a:xfrm>
            <a:off x="5477256" y="1188720"/>
            <a:ext cx="1572768" cy="356616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4" name="Shape 22"/>
          <p:cNvSpPr/>
          <p:nvPr/>
        </p:nvSpPr>
        <p:spPr>
          <a:xfrm>
            <a:off x="5477256" y="1188720"/>
            <a:ext cx="1572768" cy="566928"/>
          </a:xfrm>
          <a:prstGeom prst="rect">
            <a:avLst/>
          </a:prstGeom>
          <a:solidFill>
            <a:srgbClr val="3A7E6E"/>
          </a:solidFill>
          <a:ln/>
        </p:spPr>
      </p:sp>
      <p:sp>
        <p:nvSpPr>
          <p:cNvPr id="25" name="Text 23"/>
          <p:cNvSpPr/>
          <p:nvPr/>
        </p:nvSpPr>
        <p:spPr>
          <a:xfrm>
            <a:off x="5477256" y="1188720"/>
            <a:ext cx="438912" cy="566928"/>
          </a:xfrm>
          <a:prstGeom prst="rect">
            <a:avLst/>
          </a:prstGeom>
          <a:noFill/>
          <a:ln/>
        </p:spPr>
        <p:txBody>
          <a:bodyPr wrap="square" lIns="0" tIns="0" rIns="0" bIns="0" rtlCol="0" anchor="ctr"/>
          <a:lstStyle/>
          <a:p>
            <a:pPr algn="ctr" indent="0" marL="0">
              <a:buNone/>
            </a:pPr>
            <a:r>
              <a:rPr lang="en-US" sz="1800" b="1" dirty="0">
                <a:solidFill>
                  <a:srgbClr val="FFFFFF"/>
                </a:solidFill>
              </a:rPr>
              <a:t>04</a:t>
            </a:r>
            <a:endParaRPr lang="en-US" sz="1800" dirty="0"/>
          </a:p>
        </p:txBody>
      </p:sp>
      <p:sp>
        <p:nvSpPr>
          <p:cNvPr id="26" name="Text 24"/>
          <p:cNvSpPr/>
          <p:nvPr/>
        </p:nvSpPr>
        <p:spPr>
          <a:xfrm>
            <a:off x="5934456" y="1188720"/>
            <a:ext cx="1078992" cy="566928"/>
          </a:xfrm>
          <a:prstGeom prst="rect">
            <a:avLst/>
          </a:prstGeom>
          <a:noFill/>
          <a:ln/>
        </p:spPr>
        <p:txBody>
          <a:bodyPr wrap="square" lIns="0" tIns="0" rIns="0" bIns="0" rtlCol="0" anchor="ctr"/>
          <a:lstStyle/>
          <a:p>
            <a:pPr indent="0" marL="0">
              <a:buNone/>
            </a:pPr>
            <a:r>
              <a:rPr lang="en-US" sz="1300" b="1" dirty="0">
                <a:solidFill>
                  <a:srgbClr val="FFFFFF"/>
                </a:solidFill>
              </a:rPr>
              <a:t>Update Spec</a:t>
            </a:r>
            <a:endParaRPr lang="en-US" sz="1300" dirty="0"/>
          </a:p>
        </p:txBody>
      </p:sp>
      <p:sp>
        <p:nvSpPr>
          <p:cNvPr id="27" name="Text 25"/>
          <p:cNvSpPr/>
          <p:nvPr/>
        </p:nvSpPr>
        <p:spPr>
          <a:xfrm>
            <a:off x="5568696" y="1828800"/>
            <a:ext cx="1389888" cy="2761488"/>
          </a:xfrm>
          <a:prstGeom prst="rect">
            <a:avLst/>
          </a:prstGeom>
          <a:noFill/>
          <a:ln/>
        </p:spPr>
        <p:txBody>
          <a:bodyPr wrap="square" lIns="0" tIns="0" rIns="0" bIns="0" rtlCol="0" anchor="ctr"/>
          <a:lstStyle/>
          <a:p>
            <a:pPr indent="0" marL="0">
              <a:buNone/>
            </a:pPr>
            <a:r>
              <a:rPr lang="en-US" sz="1100" dirty="0">
                <a:solidFill>
                  <a:srgbClr val="1E2D3D"/>
                </a:solidFill>
              </a:rPr>
              <a:t>Update SPEC.md with clarifications, new AC, or corrected non-goals. Update CLAUDE.md or Skills if agent behaviour needs tuning.</a:t>
            </a:r>
            <a:endParaRPr lang="en-US" sz="1100" dirty="0"/>
          </a:p>
        </p:txBody>
      </p:sp>
      <p:sp>
        <p:nvSpPr>
          <p:cNvPr id="28" name="Text 26"/>
          <p:cNvSpPr/>
          <p:nvPr/>
        </p:nvSpPr>
        <p:spPr>
          <a:xfrm>
            <a:off x="7050024" y="2761488"/>
            <a:ext cx="146304" cy="347472"/>
          </a:xfrm>
          <a:prstGeom prst="rect">
            <a:avLst/>
          </a:prstGeom>
          <a:noFill/>
          <a:ln/>
        </p:spPr>
        <p:txBody>
          <a:bodyPr wrap="square" lIns="0" tIns="0" rIns="0" bIns="0" rtlCol="0" anchor="ctr"/>
          <a:lstStyle/>
          <a:p>
            <a:pPr algn="ctr" indent="0" marL="0">
              <a:buNone/>
            </a:pPr>
            <a:r>
              <a:rPr lang="en-US" sz="1600" dirty="0">
                <a:solidFill>
                  <a:srgbClr val="7A90A8"/>
                </a:solidFill>
              </a:rPr>
              <a:t>→</a:t>
            </a:r>
            <a:endParaRPr lang="en-US" sz="1600" dirty="0"/>
          </a:p>
        </p:txBody>
      </p:sp>
      <p:sp>
        <p:nvSpPr>
          <p:cNvPr id="29" name="Shape 27"/>
          <p:cNvSpPr/>
          <p:nvPr/>
        </p:nvSpPr>
        <p:spPr>
          <a:xfrm>
            <a:off x="7196328" y="1188720"/>
            <a:ext cx="1572768" cy="3566160"/>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30" name="Shape 28"/>
          <p:cNvSpPr/>
          <p:nvPr/>
        </p:nvSpPr>
        <p:spPr>
          <a:xfrm>
            <a:off x="7196328" y="1188720"/>
            <a:ext cx="1572768" cy="566928"/>
          </a:xfrm>
          <a:prstGeom prst="rect">
            <a:avLst/>
          </a:prstGeom>
          <a:solidFill>
            <a:srgbClr val="8096B0"/>
          </a:solidFill>
          <a:ln/>
        </p:spPr>
      </p:sp>
      <p:sp>
        <p:nvSpPr>
          <p:cNvPr id="31" name="Text 29"/>
          <p:cNvSpPr/>
          <p:nvPr/>
        </p:nvSpPr>
        <p:spPr>
          <a:xfrm>
            <a:off x="7196328" y="1188720"/>
            <a:ext cx="438912" cy="566928"/>
          </a:xfrm>
          <a:prstGeom prst="rect">
            <a:avLst/>
          </a:prstGeom>
          <a:noFill/>
          <a:ln/>
        </p:spPr>
        <p:txBody>
          <a:bodyPr wrap="square" lIns="0" tIns="0" rIns="0" bIns="0" rtlCol="0" anchor="ctr"/>
          <a:lstStyle/>
          <a:p>
            <a:pPr algn="ctr" indent="0" marL="0">
              <a:buNone/>
            </a:pPr>
            <a:r>
              <a:rPr lang="en-US" sz="1800" b="1" dirty="0">
                <a:solidFill>
                  <a:srgbClr val="FFFFFF"/>
                </a:solidFill>
              </a:rPr>
              <a:t>05</a:t>
            </a:r>
            <a:endParaRPr lang="en-US" sz="1800" dirty="0"/>
          </a:p>
        </p:txBody>
      </p:sp>
      <p:sp>
        <p:nvSpPr>
          <p:cNvPr id="32" name="Text 30"/>
          <p:cNvSpPr/>
          <p:nvPr/>
        </p:nvSpPr>
        <p:spPr>
          <a:xfrm>
            <a:off x="7653528" y="1188720"/>
            <a:ext cx="1078992" cy="566928"/>
          </a:xfrm>
          <a:prstGeom prst="rect">
            <a:avLst/>
          </a:prstGeom>
          <a:noFill/>
          <a:ln/>
        </p:spPr>
        <p:txBody>
          <a:bodyPr wrap="square" lIns="0" tIns="0" rIns="0" bIns="0" rtlCol="0" anchor="ctr"/>
          <a:lstStyle/>
          <a:p>
            <a:pPr indent="0" marL="0">
              <a:buNone/>
            </a:pPr>
            <a:r>
              <a:rPr lang="en-US" sz="1300" b="1" dirty="0">
                <a:solidFill>
                  <a:srgbClr val="FFFFFF"/>
                </a:solidFill>
              </a:rPr>
              <a:t>Re-run Agent</a:t>
            </a:r>
            <a:endParaRPr lang="en-US" sz="1300" dirty="0"/>
          </a:p>
        </p:txBody>
      </p:sp>
      <p:sp>
        <p:nvSpPr>
          <p:cNvPr id="33" name="Text 31"/>
          <p:cNvSpPr/>
          <p:nvPr/>
        </p:nvSpPr>
        <p:spPr>
          <a:xfrm>
            <a:off x="7287768" y="1828800"/>
            <a:ext cx="1389888" cy="2761488"/>
          </a:xfrm>
          <a:prstGeom prst="rect">
            <a:avLst/>
          </a:prstGeom>
          <a:noFill/>
          <a:ln/>
        </p:spPr>
        <p:txBody>
          <a:bodyPr wrap="square" lIns="0" tIns="0" rIns="0" bIns="0" rtlCol="0" anchor="ctr"/>
          <a:lstStyle/>
          <a:p>
            <a:pPr indent="0" marL="0">
              <a:buNone/>
            </a:pPr>
            <a:r>
              <a:rPr lang="en-US" sz="1100" dirty="0">
                <a:solidFill>
                  <a:srgbClr val="1E2D3D"/>
                </a:solidFill>
              </a:rPr>
              <a:t>Apply the updated spec to the fix or new feature. Better context → better agent output. The loop compounds.</a:t>
            </a:r>
            <a:endParaRPr lang="en-US" sz="1100" dirty="0"/>
          </a:p>
        </p:txBody>
      </p:sp>
      <p:sp>
        <p:nvSpPr>
          <p:cNvPr id="34" name="Shape 32"/>
          <p:cNvSpPr/>
          <p:nvPr/>
        </p:nvSpPr>
        <p:spPr>
          <a:xfrm>
            <a:off x="320040" y="4828032"/>
            <a:ext cx="8503920" cy="274320"/>
          </a:xfrm>
          <a:prstGeom prst="rect">
            <a:avLst/>
          </a:prstGeom>
          <a:solidFill>
            <a:srgbClr val="D4E4F0"/>
          </a:solidFill>
          <a:ln/>
        </p:spPr>
      </p:sp>
      <p:sp>
        <p:nvSpPr>
          <p:cNvPr id="35" name="Text 33"/>
          <p:cNvSpPr/>
          <p:nvPr/>
        </p:nvSpPr>
        <p:spPr>
          <a:xfrm>
            <a:off x="411480" y="4828032"/>
            <a:ext cx="8321040" cy="274320"/>
          </a:xfrm>
          <a:prstGeom prst="rect">
            <a:avLst/>
          </a:prstGeom>
          <a:noFill/>
          <a:ln/>
        </p:spPr>
        <p:txBody>
          <a:bodyPr wrap="square" lIns="0" tIns="0" rIns="0" bIns="0" rtlCol="0" anchor="ctr"/>
          <a:lstStyle/>
          <a:p>
            <a:pPr indent="0" marL="0">
              <a:buNone/>
            </a:pPr>
            <a:r>
              <a:rPr lang="en-US" sz="1100" b="1" dirty="0">
                <a:solidFill>
                  <a:srgbClr val="1C3557"/>
                </a:solidFill>
              </a:rPr>
              <a:t>Hygiene practices: weekly SPEC.md review · monthly CLAUDE.md audit · quarterly Skills refresh · continuous ADR capture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22960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REVIEW HYGIENE ANTI-PATTERNS</a:t>
            </a:r>
            <a:endParaRPr lang="en-US" sz="1300" dirty="0"/>
          </a:p>
        </p:txBody>
      </p:sp>
      <p:sp>
        <p:nvSpPr>
          <p:cNvPr id="4" name="Text 2"/>
          <p:cNvSpPr/>
          <p:nvPr/>
        </p:nvSpPr>
        <p:spPr>
          <a:xfrm>
            <a:off x="365760" y="822960"/>
            <a:ext cx="8412480" cy="274320"/>
          </a:xfrm>
          <a:prstGeom prst="rect">
            <a:avLst/>
          </a:prstGeom>
          <a:noFill/>
          <a:ln/>
        </p:spPr>
        <p:txBody>
          <a:bodyPr wrap="square" lIns="0" tIns="0" rIns="0" bIns="0" rtlCol="0" anchor="ctr"/>
          <a:lstStyle/>
          <a:p>
            <a:pPr indent="0" marL="0">
              <a:buNone/>
            </a:pPr>
            <a:r>
              <a:rPr lang="en-US" sz="1200" i="1" dirty="0">
                <a:solidFill>
                  <a:srgbClr val="7A90A8"/>
                </a:solidFill>
              </a:rPr>
              <a:t>Common ways that review processes break down when agents write the code</a:t>
            </a:r>
            <a:endParaRPr lang="en-US" sz="1200" dirty="0"/>
          </a:p>
        </p:txBody>
      </p:sp>
      <p:sp>
        <p:nvSpPr>
          <p:cNvPr id="5" name="Shape 3"/>
          <p:cNvSpPr/>
          <p:nvPr/>
        </p:nvSpPr>
        <p:spPr>
          <a:xfrm>
            <a:off x="320040" y="1170432"/>
            <a:ext cx="4160520" cy="118872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170432"/>
            <a:ext cx="411480" cy="1188720"/>
          </a:xfrm>
          <a:prstGeom prst="rect">
            <a:avLst/>
          </a:prstGeom>
          <a:solidFill>
            <a:srgbClr val="B03040">
              <a:alpha val="90000"/>
            </a:srgbClr>
          </a:solidFill>
          <a:ln/>
        </p:spPr>
      </p:sp>
      <p:sp>
        <p:nvSpPr>
          <p:cNvPr id="7" name="Text 5"/>
          <p:cNvSpPr/>
          <p:nvPr/>
        </p:nvSpPr>
        <p:spPr>
          <a:xfrm>
            <a:off x="320040" y="1170432"/>
            <a:ext cx="411480" cy="1188720"/>
          </a:xfrm>
          <a:prstGeom prst="rect">
            <a:avLst/>
          </a:prstGeom>
          <a:noFill/>
          <a:ln/>
        </p:spPr>
        <p:txBody>
          <a:bodyPr wrap="square" lIns="0" tIns="0" rIns="0" bIns="0" rtlCol="0" anchor="ctr"/>
          <a:lstStyle/>
          <a:p>
            <a:pPr algn="ctr" indent="0" marL="0">
              <a:buNone/>
            </a:pPr>
            <a:r>
              <a:rPr lang="en-US" sz="1400" b="1" dirty="0">
                <a:solidFill>
                  <a:srgbClr val="FFFFFF"/>
                </a:solidFill>
              </a:rPr>
              <a:t>01</a:t>
            </a:r>
            <a:endParaRPr lang="en-US" sz="1400" dirty="0"/>
          </a:p>
        </p:txBody>
      </p:sp>
      <p:sp>
        <p:nvSpPr>
          <p:cNvPr id="8" name="Text 6"/>
          <p:cNvSpPr/>
          <p:nvPr/>
        </p:nvSpPr>
        <p:spPr>
          <a:xfrm>
            <a:off x="822960" y="1225296"/>
            <a:ext cx="3566160" cy="274320"/>
          </a:xfrm>
          <a:prstGeom prst="rect">
            <a:avLst/>
          </a:prstGeom>
          <a:noFill/>
          <a:ln/>
        </p:spPr>
        <p:txBody>
          <a:bodyPr wrap="square" lIns="0" tIns="0" rIns="0" bIns="0" rtlCol="0" anchor="ctr"/>
          <a:lstStyle/>
          <a:p>
            <a:pPr indent="0" marL="0">
              <a:buNone/>
            </a:pPr>
            <a:r>
              <a:rPr lang="en-US" sz="1200" b="1" dirty="0">
                <a:solidFill>
                  <a:srgbClr val="1C3557"/>
                </a:solidFill>
              </a:rPr>
              <a:t>Rubber-stamping agent PRs</a:t>
            </a:r>
            <a:endParaRPr lang="en-US" sz="1200" dirty="0"/>
          </a:p>
        </p:txBody>
      </p:sp>
      <p:sp>
        <p:nvSpPr>
          <p:cNvPr id="9" name="Text 7"/>
          <p:cNvSpPr/>
          <p:nvPr/>
        </p:nvSpPr>
        <p:spPr>
          <a:xfrm>
            <a:off x="822960" y="1554480"/>
            <a:ext cx="3566160" cy="347472"/>
          </a:xfrm>
          <a:prstGeom prst="rect">
            <a:avLst/>
          </a:prstGeom>
          <a:noFill/>
          <a:ln/>
        </p:spPr>
        <p:txBody>
          <a:bodyPr wrap="square" lIns="0" tIns="0" rIns="0" bIns="0" rtlCol="0" anchor="ctr"/>
          <a:lstStyle/>
          <a:p>
            <a:pPr indent="0" marL="0">
              <a:buNone/>
            </a:pPr>
            <a:r>
              <a:rPr lang="en-US" sz="1050" dirty="0">
                <a:solidFill>
                  <a:srgbClr val="B03040"/>
                </a:solidFill>
              </a:rPr>
              <a:t>⚠ Reviewers merge without reading diffs. Technical debt accumulates at machine speed.</a:t>
            </a:r>
            <a:endParaRPr lang="en-US" sz="1050" dirty="0"/>
          </a:p>
        </p:txBody>
      </p:sp>
      <p:sp>
        <p:nvSpPr>
          <p:cNvPr id="10" name="Text 8"/>
          <p:cNvSpPr/>
          <p:nvPr/>
        </p:nvSpPr>
        <p:spPr>
          <a:xfrm>
            <a:off x="822960" y="1938528"/>
            <a:ext cx="3566160" cy="347472"/>
          </a:xfrm>
          <a:prstGeom prst="rect">
            <a:avLst/>
          </a:prstGeom>
          <a:noFill/>
          <a:ln/>
        </p:spPr>
        <p:txBody>
          <a:bodyPr wrap="square" lIns="0" tIns="0" rIns="0" bIns="0" rtlCol="0" anchor="ctr"/>
          <a:lstStyle/>
          <a:p>
            <a:pPr indent="0" marL="0">
              <a:buNone/>
            </a:pPr>
            <a:r>
              <a:rPr lang="en-US" sz="1050" dirty="0">
                <a:solidFill>
                  <a:srgbClr val="3A7E6E"/>
                </a:solidFill>
              </a:rPr>
              <a:t>✓ Review AI PRs with the same rigour as human PRs. Scope + intent + correctness. No exceptions.</a:t>
            </a:r>
            <a:endParaRPr lang="en-US" sz="1050" dirty="0"/>
          </a:p>
        </p:txBody>
      </p:sp>
      <p:sp>
        <p:nvSpPr>
          <p:cNvPr id="11" name="Shape 9"/>
          <p:cNvSpPr/>
          <p:nvPr/>
        </p:nvSpPr>
        <p:spPr>
          <a:xfrm>
            <a:off x="320040" y="2468880"/>
            <a:ext cx="4160520" cy="118872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12" name="Shape 10"/>
          <p:cNvSpPr/>
          <p:nvPr/>
        </p:nvSpPr>
        <p:spPr>
          <a:xfrm>
            <a:off x="320040" y="2468880"/>
            <a:ext cx="411480" cy="1188720"/>
          </a:xfrm>
          <a:prstGeom prst="rect">
            <a:avLst/>
          </a:prstGeom>
          <a:solidFill>
            <a:srgbClr val="B03040">
              <a:alpha val="90000"/>
            </a:srgbClr>
          </a:solidFill>
          <a:ln/>
        </p:spPr>
      </p:sp>
      <p:sp>
        <p:nvSpPr>
          <p:cNvPr id="13" name="Text 11"/>
          <p:cNvSpPr/>
          <p:nvPr/>
        </p:nvSpPr>
        <p:spPr>
          <a:xfrm>
            <a:off x="320040" y="2468880"/>
            <a:ext cx="411480" cy="1188720"/>
          </a:xfrm>
          <a:prstGeom prst="rect">
            <a:avLst/>
          </a:prstGeom>
          <a:noFill/>
          <a:ln/>
        </p:spPr>
        <p:txBody>
          <a:bodyPr wrap="square" lIns="0" tIns="0" rIns="0" bIns="0" rtlCol="0" anchor="ctr"/>
          <a:lstStyle/>
          <a:p>
            <a:pPr algn="ctr" indent="0" marL="0">
              <a:buNone/>
            </a:pPr>
            <a:r>
              <a:rPr lang="en-US" sz="1400" b="1" dirty="0">
                <a:solidFill>
                  <a:srgbClr val="FFFFFF"/>
                </a:solidFill>
              </a:rPr>
              <a:t>02</a:t>
            </a:r>
            <a:endParaRPr lang="en-US" sz="1400" dirty="0"/>
          </a:p>
        </p:txBody>
      </p:sp>
      <p:sp>
        <p:nvSpPr>
          <p:cNvPr id="14" name="Text 12"/>
          <p:cNvSpPr/>
          <p:nvPr/>
        </p:nvSpPr>
        <p:spPr>
          <a:xfrm>
            <a:off x="822960" y="2523744"/>
            <a:ext cx="3566160" cy="274320"/>
          </a:xfrm>
          <a:prstGeom prst="rect">
            <a:avLst/>
          </a:prstGeom>
          <a:noFill/>
          <a:ln/>
        </p:spPr>
        <p:txBody>
          <a:bodyPr wrap="square" lIns="0" tIns="0" rIns="0" bIns="0" rtlCol="0" anchor="ctr"/>
          <a:lstStyle/>
          <a:p>
            <a:pPr indent="0" marL="0">
              <a:buNone/>
            </a:pPr>
            <a:r>
              <a:rPr lang="en-US" sz="1200" b="1" dirty="0">
                <a:solidFill>
                  <a:srgbClr val="1C3557"/>
                </a:solidFill>
              </a:rPr>
              <a:t>Not checking for scope creep</a:t>
            </a:r>
            <a:endParaRPr lang="en-US" sz="1200" dirty="0"/>
          </a:p>
        </p:txBody>
      </p:sp>
      <p:sp>
        <p:nvSpPr>
          <p:cNvPr id="15" name="Text 13"/>
          <p:cNvSpPr/>
          <p:nvPr/>
        </p:nvSpPr>
        <p:spPr>
          <a:xfrm>
            <a:off x="822960" y="2852928"/>
            <a:ext cx="3566160" cy="347472"/>
          </a:xfrm>
          <a:prstGeom prst="rect">
            <a:avLst/>
          </a:prstGeom>
          <a:noFill/>
          <a:ln/>
        </p:spPr>
        <p:txBody>
          <a:bodyPr wrap="square" lIns="0" tIns="0" rIns="0" bIns="0" rtlCol="0" anchor="ctr"/>
          <a:lstStyle/>
          <a:p>
            <a:pPr indent="0" marL="0">
              <a:buNone/>
            </a:pPr>
            <a:r>
              <a:rPr lang="en-US" sz="1050" dirty="0">
                <a:solidFill>
                  <a:srgbClr val="B03040"/>
                </a:solidFill>
              </a:rPr>
              <a:t>⚠ Agent adds 47 files when asked to change 3. Nobody notices. Codebase becomes incoherent.</a:t>
            </a:r>
            <a:endParaRPr lang="en-US" sz="1050" dirty="0"/>
          </a:p>
        </p:txBody>
      </p:sp>
      <p:sp>
        <p:nvSpPr>
          <p:cNvPr id="16" name="Text 14"/>
          <p:cNvSpPr/>
          <p:nvPr/>
        </p:nvSpPr>
        <p:spPr>
          <a:xfrm>
            <a:off x="822960" y="3236976"/>
            <a:ext cx="3566160" cy="347472"/>
          </a:xfrm>
          <a:prstGeom prst="rect">
            <a:avLst/>
          </a:prstGeom>
          <a:noFill/>
          <a:ln/>
        </p:spPr>
        <p:txBody>
          <a:bodyPr wrap="square" lIns="0" tIns="0" rIns="0" bIns="0" rtlCol="0" anchor="ctr"/>
          <a:lstStyle/>
          <a:p>
            <a:pPr indent="0" marL="0">
              <a:buNone/>
            </a:pPr>
            <a:r>
              <a:rPr lang="en-US" sz="1050" dirty="0">
                <a:solidFill>
                  <a:srgbClr val="3A7E6E"/>
                </a:solidFill>
              </a:rPr>
              <a:t>✓ First review question: which files changed and were they all in scope? Hard fail if not.</a:t>
            </a:r>
            <a:endParaRPr lang="en-US" sz="1050" dirty="0"/>
          </a:p>
        </p:txBody>
      </p:sp>
      <p:sp>
        <p:nvSpPr>
          <p:cNvPr id="17" name="Shape 15"/>
          <p:cNvSpPr/>
          <p:nvPr/>
        </p:nvSpPr>
        <p:spPr>
          <a:xfrm>
            <a:off x="320040" y="3767328"/>
            <a:ext cx="4160520" cy="118872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18" name="Shape 16"/>
          <p:cNvSpPr/>
          <p:nvPr/>
        </p:nvSpPr>
        <p:spPr>
          <a:xfrm>
            <a:off x="320040" y="3767328"/>
            <a:ext cx="411480" cy="1188720"/>
          </a:xfrm>
          <a:prstGeom prst="rect">
            <a:avLst/>
          </a:prstGeom>
          <a:solidFill>
            <a:srgbClr val="B03040">
              <a:alpha val="90000"/>
            </a:srgbClr>
          </a:solidFill>
          <a:ln/>
        </p:spPr>
      </p:sp>
      <p:sp>
        <p:nvSpPr>
          <p:cNvPr id="19" name="Text 17"/>
          <p:cNvSpPr/>
          <p:nvPr/>
        </p:nvSpPr>
        <p:spPr>
          <a:xfrm>
            <a:off x="320040" y="3767328"/>
            <a:ext cx="411480" cy="1188720"/>
          </a:xfrm>
          <a:prstGeom prst="rect">
            <a:avLst/>
          </a:prstGeom>
          <a:noFill/>
          <a:ln/>
        </p:spPr>
        <p:txBody>
          <a:bodyPr wrap="square" lIns="0" tIns="0" rIns="0" bIns="0" rtlCol="0" anchor="ctr"/>
          <a:lstStyle/>
          <a:p>
            <a:pPr algn="ctr" indent="0" marL="0">
              <a:buNone/>
            </a:pPr>
            <a:r>
              <a:rPr lang="en-US" sz="1400" b="1" dirty="0">
                <a:solidFill>
                  <a:srgbClr val="FFFFFF"/>
                </a:solidFill>
              </a:rPr>
              <a:t>03</a:t>
            </a:r>
            <a:endParaRPr lang="en-US" sz="1400" dirty="0"/>
          </a:p>
        </p:txBody>
      </p:sp>
      <p:sp>
        <p:nvSpPr>
          <p:cNvPr id="20" name="Text 18"/>
          <p:cNvSpPr/>
          <p:nvPr/>
        </p:nvSpPr>
        <p:spPr>
          <a:xfrm>
            <a:off x="822960" y="3822192"/>
            <a:ext cx="3566160" cy="274320"/>
          </a:xfrm>
          <a:prstGeom prst="rect">
            <a:avLst/>
          </a:prstGeom>
          <a:noFill/>
          <a:ln/>
        </p:spPr>
        <p:txBody>
          <a:bodyPr wrap="square" lIns="0" tIns="0" rIns="0" bIns="0" rtlCol="0" anchor="ctr"/>
          <a:lstStyle/>
          <a:p>
            <a:pPr indent="0" marL="0">
              <a:buNone/>
            </a:pPr>
            <a:r>
              <a:rPr lang="en-US" sz="1200" b="1" dirty="0">
                <a:solidFill>
                  <a:srgbClr val="1C3557"/>
                </a:solidFill>
              </a:rPr>
              <a:t>Trusting tests implicitly</a:t>
            </a:r>
            <a:endParaRPr lang="en-US" sz="1200" dirty="0"/>
          </a:p>
        </p:txBody>
      </p:sp>
      <p:sp>
        <p:nvSpPr>
          <p:cNvPr id="21" name="Text 19"/>
          <p:cNvSpPr/>
          <p:nvPr/>
        </p:nvSpPr>
        <p:spPr>
          <a:xfrm>
            <a:off x="822960" y="4151376"/>
            <a:ext cx="3566160" cy="347472"/>
          </a:xfrm>
          <a:prstGeom prst="rect">
            <a:avLst/>
          </a:prstGeom>
          <a:noFill/>
          <a:ln/>
        </p:spPr>
        <p:txBody>
          <a:bodyPr wrap="square" lIns="0" tIns="0" rIns="0" bIns="0" rtlCol="0" anchor="ctr"/>
          <a:lstStyle/>
          <a:p>
            <a:pPr indent="0" marL="0">
              <a:buNone/>
            </a:pPr>
            <a:r>
              <a:rPr lang="en-US" sz="1050" dirty="0">
                <a:solidFill>
                  <a:srgbClr val="B03040"/>
                </a:solidFill>
              </a:rPr>
              <a:t>⚠ Agent writes tests to match its implementation, not the spec. Tests pass; feature is wrong.</a:t>
            </a:r>
            <a:endParaRPr lang="en-US" sz="1050" dirty="0"/>
          </a:p>
        </p:txBody>
      </p:sp>
      <p:sp>
        <p:nvSpPr>
          <p:cNvPr id="22" name="Text 20"/>
          <p:cNvSpPr/>
          <p:nvPr/>
        </p:nvSpPr>
        <p:spPr>
          <a:xfrm>
            <a:off x="822960" y="4535424"/>
            <a:ext cx="3566160" cy="347472"/>
          </a:xfrm>
          <a:prstGeom prst="rect">
            <a:avLst/>
          </a:prstGeom>
          <a:noFill/>
          <a:ln/>
        </p:spPr>
        <p:txBody>
          <a:bodyPr wrap="square" lIns="0" tIns="0" rIns="0" bIns="0" rtlCol="0" anchor="ctr"/>
          <a:lstStyle/>
          <a:p>
            <a:pPr indent="0" marL="0">
              <a:buNone/>
            </a:pPr>
            <a:r>
              <a:rPr lang="en-US" sz="1050" dirty="0">
                <a:solidFill>
                  <a:srgbClr val="3A7E6E"/>
                </a:solidFill>
              </a:rPr>
              <a:t>✓ Read test names against AC. Do the tests verify the spec, or the agent’s interpretation of it?</a:t>
            </a:r>
            <a:endParaRPr lang="en-US" sz="1050" dirty="0"/>
          </a:p>
        </p:txBody>
      </p:sp>
      <p:sp>
        <p:nvSpPr>
          <p:cNvPr id="23" name="Shape 21"/>
          <p:cNvSpPr/>
          <p:nvPr/>
        </p:nvSpPr>
        <p:spPr>
          <a:xfrm>
            <a:off x="4663440" y="1170432"/>
            <a:ext cx="4160520" cy="118872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24" name="Shape 22"/>
          <p:cNvSpPr/>
          <p:nvPr/>
        </p:nvSpPr>
        <p:spPr>
          <a:xfrm>
            <a:off x="4663440" y="1170432"/>
            <a:ext cx="411480" cy="1188720"/>
          </a:xfrm>
          <a:prstGeom prst="rect">
            <a:avLst/>
          </a:prstGeom>
          <a:solidFill>
            <a:srgbClr val="B03040">
              <a:alpha val="90000"/>
            </a:srgbClr>
          </a:solidFill>
          <a:ln/>
        </p:spPr>
      </p:sp>
      <p:sp>
        <p:nvSpPr>
          <p:cNvPr id="25" name="Text 23"/>
          <p:cNvSpPr/>
          <p:nvPr/>
        </p:nvSpPr>
        <p:spPr>
          <a:xfrm>
            <a:off x="4663440" y="1170432"/>
            <a:ext cx="411480" cy="1188720"/>
          </a:xfrm>
          <a:prstGeom prst="rect">
            <a:avLst/>
          </a:prstGeom>
          <a:noFill/>
          <a:ln/>
        </p:spPr>
        <p:txBody>
          <a:bodyPr wrap="square" lIns="0" tIns="0" rIns="0" bIns="0" rtlCol="0" anchor="ctr"/>
          <a:lstStyle/>
          <a:p>
            <a:pPr algn="ctr" indent="0" marL="0">
              <a:buNone/>
            </a:pPr>
            <a:r>
              <a:rPr lang="en-US" sz="1400" b="1" dirty="0">
                <a:solidFill>
                  <a:srgbClr val="FFFFFF"/>
                </a:solidFill>
              </a:rPr>
              <a:t>04</a:t>
            </a:r>
            <a:endParaRPr lang="en-US" sz="1400" dirty="0"/>
          </a:p>
        </p:txBody>
      </p:sp>
      <p:sp>
        <p:nvSpPr>
          <p:cNvPr id="26" name="Text 24"/>
          <p:cNvSpPr/>
          <p:nvPr/>
        </p:nvSpPr>
        <p:spPr>
          <a:xfrm>
            <a:off x="5166360" y="1225296"/>
            <a:ext cx="3566160" cy="274320"/>
          </a:xfrm>
          <a:prstGeom prst="rect">
            <a:avLst/>
          </a:prstGeom>
          <a:noFill/>
          <a:ln/>
        </p:spPr>
        <p:txBody>
          <a:bodyPr wrap="square" lIns="0" tIns="0" rIns="0" bIns="0" rtlCol="0" anchor="ctr"/>
          <a:lstStyle/>
          <a:p>
            <a:pPr indent="0" marL="0">
              <a:buNone/>
            </a:pPr>
            <a:r>
              <a:rPr lang="en-US" sz="1200" b="1" dirty="0">
                <a:solidFill>
                  <a:srgbClr val="1C3557"/>
                </a:solidFill>
              </a:rPr>
              <a:t>Letting ADRs go stale</a:t>
            </a:r>
            <a:endParaRPr lang="en-US" sz="1200" dirty="0"/>
          </a:p>
        </p:txBody>
      </p:sp>
      <p:sp>
        <p:nvSpPr>
          <p:cNvPr id="27" name="Text 25"/>
          <p:cNvSpPr/>
          <p:nvPr/>
        </p:nvSpPr>
        <p:spPr>
          <a:xfrm>
            <a:off x="5166360" y="1554480"/>
            <a:ext cx="3566160" cy="347472"/>
          </a:xfrm>
          <a:prstGeom prst="rect">
            <a:avLst/>
          </a:prstGeom>
          <a:noFill/>
          <a:ln/>
        </p:spPr>
        <p:txBody>
          <a:bodyPr wrap="square" lIns="0" tIns="0" rIns="0" bIns="0" rtlCol="0" anchor="ctr"/>
          <a:lstStyle/>
          <a:p>
            <a:pPr indent="0" marL="0">
              <a:buNone/>
            </a:pPr>
            <a:r>
              <a:rPr lang="en-US" sz="1050" dirty="0">
                <a:solidFill>
                  <a:srgbClr val="B03040"/>
                </a:solidFill>
              </a:rPr>
              <a:t>⚠ Agent makes architectural decisions contradicting past decisions nobody remembers.</a:t>
            </a:r>
            <a:endParaRPr lang="en-US" sz="1050" dirty="0"/>
          </a:p>
        </p:txBody>
      </p:sp>
      <p:sp>
        <p:nvSpPr>
          <p:cNvPr id="28" name="Text 26"/>
          <p:cNvSpPr/>
          <p:nvPr/>
        </p:nvSpPr>
        <p:spPr>
          <a:xfrm>
            <a:off x="5166360" y="1938528"/>
            <a:ext cx="3566160" cy="347472"/>
          </a:xfrm>
          <a:prstGeom prst="rect">
            <a:avLst/>
          </a:prstGeom>
          <a:noFill/>
          <a:ln/>
        </p:spPr>
        <p:txBody>
          <a:bodyPr wrap="square" lIns="0" tIns="0" rIns="0" bIns="0" rtlCol="0" anchor="ctr"/>
          <a:lstStyle/>
          <a:p>
            <a:pPr indent="0" marL="0">
              <a:buNone/>
            </a:pPr>
            <a:r>
              <a:rPr lang="en-US" sz="1050" dirty="0">
                <a:solidFill>
                  <a:srgbClr val="3A7E6E"/>
                </a:solidFill>
              </a:rPr>
              <a:t>✓ Make ADR capture part of the PR checklist. Agent can draft the ADR from the PR description.</a:t>
            </a:r>
            <a:endParaRPr lang="en-US" sz="1050" dirty="0"/>
          </a:p>
        </p:txBody>
      </p:sp>
      <p:sp>
        <p:nvSpPr>
          <p:cNvPr id="29" name="Shape 27"/>
          <p:cNvSpPr/>
          <p:nvPr/>
        </p:nvSpPr>
        <p:spPr>
          <a:xfrm>
            <a:off x="4663440" y="2468880"/>
            <a:ext cx="4160520" cy="118872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30" name="Shape 28"/>
          <p:cNvSpPr/>
          <p:nvPr/>
        </p:nvSpPr>
        <p:spPr>
          <a:xfrm>
            <a:off x="4663440" y="2468880"/>
            <a:ext cx="411480" cy="1188720"/>
          </a:xfrm>
          <a:prstGeom prst="rect">
            <a:avLst/>
          </a:prstGeom>
          <a:solidFill>
            <a:srgbClr val="B03040">
              <a:alpha val="90000"/>
            </a:srgbClr>
          </a:solidFill>
          <a:ln/>
        </p:spPr>
      </p:sp>
      <p:sp>
        <p:nvSpPr>
          <p:cNvPr id="31" name="Text 29"/>
          <p:cNvSpPr/>
          <p:nvPr/>
        </p:nvSpPr>
        <p:spPr>
          <a:xfrm>
            <a:off x="4663440" y="2468880"/>
            <a:ext cx="411480" cy="1188720"/>
          </a:xfrm>
          <a:prstGeom prst="rect">
            <a:avLst/>
          </a:prstGeom>
          <a:noFill/>
          <a:ln/>
        </p:spPr>
        <p:txBody>
          <a:bodyPr wrap="square" lIns="0" tIns="0" rIns="0" bIns="0" rtlCol="0" anchor="ctr"/>
          <a:lstStyle/>
          <a:p>
            <a:pPr algn="ctr" indent="0" marL="0">
              <a:buNone/>
            </a:pPr>
            <a:r>
              <a:rPr lang="en-US" sz="1400" b="1" dirty="0">
                <a:solidFill>
                  <a:srgbClr val="FFFFFF"/>
                </a:solidFill>
              </a:rPr>
              <a:t>05</a:t>
            </a:r>
            <a:endParaRPr lang="en-US" sz="1400" dirty="0"/>
          </a:p>
        </p:txBody>
      </p:sp>
      <p:sp>
        <p:nvSpPr>
          <p:cNvPr id="32" name="Text 30"/>
          <p:cNvSpPr/>
          <p:nvPr/>
        </p:nvSpPr>
        <p:spPr>
          <a:xfrm>
            <a:off x="5166360" y="2523744"/>
            <a:ext cx="3566160" cy="274320"/>
          </a:xfrm>
          <a:prstGeom prst="rect">
            <a:avLst/>
          </a:prstGeom>
          <a:noFill/>
          <a:ln/>
        </p:spPr>
        <p:txBody>
          <a:bodyPr wrap="square" lIns="0" tIns="0" rIns="0" bIns="0" rtlCol="0" anchor="ctr"/>
          <a:lstStyle/>
          <a:p>
            <a:pPr indent="0" marL="0">
              <a:buNone/>
            </a:pPr>
            <a:r>
              <a:rPr lang="en-US" sz="1200" b="1" dirty="0">
                <a:solidFill>
                  <a:srgbClr val="1C3557"/>
                </a:solidFill>
              </a:rPr>
              <a:t>No feedback loop to spec</a:t>
            </a:r>
            <a:endParaRPr lang="en-US" sz="1200" dirty="0"/>
          </a:p>
        </p:txBody>
      </p:sp>
      <p:sp>
        <p:nvSpPr>
          <p:cNvPr id="33" name="Text 31"/>
          <p:cNvSpPr/>
          <p:nvPr/>
        </p:nvSpPr>
        <p:spPr>
          <a:xfrm>
            <a:off x="5166360" y="2852928"/>
            <a:ext cx="3566160" cy="347472"/>
          </a:xfrm>
          <a:prstGeom prst="rect">
            <a:avLst/>
          </a:prstGeom>
          <a:noFill/>
          <a:ln/>
        </p:spPr>
        <p:txBody>
          <a:bodyPr wrap="square" lIns="0" tIns="0" rIns="0" bIns="0" rtlCol="0" anchor="ctr"/>
          <a:lstStyle/>
          <a:p>
            <a:pPr indent="0" marL="0">
              <a:buNone/>
            </a:pPr>
            <a:r>
              <a:rPr lang="en-US" sz="1050" dirty="0">
                <a:solidFill>
                  <a:srgbClr val="B03040"/>
                </a:solidFill>
              </a:rPr>
              <a:t>⚠ Same types of errors recur. Agent keeps making the same mistakes. Process doesn’t improve.</a:t>
            </a:r>
            <a:endParaRPr lang="en-US" sz="1050" dirty="0"/>
          </a:p>
        </p:txBody>
      </p:sp>
      <p:sp>
        <p:nvSpPr>
          <p:cNvPr id="34" name="Text 32"/>
          <p:cNvSpPr/>
          <p:nvPr/>
        </p:nvSpPr>
        <p:spPr>
          <a:xfrm>
            <a:off x="5166360" y="3236976"/>
            <a:ext cx="3566160" cy="347472"/>
          </a:xfrm>
          <a:prstGeom prst="rect">
            <a:avLst/>
          </a:prstGeom>
          <a:noFill/>
          <a:ln/>
        </p:spPr>
        <p:txBody>
          <a:bodyPr wrap="square" lIns="0" tIns="0" rIns="0" bIns="0" rtlCol="0" anchor="ctr"/>
          <a:lstStyle/>
          <a:p>
            <a:pPr indent="0" marL="0">
              <a:buNone/>
            </a:pPr>
            <a:r>
              <a:rPr lang="en-US" sz="1050" dirty="0">
                <a:solidFill>
                  <a:srgbClr val="3A7E6E"/>
                </a:solidFill>
              </a:rPr>
              <a:t>✓ When a bug is found in agent output, trace it to a spec gap and fix SPEC.md before next sprint.</a:t>
            </a:r>
            <a:endParaRPr lang="en-US" sz="1050" dirty="0"/>
          </a:p>
        </p:txBody>
      </p:sp>
      <p:sp>
        <p:nvSpPr>
          <p:cNvPr id="35" name="Shape 33"/>
          <p:cNvSpPr/>
          <p:nvPr/>
        </p:nvSpPr>
        <p:spPr>
          <a:xfrm>
            <a:off x="4663440" y="3767328"/>
            <a:ext cx="4160520" cy="118872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36" name="Shape 34"/>
          <p:cNvSpPr/>
          <p:nvPr/>
        </p:nvSpPr>
        <p:spPr>
          <a:xfrm>
            <a:off x="4663440" y="3767328"/>
            <a:ext cx="411480" cy="1188720"/>
          </a:xfrm>
          <a:prstGeom prst="rect">
            <a:avLst/>
          </a:prstGeom>
          <a:solidFill>
            <a:srgbClr val="B03040">
              <a:alpha val="90000"/>
            </a:srgbClr>
          </a:solidFill>
          <a:ln/>
        </p:spPr>
      </p:sp>
      <p:sp>
        <p:nvSpPr>
          <p:cNvPr id="37" name="Text 35"/>
          <p:cNvSpPr/>
          <p:nvPr/>
        </p:nvSpPr>
        <p:spPr>
          <a:xfrm>
            <a:off x="4663440" y="3767328"/>
            <a:ext cx="411480" cy="1188720"/>
          </a:xfrm>
          <a:prstGeom prst="rect">
            <a:avLst/>
          </a:prstGeom>
          <a:noFill/>
          <a:ln/>
        </p:spPr>
        <p:txBody>
          <a:bodyPr wrap="square" lIns="0" tIns="0" rIns="0" bIns="0" rtlCol="0" anchor="ctr"/>
          <a:lstStyle/>
          <a:p>
            <a:pPr algn="ctr" indent="0" marL="0">
              <a:buNone/>
            </a:pPr>
            <a:r>
              <a:rPr lang="en-US" sz="1400" b="1" dirty="0">
                <a:solidFill>
                  <a:srgbClr val="FFFFFF"/>
                </a:solidFill>
              </a:rPr>
              <a:t>06</a:t>
            </a:r>
            <a:endParaRPr lang="en-US" sz="1400" dirty="0"/>
          </a:p>
        </p:txBody>
      </p:sp>
      <p:sp>
        <p:nvSpPr>
          <p:cNvPr id="38" name="Text 36"/>
          <p:cNvSpPr/>
          <p:nvPr/>
        </p:nvSpPr>
        <p:spPr>
          <a:xfrm>
            <a:off x="5166360" y="3822192"/>
            <a:ext cx="3566160" cy="274320"/>
          </a:xfrm>
          <a:prstGeom prst="rect">
            <a:avLst/>
          </a:prstGeom>
          <a:noFill/>
          <a:ln/>
        </p:spPr>
        <p:txBody>
          <a:bodyPr wrap="square" lIns="0" tIns="0" rIns="0" bIns="0" rtlCol="0" anchor="ctr"/>
          <a:lstStyle/>
          <a:p>
            <a:pPr indent="0" marL="0">
              <a:buNone/>
            </a:pPr>
            <a:r>
              <a:rPr lang="en-US" sz="1200" b="1" dirty="0">
                <a:solidFill>
                  <a:srgbClr val="1C3557"/>
                </a:solidFill>
              </a:rPr>
              <a:t>HITL gates too late</a:t>
            </a:r>
            <a:endParaRPr lang="en-US" sz="1200" dirty="0"/>
          </a:p>
        </p:txBody>
      </p:sp>
      <p:sp>
        <p:nvSpPr>
          <p:cNvPr id="39" name="Text 37"/>
          <p:cNvSpPr/>
          <p:nvPr/>
        </p:nvSpPr>
        <p:spPr>
          <a:xfrm>
            <a:off x="5166360" y="4151376"/>
            <a:ext cx="3566160" cy="347472"/>
          </a:xfrm>
          <a:prstGeom prst="rect">
            <a:avLst/>
          </a:prstGeom>
          <a:noFill/>
          <a:ln/>
        </p:spPr>
        <p:txBody>
          <a:bodyPr wrap="square" lIns="0" tIns="0" rIns="0" bIns="0" rtlCol="0" anchor="ctr"/>
          <a:lstStyle/>
          <a:p>
            <a:pPr indent="0" marL="0">
              <a:buNone/>
            </a:pPr>
            <a:r>
              <a:rPr lang="en-US" sz="1050" dirty="0">
                <a:solidFill>
                  <a:srgbClr val="B03040"/>
                </a:solidFill>
              </a:rPr>
              <a:t>⚠ Agent has already done irreversible things (prod write, email sent) before human can intervene.</a:t>
            </a:r>
            <a:endParaRPr lang="en-US" sz="1050" dirty="0"/>
          </a:p>
        </p:txBody>
      </p:sp>
      <p:sp>
        <p:nvSpPr>
          <p:cNvPr id="40" name="Text 38"/>
          <p:cNvSpPr/>
          <p:nvPr/>
        </p:nvSpPr>
        <p:spPr>
          <a:xfrm>
            <a:off x="5166360" y="4535424"/>
            <a:ext cx="3566160" cy="347472"/>
          </a:xfrm>
          <a:prstGeom prst="rect">
            <a:avLst/>
          </a:prstGeom>
          <a:noFill/>
          <a:ln/>
        </p:spPr>
        <p:txBody>
          <a:bodyPr wrap="square" lIns="0" tIns="0" rIns="0" bIns="0" rtlCol="0" anchor="ctr"/>
          <a:lstStyle/>
          <a:p>
            <a:pPr indent="0" marL="0">
              <a:buNone/>
            </a:pPr>
            <a:r>
              <a:rPr lang="en-US" sz="1050" dirty="0">
                <a:solidFill>
                  <a:srgbClr val="3A7E6E"/>
                </a:solidFill>
              </a:rPr>
              <a:t>✓ Design HITL gates before irreversible actions, not after. Treat hard gates as non-negotiable.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3557"/>
        </a:solidFill>
      </p:bgPr>
    </p:bg>
    <p:spTree>
      <p:nvGrpSpPr>
        <p:cNvPr id="1" name=""/>
        <p:cNvGrpSpPr/>
        <p:nvPr/>
      </p:nvGrpSpPr>
      <p:grpSpPr>
        <a:xfrm>
          <a:off x="0" y="0"/>
          <a:ext cx="0" cy="0"/>
          <a:chOff x="0" y="0"/>
          <a:chExt cx="0" cy="0"/>
        </a:xfrm>
      </p:grpSpPr>
      <p:sp>
        <p:nvSpPr>
          <p:cNvPr id="2" name="Text 0"/>
          <p:cNvSpPr/>
          <p:nvPr/>
        </p:nvSpPr>
        <p:spPr>
          <a:xfrm>
            <a:off x="365760" y="201168"/>
            <a:ext cx="8229600" cy="411480"/>
          </a:xfrm>
          <a:prstGeom prst="rect">
            <a:avLst/>
          </a:prstGeom>
          <a:noFill/>
          <a:ln/>
        </p:spPr>
        <p:txBody>
          <a:bodyPr wrap="square" lIns="0" tIns="0" rIns="0" bIns="0" rtlCol="0" anchor="ctr"/>
          <a:lstStyle/>
          <a:p>
            <a:pPr indent="0" marL="0">
              <a:buNone/>
            </a:pPr>
            <a:r>
              <a:rPr lang="en-US" sz="1300" b="1" spc="300" kern="0" dirty="0">
                <a:solidFill>
                  <a:srgbClr val="5B8DB8"/>
                </a:solidFill>
              </a:rPr>
              <a:t>SLOs FOR AGENTIC SYSTEMS  —  TWO LEVELS</a:t>
            </a:r>
            <a:endParaRPr lang="en-US" sz="1300" dirty="0"/>
          </a:p>
        </p:txBody>
      </p:sp>
      <p:sp>
        <p:nvSpPr>
          <p:cNvPr id="3" name="Text 1"/>
          <p:cNvSpPr/>
          <p:nvPr/>
        </p:nvSpPr>
        <p:spPr>
          <a:xfrm>
            <a:off x="365760" y="658368"/>
            <a:ext cx="8229600" cy="329184"/>
          </a:xfrm>
          <a:prstGeom prst="rect">
            <a:avLst/>
          </a:prstGeom>
          <a:noFill/>
          <a:ln/>
        </p:spPr>
        <p:txBody>
          <a:bodyPr wrap="square" lIns="0" tIns="0" rIns="0" bIns="0" rtlCol="0" anchor="ctr"/>
          <a:lstStyle/>
          <a:p>
            <a:pPr indent="0" marL="0">
              <a:buNone/>
            </a:pPr>
            <a:r>
              <a:rPr lang="en-US" sz="1400" i="1" dirty="0">
                <a:solidFill>
                  <a:srgbClr val="FFFFFF"/>
                </a:solidFill>
              </a:rPr>
              <a:t>SLOs apply at both levels — the coding agent loop and production agents. Define them before you deploy, not after.</a:t>
            </a:r>
            <a:endParaRPr lang="en-US" sz="1400" dirty="0"/>
          </a:p>
        </p:txBody>
      </p:sp>
      <p:sp>
        <p:nvSpPr>
          <p:cNvPr id="4" name="Shape 2"/>
          <p:cNvSpPr/>
          <p:nvPr/>
        </p:nvSpPr>
        <p:spPr>
          <a:xfrm>
            <a:off x="320040" y="1115568"/>
            <a:ext cx="4160520" cy="3767328"/>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5" name="Shape 3"/>
          <p:cNvSpPr/>
          <p:nvPr/>
        </p:nvSpPr>
        <p:spPr>
          <a:xfrm>
            <a:off x="320040" y="1115568"/>
            <a:ext cx="4160520" cy="438912"/>
          </a:xfrm>
          <a:prstGeom prst="rect">
            <a:avLst/>
          </a:prstGeom>
          <a:solidFill>
            <a:srgbClr val="4A7FA8">
              <a:alpha val="95000"/>
            </a:srgbClr>
          </a:solidFill>
          <a:ln/>
        </p:spPr>
      </p:sp>
      <p:sp>
        <p:nvSpPr>
          <p:cNvPr id="6" name="Text 4"/>
          <p:cNvSpPr/>
          <p:nvPr/>
        </p:nvSpPr>
        <p:spPr>
          <a:xfrm>
            <a:off x="320040" y="1115568"/>
            <a:ext cx="4160520" cy="438912"/>
          </a:xfrm>
          <a:prstGeom prst="rect">
            <a:avLst/>
          </a:prstGeom>
          <a:noFill/>
          <a:ln/>
        </p:spPr>
        <p:txBody>
          <a:bodyPr wrap="square" lIns="0" tIns="0" rIns="0" bIns="0" rtlCol="0" anchor="ctr"/>
          <a:lstStyle/>
          <a:p>
            <a:pPr algn="ctr" indent="0" marL="0">
              <a:buNone/>
            </a:pPr>
            <a:r>
              <a:rPr lang="en-US" sz="1100" b="1" spc="200" kern="0" dirty="0">
                <a:solidFill>
                  <a:srgbClr val="FFFFFF"/>
                </a:solidFill>
              </a:rPr>
              <a:t>CODING AGENT WORKFLOW SLOs</a:t>
            </a:r>
            <a:endParaRPr lang="en-US" sz="1100" dirty="0"/>
          </a:p>
        </p:txBody>
      </p:sp>
      <p:sp>
        <p:nvSpPr>
          <p:cNvPr id="7" name="Text 5"/>
          <p:cNvSpPr/>
          <p:nvPr/>
        </p:nvSpPr>
        <p:spPr>
          <a:xfrm>
            <a:off x="411480" y="1609344"/>
            <a:ext cx="3977640" cy="237744"/>
          </a:xfrm>
          <a:prstGeom prst="rect">
            <a:avLst/>
          </a:prstGeom>
          <a:noFill/>
          <a:ln/>
        </p:spPr>
        <p:txBody>
          <a:bodyPr wrap="square" lIns="0" tIns="0" rIns="0" bIns="0" rtlCol="0" anchor="ctr"/>
          <a:lstStyle/>
          <a:p>
            <a:pPr indent="0" marL="0">
              <a:buNone/>
            </a:pPr>
            <a:r>
              <a:rPr lang="en-US" sz="1000" i="1" dirty="0">
                <a:solidFill>
                  <a:srgbClr val="5B8DB8"/>
                </a:solidFill>
              </a:rPr>
              <a:t>Measuring the development loop (Claude Code, Copilot)</a:t>
            </a:r>
            <a:endParaRPr lang="en-US" sz="1000" dirty="0"/>
          </a:p>
        </p:txBody>
      </p:sp>
      <p:sp>
        <p:nvSpPr>
          <p:cNvPr id="8" name="Shape 6"/>
          <p:cNvSpPr/>
          <p:nvPr/>
        </p:nvSpPr>
        <p:spPr>
          <a:xfrm>
            <a:off x="411480" y="1920240"/>
            <a:ext cx="3977640" cy="640080"/>
          </a:xfrm>
          <a:prstGeom prst="rect">
            <a:avLst/>
          </a:prstGeom>
          <a:solidFill>
            <a:srgbClr val="1C3557">
              <a:alpha val="90000"/>
            </a:srgbClr>
          </a:solidFill>
          <a:ln/>
        </p:spPr>
      </p:sp>
      <p:sp>
        <p:nvSpPr>
          <p:cNvPr id="9" name="Shape 7"/>
          <p:cNvSpPr/>
          <p:nvPr/>
        </p:nvSpPr>
        <p:spPr>
          <a:xfrm>
            <a:off x="411480" y="1920240"/>
            <a:ext cx="54864" cy="640080"/>
          </a:xfrm>
          <a:prstGeom prst="rect">
            <a:avLst/>
          </a:prstGeom>
          <a:solidFill>
            <a:srgbClr val="4A7FA8"/>
          </a:solidFill>
          <a:ln/>
        </p:spPr>
      </p:sp>
      <p:sp>
        <p:nvSpPr>
          <p:cNvPr id="10" name="Text 8"/>
          <p:cNvSpPr/>
          <p:nvPr/>
        </p:nvSpPr>
        <p:spPr>
          <a:xfrm>
            <a:off x="530352" y="1965960"/>
            <a:ext cx="2377440" cy="256032"/>
          </a:xfrm>
          <a:prstGeom prst="rect">
            <a:avLst/>
          </a:prstGeom>
          <a:noFill/>
          <a:ln/>
        </p:spPr>
        <p:txBody>
          <a:bodyPr wrap="square" lIns="0" tIns="0" rIns="0" bIns="0" rtlCol="0" anchor="ctr"/>
          <a:lstStyle/>
          <a:p>
            <a:pPr indent="0" marL="0">
              <a:buNone/>
            </a:pPr>
            <a:r>
              <a:rPr lang="en-US" sz="1150" b="1" dirty="0">
                <a:solidFill>
                  <a:srgbClr val="3A7DC9"/>
                </a:solidFill>
              </a:rPr>
              <a:t>pr_open_rate</a:t>
            </a:r>
            <a:endParaRPr lang="en-US" sz="1150" dirty="0"/>
          </a:p>
        </p:txBody>
      </p:sp>
      <p:sp>
        <p:nvSpPr>
          <p:cNvPr id="11" name="Shape 9"/>
          <p:cNvSpPr/>
          <p:nvPr/>
        </p:nvSpPr>
        <p:spPr>
          <a:xfrm>
            <a:off x="3017520" y="1975104"/>
            <a:ext cx="1298448" cy="256032"/>
          </a:xfrm>
          <a:prstGeom prst="rect">
            <a:avLst/>
          </a:prstGeom>
          <a:solidFill>
            <a:srgbClr val="4A7FA8">
              <a:alpha val="40000"/>
            </a:srgbClr>
          </a:solidFill>
          <a:ln/>
        </p:spPr>
      </p:sp>
      <p:sp>
        <p:nvSpPr>
          <p:cNvPr id="12" name="Text 10"/>
          <p:cNvSpPr/>
          <p:nvPr/>
        </p:nvSpPr>
        <p:spPr>
          <a:xfrm>
            <a:off x="3017520" y="1975104"/>
            <a:ext cx="1298448" cy="256032"/>
          </a:xfrm>
          <a:prstGeom prst="rect">
            <a:avLst/>
          </a:prstGeom>
          <a:noFill/>
          <a:ln/>
        </p:spPr>
        <p:txBody>
          <a:bodyPr wrap="square" lIns="0" tIns="0" rIns="0" bIns="0" rtlCol="0" anchor="ctr"/>
          <a:lstStyle/>
          <a:p>
            <a:pPr algn="ctr" indent="0" marL="0">
              <a:buNone/>
            </a:pPr>
            <a:r>
              <a:rPr lang="en-US" sz="950" b="1" dirty="0">
                <a:solidFill>
                  <a:srgbClr val="FFFFFF"/>
                </a:solidFill>
              </a:rPr>
              <a:t>target: 90%  ·  7d</a:t>
            </a:r>
            <a:endParaRPr lang="en-US" sz="950" dirty="0"/>
          </a:p>
        </p:txBody>
      </p:sp>
      <p:sp>
        <p:nvSpPr>
          <p:cNvPr id="13" name="Text 11"/>
          <p:cNvSpPr/>
          <p:nvPr/>
        </p:nvSpPr>
        <p:spPr>
          <a:xfrm>
            <a:off x="530352" y="2249424"/>
            <a:ext cx="3749040" cy="256032"/>
          </a:xfrm>
          <a:prstGeom prst="rect">
            <a:avLst/>
          </a:prstGeom>
          <a:noFill/>
          <a:ln/>
        </p:spPr>
        <p:txBody>
          <a:bodyPr wrap="square" lIns="0" tIns="0" rIns="0" bIns="0" rtlCol="0" anchor="ctr"/>
          <a:lstStyle/>
          <a:p>
            <a:pPr indent="0" marL="0">
              <a:buNone/>
            </a:pPr>
            <a:r>
              <a:rPr lang="en-US" sz="1000" dirty="0">
                <a:solidFill>
                  <a:srgbClr val="D4E4F0"/>
                </a:solidFill>
              </a:rPr>
              <a:t>% of agent tasks that successfully open a PR</a:t>
            </a:r>
            <a:endParaRPr lang="en-US" sz="1000" dirty="0"/>
          </a:p>
        </p:txBody>
      </p:sp>
      <p:sp>
        <p:nvSpPr>
          <p:cNvPr id="14" name="Shape 12"/>
          <p:cNvSpPr/>
          <p:nvPr/>
        </p:nvSpPr>
        <p:spPr>
          <a:xfrm>
            <a:off x="411480" y="2633472"/>
            <a:ext cx="3977640" cy="640080"/>
          </a:xfrm>
          <a:prstGeom prst="rect">
            <a:avLst/>
          </a:prstGeom>
          <a:solidFill>
            <a:srgbClr val="1C3557">
              <a:alpha val="90000"/>
            </a:srgbClr>
          </a:solidFill>
          <a:ln/>
        </p:spPr>
      </p:sp>
      <p:sp>
        <p:nvSpPr>
          <p:cNvPr id="15" name="Shape 13"/>
          <p:cNvSpPr/>
          <p:nvPr/>
        </p:nvSpPr>
        <p:spPr>
          <a:xfrm>
            <a:off x="411480" y="2633472"/>
            <a:ext cx="54864" cy="640080"/>
          </a:xfrm>
          <a:prstGeom prst="rect">
            <a:avLst/>
          </a:prstGeom>
          <a:solidFill>
            <a:srgbClr val="4A7FA8"/>
          </a:solidFill>
          <a:ln/>
        </p:spPr>
      </p:sp>
      <p:sp>
        <p:nvSpPr>
          <p:cNvPr id="16" name="Text 14"/>
          <p:cNvSpPr/>
          <p:nvPr/>
        </p:nvSpPr>
        <p:spPr>
          <a:xfrm>
            <a:off x="530352" y="2679192"/>
            <a:ext cx="2377440" cy="256032"/>
          </a:xfrm>
          <a:prstGeom prst="rect">
            <a:avLst/>
          </a:prstGeom>
          <a:noFill/>
          <a:ln/>
        </p:spPr>
        <p:txBody>
          <a:bodyPr wrap="square" lIns="0" tIns="0" rIns="0" bIns="0" rtlCol="0" anchor="ctr"/>
          <a:lstStyle/>
          <a:p>
            <a:pPr indent="0" marL="0">
              <a:buNone/>
            </a:pPr>
            <a:r>
              <a:rPr lang="en-US" sz="1150" b="1" dirty="0">
                <a:solidFill>
                  <a:srgbClr val="3A7DC9"/>
                </a:solidFill>
              </a:rPr>
              <a:t>task_success_rate</a:t>
            </a:r>
            <a:endParaRPr lang="en-US" sz="1150" dirty="0"/>
          </a:p>
        </p:txBody>
      </p:sp>
      <p:sp>
        <p:nvSpPr>
          <p:cNvPr id="17" name="Shape 15"/>
          <p:cNvSpPr/>
          <p:nvPr/>
        </p:nvSpPr>
        <p:spPr>
          <a:xfrm>
            <a:off x="3017520" y="2688336"/>
            <a:ext cx="1298448" cy="256032"/>
          </a:xfrm>
          <a:prstGeom prst="rect">
            <a:avLst/>
          </a:prstGeom>
          <a:solidFill>
            <a:srgbClr val="4A7FA8">
              <a:alpha val="40000"/>
            </a:srgbClr>
          </a:solidFill>
          <a:ln/>
        </p:spPr>
      </p:sp>
      <p:sp>
        <p:nvSpPr>
          <p:cNvPr id="18" name="Text 16"/>
          <p:cNvSpPr/>
          <p:nvPr/>
        </p:nvSpPr>
        <p:spPr>
          <a:xfrm>
            <a:off x="3017520" y="2688336"/>
            <a:ext cx="1298448" cy="256032"/>
          </a:xfrm>
          <a:prstGeom prst="rect">
            <a:avLst/>
          </a:prstGeom>
          <a:noFill/>
          <a:ln/>
        </p:spPr>
        <p:txBody>
          <a:bodyPr wrap="square" lIns="0" tIns="0" rIns="0" bIns="0" rtlCol="0" anchor="ctr"/>
          <a:lstStyle/>
          <a:p>
            <a:pPr algn="ctr" indent="0" marL="0">
              <a:buNone/>
            </a:pPr>
            <a:r>
              <a:rPr lang="en-US" sz="950" b="1" dirty="0">
                <a:solidFill>
                  <a:srgbClr val="FFFFFF"/>
                </a:solidFill>
              </a:rPr>
              <a:t>target: 80%  ·  7d</a:t>
            </a:r>
            <a:endParaRPr lang="en-US" sz="950" dirty="0"/>
          </a:p>
        </p:txBody>
      </p:sp>
      <p:sp>
        <p:nvSpPr>
          <p:cNvPr id="19" name="Text 17"/>
          <p:cNvSpPr/>
          <p:nvPr/>
        </p:nvSpPr>
        <p:spPr>
          <a:xfrm>
            <a:off x="530352" y="2962656"/>
            <a:ext cx="3749040" cy="256032"/>
          </a:xfrm>
          <a:prstGeom prst="rect">
            <a:avLst/>
          </a:prstGeom>
          <a:noFill/>
          <a:ln/>
        </p:spPr>
        <p:txBody>
          <a:bodyPr wrap="square" lIns="0" tIns="0" rIns="0" bIns="0" rtlCol="0" anchor="ctr"/>
          <a:lstStyle/>
          <a:p>
            <a:pPr indent="0" marL="0">
              <a:buNone/>
            </a:pPr>
            <a:r>
              <a:rPr lang="en-US" sz="1000" dirty="0">
                <a:solidFill>
                  <a:srgbClr val="D4E4F0"/>
                </a:solidFill>
              </a:rPr>
              <a:t>% of agent runs completing without human intervention</a:t>
            </a:r>
            <a:endParaRPr lang="en-US" sz="1000" dirty="0"/>
          </a:p>
        </p:txBody>
      </p:sp>
      <p:sp>
        <p:nvSpPr>
          <p:cNvPr id="20" name="Shape 18"/>
          <p:cNvSpPr/>
          <p:nvPr/>
        </p:nvSpPr>
        <p:spPr>
          <a:xfrm>
            <a:off x="411480" y="3346704"/>
            <a:ext cx="3977640" cy="640080"/>
          </a:xfrm>
          <a:prstGeom prst="rect">
            <a:avLst/>
          </a:prstGeom>
          <a:solidFill>
            <a:srgbClr val="1C3557">
              <a:alpha val="90000"/>
            </a:srgbClr>
          </a:solidFill>
          <a:ln/>
        </p:spPr>
      </p:sp>
      <p:sp>
        <p:nvSpPr>
          <p:cNvPr id="21" name="Shape 19"/>
          <p:cNvSpPr/>
          <p:nvPr/>
        </p:nvSpPr>
        <p:spPr>
          <a:xfrm>
            <a:off x="411480" y="3346704"/>
            <a:ext cx="54864" cy="640080"/>
          </a:xfrm>
          <a:prstGeom prst="rect">
            <a:avLst/>
          </a:prstGeom>
          <a:solidFill>
            <a:srgbClr val="4A7FA8"/>
          </a:solidFill>
          <a:ln/>
        </p:spPr>
      </p:sp>
      <p:sp>
        <p:nvSpPr>
          <p:cNvPr id="22" name="Text 20"/>
          <p:cNvSpPr/>
          <p:nvPr/>
        </p:nvSpPr>
        <p:spPr>
          <a:xfrm>
            <a:off x="530352" y="3392424"/>
            <a:ext cx="2377440" cy="256032"/>
          </a:xfrm>
          <a:prstGeom prst="rect">
            <a:avLst/>
          </a:prstGeom>
          <a:noFill/>
          <a:ln/>
        </p:spPr>
        <p:txBody>
          <a:bodyPr wrap="square" lIns="0" tIns="0" rIns="0" bIns="0" rtlCol="0" anchor="ctr"/>
          <a:lstStyle/>
          <a:p>
            <a:pPr indent="0" marL="0">
              <a:buNone/>
            </a:pPr>
            <a:r>
              <a:rPr lang="en-US" sz="1150" b="1" dirty="0">
                <a:solidFill>
                  <a:srgbClr val="3A7DC9"/>
                </a:solidFill>
              </a:rPr>
              <a:t>eval_score</a:t>
            </a:r>
            <a:endParaRPr lang="en-US" sz="1150" dirty="0"/>
          </a:p>
        </p:txBody>
      </p:sp>
      <p:sp>
        <p:nvSpPr>
          <p:cNvPr id="23" name="Shape 21"/>
          <p:cNvSpPr/>
          <p:nvPr/>
        </p:nvSpPr>
        <p:spPr>
          <a:xfrm>
            <a:off x="3017520" y="3401568"/>
            <a:ext cx="1298448" cy="256032"/>
          </a:xfrm>
          <a:prstGeom prst="rect">
            <a:avLst/>
          </a:prstGeom>
          <a:solidFill>
            <a:srgbClr val="4A7FA8">
              <a:alpha val="40000"/>
            </a:srgbClr>
          </a:solidFill>
          <a:ln/>
        </p:spPr>
      </p:sp>
      <p:sp>
        <p:nvSpPr>
          <p:cNvPr id="24" name="Text 22"/>
          <p:cNvSpPr/>
          <p:nvPr/>
        </p:nvSpPr>
        <p:spPr>
          <a:xfrm>
            <a:off x="3017520" y="3401568"/>
            <a:ext cx="1298448" cy="256032"/>
          </a:xfrm>
          <a:prstGeom prst="rect">
            <a:avLst/>
          </a:prstGeom>
          <a:noFill/>
          <a:ln/>
        </p:spPr>
        <p:txBody>
          <a:bodyPr wrap="square" lIns="0" tIns="0" rIns="0" bIns="0" rtlCol="0" anchor="ctr"/>
          <a:lstStyle/>
          <a:p>
            <a:pPr algn="ctr" indent="0" marL="0">
              <a:buNone/>
            </a:pPr>
            <a:r>
              <a:rPr lang="en-US" sz="950" b="1" dirty="0">
                <a:solidFill>
                  <a:srgbClr val="FFFFFF"/>
                </a:solidFill>
              </a:rPr>
              <a:t>target: 0.85  ·  7d</a:t>
            </a:r>
            <a:endParaRPr lang="en-US" sz="950" dirty="0"/>
          </a:p>
        </p:txBody>
      </p:sp>
      <p:sp>
        <p:nvSpPr>
          <p:cNvPr id="25" name="Text 23"/>
          <p:cNvSpPr/>
          <p:nvPr/>
        </p:nvSpPr>
        <p:spPr>
          <a:xfrm>
            <a:off x="530352" y="3675888"/>
            <a:ext cx="3749040" cy="256032"/>
          </a:xfrm>
          <a:prstGeom prst="rect">
            <a:avLst/>
          </a:prstGeom>
          <a:noFill/>
          <a:ln/>
        </p:spPr>
        <p:txBody>
          <a:bodyPr wrap="square" lIns="0" tIns="0" rIns="0" bIns="0" rtlCol="0" anchor="ctr"/>
          <a:lstStyle/>
          <a:p>
            <a:pPr indent="0" marL="0">
              <a:buNone/>
            </a:pPr>
            <a:r>
              <a:rPr lang="en-US" sz="1000" dirty="0">
                <a:solidFill>
                  <a:srgbClr val="D4E4F0"/>
                </a:solidFill>
              </a:rPr>
              <a:t>Automated quality review pass rate for agent-generated PRs</a:t>
            </a:r>
            <a:endParaRPr lang="en-US" sz="1000" dirty="0"/>
          </a:p>
        </p:txBody>
      </p:sp>
      <p:sp>
        <p:nvSpPr>
          <p:cNvPr id="26" name="Shape 24"/>
          <p:cNvSpPr/>
          <p:nvPr/>
        </p:nvSpPr>
        <p:spPr>
          <a:xfrm>
            <a:off x="411480" y="4059936"/>
            <a:ext cx="3977640" cy="640080"/>
          </a:xfrm>
          <a:prstGeom prst="rect">
            <a:avLst/>
          </a:prstGeom>
          <a:solidFill>
            <a:srgbClr val="1C3557">
              <a:alpha val="90000"/>
            </a:srgbClr>
          </a:solidFill>
          <a:ln/>
        </p:spPr>
      </p:sp>
      <p:sp>
        <p:nvSpPr>
          <p:cNvPr id="27" name="Shape 25"/>
          <p:cNvSpPr/>
          <p:nvPr/>
        </p:nvSpPr>
        <p:spPr>
          <a:xfrm>
            <a:off x="411480" y="4059936"/>
            <a:ext cx="54864" cy="640080"/>
          </a:xfrm>
          <a:prstGeom prst="rect">
            <a:avLst/>
          </a:prstGeom>
          <a:solidFill>
            <a:srgbClr val="4A7FA8"/>
          </a:solidFill>
          <a:ln/>
        </p:spPr>
      </p:sp>
      <p:sp>
        <p:nvSpPr>
          <p:cNvPr id="28" name="Text 26"/>
          <p:cNvSpPr/>
          <p:nvPr/>
        </p:nvSpPr>
        <p:spPr>
          <a:xfrm>
            <a:off x="530352" y="4105656"/>
            <a:ext cx="2377440" cy="256032"/>
          </a:xfrm>
          <a:prstGeom prst="rect">
            <a:avLst/>
          </a:prstGeom>
          <a:noFill/>
          <a:ln/>
        </p:spPr>
        <p:txBody>
          <a:bodyPr wrap="square" lIns="0" tIns="0" rIns="0" bIns="0" rtlCol="0" anchor="ctr"/>
          <a:lstStyle/>
          <a:p>
            <a:pPr indent="0" marL="0">
              <a:buNone/>
            </a:pPr>
            <a:r>
              <a:rPr lang="en-US" sz="1150" b="1" dirty="0">
                <a:solidFill>
                  <a:srgbClr val="3A7DC9"/>
                </a:solidFill>
              </a:rPr>
              <a:t>cost_per_task</a:t>
            </a:r>
            <a:endParaRPr lang="en-US" sz="1150" dirty="0"/>
          </a:p>
        </p:txBody>
      </p:sp>
      <p:sp>
        <p:nvSpPr>
          <p:cNvPr id="29" name="Shape 27"/>
          <p:cNvSpPr/>
          <p:nvPr/>
        </p:nvSpPr>
        <p:spPr>
          <a:xfrm>
            <a:off x="3017520" y="4114800"/>
            <a:ext cx="1298448" cy="256032"/>
          </a:xfrm>
          <a:prstGeom prst="rect">
            <a:avLst/>
          </a:prstGeom>
          <a:solidFill>
            <a:srgbClr val="4A7FA8">
              <a:alpha val="40000"/>
            </a:srgbClr>
          </a:solidFill>
          <a:ln/>
        </p:spPr>
      </p:sp>
      <p:sp>
        <p:nvSpPr>
          <p:cNvPr id="30" name="Text 28"/>
          <p:cNvSpPr/>
          <p:nvPr/>
        </p:nvSpPr>
        <p:spPr>
          <a:xfrm>
            <a:off x="3017520" y="4114800"/>
            <a:ext cx="1298448" cy="256032"/>
          </a:xfrm>
          <a:prstGeom prst="rect">
            <a:avLst/>
          </a:prstGeom>
          <a:noFill/>
          <a:ln/>
        </p:spPr>
        <p:txBody>
          <a:bodyPr wrap="square" lIns="0" tIns="0" rIns="0" bIns="0" rtlCol="0" anchor="ctr"/>
          <a:lstStyle/>
          <a:p>
            <a:pPr algn="ctr" indent="0" marL="0">
              <a:buNone/>
            </a:pPr>
            <a:r>
              <a:rPr lang="en-US" sz="950" b="1" dirty="0">
                <a:solidFill>
                  <a:srgbClr val="FFFFFF"/>
                </a:solidFill>
              </a:rPr>
              <a:t>target: $0.15  ·  7d</a:t>
            </a:r>
            <a:endParaRPr lang="en-US" sz="950" dirty="0"/>
          </a:p>
        </p:txBody>
      </p:sp>
      <p:sp>
        <p:nvSpPr>
          <p:cNvPr id="31" name="Text 29"/>
          <p:cNvSpPr/>
          <p:nvPr/>
        </p:nvSpPr>
        <p:spPr>
          <a:xfrm>
            <a:off x="530352" y="4389120"/>
            <a:ext cx="3749040" cy="256032"/>
          </a:xfrm>
          <a:prstGeom prst="rect">
            <a:avLst/>
          </a:prstGeom>
          <a:noFill/>
          <a:ln/>
        </p:spPr>
        <p:txBody>
          <a:bodyPr wrap="square" lIns="0" tIns="0" rIns="0" bIns="0" rtlCol="0" anchor="ctr"/>
          <a:lstStyle/>
          <a:p>
            <a:pPr indent="0" marL="0">
              <a:buNone/>
            </a:pPr>
            <a:r>
              <a:rPr lang="en-US" sz="1000" dirty="0">
                <a:solidFill>
                  <a:srgbClr val="D4E4F0"/>
                </a:solidFill>
              </a:rPr>
              <a:t>Average token cost per completed coding task</a:t>
            </a:r>
            <a:endParaRPr lang="en-US" sz="1000" dirty="0"/>
          </a:p>
        </p:txBody>
      </p:sp>
      <p:sp>
        <p:nvSpPr>
          <p:cNvPr id="32" name="Shape 30"/>
          <p:cNvSpPr/>
          <p:nvPr/>
        </p:nvSpPr>
        <p:spPr>
          <a:xfrm>
            <a:off x="4663440" y="1115568"/>
            <a:ext cx="4160520" cy="3767328"/>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33" name="Shape 31"/>
          <p:cNvSpPr/>
          <p:nvPr/>
        </p:nvSpPr>
        <p:spPr>
          <a:xfrm>
            <a:off x="4663440" y="1115568"/>
            <a:ext cx="4160520" cy="438912"/>
          </a:xfrm>
          <a:prstGeom prst="rect">
            <a:avLst/>
          </a:prstGeom>
          <a:solidFill>
            <a:srgbClr val="3A7DC9">
              <a:alpha val="95000"/>
            </a:srgbClr>
          </a:solidFill>
          <a:ln/>
        </p:spPr>
      </p:sp>
      <p:sp>
        <p:nvSpPr>
          <p:cNvPr id="34" name="Text 32"/>
          <p:cNvSpPr/>
          <p:nvPr/>
        </p:nvSpPr>
        <p:spPr>
          <a:xfrm>
            <a:off x="4663440" y="1115568"/>
            <a:ext cx="4160520" cy="438912"/>
          </a:xfrm>
          <a:prstGeom prst="rect">
            <a:avLst/>
          </a:prstGeom>
          <a:noFill/>
          <a:ln/>
        </p:spPr>
        <p:txBody>
          <a:bodyPr wrap="square" lIns="0" tIns="0" rIns="0" bIns="0" rtlCol="0" anchor="ctr"/>
          <a:lstStyle/>
          <a:p>
            <a:pPr algn="ctr" indent="0" marL="0">
              <a:buNone/>
            </a:pPr>
            <a:r>
              <a:rPr lang="en-US" sz="1100" b="1" spc="200" kern="0" dirty="0">
                <a:solidFill>
                  <a:srgbClr val="FFFFFF"/>
                </a:solidFill>
              </a:rPr>
              <a:t>PRODUCTION AGENT SLOs</a:t>
            </a:r>
            <a:endParaRPr lang="en-US" sz="1100" dirty="0"/>
          </a:p>
        </p:txBody>
      </p:sp>
      <p:sp>
        <p:nvSpPr>
          <p:cNvPr id="35" name="Text 33"/>
          <p:cNvSpPr/>
          <p:nvPr/>
        </p:nvSpPr>
        <p:spPr>
          <a:xfrm>
            <a:off x="4754880" y="1609344"/>
            <a:ext cx="3977640" cy="237744"/>
          </a:xfrm>
          <a:prstGeom prst="rect">
            <a:avLst/>
          </a:prstGeom>
          <a:noFill/>
          <a:ln/>
        </p:spPr>
        <p:txBody>
          <a:bodyPr wrap="square" lIns="0" tIns="0" rIns="0" bIns="0" rtlCol="0" anchor="ctr"/>
          <a:lstStyle/>
          <a:p>
            <a:pPr indent="0" marL="0">
              <a:buNone/>
            </a:pPr>
            <a:r>
              <a:rPr lang="en-US" sz="1000" i="1" dirty="0">
                <a:solidFill>
                  <a:srgbClr val="5B8DB8"/>
                </a:solidFill>
              </a:rPr>
              <a:t>When your team builds agents that run in production</a:t>
            </a:r>
            <a:endParaRPr lang="en-US" sz="1000" dirty="0"/>
          </a:p>
        </p:txBody>
      </p:sp>
      <p:sp>
        <p:nvSpPr>
          <p:cNvPr id="36" name="Shape 34"/>
          <p:cNvSpPr/>
          <p:nvPr/>
        </p:nvSpPr>
        <p:spPr>
          <a:xfrm>
            <a:off x="4754880" y="1920240"/>
            <a:ext cx="3977640" cy="731520"/>
          </a:xfrm>
          <a:prstGeom prst="rect">
            <a:avLst/>
          </a:prstGeom>
          <a:solidFill>
            <a:srgbClr val="1C3557">
              <a:alpha val="90000"/>
            </a:srgbClr>
          </a:solidFill>
          <a:ln/>
        </p:spPr>
      </p:sp>
      <p:sp>
        <p:nvSpPr>
          <p:cNvPr id="37" name="Shape 35"/>
          <p:cNvSpPr/>
          <p:nvPr/>
        </p:nvSpPr>
        <p:spPr>
          <a:xfrm>
            <a:off x="4754880" y="1920240"/>
            <a:ext cx="54864" cy="731520"/>
          </a:xfrm>
          <a:prstGeom prst="rect">
            <a:avLst/>
          </a:prstGeom>
          <a:solidFill>
            <a:srgbClr val="3A7DC9"/>
          </a:solidFill>
          <a:ln/>
        </p:spPr>
      </p:sp>
      <p:sp>
        <p:nvSpPr>
          <p:cNvPr id="38" name="Text 36"/>
          <p:cNvSpPr/>
          <p:nvPr/>
        </p:nvSpPr>
        <p:spPr>
          <a:xfrm>
            <a:off x="4873752" y="1965960"/>
            <a:ext cx="2377440" cy="256032"/>
          </a:xfrm>
          <a:prstGeom prst="rect">
            <a:avLst/>
          </a:prstGeom>
          <a:noFill/>
          <a:ln/>
        </p:spPr>
        <p:txBody>
          <a:bodyPr wrap="square" lIns="0" tIns="0" rIns="0" bIns="0" rtlCol="0" anchor="ctr"/>
          <a:lstStyle/>
          <a:p>
            <a:pPr indent="0" marL="0">
              <a:buNone/>
            </a:pPr>
            <a:r>
              <a:rPr lang="en-US" sz="1150" b="1" dirty="0">
                <a:solidFill>
                  <a:srgbClr val="3A7DC9"/>
                </a:solidFill>
              </a:rPr>
              <a:t>task_success_rate</a:t>
            </a:r>
            <a:endParaRPr lang="en-US" sz="1150" dirty="0"/>
          </a:p>
        </p:txBody>
      </p:sp>
      <p:sp>
        <p:nvSpPr>
          <p:cNvPr id="39" name="Shape 37"/>
          <p:cNvSpPr/>
          <p:nvPr/>
        </p:nvSpPr>
        <p:spPr>
          <a:xfrm>
            <a:off x="7333488" y="1975104"/>
            <a:ext cx="1261872" cy="256032"/>
          </a:xfrm>
          <a:prstGeom prst="rect">
            <a:avLst/>
          </a:prstGeom>
          <a:solidFill>
            <a:srgbClr val="3A7DC9">
              <a:alpha val="40000"/>
            </a:srgbClr>
          </a:solidFill>
          <a:ln/>
        </p:spPr>
      </p:sp>
      <p:sp>
        <p:nvSpPr>
          <p:cNvPr id="40" name="Text 38"/>
          <p:cNvSpPr/>
          <p:nvPr/>
        </p:nvSpPr>
        <p:spPr>
          <a:xfrm>
            <a:off x="7333488" y="1975104"/>
            <a:ext cx="1261872" cy="256032"/>
          </a:xfrm>
          <a:prstGeom prst="rect">
            <a:avLst/>
          </a:prstGeom>
          <a:noFill/>
          <a:ln/>
        </p:spPr>
        <p:txBody>
          <a:bodyPr wrap="square" lIns="0" tIns="0" rIns="0" bIns="0" rtlCol="0" anchor="ctr"/>
          <a:lstStyle/>
          <a:p>
            <a:pPr algn="ctr" indent="0" marL="0">
              <a:buNone/>
            </a:pPr>
            <a:r>
              <a:rPr lang="en-US" sz="950" b="1" dirty="0">
                <a:solidFill>
                  <a:srgbClr val="FFFFFF"/>
                </a:solidFill>
              </a:rPr>
              <a:t>target: 95%</a:t>
            </a:r>
            <a:endParaRPr lang="en-US" sz="950" dirty="0"/>
          </a:p>
        </p:txBody>
      </p:sp>
      <p:sp>
        <p:nvSpPr>
          <p:cNvPr id="41" name="Text 39"/>
          <p:cNvSpPr/>
          <p:nvPr/>
        </p:nvSpPr>
        <p:spPr>
          <a:xfrm>
            <a:off x="4873752" y="2249424"/>
            <a:ext cx="3108960" cy="201168"/>
          </a:xfrm>
          <a:prstGeom prst="rect">
            <a:avLst/>
          </a:prstGeom>
          <a:noFill/>
          <a:ln/>
        </p:spPr>
        <p:txBody>
          <a:bodyPr wrap="square" lIns="0" tIns="0" rIns="0" bIns="0" rtlCol="0" anchor="ctr"/>
          <a:lstStyle/>
          <a:p>
            <a:pPr indent="0" marL="0">
              <a:buNone/>
            </a:pPr>
            <a:r>
              <a:rPr lang="en-US" sz="1000" dirty="0">
                <a:solidFill>
                  <a:srgbClr val="D4E4F0"/>
                </a:solidFill>
              </a:rPr>
              <a:t>% of production agent runs achieving the goal</a:t>
            </a:r>
            <a:endParaRPr lang="en-US" sz="1000" dirty="0"/>
          </a:p>
        </p:txBody>
      </p:sp>
      <p:sp>
        <p:nvSpPr>
          <p:cNvPr id="42" name="Text 40"/>
          <p:cNvSpPr/>
          <p:nvPr/>
        </p:nvSpPr>
        <p:spPr>
          <a:xfrm>
            <a:off x="4873752" y="2432304"/>
            <a:ext cx="3108960" cy="182880"/>
          </a:xfrm>
          <a:prstGeom prst="rect">
            <a:avLst/>
          </a:prstGeom>
          <a:noFill/>
          <a:ln/>
        </p:spPr>
        <p:txBody>
          <a:bodyPr wrap="square" lIns="0" tIns="0" rIns="0" bIns="0" rtlCol="0" anchor="ctr"/>
          <a:lstStyle/>
          <a:p>
            <a:pPr indent="0" marL="0">
              <a:buNone/>
            </a:pPr>
            <a:r>
              <a:rPr lang="en-US" sz="950" dirty="0">
                <a:solidFill>
                  <a:srgbClr val="8096B0"/>
                </a:solidFill>
              </a:rPr>
              <a:t>⚠ alert: 90%  ·  7d window</a:t>
            </a:r>
            <a:endParaRPr lang="en-US" sz="950" dirty="0"/>
          </a:p>
        </p:txBody>
      </p:sp>
      <p:sp>
        <p:nvSpPr>
          <p:cNvPr id="43" name="Shape 41"/>
          <p:cNvSpPr/>
          <p:nvPr/>
        </p:nvSpPr>
        <p:spPr>
          <a:xfrm>
            <a:off x="4754880" y="2724912"/>
            <a:ext cx="3977640" cy="731520"/>
          </a:xfrm>
          <a:prstGeom prst="rect">
            <a:avLst/>
          </a:prstGeom>
          <a:solidFill>
            <a:srgbClr val="1C3557">
              <a:alpha val="90000"/>
            </a:srgbClr>
          </a:solidFill>
          <a:ln/>
        </p:spPr>
      </p:sp>
      <p:sp>
        <p:nvSpPr>
          <p:cNvPr id="44" name="Shape 42"/>
          <p:cNvSpPr/>
          <p:nvPr/>
        </p:nvSpPr>
        <p:spPr>
          <a:xfrm>
            <a:off x="4754880" y="2724912"/>
            <a:ext cx="54864" cy="731520"/>
          </a:xfrm>
          <a:prstGeom prst="rect">
            <a:avLst/>
          </a:prstGeom>
          <a:solidFill>
            <a:srgbClr val="3A7DC9"/>
          </a:solidFill>
          <a:ln/>
        </p:spPr>
      </p:sp>
      <p:sp>
        <p:nvSpPr>
          <p:cNvPr id="45" name="Text 43"/>
          <p:cNvSpPr/>
          <p:nvPr/>
        </p:nvSpPr>
        <p:spPr>
          <a:xfrm>
            <a:off x="4873752" y="2770632"/>
            <a:ext cx="2377440" cy="256032"/>
          </a:xfrm>
          <a:prstGeom prst="rect">
            <a:avLst/>
          </a:prstGeom>
          <a:noFill/>
          <a:ln/>
        </p:spPr>
        <p:txBody>
          <a:bodyPr wrap="square" lIns="0" tIns="0" rIns="0" bIns="0" rtlCol="0" anchor="ctr"/>
          <a:lstStyle/>
          <a:p>
            <a:pPr indent="0" marL="0">
              <a:buNone/>
            </a:pPr>
            <a:r>
              <a:rPr lang="en-US" sz="1150" b="1" dirty="0">
                <a:solidFill>
                  <a:srgbClr val="3A7DC9"/>
                </a:solidFill>
              </a:rPr>
              <a:t>task_completion_time_p95</a:t>
            </a:r>
            <a:endParaRPr lang="en-US" sz="1150" dirty="0"/>
          </a:p>
        </p:txBody>
      </p:sp>
      <p:sp>
        <p:nvSpPr>
          <p:cNvPr id="46" name="Shape 44"/>
          <p:cNvSpPr/>
          <p:nvPr/>
        </p:nvSpPr>
        <p:spPr>
          <a:xfrm>
            <a:off x="7333488" y="2779776"/>
            <a:ext cx="1261872" cy="256032"/>
          </a:xfrm>
          <a:prstGeom prst="rect">
            <a:avLst/>
          </a:prstGeom>
          <a:solidFill>
            <a:srgbClr val="3A7DC9">
              <a:alpha val="40000"/>
            </a:srgbClr>
          </a:solidFill>
          <a:ln/>
        </p:spPr>
      </p:sp>
      <p:sp>
        <p:nvSpPr>
          <p:cNvPr id="47" name="Text 45"/>
          <p:cNvSpPr/>
          <p:nvPr/>
        </p:nvSpPr>
        <p:spPr>
          <a:xfrm>
            <a:off x="7333488" y="2779776"/>
            <a:ext cx="1261872" cy="256032"/>
          </a:xfrm>
          <a:prstGeom prst="rect">
            <a:avLst/>
          </a:prstGeom>
          <a:noFill/>
          <a:ln/>
        </p:spPr>
        <p:txBody>
          <a:bodyPr wrap="square" lIns="0" tIns="0" rIns="0" bIns="0" rtlCol="0" anchor="ctr"/>
          <a:lstStyle/>
          <a:p>
            <a:pPr algn="ctr" indent="0" marL="0">
              <a:buNone/>
            </a:pPr>
            <a:r>
              <a:rPr lang="en-US" sz="950" b="1" dirty="0">
                <a:solidFill>
                  <a:srgbClr val="FFFFFF"/>
                </a:solidFill>
              </a:rPr>
              <a:t>target: 120s</a:t>
            </a:r>
            <a:endParaRPr lang="en-US" sz="950" dirty="0"/>
          </a:p>
        </p:txBody>
      </p:sp>
      <p:sp>
        <p:nvSpPr>
          <p:cNvPr id="48" name="Text 46"/>
          <p:cNvSpPr/>
          <p:nvPr/>
        </p:nvSpPr>
        <p:spPr>
          <a:xfrm>
            <a:off x="4873752" y="3054096"/>
            <a:ext cx="3108960" cy="201168"/>
          </a:xfrm>
          <a:prstGeom prst="rect">
            <a:avLst/>
          </a:prstGeom>
          <a:noFill/>
          <a:ln/>
        </p:spPr>
        <p:txBody>
          <a:bodyPr wrap="square" lIns="0" tIns="0" rIns="0" bIns="0" rtlCol="0" anchor="ctr"/>
          <a:lstStyle/>
          <a:p>
            <a:pPr indent="0" marL="0">
              <a:buNone/>
            </a:pPr>
            <a:r>
              <a:rPr lang="en-US" sz="1000" dirty="0">
                <a:solidFill>
                  <a:srgbClr val="D4E4F0"/>
                </a:solidFill>
              </a:rPr>
              <a:t>p95 latency for task completion</a:t>
            </a:r>
            <a:endParaRPr lang="en-US" sz="1000" dirty="0"/>
          </a:p>
        </p:txBody>
      </p:sp>
      <p:sp>
        <p:nvSpPr>
          <p:cNvPr id="49" name="Text 47"/>
          <p:cNvSpPr/>
          <p:nvPr/>
        </p:nvSpPr>
        <p:spPr>
          <a:xfrm>
            <a:off x="4873752" y="3236976"/>
            <a:ext cx="3108960" cy="182880"/>
          </a:xfrm>
          <a:prstGeom prst="rect">
            <a:avLst/>
          </a:prstGeom>
          <a:noFill/>
          <a:ln/>
        </p:spPr>
        <p:txBody>
          <a:bodyPr wrap="square" lIns="0" tIns="0" rIns="0" bIns="0" rtlCol="0" anchor="ctr"/>
          <a:lstStyle/>
          <a:p>
            <a:pPr indent="0" marL="0">
              <a:buNone/>
            </a:pPr>
            <a:r>
              <a:rPr lang="en-US" sz="950" dirty="0">
                <a:solidFill>
                  <a:srgbClr val="8096B0"/>
                </a:solidFill>
              </a:rPr>
              <a:t>⚠ alert: 180s  ·  1d window</a:t>
            </a:r>
            <a:endParaRPr lang="en-US" sz="950" dirty="0"/>
          </a:p>
        </p:txBody>
      </p:sp>
      <p:sp>
        <p:nvSpPr>
          <p:cNvPr id="50" name="Shape 48"/>
          <p:cNvSpPr/>
          <p:nvPr/>
        </p:nvSpPr>
        <p:spPr>
          <a:xfrm>
            <a:off x="4754880" y="3529584"/>
            <a:ext cx="3977640" cy="731520"/>
          </a:xfrm>
          <a:prstGeom prst="rect">
            <a:avLst/>
          </a:prstGeom>
          <a:solidFill>
            <a:srgbClr val="1C3557">
              <a:alpha val="90000"/>
            </a:srgbClr>
          </a:solidFill>
          <a:ln/>
        </p:spPr>
      </p:sp>
      <p:sp>
        <p:nvSpPr>
          <p:cNvPr id="51" name="Shape 49"/>
          <p:cNvSpPr/>
          <p:nvPr/>
        </p:nvSpPr>
        <p:spPr>
          <a:xfrm>
            <a:off x="4754880" y="3529584"/>
            <a:ext cx="54864" cy="731520"/>
          </a:xfrm>
          <a:prstGeom prst="rect">
            <a:avLst/>
          </a:prstGeom>
          <a:solidFill>
            <a:srgbClr val="3A7DC9"/>
          </a:solidFill>
          <a:ln/>
        </p:spPr>
      </p:sp>
      <p:sp>
        <p:nvSpPr>
          <p:cNvPr id="52" name="Text 50"/>
          <p:cNvSpPr/>
          <p:nvPr/>
        </p:nvSpPr>
        <p:spPr>
          <a:xfrm>
            <a:off x="4873752" y="3575304"/>
            <a:ext cx="2377440" cy="256032"/>
          </a:xfrm>
          <a:prstGeom prst="rect">
            <a:avLst/>
          </a:prstGeom>
          <a:noFill/>
          <a:ln/>
        </p:spPr>
        <p:txBody>
          <a:bodyPr wrap="square" lIns="0" tIns="0" rIns="0" bIns="0" rtlCol="0" anchor="ctr"/>
          <a:lstStyle/>
          <a:p>
            <a:pPr indent="0" marL="0">
              <a:buNone/>
            </a:pPr>
            <a:r>
              <a:rPr lang="en-US" sz="1150" b="1" dirty="0">
                <a:solidFill>
                  <a:srgbClr val="3A7DC9"/>
                </a:solidFill>
              </a:rPr>
              <a:t>human_escalation_rate</a:t>
            </a:r>
            <a:endParaRPr lang="en-US" sz="1150" dirty="0"/>
          </a:p>
        </p:txBody>
      </p:sp>
      <p:sp>
        <p:nvSpPr>
          <p:cNvPr id="53" name="Shape 51"/>
          <p:cNvSpPr/>
          <p:nvPr/>
        </p:nvSpPr>
        <p:spPr>
          <a:xfrm>
            <a:off x="7333488" y="3584448"/>
            <a:ext cx="1261872" cy="256032"/>
          </a:xfrm>
          <a:prstGeom prst="rect">
            <a:avLst/>
          </a:prstGeom>
          <a:solidFill>
            <a:srgbClr val="3A7DC9">
              <a:alpha val="40000"/>
            </a:srgbClr>
          </a:solidFill>
          <a:ln/>
        </p:spPr>
      </p:sp>
      <p:sp>
        <p:nvSpPr>
          <p:cNvPr id="54" name="Text 52"/>
          <p:cNvSpPr/>
          <p:nvPr/>
        </p:nvSpPr>
        <p:spPr>
          <a:xfrm>
            <a:off x="7333488" y="3584448"/>
            <a:ext cx="1261872" cy="256032"/>
          </a:xfrm>
          <a:prstGeom prst="rect">
            <a:avLst/>
          </a:prstGeom>
          <a:noFill/>
          <a:ln/>
        </p:spPr>
        <p:txBody>
          <a:bodyPr wrap="square" lIns="0" tIns="0" rIns="0" bIns="0" rtlCol="0" anchor="ctr"/>
          <a:lstStyle/>
          <a:p>
            <a:pPr algn="ctr" indent="0" marL="0">
              <a:buNone/>
            </a:pPr>
            <a:r>
              <a:rPr lang="en-US" sz="950" b="1" dirty="0">
                <a:solidFill>
                  <a:srgbClr val="FFFFFF"/>
                </a:solidFill>
              </a:rPr>
              <a:t>target: &lt;5%</a:t>
            </a:r>
            <a:endParaRPr lang="en-US" sz="950" dirty="0"/>
          </a:p>
        </p:txBody>
      </p:sp>
      <p:sp>
        <p:nvSpPr>
          <p:cNvPr id="55" name="Text 53"/>
          <p:cNvSpPr/>
          <p:nvPr/>
        </p:nvSpPr>
        <p:spPr>
          <a:xfrm>
            <a:off x="4873752" y="3858768"/>
            <a:ext cx="3108960" cy="201168"/>
          </a:xfrm>
          <a:prstGeom prst="rect">
            <a:avLst/>
          </a:prstGeom>
          <a:noFill/>
          <a:ln/>
        </p:spPr>
        <p:txBody>
          <a:bodyPr wrap="square" lIns="0" tIns="0" rIns="0" bIns="0" rtlCol="0" anchor="ctr"/>
          <a:lstStyle/>
          <a:p>
            <a:pPr indent="0" marL="0">
              <a:buNone/>
            </a:pPr>
            <a:r>
              <a:rPr lang="en-US" sz="1000" dirty="0">
                <a:solidFill>
                  <a:srgbClr val="D4E4F0"/>
                </a:solidFill>
              </a:rPr>
              <a:t>% of runs where HITL is triggered</a:t>
            </a:r>
            <a:endParaRPr lang="en-US" sz="1000" dirty="0"/>
          </a:p>
        </p:txBody>
      </p:sp>
      <p:sp>
        <p:nvSpPr>
          <p:cNvPr id="56" name="Text 54"/>
          <p:cNvSpPr/>
          <p:nvPr/>
        </p:nvSpPr>
        <p:spPr>
          <a:xfrm>
            <a:off x="4873752" y="4041648"/>
            <a:ext cx="3108960" cy="182880"/>
          </a:xfrm>
          <a:prstGeom prst="rect">
            <a:avLst/>
          </a:prstGeom>
          <a:noFill/>
          <a:ln/>
        </p:spPr>
        <p:txBody>
          <a:bodyPr wrap="square" lIns="0" tIns="0" rIns="0" bIns="0" rtlCol="0" anchor="ctr"/>
          <a:lstStyle/>
          <a:p>
            <a:pPr indent="0" marL="0">
              <a:buNone/>
            </a:pPr>
            <a:r>
              <a:rPr lang="en-US" sz="950" dirty="0">
                <a:solidFill>
                  <a:srgbClr val="8096B0"/>
                </a:solidFill>
              </a:rPr>
              <a:t>⚠ alert: 15%  ·  7d window</a:t>
            </a:r>
            <a:endParaRPr lang="en-US" sz="950" dirty="0"/>
          </a:p>
        </p:txBody>
      </p:sp>
      <p:sp>
        <p:nvSpPr>
          <p:cNvPr id="57" name="Text 55"/>
          <p:cNvSpPr/>
          <p:nvPr/>
        </p:nvSpPr>
        <p:spPr>
          <a:xfrm>
            <a:off x="320040" y="4919472"/>
            <a:ext cx="8503920" cy="201168"/>
          </a:xfrm>
          <a:prstGeom prst="rect">
            <a:avLst/>
          </a:prstGeom>
          <a:noFill/>
          <a:ln/>
        </p:spPr>
        <p:txBody>
          <a:bodyPr wrap="square" lIns="0" tIns="0" rIns="0" bIns="0" rtlCol="0" anchor="ctr"/>
          <a:lstStyle/>
          <a:p>
            <a:pPr indent="0" marL="0">
              <a:buNone/>
            </a:pPr>
            <a:r>
              <a:rPr lang="en-US" sz="1050" i="1" dirty="0">
                <a:solidFill>
                  <a:srgbClr val="7A90A8"/>
                </a:solidFill>
              </a:rPr>
              <a:t>Start with coding-agent SLOs on day one. Add production SLOs when your team ships agents to end users.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4A7FA8"/>
          </a:solidFill>
          <a:ln/>
        </p:spPr>
      </p:sp>
      <p:sp>
        <p:nvSpPr>
          <p:cNvPr id="3" name="Text 1"/>
          <p:cNvSpPr/>
          <p:nvPr/>
        </p:nvSpPr>
        <p:spPr>
          <a:xfrm>
            <a:off x="365760" y="0"/>
            <a:ext cx="822960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LAB EXERCISE  ·  30 MINUTES</a:t>
            </a:r>
            <a:endParaRPr lang="en-US" sz="1300" dirty="0"/>
          </a:p>
        </p:txBody>
      </p:sp>
      <p:sp>
        <p:nvSpPr>
          <p:cNvPr id="4" name="Text 2"/>
          <p:cNvSpPr/>
          <p:nvPr/>
        </p:nvSpPr>
        <p:spPr>
          <a:xfrm>
            <a:off x="365760" y="841248"/>
            <a:ext cx="8412480" cy="384048"/>
          </a:xfrm>
          <a:prstGeom prst="rect">
            <a:avLst/>
          </a:prstGeom>
          <a:noFill/>
          <a:ln/>
        </p:spPr>
        <p:txBody>
          <a:bodyPr wrap="square" lIns="0" tIns="0" rIns="0" bIns="0" rtlCol="0" anchor="ctr"/>
          <a:lstStyle/>
          <a:p>
            <a:pPr indent="0" marL="0">
              <a:buNone/>
            </a:pPr>
            <a:r>
              <a:rPr lang="en-US" sz="1900" b="1" dirty="0">
                <a:solidFill>
                  <a:srgbClr val="1C3557"/>
                </a:solidFill>
              </a:rPr>
              <a:t>Claude Code Workflow Security &amp; Observability Audit</a:t>
            </a:r>
            <a:endParaRPr lang="en-US" sz="1900" dirty="0"/>
          </a:p>
        </p:txBody>
      </p:sp>
      <p:sp>
        <p:nvSpPr>
          <p:cNvPr id="5" name="Shape 3"/>
          <p:cNvSpPr/>
          <p:nvPr/>
        </p:nvSpPr>
        <p:spPr>
          <a:xfrm>
            <a:off x="320040" y="1280160"/>
            <a:ext cx="8503920" cy="237744"/>
          </a:xfrm>
          <a:prstGeom prst="rect">
            <a:avLst/>
          </a:prstGeom>
          <a:solidFill>
            <a:srgbClr val="D4E4F0"/>
          </a:solidFill>
          <a:ln/>
        </p:spPr>
      </p:sp>
      <p:sp>
        <p:nvSpPr>
          <p:cNvPr id="6" name="Text 4"/>
          <p:cNvSpPr/>
          <p:nvPr/>
        </p:nvSpPr>
        <p:spPr>
          <a:xfrm>
            <a:off x="411480" y="1280160"/>
            <a:ext cx="8321040" cy="237744"/>
          </a:xfrm>
          <a:prstGeom prst="rect">
            <a:avLst/>
          </a:prstGeom>
          <a:noFill/>
          <a:ln/>
        </p:spPr>
        <p:txBody>
          <a:bodyPr wrap="square" lIns="0" tIns="0" rIns="0" bIns="0" rtlCol="0" anchor="ctr"/>
          <a:lstStyle/>
          <a:p>
            <a:pPr indent="0" marL="0">
              <a:buNone/>
            </a:pPr>
            <a:r>
              <a:rPr lang="en-US" sz="1000" i="1" dirty="0">
                <a:solidFill>
                  <a:srgbClr val="1C3557"/>
                </a:solidFill>
              </a:rPr>
              <a:t>Scope: audit a Claude Code workflow your team is using or plans to use (e.g. agent-driven feature development, automated refactoring, nightly hygiene tasks)</a:t>
            </a:r>
            <a:endParaRPr lang="en-US" sz="1000" dirty="0"/>
          </a:p>
        </p:txBody>
      </p:sp>
      <p:sp>
        <p:nvSpPr>
          <p:cNvPr id="7" name="Shape 5"/>
          <p:cNvSpPr/>
          <p:nvPr/>
        </p:nvSpPr>
        <p:spPr>
          <a:xfrm>
            <a:off x="320040" y="1591056"/>
            <a:ext cx="8503920" cy="749808"/>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8" name="Shape 6"/>
          <p:cNvSpPr/>
          <p:nvPr/>
        </p:nvSpPr>
        <p:spPr>
          <a:xfrm>
            <a:off x="320040" y="1591056"/>
            <a:ext cx="475488" cy="749808"/>
          </a:xfrm>
          <a:prstGeom prst="rect">
            <a:avLst/>
          </a:prstGeom>
          <a:solidFill>
            <a:srgbClr val="4A7FA8"/>
          </a:solidFill>
          <a:ln/>
        </p:spPr>
      </p:sp>
      <p:sp>
        <p:nvSpPr>
          <p:cNvPr id="9" name="Text 7"/>
          <p:cNvSpPr/>
          <p:nvPr/>
        </p:nvSpPr>
        <p:spPr>
          <a:xfrm>
            <a:off x="320040" y="1591056"/>
            <a:ext cx="475488" cy="749808"/>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10" name="Text 8"/>
          <p:cNvSpPr/>
          <p:nvPr/>
        </p:nvSpPr>
        <p:spPr>
          <a:xfrm>
            <a:off x="886968" y="1645920"/>
            <a:ext cx="2194560" cy="274320"/>
          </a:xfrm>
          <a:prstGeom prst="rect">
            <a:avLst/>
          </a:prstGeom>
          <a:noFill/>
          <a:ln/>
        </p:spPr>
        <p:txBody>
          <a:bodyPr wrap="square" lIns="0" tIns="0" rIns="0" bIns="0" rtlCol="0" anchor="ctr"/>
          <a:lstStyle/>
          <a:p>
            <a:pPr indent="0" marL="0">
              <a:buNone/>
            </a:pPr>
            <a:r>
              <a:rPr lang="en-US" sz="1250" b="1" dirty="0">
                <a:solidFill>
                  <a:srgbClr val="4A7FA8"/>
                </a:solidFill>
              </a:rPr>
              <a:t>Tools audit</a:t>
            </a:r>
            <a:endParaRPr lang="en-US" sz="1250" dirty="0"/>
          </a:p>
        </p:txBody>
      </p:sp>
      <p:sp>
        <p:nvSpPr>
          <p:cNvPr id="11" name="Text 9"/>
          <p:cNvSpPr/>
          <p:nvPr/>
        </p:nvSpPr>
        <p:spPr>
          <a:xfrm>
            <a:off x="3081528" y="1645920"/>
            <a:ext cx="777240" cy="274320"/>
          </a:xfrm>
          <a:prstGeom prst="rect">
            <a:avLst/>
          </a:prstGeom>
          <a:noFill/>
          <a:ln/>
        </p:spPr>
        <p:txBody>
          <a:bodyPr wrap="square" lIns="0" tIns="0" rIns="0" bIns="0" rtlCol="0" anchor="ctr"/>
          <a:lstStyle/>
          <a:p>
            <a:pPr indent="0" marL="0">
              <a:buNone/>
            </a:pPr>
            <a:r>
              <a:rPr lang="en-US" sz="1100" i="1" dirty="0">
                <a:solidFill>
                  <a:srgbClr val="7A90A8"/>
                </a:solidFill>
              </a:rPr>
              <a:t>(8 min)</a:t>
            </a:r>
            <a:endParaRPr lang="en-US" sz="1100" dirty="0"/>
          </a:p>
        </p:txBody>
      </p:sp>
      <p:sp>
        <p:nvSpPr>
          <p:cNvPr id="12" name="Text 10"/>
          <p:cNvSpPr/>
          <p:nvPr/>
        </p:nvSpPr>
        <p:spPr>
          <a:xfrm>
            <a:off x="886968" y="1975104"/>
            <a:ext cx="7818120" cy="310896"/>
          </a:xfrm>
          <a:prstGeom prst="rect">
            <a:avLst/>
          </a:prstGeom>
          <a:noFill/>
          <a:ln/>
        </p:spPr>
        <p:txBody>
          <a:bodyPr wrap="square" lIns="0" tIns="0" rIns="0" bIns="0" rtlCol="0" anchor="ctr"/>
          <a:lstStyle/>
          <a:p>
            <a:pPr indent="0" marL="0">
              <a:buNone/>
            </a:pPr>
            <a:r>
              <a:rPr lang="en-US" sz="1050" dirty="0">
                <a:solidFill>
                  <a:srgbClr val="7A90A8"/>
                </a:solidFill>
              </a:rPr>
              <a:t>List every tool Claude Code has access to (file read, file write, shell, git, etc.). For each: worst-case misuse? Blast radius? Is a human approval gate in place before irreversible actions?</a:t>
            </a:r>
            <a:endParaRPr lang="en-US" sz="1050" dirty="0"/>
          </a:p>
        </p:txBody>
      </p:sp>
      <p:sp>
        <p:nvSpPr>
          <p:cNvPr id="13" name="Shape 11"/>
          <p:cNvSpPr/>
          <p:nvPr/>
        </p:nvSpPr>
        <p:spPr>
          <a:xfrm>
            <a:off x="320040" y="2414016"/>
            <a:ext cx="8503920" cy="749808"/>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14" name="Shape 12"/>
          <p:cNvSpPr/>
          <p:nvPr/>
        </p:nvSpPr>
        <p:spPr>
          <a:xfrm>
            <a:off x="320040" y="2414016"/>
            <a:ext cx="475488" cy="749808"/>
          </a:xfrm>
          <a:prstGeom prst="rect">
            <a:avLst/>
          </a:prstGeom>
          <a:solidFill>
            <a:srgbClr val="4A7FA8"/>
          </a:solidFill>
          <a:ln/>
        </p:spPr>
      </p:sp>
      <p:sp>
        <p:nvSpPr>
          <p:cNvPr id="15" name="Text 13"/>
          <p:cNvSpPr/>
          <p:nvPr/>
        </p:nvSpPr>
        <p:spPr>
          <a:xfrm>
            <a:off x="320040" y="2414016"/>
            <a:ext cx="475488" cy="749808"/>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6" name="Text 14"/>
          <p:cNvSpPr/>
          <p:nvPr/>
        </p:nvSpPr>
        <p:spPr>
          <a:xfrm>
            <a:off x="886968" y="2468880"/>
            <a:ext cx="2194560" cy="274320"/>
          </a:xfrm>
          <a:prstGeom prst="rect">
            <a:avLst/>
          </a:prstGeom>
          <a:noFill/>
          <a:ln/>
        </p:spPr>
        <p:txBody>
          <a:bodyPr wrap="square" lIns="0" tIns="0" rIns="0" bIns="0" rtlCol="0" anchor="ctr"/>
          <a:lstStyle/>
          <a:p>
            <a:pPr indent="0" marL="0">
              <a:buNone/>
            </a:pPr>
            <a:r>
              <a:rPr lang="en-US" sz="1250" b="1" dirty="0">
                <a:solidFill>
                  <a:srgbClr val="4A7FA8"/>
                </a:solidFill>
              </a:rPr>
              <a:t>Prompt injection surface</a:t>
            </a:r>
            <a:endParaRPr lang="en-US" sz="1250" dirty="0"/>
          </a:p>
        </p:txBody>
      </p:sp>
      <p:sp>
        <p:nvSpPr>
          <p:cNvPr id="17" name="Text 15"/>
          <p:cNvSpPr/>
          <p:nvPr/>
        </p:nvSpPr>
        <p:spPr>
          <a:xfrm>
            <a:off x="3081528" y="2468880"/>
            <a:ext cx="777240" cy="274320"/>
          </a:xfrm>
          <a:prstGeom prst="rect">
            <a:avLst/>
          </a:prstGeom>
          <a:noFill/>
          <a:ln/>
        </p:spPr>
        <p:txBody>
          <a:bodyPr wrap="square" lIns="0" tIns="0" rIns="0" bIns="0" rtlCol="0" anchor="ctr"/>
          <a:lstStyle/>
          <a:p>
            <a:pPr indent="0" marL="0">
              <a:buNone/>
            </a:pPr>
            <a:r>
              <a:rPr lang="en-US" sz="1100" i="1" dirty="0">
                <a:solidFill>
                  <a:srgbClr val="7A90A8"/>
                </a:solidFill>
              </a:rPr>
              <a:t>(7 min)</a:t>
            </a:r>
            <a:endParaRPr lang="en-US" sz="1100" dirty="0"/>
          </a:p>
        </p:txBody>
      </p:sp>
      <p:sp>
        <p:nvSpPr>
          <p:cNvPr id="18" name="Text 16"/>
          <p:cNvSpPr/>
          <p:nvPr/>
        </p:nvSpPr>
        <p:spPr>
          <a:xfrm>
            <a:off x="886968" y="2798064"/>
            <a:ext cx="7818120" cy="310896"/>
          </a:xfrm>
          <a:prstGeom prst="rect">
            <a:avLst/>
          </a:prstGeom>
          <a:noFill/>
          <a:ln/>
        </p:spPr>
        <p:txBody>
          <a:bodyPr wrap="square" lIns="0" tIns="0" rIns="0" bIns="0" rtlCol="0" anchor="ctr"/>
          <a:lstStyle/>
          <a:p>
            <a:pPr indent="0" marL="0">
              <a:buNone/>
            </a:pPr>
            <a:r>
              <a:rPr lang="en-US" sz="1050" dirty="0">
                <a:solidFill>
                  <a:srgbClr val="7A90A8"/>
                </a:solidFill>
              </a:rPr>
              <a:t>What external data does Claude Code read in this workflow (docs, test output, README files, tickets)? Could any of that content contain instructions that hijack the agent? How would you detect it?</a:t>
            </a:r>
            <a:endParaRPr lang="en-US" sz="1050" dirty="0"/>
          </a:p>
        </p:txBody>
      </p:sp>
      <p:sp>
        <p:nvSpPr>
          <p:cNvPr id="19" name="Shape 17"/>
          <p:cNvSpPr/>
          <p:nvPr/>
        </p:nvSpPr>
        <p:spPr>
          <a:xfrm>
            <a:off x="320040" y="3236976"/>
            <a:ext cx="8503920" cy="749808"/>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20" name="Shape 18"/>
          <p:cNvSpPr/>
          <p:nvPr/>
        </p:nvSpPr>
        <p:spPr>
          <a:xfrm>
            <a:off x="320040" y="3236976"/>
            <a:ext cx="475488" cy="749808"/>
          </a:xfrm>
          <a:prstGeom prst="rect">
            <a:avLst/>
          </a:prstGeom>
          <a:solidFill>
            <a:srgbClr val="4A7FA8"/>
          </a:solidFill>
          <a:ln/>
        </p:spPr>
      </p:sp>
      <p:sp>
        <p:nvSpPr>
          <p:cNvPr id="21" name="Text 19"/>
          <p:cNvSpPr/>
          <p:nvPr/>
        </p:nvSpPr>
        <p:spPr>
          <a:xfrm>
            <a:off x="320040" y="3236976"/>
            <a:ext cx="475488" cy="749808"/>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22" name="Text 20"/>
          <p:cNvSpPr/>
          <p:nvPr/>
        </p:nvSpPr>
        <p:spPr>
          <a:xfrm>
            <a:off x="886968" y="3291840"/>
            <a:ext cx="2194560" cy="274320"/>
          </a:xfrm>
          <a:prstGeom prst="rect">
            <a:avLst/>
          </a:prstGeom>
          <a:noFill/>
          <a:ln/>
        </p:spPr>
        <p:txBody>
          <a:bodyPr wrap="square" lIns="0" tIns="0" rIns="0" bIns="0" rtlCol="0" anchor="ctr"/>
          <a:lstStyle/>
          <a:p>
            <a:pPr indent="0" marL="0">
              <a:buNone/>
            </a:pPr>
            <a:r>
              <a:rPr lang="en-US" sz="1250" b="1" dirty="0">
                <a:solidFill>
                  <a:srgbClr val="4A7FA8"/>
                </a:solidFill>
              </a:rPr>
              <a:t>Define three SLOs</a:t>
            </a:r>
            <a:endParaRPr lang="en-US" sz="1250" dirty="0"/>
          </a:p>
        </p:txBody>
      </p:sp>
      <p:sp>
        <p:nvSpPr>
          <p:cNvPr id="23" name="Text 21"/>
          <p:cNvSpPr/>
          <p:nvPr/>
        </p:nvSpPr>
        <p:spPr>
          <a:xfrm>
            <a:off x="3081528" y="3291840"/>
            <a:ext cx="777240" cy="274320"/>
          </a:xfrm>
          <a:prstGeom prst="rect">
            <a:avLst/>
          </a:prstGeom>
          <a:noFill/>
          <a:ln/>
        </p:spPr>
        <p:txBody>
          <a:bodyPr wrap="square" lIns="0" tIns="0" rIns="0" bIns="0" rtlCol="0" anchor="ctr"/>
          <a:lstStyle/>
          <a:p>
            <a:pPr indent="0" marL="0">
              <a:buNone/>
            </a:pPr>
            <a:r>
              <a:rPr lang="en-US" sz="1100" i="1" dirty="0">
                <a:solidFill>
                  <a:srgbClr val="7A90A8"/>
                </a:solidFill>
              </a:rPr>
              <a:t>(8 min)</a:t>
            </a:r>
            <a:endParaRPr lang="en-US" sz="1100" dirty="0"/>
          </a:p>
        </p:txBody>
      </p:sp>
      <p:sp>
        <p:nvSpPr>
          <p:cNvPr id="24" name="Text 22"/>
          <p:cNvSpPr/>
          <p:nvPr/>
        </p:nvSpPr>
        <p:spPr>
          <a:xfrm>
            <a:off x="886968" y="3621024"/>
            <a:ext cx="7818120" cy="310896"/>
          </a:xfrm>
          <a:prstGeom prst="rect">
            <a:avLst/>
          </a:prstGeom>
          <a:noFill/>
          <a:ln/>
        </p:spPr>
        <p:txBody>
          <a:bodyPr wrap="square" lIns="0" tIns="0" rIns="0" bIns="0" rtlCol="0" anchor="ctr"/>
          <a:lstStyle/>
          <a:p>
            <a:pPr indent="0" marL="0">
              <a:buNone/>
            </a:pPr>
            <a:r>
              <a:rPr lang="en-US" sz="1050" dirty="0">
                <a:solidFill>
                  <a:srgbClr val="7A90A8"/>
                </a:solidFill>
              </a:rPr>
              <a:t>Write three measurable SLOs for the coding agent workflow. At least one must be cost-related (e.g. cost_per_task) and one quality-related (e.g. eval_score). Use the formats from Slide 10.</a:t>
            </a:r>
            <a:endParaRPr lang="en-US" sz="1050" dirty="0"/>
          </a:p>
        </p:txBody>
      </p:sp>
      <p:sp>
        <p:nvSpPr>
          <p:cNvPr id="25" name="Shape 23"/>
          <p:cNvSpPr/>
          <p:nvPr/>
        </p:nvSpPr>
        <p:spPr>
          <a:xfrm>
            <a:off x="320040" y="4059936"/>
            <a:ext cx="8503920" cy="749808"/>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26" name="Shape 24"/>
          <p:cNvSpPr/>
          <p:nvPr/>
        </p:nvSpPr>
        <p:spPr>
          <a:xfrm>
            <a:off x="320040" y="4059936"/>
            <a:ext cx="475488" cy="749808"/>
          </a:xfrm>
          <a:prstGeom prst="rect">
            <a:avLst/>
          </a:prstGeom>
          <a:solidFill>
            <a:srgbClr val="4A7FA8"/>
          </a:solidFill>
          <a:ln/>
        </p:spPr>
      </p:sp>
      <p:sp>
        <p:nvSpPr>
          <p:cNvPr id="27" name="Text 25"/>
          <p:cNvSpPr/>
          <p:nvPr/>
        </p:nvSpPr>
        <p:spPr>
          <a:xfrm>
            <a:off x="320040" y="4059936"/>
            <a:ext cx="475488" cy="749808"/>
          </a:xfrm>
          <a:prstGeom prst="rect">
            <a:avLst/>
          </a:prstGeom>
          <a:noFill/>
          <a:ln/>
        </p:spPr>
        <p:txBody>
          <a:bodyPr wrap="square" lIns="0" tIns="0" rIns="0" bIns="0" rtlCol="0" anchor="ctr"/>
          <a:lstStyle/>
          <a:p>
            <a:pPr algn="ctr" indent="0" marL="0">
              <a:buNone/>
            </a:pPr>
            <a:r>
              <a:rPr lang="en-US" sz="2200" b="1" dirty="0">
                <a:solidFill>
                  <a:srgbClr val="FFFFFF"/>
                </a:solidFill>
              </a:rPr>
              <a:t>4</a:t>
            </a:r>
            <a:endParaRPr lang="en-US" sz="2200" dirty="0"/>
          </a:p>
        </p:txBody>
      </p:sp>
      <p:sp>
        <p:nvSpPr>
          <p:cNvPr id="28" name="Text 26"/>
          <p:cNvSpPr/>
          <p:nvPr/>
        </p:nvSpPr>
        <p:spPr>
          <a:xfrm>
            <a:off x="886968" y="4114800"/>
            <a:ext cx="2194560" cy="274320"/>
          </a:xfrm>
          <a:prstGeom prst="rect">
            <a:avLst/>
          </a:prstGeom>
          <a:noFill/>
          <a:ln/>
        </p:spPr>
        <p:txBody>
          <a:bodyPr wrap="square" lIns="0" tIns="0" rIns="0" bIns="0" rtlCol="0" anchor="ctr"/>
          <a:lstStyle/>
          <a:p>
            <a:pPr indent="0" marL="0">
              <a:buNone/>
            </a:pPr>
            <a:r>
              <a:rPr lang="en-US" sz="1250" b="1" dirty="0">
                <a:solidFill>
                  <a:srgbClr val="4A7FA8"/>
                </a:solidFill>
              </a:rPr>
              <a:t>Observability design</a:t>
            </a:r>
            <a:endParaRPr lang="en-US" sz="1250" dirty="0"/>
          </a:p>
        </p:txBody>
      </p:sp>
      <p:sp>
        <p:nvSpPr>
          <p:cNvPr id="29" name="Text 27"/>
          <p:cNvSpPr/>
          <p:nvPr/>
        </p:nvSpPr>
        <p:spPr>
          <a:xfrm>
            <a:off x="3081528" y="4114800"/>
            <a:ext cx="777240" cy="274320"/>
          </a:xfrm>
          <a:prstGeom prst="rect">
            <a:avLst/>
          </a:prstGeom>
          <a:noFill/>
          <a:ln/>
        </p:spPr>
        <p:txBody>
          <a:bodyPr wrap="square" lIns="0" tIns="0" rIns="0" bIns="0" rtlCol="0" anchor="ctr"/>
          <a:lstStyle/>
          <a:p>
            <a:pPr indent="0" marL="0">
              <a:buNone/>
            </a:pPr>
            <a:r>
              <a:rPr lang="en-US" sz="1100" i="1" dirty="0">
                <a:solidFill>
                  <a:srgbClr val="7A90A8"/>
                </a:solidFill>
              </a:rPr>
              <a:t>(7 min)</a:t>
            </a:r>
            <a:endParaRPr lang="en-US" sz="1100" dirty="0"/>
          </a:p>
        </p:txBody>
      </p:sp>
      <p:sp>
        <p:nvSpPr>
          <p:cNvPr id="30" name="Text 28"/>
          <p:cNvSpPr/>
          <p:nvPr/>
        </p:nvSpPr>
        <p:spPr>
          <a:xfrm>
            <a:off x="886968" y="4443984"/>
            <a:ext cx="7818120" cy="310896"/>
          </a:xfrm>
          <a:prstGeom prst="rect">
            <a:avLst/>
          </a:prstGeom>
          <a:noFill/>
          <a:ln/>
        </p:spPr>
        <p:txBody>
          <a:bodyPr wrap="square" lIns="0" tIns="0" rIns="0" bIns="0" rtlCol="0" anchor="ctr"/>
          <a:lstStyle/>
          <a:p>
            <a:pPr indent="0" marL="0">
              <a:buNone/>
            </a:pPr>
            <a:r>
              <a:rPr lang="en-US" sz="1050" dirty="0">
                <a:solidFill>
                  <a:srgbClr val="7A90A8"/>
                </a:solidFill>
              </a:rPr>
              <a:t>What traces, metrics, and logs would you need to diagnose a bad agent run at 2am? What tool surfaces them (Langfuse, Honeycomb, custom OTel)? Who gets paged?</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3557"/>
        </a:solidFill>
      </p:bgPr>
    </p:bg>
    <p:spTree>
      <p:nvGrpSpPr>
        <p:cNvPr id="1" name=""/>
        <p:cNvGrpSpPr/>
        <p:nvPr/>
      </p:nvGrpSpPr>
      <p:grpSpPr>
        <a:xfrm>
          <a:off x="0" y="0"/>
          <a:ext cx="0" cy="0"/>
          <a:chOff x="0" y="0"/>
          <a:chExt cx="0" cy="0"/>
        </a:xfrm>
      </p:grpSpPr>
      <p:sp>
        <p:nvSpPr>
          <p:cNvPr id="2" name="Shape 0"/>
          <p:cNvSpPr/>
          <p:nvPr/>
        </p:nvSpPr>
        <p:spPr>
          <a:xfrm>
            <a:off x="8979408" y="0"/>
            <a:ext cx="164592" cy="5143500"/>
          </a:xfrm>
          <a:prstGeom prst="rect">
            <a:avLst/>
          </a:prstGeom>
          <a:solidFill>
            <a:srgbClr val="3A7DC9"/>
          </a:solidFill>
          <a:ln/>
        </p:spPr>
      </p:sp>
      <p:sp>
        <p:nvSpPr>
          <p:cNvPr id="3" name="Text 1"/>
          <p:cNvSpPr/>
          <p:nvPr/>
        </p:nvSpPr>
        <p:spPr>
          <a:xfrm>
            <a:off x="365760" y="201168"/>
            <a:ext cx="8229600" cy="411480"/>
          </a:xfrm>
          <a:prstGeom prst="rect">
            <a:avLst/>
          </a:prstGeom>
          <a:noFill/>
          <a:ln/>
        </p:spPr>
        <p:txBody>
          <a:bodyPr wrap="square" lIns="0" tIns="0" rIns="0" bIns="0" rtlCol="0" anchor="ctr"/>
          <a:lstStyle/>
          <a:p>
            <a:pPr indent="0" marL="0">
              <a:buNone/>
            </a:pPr>
            <a:r>
              <a:rPr lang="en-US" sz="1300" b="1" spc="300" kern="0" dirty="0">
                <a:solidFill>
                  <a:srgbClr val="5B8DB8"/>
                </a:solidFill>
              </a:rPr>
              <a:t>DISCUSSION + MODULE SUMMARY</a:t>
            </a:r>
            <a:endParaRPr lang="en-US" sz="1300" dirty="0"/>
          </a:p>
        </p:txBody>
      </p:sp>
      <p:sp>
        <p:nvSpPr>
          <p:cNvPr id="4" name="Shape 2"/>
          <p:cNvSpPr/>
          <p:nvPr/>
        </p:nvSpPr>
        <p:spPr>
          <a:xfrm>
            <a:off x="320040" y="749808"/>
            <a:ext cx="5029200" cy="3493008"/>
          </a:xfrm>
          <a:prstGeom prst="rect">
            <a:avLst/>
          </a:prstGeom>
          <a:solidFill>
            <a:srgbClr val="2E5073">
              <a:alpha val="80000"/>
            </a:srgbClr>
          </a:solidFill>
          <a:ln/>
          <a:effectLst>
            <a:outerShdw sx="100000" sy="100000" kx="0" ky="0" algn="bl" rotWithShape="0" blurRad="101600" dist="38100" dir="8100000">
              <a:srgbClr val="000000">
                <a:alpha val="13000"/>
              </a:srgbClr>
            </a:outerShdw>
          </a:effectLst>
        </p:spPr>
      </p:sp>
      <p:sp>
        <p:nvSpPr>
          <p:cNvPr id="5" name="Shape 3"/>
          <p:cNvSpPr/>
          <p:nvPr/>
        </p:nvSpPr>
        <p:spPr>
          <a:xfrm>
            <a:off x="320040" y="749808"/>
            <a:ext cx="5029200" cy="438912"/>
          </a:xfrm>
          <a:prstGeom prst="rect">
            <a:avLst/>
          </a:prstGeom>
          <a:solidFill>
            <a:srgbClr val="5B8DB8">
              <a:alpha val="85000"/>
            </a:srgbClr>
          </a:solidFill>
          <a:ln/>
        </p:spPr>
      </p:sp>
      <p:sp>
        <p:nvSpPr>
          <p:cNvPr id="6" name="Text 4"/>
          <p:cNvSpPr/>
          <p:nvPr/>
        </p:nvSpPr>
        <p:spPr>
          <a:xfrm>
            <a:off x="320040" y="749808"/>
            <a:ext cx="5029200" cy="438912"/>
          </a:xfrm>
          <a:prstGeom prst="rect">
            <a:avLst/>
          </a:prstGeom>
          <a:noFill/>
          <a:ln/>
        </p:spPr>
        <p:txBody>
          <a:bodyPr wrap="square" lIns="0" tIns="0" rIns="0" bIns="0" rtlCol="0" anchor="ctr"/>
          <a:lstStyle/>
          <a:p>
            <a:pPr algn="ctr" indent="0" marL="0">
              <a:buNone/>
            </a:pPr>
            <a:r>
              <a:rPr lang="en-US" sz="1100" b="1" spc="200" kern="0" dirty="0">
                <a:solidFill>
                  <a:srgbClr val="FFFFFF"/>
                </a:solidFill>
              </a:rPr>
              <a:t>DISCUSSION QUESTIONS</a:t>
            </a:r>
            <a:endParaRPr lang="en-US" sz="1100" dirty="0"/>
          </a:p>
        </p:txBody>
      </p:sp>
      <p:sp>
        <p:nvSpPr>
          <p:cNvPr id="7" name="Text 5"/>
          <p:cNvSpPr/>
          <p:nvPr/>
        </p:nvSpPr>
        <p:spPr>
          <a:xfrm>
            <a:off x="457200" y="1280160"/>
            <a:ext cx="4663440" cy="2834640"/>
          </a:xfrm>
          <a:prstGeom prst="rect">
            <a:avLst/>
          </a:prstGeom>
          <a:noFill/>
          <a:ln/>
        </p:spPr>
        <p:txBody>
          <a:bodyPr wrap="square" lIns="0" tIns="0" rIns="0" bIns="0" rtlCol="0" anchor="ctr"/>
          <a:lstStyle/>
          <a:p>
            <a:pPr indent="0" marL="0">
              <a:buNone/>
            </a:pPr>
            <a:r>
              <a:rPr lang="en-US" sz="1150" dirty="0">
                <a:solidFill>
                  <a:srgbClr val="D4E4F0"/>
                </a:solidFill>
              </a:rPr>
              <a:t>Q1.  How would your team’s review culture need to change to adopt the 6-dimension PR review framework?</a:t>
            </a:r>
            <a:endParaRPr lang="en-US" sz="1150" dirty="0"/>
          </a:p>
          <a:p>
            <a:pPr indent="0" marL="0">
              <a:buNone/>
            </a:pPr>
            <a:endParaRPr lang="en-US" sz="1150" dirty="0"/>
          </a:p>
          <a:p>
            <a:pPr indent="0" marL="0">
              <a:buNone/>
            </a:pPr>
            <a:r>
              <a:rPr lang="en-US" sz="1150" dirty="0">
                <a:solidFill>
                  <a:srgbClr val="D4E4F0"/>
                </a:solidFill>
              </a:rPr>
              <a:t>Q2.  Which of the 3 HITL tiers do you think would be most contentious to agree on with your manager?</a:t>
            </a:r>
            <a:endParaRPr lang="en-US" sz="1150" dirty="0"/>
          </a:p>
          <a:p>
            <a:pPr indent="0" marL="0">
              <a:buNone/>
            </a:pPr>
            <a:endParaRPr lang="en-US" sz="1150" dirty="0"/>
          </a:p>
          <a:p>
            <a:pPr indent="0" marL="0">
              <a:buNone/>
            </a:pPr>
            <a:r>
              <a:rPr lang="en-US" sz="1150" dirty="0">
                <a:solidFill>
                  <a:srgbClr val="D4E4F0"/>
                </a:solidFill>
              </a:rPr>
              <a:t>Q3.  What architectural decision from last quarter should have been an ADR? What did you lose by not capturing it?</a:t>
            </a:r>
            <a:endParaRPr lang="en-US" sz="1150" dirty="0"/>
          </a:p>
          <a:p>
            <a:pPr indent="0" marL="0">
              <a:buNone/>
            </a:pPr>
            <a:endParaRPr lang="en-US" sz="1150" dirty="0"/>
          </a:p>
          <a:p>
            <a:pPr indent="0" marL="0">
              <a:buNone/>
            </a:pPr>
            <a:r>
              <a:rPr lang="en-US" sz="1150" dirty="0">
                <a:solidFill>
                  <a:srgbClr val="D4E4F0"/>
                </a:solidFill>
              </a:rPr>
              <a:t>Q4.  If you could only track one metric from Slide 10 to start, which would give you the most insight?</a:t>
            </a:r>
            <a:endParaRPr lang="en-US" sz="1150" dirty="0"/>
          </a:p>
        </p:txBody>
      </p:sp>
      <p:sp>
        <p:nvSpPr>
          <p:cNvPr id="8" name="Shape 6"/>
          <p:cNvSpPr/>
          <p:nvPr/>
        </p:nvSpPr>
        <p:spPr>
          <a:xfrm>
            <a:off x="5532120" y="749808"/>
            <a:ext cx="3291840" cy="3493008"/>
          </a:xfrm>
          <a:prstGeom prst="rect">
            <a:avLst/>
          </a:prstGeom>
          <a:solidFill>
            <a:srgbClr val="2E5073">
              <a:alpha val="80000"/>
            </a:srgbClr>
          </a:solidFill>
          <a:ln/>
          <a:effectLst>
            <a:outerShdw sx="100000" sy="100000" kx="0" ky="0" algn="bl" rotWithShape="0" blurRad="101600" dist="38100" dir="8100000">
              <a:srgbClr val="000000">
                <a:alpha val="13000"/>
              </a:srgbClr>
            </a:outerShdw>
          </a:effectLst>
        </p:spPr>
      </p:sp>
      <p:sp>
        <p:nvSpPr>
          <p:cNvPr id="9" name="Shape 7"/>
          <p:cNvSpPr/>
          <p:nvPr/>
        </p:nvSpPr>
        <p:spPr>
          <a:xfrm>
            <a:off x="5532120" y="749808"/>
            <a:ext cx="3291840" cy="438912"/>
          </a:xfrm>
          <a:prstGeom prst="rect">
            <a:avLst/>
          </a:prstGeom>
          <a:solidFill>
            <a:srgbClr val="3A7DC9">
              <a:alpha val="90000"/>
            </a:srgbClr>
          </a:solidFill>
          <a:ln/>
        </p:spPr>
      </p:sp>
      <p:sp>
        <p:nvSpPr>
          <p:cNvPr id="10" name="Text 8"/>
          <p:cNvSpPr/>
          <p:nvPr/>
        </p:nvSpPr>
        <p:spPr>
          <a:xfrm>
            <a:off x="5532120" y="749808"/>
            <a:ext cx="3291840" cy="438912"/>
          </a:xfrm>
          <a:prstGeom prst="rect">
            <a:avLst/>
          </a:prstGeom>
          <a:noFill/>
          <a:ln/>
        </p:spPr>
        <p:txBody>
          <a:bodyPr wrap="square" lIns="0" tIns="0" rIns="0" bIns="0" rtlCol="0" anchor="ctr"/>
          <a:lstStyle/>
          <a:p>
            <a:pPr algn="ctr" indent="0" marL="0">
              <a:buNone/>
            </a:pPr>
            <a:r>
              <a:rPr lang="en-US" sz="1100" b="1" spc="200" kern="0" dirty="0">
                <a:solidFill>
                  <a:srgbClr val="FFFFFF"/>
                </a:solidFill>
              </a:rPr>
              <a:t>KEY TAKEAWAYS</a:t>
            </a:r>
            <a:endParaRPr lang="en-US" sz="1100" dirty="0"/>
          </a:p>
        </p:txBody>
      </p:sp>
      <p:sp>
        <p:nvSpPr>
          <p:cNvPr id="11" name="Text 9"/>
          <p:cNvSpPr/>
          <p:nvPr/>
        </p:nvSpPr>
        <p:spPr>
          <a:xfrm>
            <a:off x="5669280" y="1280160"/>
            <a:ext cx="3063240" cy="2834640"/>
          </a:xfrm>
          <a:prstGeom prst="rect">
            <a:avLst/>
          </a:prstGeom>
          <a:noFill/>
          <a:ln/>
        </p:spPr>
        <p:txBody>
          <a:bodyPr wrap="square" lIns="0" tIns="0" rIns="0" bIns="0" rtlCol="0" anchor="ctr"/>
          <a:lstStyle/>
          <a:p>
            <a:pPr indent="0" marL="0">
              <a:buNone/>
            </a:pPr>
            <a:r>
              <a:rPr lang="en-US" sz="1150" dirty="0">
                <a:solidFill>
                  <a:srgbClr val="D4E4F0"/>
                </a:solidFill>
              </a:rPr>
              <a:t>· Supervised development = the new engineer</a:t>
            </a:r>
            <a:endParaRPr lang="en-US" sz="1150" dirty="0"/>
          </a:p>
          <a:p>
            <a:pPr indent="0" marL="0">
              <a:buNone/>
            </a:pPr>
            <a:endParaRPr lang="en-US" sz="1150" dirty="0"/>
          </a:p>
          <a:p>
            <a:pPr indent="0" marL="0">
              <a:buNone/>
            </a:pPr>
            <a:r>
              <a:rPr lang="en-US" sz="1150" dirty="0">
                <a:solidFill>
                  <a:srgbClr val="D4E4F0"/>
                </a:solidFill>
              </a:rPr>
              <a:t>· HITL: design 3 tiers before you start</a:t>
            </a:r>
            <a:endParaRPr lang="en-US" sz="1150" dirty="0"/>
          </a:p>
          <a:p>
            <a:pPr indent="0" marL="0">
              <a:buNone/>
            </a:pPr>
            <a:endParaRPr lang="en-US" sz="1150" dirty="0"/>
          </a:p>
          <a:p>
            <a:pPr indent="0" marL="0">
              <a:buNone/>
            </a:pPr>
            <a:r>
              <a:rPr lang="en-US" sz="1150" dirty="0">
                <a:solidFill>
                  <a:srgbClr val="D4E4F0"/>
                </a:solidFill>
              </a:rPr>
              <a:t>· AI PR review needs 6-dimension checklist</a:t>
            </a:r>
            <a:endParaRPr lang="en-US" sz="1150" dirty="0"/>
          </a:p>
          <a:p>
            <a:pPr indent="0" marL="0">
              <a:buNone/>
            </a:pPr>
            <a:endParaRPr lang="en-US" sz="1150" dirty="0"/>
          </a:p>
          <a:p>
            <a:pPr indent="0" marL="0">
              <a:buNone/>
            </a:pPr>
            <a:r>
              <a:rPr lang="en-US" sz="1150" dirty="0">
                <a:solidFill>
                  <a:srgbClr val="D4E4F0"/>
                </a:solidFill>
              </a:rPr>
              <a:t>· ADRs: capture continuously, not retrospectively</a:t>
            </a:r>
            <a:endParaRPr lang="en-US" sz="1150" dirty="0"/>
          </a:p>
          <a:p>
            <a:pPr indent="0" marL="0">
              <a:buNone/>
            </a:pPr>
            <a:endParaRPr lang="en-US" sz="1150" dirty="0"/>
          </a:p>
          <a:p>
            <a:pPr indent="0" marL="0">
              <a:buNone/>
            </a:pPr>
            <a:r>
              <a:rPr lang="en-US" sz="1150" dirty="0">
                <a:solidFill>
                  <a:srgbClr val="D4E4F0"/>
                </a:solidFill>
              </a:rPr>
              <a:t>· DoD must be machine-verifiable</a:t>
            </a:r>
            <a:endParaRPr lang="en-US" sz="1150" dirty="0"/>
          </a:p>
          <a:p>
            <a:pPr indent="0" marL="0">
              <a:buNone/>
            </a:pPr>
            <a:endParaRPr lang="en-US" sz="1150" dirty="0"/>
          </a:p>
          <a:p>
            <a:pPr indent="0" marL="0">
              <a:buNone/>
            </a:pPr>
            <a:r>
              <a:rPr lang="en-US" sz="1150" dirty="0">
                <a:solidFill>
                  <a:srgbClr val="D4E4F0"/>
                </a:solidFill>
              </a:rPr>
              <a:t>· Continuous improvement = spec → agent → observe → update</a:t>
            </a:r>
            <a:endParaRPr lang="en-US" sz="1150" dirty="0"/>
          </a:p>
          <a:p>
            <a:pPr indent="0" marL="0">
              <a:buNone/>
            </a:pPr>
            <a:endParaRPr lang="en-US" sz="1150" dirty="0"/>
          </a:p>
          <a:p>
            <a:pPr indent="0" marL="0">
              <a:buNone/>
            </a:pPr>
            <a:r>
              <a:rPr lang="en-US" sz="1150" dirty="0">
                <a:solidFill>
                  <a:srgbClr val="D4E4F0"/>
                </a:solidFill>
              </a:rPr>
              <a:t>· Anti-patterns compound at machine speed</a:t>
            </a:r>
            <a:endParaRPr lang="en-US" sz="1150" dirty="0"/>
          </a:p>
        </p:txBody>
      </p:sp>
      <p:sp>
        <p:nvSpPr>
          <p:cNvPr id="12" name="Shape 10"/>
          <p:cNvSpPr/>
          <p:nvPr/>
        </p:nvSpPr>
        <p:spPr>
          <a:xfrm>
            <a:off x="320040" y="4343400"/>
            <a:ext cx="8503920" cy="566928"/>
          </a:xfrm>
          <a:prstGeom prst="rect">
            <a:avLst/>
          </a:prstGeom>
          <a:solidFill>
            <a:srgbClr val="3A7DC9">
              <a:alpha val="82000"/>
            </a:srgbClr>
          </a:solidFill>
          <a:ln/>
        </p:spPr>
      </p:sp>
      <p:sp>
        <p:nvSpPr>
          <p:cNvPr id="13" name="Text 11"/>
          <p:cNvSpPr/>
          <p:nvPr/>
        </p:nvSpPr>
        <p:spPr>
          <a:xfrm>
            <a:off x="320040" y="4343400"/>
            <a:ext cx="8503920" cy="566928"/>
          </a:xfrm>
          <a:prstGeom prst="rect">
            <a:avLst/>
          </a:prstGeom>
          <a:noFill/>
          <a:ln/>
        </p:spPr>
        <p:txBody>
          <a:bodyPr wrap="square" lIns="0" tIns="0" rIns="0" bIns="0" rtlCol="0" anchor="ctr"/>
          <a:lstStyle/>
          <a:p>
            <a:pPr algn="ctr" indent="0" marL="0">
              <a:buNone/>
            </a:pPr>
            <a:r>
              <a:rPr lang="en-US" sz="1150" b="1" dirty="0">
                <a:solidFill>
                  <a:srgbClr val="FFFFFF"/>
                </a:solidFill>
              </a:rPr>
              <a:t>NEXT  ·  Module 07: Observability  —  Tracing, logging, evaluation, and monitoring for production agent systems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6: Review Cycles, Hygiene &amp; Continuous Improvement</dc:title>
  <dc:subject>PptxGenJS Presentation</dc:subject>
  <dc:creator>PptxGenJS</dc:creator>
  <cp:lastModifiedBy>PptxGenJS</cp:lastModifiedBy>
  <cp:revision>1</cp:revision>
  <dcterms:created xsi:type="dcterms:W3CDTF">2026-04-05T20:14:07Z</dcterms:created>
  <dcterms:modified xsi:type="dcterms:W3CDTF">2026-04-05T20:14:07Z</dcterms:modified>
</cp:coreProperties>
</file>