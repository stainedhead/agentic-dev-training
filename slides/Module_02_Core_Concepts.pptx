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Core Agentic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Concepts &amp; Terms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365760" y="3090672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The vocabulary and architecture every enterprise developer must own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657600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8404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60–90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Foundation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675120" y="2103120"/>
            <a:ext cx="914400" cy="914400"/>
          </a:xfrm>
          <a:prstGeom prst="ellipse">
            <a:avLst/>
          </a:prstGeom>
          <a:solidFill>
            <a:srgbClr val="3A7DC9"/>
          </a:solidFill>
          <a:ln/>
        </p:spPr>
      </p:sp>
      <p:sp>
        <p:nvSpPr>
          <p:cNvPr id="11" name="Shape 9"/>
          <p:cNvSpPr/>
          <p:nvPr/>
        </p:nvSpPr>
        <p:spPr>
          <a:xfrm>
            <a:off x="5852160" y="1645920"/>
            <a:ext cx="1645920" cy="0"/>
          </a:xfrm>
          <a:prstGeom prst="line">
            <a:avLst/>
          </a:prstGeom>
          <a:noFill/>
          <a:ln w="15240">
            <a:solidFill>
              <a:srgbClr val="4A7FA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0" y="1280160"/>
            <a:ext cx="640080" cy="640080"/>
          </a:xfrm>
          <a:prstGeom prst="ellipse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0" y="1554480"/>
            <a:ext cx="731520" cy="0"/>
          </a:xfrm>
          <a:prstGeom prst="line">
            <a:avLst/>
          </a:prstGeom>
          <a:noFill/>
          <a:ln w="15240">
            <a:solidFill>
              <a:srgbClr val="4A7F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0" y="1188720"/>
            <a:ext cx="640080" cy="640080"/>
          </a:xfrm>
          <a:prstGeom prst="ellipse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7498080" y="2926080"/>
            <a:ext cx="1280160" cy="0"/>
          </a:xfrm>
          <a:prstGeom prst="line">
            <a:avLst/>
          </a:prstGeom>
          <a:noFill/>
          <a:ln w="15240">
            <a:solidFill>
              <a:srgbClr val="4A7FA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743200"/>
            <a:ext cx="640080" cy="640080"/>
          </a:xfrm>
          <a:prstGeom prst="ellipse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0" y="2926080"/>
            <a:ext cx="365760" cy="0"/>
          </a:xfrm>
          <a:prstGeom prst="line">
            <a:avLst/>
          </a:prstGeom>
          <a:noFill/>
          <a:ln w="15240">
            <a:solidFill>
              <a:srgbClr val="4A7FA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0" y="3840480"/>
            <a:ext cx="640080" cy="640080"/>
          </a:xfrm>
          <a:prstGeom prst="ellipse">
            <a:avLst/>
          </a:prstGeom>
          <a:solidFill>
            <a:srgbClr val="2E5073">
              <a:alpha val="8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6035040" y="2926080"/>
            <a:ext cx="1463040" cy="0"/>
          </a:xfrm>
          <a:prstGeom prst="line">
            <a:avLst/>
          </a:prstGeom>
          <a:noFill/>
          <a:ln w="15240">
            <a:solidFill>
              <a:srgbClr val="4A7FA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0" y="3566160"/>
            <a:ext cx="640080" cy="640080"/>
          </a:xfrm>
          <a:prstGeom prst="ellipse">
            <a:avLst/>
          </a:prstGeom>
          <a:solidFill>
            <a:srgbClr val="2E5073">
              <a:alpha val="80000"/>
            </a:srgbClr>
          </a:solidFill>
          <a:ln/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88" y="2304288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Name the Core Vocabulary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Define Agent, Tool, Memory, Orchestrator, Subagent, MCP — with precision, not jargon.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Read Multi-Agent Architecture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Interpret orchestrator/subagent diagrams and explain how tasks are decomposed and recombined.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Explain MCP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Describe how Model Context Protocol standardises agent-to-tool and agent-to-service communication.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Apply 12-Factor Principles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Map the 12 factors of reliable LLM applications (Dex Horthy / HumanLayer) to enterprise practices.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THE CORE VOCABULARY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Eight terms that everything else builds 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20040" y="1170432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466344" y="122529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Agent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66344" y="155448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An AI that autonomously plans and executes multi-step tasks using tools, memory, and a feedback loop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0040" y="213055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2130552"/>
            <a:ext cx="54864" cy="8686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" y="218541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Tool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6344" y="251460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callable function the agent can invoke: bash, file read/write, web search, API call, database query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0040" y="309067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3090672"/>
            <a:ext cx="54864" cy="86868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" y="314553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E6E"/>
                </a:solidFill>
              </a:rPr>
              <a:t>Memory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6344" y="347472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How an agent stores and retrieves context: in-window (short-term), files/notes (working), or vector DB (long-term)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405079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" y="4050792"/>
            <a:ext cx="54864" cy="868680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" y="410565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8DB8"/>
                </a:solidFill>
              </a:rPr>
              <a:t>Orchestrator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6344" y="443484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lead agent that decomposes a task, assigns subtasks to subagents, and merges results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117043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709160" y="1170432"/>
            <a:ext cx="54864" cy="86868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2" name="Text 20"/>
          <p:cNvSpPr/>
          <p:nvPr/>
        </p:nvSpPr>
        <p:spPr>
          <a:xfrm>
            <a:off x="4855464" y="122529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096B0"/>
                </a:solidFill>
              </a:rPr>
              <a:t>Subagent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55464" y="155448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child agent spawned by an orchestrator to handle a specific parallel or specialised subtask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709160" y="213055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709160" y="2130552"/>
            <a:ext cx="54864" cy="868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6" name="Text 24"/>
          <p:cNvSpPr/>
          <p:nvPr/>
        </p:nvSpPr>
        <p:spPr>
          <a:xfrm>
            <a:off x="4855464" y="218541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MCP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55464" y="251460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Model Context Protocol — the open standard for connecting agents to external tools and services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09160" y="309067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709160" y="3090672"/>
            <a:ext cx="54864" cy="8686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0" name="Text 28"/>
          <p:cNvSpPr/>
          <p:nvPr/>
        </p:nvSpPr>
        <p:spPr>
          <a:xfrm>
            <a:off x="4855464" y="314553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Context Window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55464" y="347472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The finite token space an LLM reasons over in one call — the central engineering constraint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709160" y="405079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709160" y="4050792"/>
            <a:ext cx="54864" cy="86868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4" name="Text 32"/>
          <p:cNvSpPr/>
          <p:nvPr/>
        </p:nvSpPr>
        <p:spPr>
          <a:xfrm>
            <a:off x="4855464" y="410565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E6E"/>
                </a:solidFill>
              </a:rPr>
              <a:t>HITL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855464" y="443484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Human-in-the-Loop: a governance gate requiring human approval before an irreversible agent action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TOOLS  —  AN AGENT'S HANDS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Without tools, an agent can only generate text. Tools are what make agents useful.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261872"/>
            <a:ext cx="1572768" cy="36118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261872"/>
            <a:ext cx="1572768" cy="50292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261872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Compute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" y="1856232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29768" y="1856232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bash / shell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9768" y="2569464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9768" y="2569464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Python execution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9768" y="3282696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29768" y="3282696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Docker containers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9768" y="3995928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29768" y="3995928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CI/CD runners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039112" y="1261872"/>
            <a:ext cx="1572768" cy="36118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039112" y="1261872"/>
            <a:ext cx="1572768" cy="5029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8" name="Text 16"/>
          <p:cNvSpPr/>
          <p:nvPr/>
        </p:nvSpPr>
        <p:spPr>
          <a:xfrm>
            <a:off x="2039112" y="1261872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Files &amp; Data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148840" y="1856232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148840" y="1856232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read / write files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148840" y="2569464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148840" y="2569464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grep / glob search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148840" y="3282696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148840" y="3282696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SQL queries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148840" y="3995928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148840" y="3995928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Vector DB retrieval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758184" y="1261872"/>
            <a:ext cx="1572768" cy="36118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758184" y="1261872"/>
            <a:ext cx="1572768" cy="5029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9" name="Text 27"/>
          <p:cNvSpPr/>
          <p:nvPr/>
        </p:nvSpPr>
        <p:spPr>
          <a:xfrm>
            <a:off x="3758184" y="1261872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Web &amp; APIs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867912" y="1856232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867912" y="1856232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web search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867912" y="2569464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867912" y="2569464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REST API calls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867912" y="3282696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867912" y="3282696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Browser automation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867912" y="3995928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3867912" y="3995928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Webhook triggers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477256" y="1261872"/>
            <a:ext cx="1572768" cy="36118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5477256" y="1261872"/>
            <a:ext cx="1572768" cy="50292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0" name="Text 38"/>
          <p:cNvSpPr/>
          <p:nvPr/>
        </p:nvSpPr>
        <p:spPr>
          <a:xfrm>
            <a:off x="5477256" y="1261872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Comms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586984" y="1856232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86984" y="1856232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Slack / Teams messages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586984" y="2569464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5586984" y="2569464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Email send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586984" y="3282696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586984" y="3282696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GitHub PRs &amp; issues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5586984" y="3995928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5586984" y="3995928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Jira ticket creation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7196328" y="1261872"/>
            <a:ext cx="1572768" cy="36118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7196328" y="1261872"/>
            <a:ext cx="1572768" cy="50292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51" name="Text 49"/>
          <p:cNvSpPr/>
          <p:nvPr/>
        </p:nvSpPr>
        <p:spPr>
          <a:xfrm>
            <a:off x="7196328" y="1261872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AI Services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7306056" y="1856232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306056" y="1856232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Vision / image analysis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7306056" y="2569464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7306056" y="2569464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Speech-to-text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7306056" y="3282696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06056" y="3282696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Embeddings generation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7306056" y="3995928"/>
            <a:ext cx="1353312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7306056" y="3995928"/>
            <a:ext cx="1353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Sub-LLM calls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320040" y="477316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Tool design principle: every tool must be self-contained, non-overlapping, and purpose-specific. "Every tool must justify its existence."  — Anthropic Context Engineering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MEMORY  —  THREE TIERS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269748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68680"/>
            <a:ext cx="2697480" cy="59436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8686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TIER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1161288"/>
            <a:ext cx="2697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In-Context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(Working Memory)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527048"/>
            <a:ext cx="2514600" cy="310896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484632" y="152704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Speed: 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24712" y="152704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Instant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" y="1874520"/>
            <a:ext cx="2514600" cy="310896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" y="187452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Cost: 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24712" y="187452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High (tokens)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1480" y="2221992"/>
            <a:ext cx="2514600" cy="310896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" y="222199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Capacity: 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24712" y="222199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128K–1M tokens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29768" y="26060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DC9"/>
                </a:solidFill>
              </a:rPr>
              <a:t>WHAT IT IS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29768" y="2843784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Everything the agent can currently "see" — conversation history, tool results, loaded files, instructions.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29768" y="359359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DC9"/>
                </a:solidFill>
              </a:rPr>
              <a:t>PATTERNS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29768" y="383133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CLAUDE.md, loaded specs, recent tool outputs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11480" y="4270248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096B0"/>
                </a:solidFill>
              </a:rPr>
              <a:t>⚠ Context window fills up — use compaction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00400" y="868680"/>
            <a:ext cx="269748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00400" y="868680"/>
            <a:ext cx="2697480" cy="59436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4" name="Text 22"/>
          <p:cNvSpPr/>
          <p:nvPr/>
        </p:nvSpPr>
        <p:spPr>
          <a:xfrm>
            <a:off x="3200400" y="8686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TIER 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200400" y="1161288"/>
            <a:ext cx="2697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File-Based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(Session Memory)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91840" y="1527048"/>
            <a:ext cx="2514600" cy="310896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364992" y="152704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Speed: 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005072" y="152704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Fast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91840" y="1874520"/>
            <a:ext cx="2514600" cy="310896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187452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Cost: 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005072" y="187452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Low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291840" y="2221992"/>
            <a:ext cx="2514600" cy="310896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3364992" y="222199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Capacity: 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005072" y="222199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Unlimited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310128" y="26060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7FA8"/>
                </a:solidFill>
              </a:rPr>
              <a:t>WHAT IT IS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310128" y="2843784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Notes, task lists, and state the agent writes to disk and reads back — persistence beyond context window.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310128" y="359359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7FA8"/>
                </a:solidFill>
              </a:rPr>
              <a:t>PATTERNS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310128" y="383133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NOTES.md, TODO.md, MEMORY.md, project state files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291840" y="4270248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096B0"/>
                </a:solidFill>
              </a:rPr>
              <a:t>⚠ Requires disciplined read/write hygiene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080760" y="868680"/>
            <a:ext cx="2697480" cy="4023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080760" y="868680"/>
            <a:ext cx="2697480" cy="59436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2" name="Text 40"/>
          <p:cNvSpPr/>
          <p:nvPr/>
        </p:nvSpPr>
        <p:spPr>
          <a:xfrm>
            <a:off x="6080760" y="86868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TIER 3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080760" y="1161288"/>
            <a:ext cx="2697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Semantic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(Long-Term Memory)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172200" y="1527048"/>
            <a:ext cx="2514600" cy="310896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6245352" y="1527048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Speed: 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885432" y="152704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Moderate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172200" y="1874520"/>
            <a:ext cx="2514600" cy="310896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6245352" y="187452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Cost: 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885432" y="187452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Medium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172200" y="2221992"/>
            <a:ext cx="2514600" cy="310896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6245352" y="2221992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A90A8"/>
                </a:solidFill>
              </a:rPr>
              <a:t>Capacity: 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885432" y="222199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Millions of docs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190488" y="26060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E6E"/>
                </a:solidFill>
              </a:rPr>
              <a:t>WHAT IT IS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190488" y="2843784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Vector-embedded knowledge stores searched by semantic similarity — entire codebases, doc libraries, past conversations.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190488" y="359359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3A7E6E"/>
                </a:solidFill>
              </a:rPr>
              <a:t>PATTERNS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190488" y="383133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Pinecone, pgvector, Chroma, Weaviate — RAG pipelines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172200" y="4270248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096B0"/>
                </a:solidFill>
              </a:rPr>
              <a:t>⚠ Start with agentic search; add semantic when scale demands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MULTI-AGENT ARCHITECTURE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Orchestrators decompose work. Subagents execute in parallel. Results merge.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0" y="1234440"/>
            <a:ext cx="2743200" cy="777240"/>
          </a:xfrm>
          <a:prstGeom prst="rect">
            <a:avLst/>
          </a:prstGeom>
          <a:solidFill>
            <a:srgbClr val="1C3557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0" y="12344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ORCHESTRATOR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0" y="1645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8DB8"/>
                </a:solidFill>
              </a:rPr>
              <a:t>decomposes task → assigns → merges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0" y="2011680"/>
            <a:ext cx="0" cy="1234440"/>
          </a:xfrm>
          <a:prstGeom prst="line">
            <a:avLst/>
          </a:prstGeom>
          <a:noFill/>
          <a:ln w="15240">
            <a:solidFill>
              <a:srgbClr val="7A90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34440" y="3246120"/>
            <a:ext cx="0" cy="-914400"/>
          </a:xfrm>
          <a:prstGeom prst="line">
            <a:avLst/>
          </a:prstGeom>
          <a:noFill/>
          <a:ln w="19050">
            <a:solidFill>
              <a:srgbClr val="3A7DC9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320040" y="3246120"/>
            <a:ext cx="1920240" cy="128016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3246120"/>
            <a:ext cx="1920240" cy="38404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" y="32461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Subagent 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0040" y="36850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Code generation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0233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096B0"/>
                </a:solidFill>
              </a:rPr>
              <a:t>Tools: bash, files, APIs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0" y="2011680"/>
            <a:ext cx="0" cy="1234440"/>
          </a:xfrm>
          <a:prstGeom prst="line">
            <a:avLst/>
          </a:prstGeom>
          <a:noFill/>
          <a:ln w="15240">
            <a:solidFill>
              <a:srgbClr val="7A90A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10712" y="3246120"/>
            <a:ext cx="0" cy="-914400"/>
          </a:xfrm>
          <a:prstGeom prst="line">
            <a:avLst/>
          </a:prstGeom>
          <a:noFill/>
          <a:ln w="19050">
            <a:solidFill>
              <a:srgbClr val="4A7FA8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496312" y="3246120"/>
            <a:ext cx="1920240" cy="128016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496312" y="3246120"/>
            <a:ext cx="1920240" cy="38404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2496312" y="32461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Subagent B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96312" y="36850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Web research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587752" y="40233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096B0"/>
                </a:solidFill>
              </a:rPr>
              <a:t>Tools: bash, files, APIs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0" y="2011680"/>
            <a:ext cx="0" cy="1234440"/>
          </a:xfrm>
          <a:prstGeom prst="line">
            <a:avLst/>
          </a:prstGeom>
          <a:noFill/>
          <a:ln w="15240">
            <a:solidFill>
              <a:srgbClr val="7A90A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86984" y="3246120"/>
            <a:ext cx="0" cy="-914400"/>
          </a:xfrm>
          <a:prstGeom prst="line">
            <a:avLst/>
          </a:prstGeom>
          <a:noFill/>
          <a:ln w="19050">
            <a:solidFill>
              <a:srgbClr val="3A7E6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672584" y="3246120"/>
            <a:ext cx="1920240" cy="128016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72584" y="3246120"/>
            <a:ext cx="1920240" cy="38404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6" name="Text 24"/>
          <p:cNvSpPr/>
          <p:nvPr/>
        </p:nvSpPr>
        <p:spPr>
          <a:xfrm>
            <a:off x="4672584" y="32461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Subagent C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672584" y="36850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File operations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64024" y="40233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096B0"/>
                </a:solidFill>
              </a:rPr>
              <a:t>Tools: bash, files, APIs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0" y="2011680"/>
            <a:ext cx="0" cy="1234440"/>
          </a:xfrm>
          <a:prstGeom prst="line">
            <a:avLst/>
          </a:prstGeom>
          <a:noFill/>
          <a:ln w="15240">
            <a:solidFill>
              <a:srgbClr val="7A90A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63256" y="3246120"/>
            <a:ext cx="0" cy="-914400"/>
          </a:xfrm>
          <a:prstGeom prst="line">
            <a:avLst/>
          </a:prstGeom>
          <a:noFill/>
          <a:ln w="19050">
            <a:solidFill>
              <a:srgbClr val="8096B0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848856" y="3246120"/>
            <a:ext cx="1920240" cy="128016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848856" y="3246120"/>
            <a:ext cx="1920240" cy="38404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3" name="Text 31"/>
          <p:cNvSpPr/>
          <p:nvPr/>
        </p:nvSpPr>
        <p:spPr>
          <a:xfrm>
            <a:off x="6848856" y="32461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Subagent 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848856" y="36850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API calls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40296" y="40233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096B0"/>
                </a:solidFill>
              </a:rPr>
              <a:t>Tools: bash, files, APIs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20040" y="4645152"/>
            <a:ext cx="2697480" cy="38404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7" name="Text 35"/>
          <p:cNvSpPr/>
          <p:nvPr/>
        </p:nvSpPr>
        <p:spPr>
          <a:xfrm>
            <a:off x="411480" y="464515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Parallelisation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200400" y="4645152"/>
            <a:ext cx="2697480" cy="38404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39" name="Text 37"/>
          <p:cNvSpPr/>
          <p:nvPr/>
        </p:nvSpPr>
        <p:spPr>
          <a:xfrm>
            <a:off x="3291840" y="464515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Fresh Context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080760" y="4645152"/>
            <a:ext cx="2697480" cy="384048"/>
          </a:xfrm>
          <a:prstGeom prst="rect">
            <a:avLst/>
          </a:prstGeom>
          <a:solidFill>
            <a:srgbClr val="D4E4F0"/>
          </a:solidFill>
          <a:ln/>
        </p:spPr>
      </p:sp>
      <p:sp>
        <p:nvSpPr>
          <p:cNvPr id="41" name="Text 39"/>
          <p:cNvSpPr/>
          <p:nvPr/>
        </p:nvSpPr>
        <p:spPr>
          <a:xfrm>
            <a:off x="6172200" y="4645152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Specialisation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MODEL CONTEXT PROTOCOL  (MCP)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The USB-C of AI tools — one standard to connect everything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20040" y="1188720"/>
            <a:ext cx="54864" cy="7132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475488" y="11887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What it is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" y="1481328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An open protocol (Anthropic, 2024) that standardises how agents connect to external tools, data sources, and services via structured tool definitions.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2148840"/>
            <a:ext cx="54864" cy="7132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" y="21488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Before MCP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" y="2441448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Every tool integration was bespoke — custom code, custom auth, custom schemas. 10 tools meant 10 different integration patterns.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" y="3108960"/>
            <a:ext cx="54864" cy="7132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" y="310896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With MCP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" y="3401568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Any MCP-compatible agent connects to any MCP server with the same interface. Build once, use across Claude, Cursor, Copilot, and any compliant agent.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4069080"/>
            <a:ext cx="54864" cy="71323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" y="4069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In CI/CD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5488" y="4361688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MCP servers run as local processes or URLs. Claude Code uses MCP for linting, formatting, testing — giving agents deterministic tool access.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0" y="1078992"/>
            <a:ext cx="3749040" cy="3794760"/>
          </a:xfrm>
          <a:prstGeom prst="rect">
            <a:avLst/>
          </a:prstGeom>
          <a:solidFill>
            <a:srgbClr val="2E5073">
              <a:alpha val="75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29200" y="107899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8DB8"/>
                </a:solidFill>
              </a:rPr>
              <a:t>MCP ECOSYSTEM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63640" y="2240280"/>
            <a:ext cx="1280160" cy="59436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224028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Agent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(Claude)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138928" y="1572768"/>
            <a:ext cx="1051560" cy="59436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5138928" y="1572768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GitHub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MCP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635240" y="1572768"/>
            <a:ext cx="1051560" cy="59436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7635240" y="1572768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Slack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MCP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138928" y="3246120"/>
            <a:ext cx="1051560" cy="59436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5138928" y="3246120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Postgres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MCP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635240" y="3246120"/>
            <a:ext cx="1051560" cy="59436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7635240" y="3246120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Browser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MCP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382512" y="4133088"/>
            <a:ext cx="1051560" cy="59436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6382512" y="4133088"/>
            <a:ext cx="1051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Custom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MCP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Latest MCP spec (June 2025): structured tool outputs, OAuth, server-initiated requests, security best practices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THE CLAUDE AGENT SDK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The harness that powers Claude Code — now available for any agent you build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88720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23544" y="131673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Full Filesystem Access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23544" y="170078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Agents read, write, execute — treating your repo as a working environment, not just a text prompt.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63440" y="118872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88720"/>
            <a:ext cx="54864" cy="1170432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266944" y="131673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Tool Orchestration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5266944" y="170078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Compose bash, grep, glob, Python, and MCP tools into agent workflows with full control over permissions.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20040" y="246888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468880"/>
            <a:ext cx="54864" cy="1170432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65176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23544" y="259689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Subagent Parallelisation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923544" y="298094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Spawn subagents by default. Lead agents coordinate work; subagents execute. Results merge automatically.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663440" y="246888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468880"/>
            <a:ext cx="54864" cy="1170432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2651760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266944" y="259689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Context Management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266944" y="298094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Auto-compaction, tool result clearing, and agentic memory — the SDK manages the context window for you.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320040" y="374904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20040" y="3749040"/>
            <a:ext cx="54864" cy="1170432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3931920"/>
            <a:ext cx="347472" cy="3474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23544" y="387705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Permission Scoping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923544" y="426110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Grant or deny tool access per agent. Sandbox subagents for security — exactly what Spotify does with Honk.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4663440" y="3749040"/>
            <a:ext cx="4160520" cy="11704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4663440" y="3749040"/>
            <a:ext cx="54864" cy="1170432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3931920"/>
            <a:ext cx="347472" cy="34747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266944" y="387705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CI/CD Integration</a:t>
            </a:r>
            <a:endParaRPr lang="en-US" sz="1250" dirty="0"/>
          </a:p>
        </p:txBody>
      </p:sp>
      <p:sp>
        <p:nvSpPr>
          <p:cNvPr id="34" name="Text 26"/>
          <p:cNvSpPr/>
          <p:nvPr/>
        </p:nvSpPr>
        <p:spPr>
          <a:xfrm>
            <a:off x="5266944" y="4261104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Run on a schedule: morning PR reviews, overnight CI failure analysis, weekly dependency audits, doc sync.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12-FACTOR AGENTS  ·  Dex Horthy, HumanLayer  ·  AI Engineer 2024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8046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Patterns for building reliable LLM applications at production scale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17043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170432"/>
            <a:ext cx="384048" cy="86868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320040" y="117043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122529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Natural Language to Tool Calls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60934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Own your prompts; don't hide them in abstractions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213055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130552"/>
            <a:ext cx="384048" cy="86868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13055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218541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Own Your Context Window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256946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Context engineering IS agent engineering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0040" y="309067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3090672"/>
            <a:ext cx="384048" cy="86868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320040" y="309067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7240" y="31455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Own Your Control Flow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" y="352958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Loops, branches, and retries belong in your code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" y="405079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4050792"/>
            <a:ext cx="384048" cy="868680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" y="405079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10565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Tools Are Structured Outputs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77240" y="448970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Model outputs JSON, your code calls the real function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081528" y="117043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081528" y="1170432"/>
            <a:ext cx="384048" cy="868680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3081528" y="117043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538728" y="122529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Unify Execution State &amp; Steps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538728" y="160934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Store what happened — not just what to do next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081528" y="213055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081528" y="2130552"/>
            <a:ext cx="384048" cy="868680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3081528" y="213055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538728" y="218541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Launch Small, Focused Agents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538728" y="256946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Decompose to subagents before context gets polluted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081528" y="309067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081528" y="3090672"/>
            <a:ext cx="384048" cy="868680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3081528" y="309067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07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538728" y="31455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Contact Humans with Tools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538728" y="352958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HITL is just another tool call — not a framework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081528" y="405079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081528" y="4050792"/>
            <a:ext cx="384048" cy="868680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3081528" y="405079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08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3538728" y="410565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Own Your Control Plane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538728" y="448970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Interrupt, pause, resume — agents need kill switches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824728" y="117043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5824728" y="1170432"/>
            <a:ext cx="384048" cy="868680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5824728" y="117043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09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281928" y="122529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Compact Errors into Context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281928" y="160934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Errors are signal — summarise and continue, don't crash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824728" y="213055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5824728" y="2130552"/>
            <a:ext cx="384048" cy="868680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5824728" y="213055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6281928" y="218541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Small, Focused Context Windows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281928" y="256946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Tight context = predictable behaviour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824728" y="309067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5824728" y="3090672"/>
            <a:ext cx="384048" cy="868680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58" name="Text 56"/>
          <p:cNvSpPr/>
          <p:nvPr/>
        </p:nvSpPr>
        <p:spPr>
          <a:xfrm>
            <a:off x="5824728" y="309067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6281928" y="314553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Trigger from Events, Not Cron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281928" y="352958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Agents are reactive — wire to events not schedules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5824728" y="4050792"/>
            <a:ext cx="2633472" cy="868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5824728" y="4050792"/>
            <a:ext cx="384048" cy="868680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5824728" y="4050792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12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6281928" y="410565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3557"/>
                </a:solidFill>
              </a:rPr>
              <a:t>Stateless Reducer Architecture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6281928" y="448970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A90A8"/>
                </a:solidFill>
              </a:rPr>
              <a:t>Replay any agent run from its event log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320040" y="4846320"/>
            <a:ext cx="1920240" cy="219456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67" name="Text 65"/>
          <p:cNvSpPr/>
          <p:nvPr/>
        </p:nvSpPr>
        <p:spPr>
          <a:xfrm>
            <a:off x="320040" y="48463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Foundation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2496312" y="4846320"/>
            <a:ext cx="1920240" cy="219456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69" name="Text 67"/>
          <p:cNvSpPr/>
          <p:nvPr/>
        </p:nvSpPr>
        <p:spPr>
          <a:xfrm>
            <a:off x="2496312" y="48463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Reliability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4672584" y="4846320"/>
            <a:ext cx="1920240" cy="219456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4672584" y="48463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Human Control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6848856" y="4846320"/>
            <a:ext cx="1920240" cy="219456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73" name="Text 71"/>
          <p:cNvSpPr/>
          <p:nvPr/>
        </p:nvSpPr>
        <p:spPr>
          <a:xfrm>
            <a:off x="6848856" y="484632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Ops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CASE STUDY  ·  SPOTIFY HONK  ·  MULTI-AGENT IN PRODUCTION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896112"/>
            <a:ext cx="1572768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96112"/>
            <a:ext cx="1572768" cy="53035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896112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Engineer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(Slack / mobile)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490472"/>
            <a:ext cx="1389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Natural language intent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92808" y="1536192"/>
            <a:ext cx="146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039112" y="896112"/>
            <a:ext cx="1572768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39112" y="896112"/>
            <a:ext cx="1572768" cy="530352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2" name="Text 10"/>
          <p:cNvSpPr/>
          <p:nvPr/>
        </p:nvSpPr>
        <p:spPr>
          <a:xfrm>
            <a:off x="2039112" y="896112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Interactive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Agent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30552" y="1490472"/>
            <a:ext cx="1389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Gathers context → structured prompt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11880" y="1536192"/>
            <a:ext cx="146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758184" y="896112"/>
            <a:ext cx="1572768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758184" y="896112"/>
            <a:ext cx="1572768" cy="53035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7" name="Text 15"/>
          <p:cNvSpPr/>
          <p:nvPr/>
        </p:nvSpPr>
        <p:spPr>
          <a:xfrm>
            <a:off x="3758184" y="896112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Background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Coding Agent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49624" y="1490472"/>
            <a:ext cx="1389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Plans, implements, iterates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330952" y="1536192"/>
            <a:ext cx="146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477256" y="896112"/>
            <a:ext cx="1572768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77256" y="896112"/>
            <a:ext cx="1572768" cy="530352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2" name="Text 20"/>
          <p:cNvSpPr/>
          <p:nvPr/>
        </p:nvSpPr>
        <p:spPr>
          <a:xfrm>
            <a:off x="5477256" y="896112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Verifiers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Judge LLM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568696" y="1490472"/>
            <a:ext cx="1389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Tests, lint, diff evaluation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50024" y="1536192"/>
            <a:ext cx="1463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A90A8"/>
                </a:solidFill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7196328" y="896112"/>
            <a:ext cx="1572768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196328" y="896112"/>
            <a:ext cx="1572768" cy="530352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7" name="Text 25"/>
          <p:cNvSpPr/>
          <p:nvPr/>
        </p:nvSpPr>
        <p:spPr>
          <a:xfrm>
            <a:off x="7196328" y="896112"/>
            <a:ext cx="15727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 → Human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Review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287768" y="1490472"/>
            <a:ext cx="1389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0A8"/>
                </a:solidFill>
              </a:rPr>
              <a:t>Diff summary in Slack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0040" y="2743200"/>
            <a:ext cx="4206240" cy="9875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0040" y="2743200"/>
            <a:ext cx="54864" cy="98755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" y="279806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✓ Sandboxed container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66344" y="316382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 runs with minimal permissions and binaries. Intentional flexibility reduction = predictability + security.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90872" y="2743200"/>
            <a:ext cx="4206240" cy="9875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90872" y="2743200"/>
            <a:ext cx="54864" cy="98755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5" name="Text 33"/>
          <p:cNvSpPr/>
          <p:nvPr/>
        </p:nvSpPr>
        <p:spPr>
          <a:xfrm>
            <a:off x="4837176" y="279806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✓ Infrastructure outside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837176" y="316382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Slack comms, git push, prompt authoring all handled outside the agent. Agent focuses only on code changes.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20040" y="3840480"/>
            <a:ext cx="4206240" cy="9875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320040" y="3840480"/>
            <a:ext cx="54864" cy="98755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9" name="Text 37"/>
          <p:cNvSpPr/>
          <p:nvPr/>
        </p:nvSpPr>
        <p:spPr>
          <a:xfrm>
            <a:off x="466344" y="38953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✓ Verifier loop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66344" y="426110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Unit tests + linter run before PR opens. Without this, agents produced code that 'didn't work.' (Honk Part 3)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90872" y="3840480"/>
            <a:ext cx="4206240" cy="9875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690872" y="3840480"/>
            <a:ext cx="54864" cy="98755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43" name="Text 41"/>
          <p:cNvSpPr/>
          <p:nvPr/>
        </p:nvSpPr>
        <p:spPr>
          <a:xfrm>
            <a:off x="4837176" y="38953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✓ Judge LLM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837176" y="426110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 separate LLM evaluates the diff for correctness, scope, and quality before human review — another agent as reviewer.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20040" y="4892040"/>
            <a:ext cx="8503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4A7FA8"/>
                </a:solidFill>
              </a:rPr>
              <a:t>Result: ~50% of all Spotify PRs automated · 1,500+ agent PRs merged · 50+ features shipped in 2025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25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Design a Multi-Agent Architecture for a Real Problem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417320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417320"/>
            <a:ext cx="502920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417320"/>
            <a:ext cx="502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14721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Choose a Task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94560" y="147218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1819656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Pick a real engineering workflow from your team: dependency updates, PR reviews, doc generation, test coverage gap analysis, or another repetitive multi-step process.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304288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304288"/>
            <a:ext cx="502920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304288"/>
            <a:ext cx="502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14400" y="235915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Map the Architecture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194560" y="235915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2706624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Draw the agent graph: Who is the orchestrator? What are the subagents? What tools does each need? Where are the HITL gates? What goes into each agent's context?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191256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91256"/>
            <a:ext cx="502920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191256"/>
            <a:ext cx="502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14400" y="32461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Apply 12-Factor Check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194560" y="324612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" y="3593592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Run your design through factors 1–6 (Foundation &amp; Reliability). Does your agent own its context window? Is control flow in code? Are errors handled as signal?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078224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78224"/>
            <a:ext cx="502920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4078224"/>
            <a:ext cx="5029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14400" y="41330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Present &amp; Critique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194560" y="413308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14400" y="4480560"/>
            <a:ext cx="7818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One group presents. The group critiques: What's the biggest reliability risk? Where would you put the kill switch? What's the first thing you'd instrument in observability?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Which of the 12 factors maps most directly to a production failure you have seen?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For your team's next automation candidate, which memory tier does it primarily need?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Where in your SDLC would you first introduce an orchestrator/subagent pattern — and why?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What's the first MCP server you would build or adopt for your team? What would it connect to?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Agent = Tool + Memory + Loop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Tools are the agent's hands — design them carefully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Three memory tiers — match to task complexity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Orchestrators decompose; subagents specialise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MCP is the standard — adopt it now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12-Factor = reliability checklist for production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Spotify proves this works at enterprise scale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03: Context Engineering  —  CLAUDE.md, Rules Files, Skills, Just-in-Time Retrieval, Compaction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2: Core Agentic Concepts &amp; Terms</dc:title>
  <dc:subject>PptxGenJS Presentation</dc:subject>
  <dc:creator>Enterprise Architect Training Series</dc:creator>
  <cp:lastModifiedBy>Enterprise Architect Training Series</cp:lastModifiedBy>
  <cp:revision>1</cp:revision>
  <dcterms:created xsi:type="dcterms:W3CDTF">2026-04-05T19:46:32Z</dcterms:created>
  <dcterms:modified xsi:type="dcterms:W3CDTF">2026-04-05T19:46:32Z</dcterms:modified>
</cp:coreProperties>
</file>