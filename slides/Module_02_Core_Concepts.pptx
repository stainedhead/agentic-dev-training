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Core Agentic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Concepts &amp; Terms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The vocabulary and architecture every enterprise developer must own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103120"/>
            <a:ext cx="914400" cy="914400"/>
          </a:xfrm>
          <a:prstGeom prst="ellipse">
            <a:avLst/>
          </a:prstGeom>
          <a:solidFill>
            <a:srgbClr val="3A7DC9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1645920"/>
            <a:ext cx="1645920" cy="0"/>
          </a:xfrm>
          <a:prstGeom prst="line">
            <a:avLst/>
          </a:prstGeom>
          <a:noFill/>
          <a:ln w="15240">
            <a:solidFill>
              <a:srgbClr val="4A7F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280160"/>
            <a:ext cx="640080" cy="640080"/>
          </a:xfrm>
          <a:prstGeom prst="ellipse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554480"/>
            <a:ext cx="731520" cy="0"/>
          </a:xfrm>
          <a:prstGeom prst="line">
            <a:avLst/>
          </a:prstGeom>
          <a:noFill/>
          <a:ln w="15240">
            <a:solidFill>
              <a:srgbClr val="4A7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188720"/>
            <a:ext cx="640080" cy="640080"/>
          </a:xfrm>
          <a:prstGeom prst="ellipse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2926080"/>
            <a:ext cx="1280160" cy="0"/>
          </a:xfrm>
          <a:prstGeom prst="line">
            <a:avLst/>
          </a:prstGeom>
          <a:noFill/>
          <a:ln w="15240">
            <a:solidFill>
              <a:srgbClr val="4A7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743200"/>
            <a:ext cx="640080" cy="640080"/>
          </a:xfrm>
          <a:prstGeom prst="ellipse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2926080"/>
            <a:ext cx="365760" cy="0"/>
          </a:xfrm>
          <a:prstGeom prst="line">
            <a:avLst/>
          </a:prstGeom>
          <a:noFill/>
          <a:ln w="15240">
            <a:solidFill>
              <a:srgbClr val="4A7F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3840480"/>
            <a:ext cx="640080" cy="640080"/>
          </a:xfrm>
          <a:prstGeom prst="ellipse">
            <a:avLst/>
          </a:prstGeom>
          <a:solidFill>
            <a:srgbClr val="2E5073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2926080"/>
            <a:ext cx="1463040" cy="0"/>
          </a:xfrm>
          <a:prstGeom prst="line">
            <a:avLst/>
          </a:prstGeom>
          <a:noFill/>
          <a:ln w="15240">
            <a:solidFill>
              <a:srgbClr val="4A7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3566160"/>
            <a:ext cx="640080" cy="640080"/>
          </a:xfrm>
          <a:prstGeom prst="ellipse">
            <a:avLst/>
          </a:prstGeom>
          <a:solidFill>
            <a:srgbClr val="2E5073">
              <a:alpha val="80000"/>
            </a:srgbClr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2304288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Name the Core Vocabulary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Define Agent, Tool, Memory, Orchestrator, Subagent, MCP — with precision, not jargon.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Read Multi-Agent Architecture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Interpret orchestrator/subagent diagrams and explain how tasks are decomposed and recombined.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Explain MCP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Describe how Model Context Protocol standardises agent-to-tool and agent-to-service communication.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12-Factor Principles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Map the 12 factors of reliable LLM applications (Dex Horthy / HumanLayer) to enterprise practices.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CORE VOCABULARY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Eight terms that everything else builds 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70432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25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An AI that autonomously plans and executes multi-step tasks using tools, memory, and a feedback loop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13055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130552"/>
            <a:ext cx="54864" cy="8686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" y="2185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Tool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" y="2514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callable function the agent can invoke: bash, file read/write, web search, API call, database query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9067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90672"/>
            <a:ext cx="54864" cy="8686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" y="3145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6E"/>
                </a:solidFill>
              </a:rPr>
              <a:t>Memory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" y="34747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How an agent stores and retrieves context: in-window (short-term), files/notes (working), or vector DB (long-term)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05079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4050792"/>
            <a:ext cx="54864" cy="86868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4105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B8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" y="4434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lead agent that decomposes a task, assigns subtasks to subagents, and merges results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17043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170432"/>
            <a:ext cx="54864" cy="86868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1225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96B0"/>
                </a:solidFill>
              </a:rPr>
              <a:t>Subagent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55464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child agent spawned by an orchestrator to handle a specific parallel or specialised subtask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13055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130552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2185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MCP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5464" y="2514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Model Context Protocol — the open standard for connecting agents to external tools and services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09067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090672"/>
            <a:ext cx="54864" cy="8686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145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Context Window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55464" y="34747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The finite token space an LLM reasons over in one call — the central engineering constraint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050792"/>
            <a:ext cx="4206240" cy="86868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4050792"/>
            <a:ext cx="54864" cy="8686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4105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E6E"/>
                </a:solidFill>
              </a:rPr>
              <a:t>HITL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55464" y="4434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Human-in-the-Loop: a governance gate requiring human approval before an irreversible agent action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TOOLS  —  AN AGENT'S HANDS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Without tools, an agent can only generate text. Tools are what make agents useful.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572768" cy="36118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1572768" cy="50292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856232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85623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bash / shell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569464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56946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Python execution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3282696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32826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Docker containers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995928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399592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CI/CD runners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39112" y="1261872"/>
            <a:ext cx="1572768" cy="36118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9112" y="1261872"/>
            <a:ext cx="1572768" cy="5029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8" name="Text 16"/>
          <p:cNvSpPr/>
          <p:nvPr/>
        </p:nvSpPr>
        <p:spPr>
          <a:xfrm>
            <a:off x="2039112" y="12618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Files &amp;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1856232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48840" y="185623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read / write 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2569464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48840" y="256946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grep / glob search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3282696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48840" y="32826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SQL queries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48840" y="3995928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48840" y="399592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Vector DB retrieval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58184" y="1261872"/>
            <a:ext cx="1572768" cy="36118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58184" y="1261872"/>
            <a:ext cx="1572768" cy="5029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9" name="Text 27"/>
          <p:cNvSpPr/>
          <p:nvPr/>
        </p:nvSpPr>
        <p:spPr>
          <a:xfrm>
            <a:off x="3758184" y="12618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&amp; APIs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67912" y="1856232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67912" y="185623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web search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67912" y="2569464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67912" y="256946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REST API calls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67912" y="3282696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67912" y="32826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Browser automation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67912" y="3995928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867912" y="399592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Webhook triggers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77256" y="1261872"/>
            <a:ext cx="1572768" cy="36118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77256" y="1261872"/>
            <a:ext cx="1572768" cy="50292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0" name="Text 38"/>
          <p:cNvSpPr/>
          <p:nvPr/>
        </p:nvSpPr>
        <p:spPr>
          <a:xfrm>
            <a:off x="5477256" y="12618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86984" y="1856232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86984" y="185623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Slack / Teams messages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86984" y="2569464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586984" y="256946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Email send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586984" y="3282696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86984" y="32826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GitHub PRs &amp; issues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86984" y="3995928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586984" y="399592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Jira ticket creation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196328" y="1261872"/>
            <a:ext cx="1572768" cy="36118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96328" y="1261872"/>
            <a:ext cx="1572768" cy="50292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51" name="Text 49"/>
          <p:cNvSpPr/>
          <p:nvPr/>
        </p:nvSpPr>
        <p:spPr>
          <a:xfrm>
            <a:off x="7196328" y="12618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Services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06056" y="1856232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06056" y="185623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Vision / image analysis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306056" y="2569464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06056" y="2569464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Speech-to-text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06056" y="3282696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06056" y="3282696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Embeddings generation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306056" y="3995928"/>
            <a:ext cx="1353312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306056" y="399592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Sub-LLM calls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Tool design principle: every tool must be self-contained, non-overlapping, and purpose-specific. "Every tool must justify its existence."  — Anthropic Context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MEMORY  —  THREE TIERS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97480" cy="59436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In-Context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(Working Memory)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27048"/>
            <a:ext cx="2514600" cy="310896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5270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Speed: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1527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Instant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874520"/>
            <a:ext cx="2514600" cy="310896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8745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Cost: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" y="1874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High (tokens)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21992"/>
            <a:ext cx="2514600" cy="310896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221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Capacity: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" y="22219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128K–1M tokens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2606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DC9"/>
                </a:solidFill>
              </a:rPr>
              <a:t>WHAT IT 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" y="2843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Everything the agent can currently "see" — conversation history, tool results, loaded files, instructions.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3593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DC9"/>
                </a:solidFill>
              </a:rPr>
              <a:t>PATTERNS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CLAUDE.md, loaded specs, recent tool outputs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2702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6B0"/>
                </a:solidFill>
              </a:rPr>
              <a:t>⚠ Context window fills up — use compaction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86868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868680"/>
            <a:ext cx="2697480" cy="59436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868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TIER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116128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File-Based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(Session Memory)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1527048"/>
            <a:ext cx="2514600" cy="310896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15270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Speed: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05072" y="1527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Fast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1874520"/>
            <a:ext cx="2514600" cy="310896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18745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Cost: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05072" y="1874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221992"/>
            <a:ext cx="2514600" cy="310896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2221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Capacity: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05072" y="22219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Unlimited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0128" y="2606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7FA8"/>
                </a:solidFill>
              </a:rPr>
              <a:t>WHAT IT 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10128" y="2843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Notes, task lists, and state the agent writes to disk and reads back — persistence beyond context window.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3593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7FA8"/>
                </a:solidFill>
              </a:rPr>
              <a:t>PATTERNS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NOTES.md, TODO.md, MEMORY.md, project state files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42702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6B0"/>
                </a:solidFill>
              </a:rPr>
              <a:t>⚠ Requires disciplined read/write hygiene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86868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868680"/>
            <a:ext cx="2697480" cy="59436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8686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TIER 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116128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(Long-Term Memory)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72200" y="1527048"/>
            <a:ext cx="2514600" cy="310896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45352" y="15270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Speed: 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85432" y="1527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Moderate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1874520"/>
            <a:ext cx="2514600" cy="310896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245352" y="18745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Cost: 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1874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Medium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72200" y="2221992"/>
            <a:ext cx="2514600" cy="310896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245352" y="22219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Capacity: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85432" y="22219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Millions of docs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90488" y="2606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E6E"/>
                </a:solidFill>
              </a:rPr>
              <a:t>WHAT IT IS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90488" y="2843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Vector-embedded knowledge stores searched by semantic similarity — entire codebases, doc libraries, past conversations.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190488" y="3593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E6E"/>
                </a:solidFill>
              </a:rPr>
              <a:t>PATTERNS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90488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Pinecone, pgvector, Chroma, Weaviate — RAG pipelines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72200" y="42702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6B0"/>
                </a:solidFill>
              </a:rPr>
              <a:t>⚠ Start with agentic search; add semantic when scale demands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MULTI-AGENT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Orchestrators decompose work. Subagents execute in parallel. Results merge.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0" y="1234440"/>
            <a:ext cx="2743200" cy="777240"/>
          </a:xfrm>
          <a:prstGeom prst="rect">
            <a:avLst/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DB8"/>
                </a:solidFill>
              </a:rPr>
              <a:t>decomposes task → assigns → merges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0" cy="1234440"/>
          </a:xfrm>
          <a:prstGeom prst="line">
            <a:avLst/>
          </a:prstGeom>
          <a:noFill/>
          <a:ln w="15240">
            <a:solidFill>
              <a:srgbClr val="7A9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246120"/>
            <a:ext cx="0" cy="-914400"/>
          </a:xfrm>
          <a:prstGeom prst="line">
            <a:avLst/>
          </a:prstGeom>
          <a:noFill/>
          <a:ln w="19050">
            <a:solidFill>
              <a:srgbClr val="3A7DC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0040" y="3246120"/>
            <a:ext cx="1920240" cy="12801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246120"/>
            <a:ext cx="192024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Subagent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Code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6B0"/>
                </a:solidFill>
              </a:rPr>
              <a:t>Tools: bash, files, APIs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0" cy="1234440"/>
          </a:xfrm>
          <a:prstGeom prst="line">
            <a:avLst/>
          </a:prstGeom>
          <a:noFill/>
          <a:ln w="15240">
            <a:solidFill>
              <a:srgbClr val="7A90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3246120"/>
            <a:ext cx="0" cy="-914400"/>
          </a:xfrm>
          <a:prstGeom prst="line">
            <a:avLst/>
          </a:prstGeom>
          <a:noFill/>
          <a:ln w="19050">
            <a:solidFill>
              <a:srgbClr val="4A7FA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496312" y="3246120"/>
            <a:ext cx="1920240" cy="12801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3246120"/>
            <a:ext cx="1920240" cy="38404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2496312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Subagent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96312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Web research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87752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6B0"/>
                </a:solidFill>
              </a:rPr>
              <a:t>Tools: bash, files, APIs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011680"/>
            <a:ext cx="0" cy="1234440"/>
          </a:xfrm>
          <a:prstGeom prst="line">
            <a:avLst/>
          </a:prstGeom>
          <a:noFill/>
          <a:ln w="15240">
            <a:solidFill>
              <a:srgbClr val="7A90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86984" y="3246120"/>
            <a:ext cx="0" cy="-914400"/>
          </a:xfrm>
          <a:prstGeom prst="line">
            <a:avLst/>
          </a:prstGeom>
          <a:noFill/>
          <a:ln w="19050">
            <a:solidFill>
              <a:srgbClr val="3A7E6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672584" y="3246120"/>
            <a:ext cx="1920240" cy="12801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3246120"/>
            <a:ext cx="1920240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Subagent 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72584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File operations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64024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6B0"/>
                </a:solidFill>
              </a:rPr>
              <a:t>Tools: bash, files, APIs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2011680"/>
            <a:ext cx="0" cy="1234440"/>
          </a:xfrm>
          <a:prstGeom prst="line">
            <a:avLst/>
          </a:prstGeom>
          <a:noFill/>
          <a:ln w="15240">
            <a:solidFill>
              <a:srgbClr val="7A90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63256" y="3246120"/>
            <a:ext cx="0" cy="-914400"/>
          </a:xfrm>
          <a:prstGeom prst="line">
            <a:avLst/>
          </a:prstGeom>
          <a:noFill/>
          <a:ln w="19050">
            <a:solidFill>
              <a:srgbClr val="809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848856" y="3246120"/>
            <a:ext cx="1920240" cy="12801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48856" y="3246120"/>
            <a:ext cx="1920240" cy="38404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3" name="Text 31"/>
          <p:cNvSpPr/>
          <p:nvPr/>
        </p:nvSpPr>
        <p:spPr>
          <a:xfrm>
            <a:off x="6848856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Subagent 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48856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API calls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0296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096B0"/>
                </a:solidFill>
              </a:rPr>
              <a:t>Tools: bash, files, APIs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645152"/>
            <a:ext cx="2697480" cy="38404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645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Parallelisation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645152"/>
            <a:ext cx="2697480" cy="38404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4645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Fresh Context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4645152"/>
            <a:ext cx="2697480" cy="38404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4645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Specialisation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MODEL CONTEXT PROTOCOL  (MCP)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The USB-C of AI tools — one standard to connect everything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54864" cy="7132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An open protocol (Anthropic, 2024) that standardises how agents connect to external tools, data sources, and services via structured tool definitions.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54864" cy="7132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148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Before MCP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4144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Every tool integration was bespoke — custom code, custom auth, custom schemas. 10 tools meant 10 different integration patterns.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108960"/>
            <a:ext cx="54864" cy="7132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3108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With MCP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4015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Any MCP-compatible agent connects to any MCP server with the same interface. Build once, use across Claude, Cursor, Copilot, and any compliant agent.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069080"/>
            <a:ext cx="54864" cy="7132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4069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In CI/CD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43616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MCP servers run as local processes or URLs. Claude Code uses MCP for linting, formatting, testing — giving agents deterministic tool access.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078992"/>
            <a:ext cx="3749040" cy="379476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8DB8"/>
                </a:solidFill>
              </a:rPr>
              <a:t>MCP ECOSYSTEM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1280160" cy="59436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240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(Claude)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38928" y="1572768"/>
            <a:ext cx="1051560" cy="59436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157276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GitHub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MCP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35240" y="1572768"/>
            <a:ext cx="1051560" cy="59436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57276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Slack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MCP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38928" y="3246120"/>
            <a:ext cx="1051560" cy="59436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32461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Postgres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MCP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3246120"/>
            <a:ext cx="1051560" cy="59436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32461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Browser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MCP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82512" y="4133088"/>
            <a:ext cx="1051560" cy="594360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41330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MCP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Latest MCP spec (June 2025): structured tool outputs, OAuth, server-initiated requests, security best practices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CLAUDE AGENT SDK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The harness that powers Claude Code — now available for any agent you build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3167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Full Filesystem Access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23544" y="17007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Agents read, write, execute — treating your repo as a working environment, not just a text prompt.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88720"/>
            <a:ext cx="54864" cy="1170432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13167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Tool Orchestration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266944" y="17007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Compose bash, grep, glob, Python, and MCP tools into agent workflows with full control over permissions.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468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468880"/>
            <a:ext cx="54864" cy="1170432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6517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" y="25968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Subagent Parallelisation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23544" y="298094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Spawn subagents by default. Lead agents coordinate work; subagents execute. Results merge automatically.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468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468880"/>
            <a:ext cx="54864" cy="1170432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6517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5968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Context Management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266944" y="298094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Auto-compaction, tool result clearing, and agentic memory — the SDK manages the context window for you.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374904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749040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93192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3544" y="38770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Permission Scoping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23544" y="4261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Grant or deny tool access per agent. Sandbox subagents for security — exactly what Spotify does with Honk.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663440" y="374904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63440" y="3749040"/>
            <a:ext cx="54864" cy="1170432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93192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66944" y="38770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CI/CD Integration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266944" y="42611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Run on a schedule: morning PR reviews, overnight CI failure analysis, weekly dependency audits, doc sync.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12-FACTOR AGENTS  ·  Dex Horthy, HumanLayer  ·  AI Engineer 2024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Patterns for building reliable LLM applications at production 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384048" cy="86868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225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Natural Language to Tool Calls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09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Own your prompts; don't hide them in abstractions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30552"/>
            <a:ext cx="384048" cy="86868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3055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Own Your Context Window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Context engineering IS agent engineering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384048" cy="86868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9067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Own Your Control 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Loops, branches, and retries belong in your code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5079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50792"/>
            <a:ext cx="384048" cy="868680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05079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1056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Tools Are Structured Outputs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489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Model outputs JSON, your code calls the real function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81528" y="117043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81528" y="1170432"/>
            <a:ext cx="384048" cy="868680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081528" y="117043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38728" y="1225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Unify Execution State &amp; Steps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38728" y="1609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Store what happened — not just what to do next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81528" y="213055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81528" y="2130552"/>
            <a:ext cx="384048" cy="868680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81528" y="213055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38728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Launch Small, Focused Agents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38728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Decompose to subagents before context gets polluted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81528" y="309067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081528" y="3090672"/>
            <a:ext cx="384048" cy="868680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081528" y="309067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38728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Contact Humans with Tools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38728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HITL is just another tool call — not a framework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81528" y="405079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081528" y="4050792"/>
            <a:ext cx="384048" cy="868680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081528" y="405079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538728" y="41056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Own Your Control Plane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38728" y="4489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Interrupt, pause, resume — agents need kill switches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24728" y="117043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24728" y="1170432"/>
            <a:ext cx="384048" cy="868680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824728" y="117043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81928" y="1225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Compact Errors into Context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81928" y="1609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Errors are signal — summarise and continue, don't crash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24728" y="213055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24728" y="2130552"/>
            <a:ext cx="384048" cy="868680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824728" y="213055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81928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Small, Focused Context Windows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81928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Tight context = predictable behaviour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24728" y="309067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824728" y="3090672"/>
            <a:ext cx="384048" cy="868680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824728" y="309067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281928" y="3145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Trigger from Events, Not Cron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81928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Agents are reactive — wire to events not schedules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824728" y="4050792"/>
            <a:ext cx="2633472" cy="86868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824728" y="4050792"/>
            <a:ext cx="384048" cy="868680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824728" y="405079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281928" y="41056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Stateless Reducer Architecture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81928" y="4489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Replay any agent run from its event log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0040" y="4846320"/>
            <a:ext cx="1920240" cy="219456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4846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96312" y="4846320"/>
            <a:ext cx="1920240" cy="219456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2496312" y="4846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Reliability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72584" y="4846320"/>
            <a:ext cx="1920240" cy="219456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672584" y="4846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 Control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48856" y="4846320"/>
            <a:ext cx="1920240" cy="219456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848856" y="48463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CASE STUDY  ·  SPOTIFY HONK  ·  MULTI-AGENT IN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157276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1572768" cy="53035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9611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(Slack / mobile)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Natural language intent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92808" y="1536192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39112" y="896112"/>
            <a:ext cx="157276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896112"/>
            <a:ext cx="1572768" cy="53035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2" name="Text 10"/>
          <p:cNvSpPr/>
          <p:nvPr/>
        </p:nvSpPr>
        <p:spPr>
          <a:xfrm>
            <a:off x="2039112" y="89611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30552" y="1490472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Gathers context → structured 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536192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58184" y="896112"/>
            <a:ext cx="157276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184" y="896112"/>
            <a:ext cx="1572768" cy="5303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7" name="Text 15"/>
          <p:cNvSpPr/>
          <p:nvPr/>
        </p:nvSpPr>
        <p:spPr>
          <a:xfrm>
            <a:off x="3758184" y="89611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Coding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9624" y="1490472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Plans, implements, iterates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30952" y="1536192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77256" y="896112"/>
            <a:ext cx="157276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7256" y="896112"/>
            <a:ext cx="1572768" cy="5303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2" name="Text 20"/>
          <p:cNvSpPr/>
          <p:nvPr/>
        </p:nvSpPr>
        <p:spPr>
          <a:xfrm>
            <a:off x="5477256" y="89611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Verifiers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Judge LLM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68696" y="1490472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Tests, lint, diff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0024" y="1536192"/>
            <a:ext cx="146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96328" y="896112"/>
            <a:ext cx="157276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96328" y="896112"/>
            <a:ext cx="1572768" cy="53035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89611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 → 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87768" y="1490472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Diff summary in Slack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43200"/>
            <a:ext cx="420624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743200"/>
            <a:ext cx="54864" cy="9875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" y="27980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✓ Sandboxed container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" y="31638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Agent runs with minimal permissions and binaries. Intentional flexibility reduction = predictability + security.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90872" y="2743200"/>
            <a:ext cx="420624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2743200"/>
            <a:ext cx="54864" cy="9875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5" name="Text 33"/>
          <p:cNvSpPr/>
          <p:nvPr/>
        </p:nvSpPr>
        <p:spPr>
          <a:xfrm>
            <a:off x="4837176" y="27980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✓ Infrastructure outside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37176" y="31638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Slack comms, git push, prompt authoring all handled outside the agent. Agent focuses only on code changes.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840480"/>
            <a:ext cx="420624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840480"/>
            <a:ext cx="54864" cy="9875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" y="3895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✓ Verifier loop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6344" y="42611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Unit tests + linter run before PR opens. Without this, agents produced code that 'didn't work.' (Honk Part 3)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90872" y="3840480"/>
            <a:ext cx="420624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3840480"/>
            <a:ext cx="54864" cy="9875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3" name="Text 41"/>
          <p:cNvSpPr/>
          <p:nvPr/>
        </p:nvSpPr>
        <p:spPr>
          <a:xfrm>
            <a:off x="4837176" y="3895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✓ Judge LLM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37176" y="42611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A separate LLM evaluates the diff for correctness, scope, and quality before human review — another agent as reviewer.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" y="48920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4A7FA8"/>
                </a:solidFill>
              </a:rPr>
              <a:t>Result: ~50% of all Spotify PRs automated · 1,500+ agent PRs merged · 50+ features shipped in 2025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25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Design a Multi-Agent Architecture for a Real Problem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4721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Choose a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4721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1965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Pick a real engineering workflow from your team: dependency updates, PR reviews, doc generation, test coverage gap analysis, or another repetitive multi-step process.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304288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Map the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23591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70662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Draw the agent graph: Who is the orchestrator? What are the subagents? What tools does each need? Where are the HITL gates? What goes into each agent's context?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91256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91256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91256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Apply 12-Factor Check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246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59359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Run your design through factors 1–6 (Foundation &amp; Reliability). Does your agent own its context window? Is control flow in code? Are errors handled as signal?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78224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78224"/>
            <a:ext cx="502920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78224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" y="4133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Present &amp; Critique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4133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48056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One group presents. The group critiques: What's the biggest reliability risk? Where would you put the kill switch? What's the first thing you'd instrument in observability?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Which of the 12 factors maps most directly to a production failure you have seen?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For your team's next automation candidate, which memory tier does it primarily need?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Where in your SDLC would you first introduce an orchestrator/subagent pattern — and why?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What's the first MCP server you would build or adopt for your team? What would it connect to?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Agent = Tool + Memory + Loop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Tools are the agent's hands — design them carefully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Three memory tiers — match to task complexity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Orchestrators decompose; subagents specialise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MCP is the standard — adopt it now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12-Factor = reliability checklist for production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Spotify proves this works at enterprise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03: Context Engineering  —  CLAUDE.md, Rules Files, Skills, Just-in-Time Retrieval, Compaction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Core Agentic Concepts &amp; Terms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2026-04-05T18:24:10Z</dcterms:created>
  <dcterms:modified xsi:type="dcterms:W3CDTF">2026-04-05T18:24:10Z</dcterms:modified>
</cp:coreProperties>
</file>