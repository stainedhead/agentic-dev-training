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Core Agentic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Concepts &amp; Terms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The vocabulary and architecture every enterprise developer must own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2103120"/>
            <a:ext cx="914400" cy="914400"/>
          </a:xfrm>
          <a:prstGeom prst="ellipse">
            <a:avLst/>
          </a:prstGeom>
          <a:solidFill>
            <a:srgbClr val="3A7DC9"/>
          </a:solidFill>
          <a:ln/>
        </p:spPr>
      </p:sp>
      <p:sp>
        <p:nvSpPr>
          <p:cNvPr id="11" name="Shape 9"/>
          <p:cNvSpPr/>
          <p:nvPr/>
        </p:nvSpPr>
        <p:spPr>
          <a:xfrm>
            <a:off x="5852160" y="1645920"/>
            <a:ext cx="16459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1280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0" y="1554480"/>
            <a:ext cx="7315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18872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0" y="2926080"/>
            <a:ext cx="12801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74320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0" y="2926080"/>
            <a:ext cx="3657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0" y="2926080"/>
            <a:ext cx="146304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0" y="3566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230428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Name the Core Vocabulary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Agent, Tool, Memory, Orchestrator, Subagent, MCP — with precision, not jargon.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Read Multi-Agent Architecture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Interpret orchestrator/subagent diagrams and explain how tasks are decomposed and recombined.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Explain MCP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how Model Context Protocol standardises agent-to-tool and agent-to-service communication.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12-Factor Principles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Map the 12 factors of reliable LLM applications (Dex Horthy / HumanLayer) to enterprise practices.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CORE VOCABULARY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Eight terms that everything else builds 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An AI that autonomously plans and executes multi-step tasks using tools, memory, and a feedback loop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213055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Tool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callable function the agent can invoke: bash, file read/write, web search, API call, database query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309067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Memory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an agent stores and retrieves context: in-window (short-term), files/notes (working), or vector DB (long-term)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4050792"/>
            <a:ext cx="54864" cy="8686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8DB8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lead agent that decomposes a task, assigns subtasks to subagents, and merges results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170432"/>
            <a:ext cx="54864" cy="868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Subagent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child agent spawned by an orchestrator to handle a specific parallel or specialised subtask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09160" y="213055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Context Protocol — the open standard for connecting agents to external tools and services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309067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0" name="Text 28"/>
          <p:cNvSpPr/>
          <p:nvPr/>
        </p:nvSpPr>
        <p:spPr>
          <a:xfrm>
            <a:off x="485546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Context Window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5546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finite token space an LLM reasons over in one call — the central engineering constraint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405079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4" name="Text 32"/>
          <p:cNvSpPr/>
          <p:nvPr/>
        </p:nvSpPr>
        <p:spPr>
          <a:xfrm>
            <a:off x="485546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HITL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5546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Human-in-the-Loop: a governance gate requiring human approval before an irreversible agent action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TOOLS  —  AN AGENT'S HANDS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Without tools, an agent can only generate text. Tools are what make agents useful.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Compute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bash / shell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Python execution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Docker containers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CI/CD runners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039112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8" name="Text 16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Files &amp; Data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read / write files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grep / glob search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SQL queries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 DB retrieval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58184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Web &amp; APIs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 search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REST API calls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Browser automation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Webhook triggers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77256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0" name="Text 38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Comms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Slack / Teams messages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Email send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GitHub PRs &amp; issues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Jira ticket creation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196328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51" name="Text 49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 Services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Vision / image analysis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Speech-to-text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Embeddings generation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Sub-LLM calls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Tool design principle: every tool must be self-contained, non-overlapping, and purpose-specific. "Every tool must justify its existence."  — Anthropic Context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MEMORY  —  THREE TIERS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6974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In-Context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(Working Memory)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527048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8463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Instant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874520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471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High (tokens)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221992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128K–1M tokens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WHAT IT 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976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Everything the agent can currently "see" — conversation history, tool results, loaded files, instructions.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976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PATTERNS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976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CLAUDE.md, loaded specs, recent tool outputs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Context window fills up — use compaction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868680"/>
            <a:ext cx="26974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File-Based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(Session Memory)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91840" y="1527048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6499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00507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Fast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91840" y="1874520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0507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Low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91840" y="2221992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36499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00507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Unlimited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1012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WHAT IT IS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31012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Notes, task lists, and state the agent writes to disk and reads back — persistence beyond context window.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31012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PATTERNS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1012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NOTES.md, TODO.md, MEMORY.md, project state files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9184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Requires disciplined read/write hygiene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8076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080760" y="868680"/>
            <a:ext cx="26974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2" name="Text 40"/>
          <p:cNvSpPr/>
          <p:nvPr/>
        </p:nvSpPr>
        <p:spPr>
          <a:xfrm>
            <a:off x="608076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8076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Semantic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(Long-Term Memory)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72200" y="1527048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624535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88543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Moderate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172200" y="1874520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24535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8543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Medium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172200" y="2221992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624535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8543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Millions of docs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19048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WHAT IT IS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9048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Vector-embedded knowledge stores searched by semantic similarity — entire codebases, doc libraries, past conversations.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19048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PATTERNS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19048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Pinecone, pgvector, Chroma, Weaviate — RAG pipelines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7220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Start with agentic search; add semantic when scale demands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MULTI-AGENT 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Orchestrators decompose work. Subagents execute in parallel. Results merge.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329184"/>
          </a:xfrm>
          <a:prstGeom prst="rect">
            <a:avLst/>
          </a:prstGeom>
          <a:solidFill>
            <a:srgbClr val="D4E4F0">
              <a:alpha val="8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170432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These patterns apply in two contexts: (1) inside your coding agent — explaining why Claude Code behaves as it does; and (2) in production agent systems your team may eventually build.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1572768"/>
            <a:ext cx="2743200" cy="749808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1572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195681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8DB8"/>
                </a:solidFill>
              </a:rPr>
              <a:t>decomposes task → assigns → merges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3401568"/>
            <a:ext cx="0" cy="-777240"/>
          </a:xfrm>
          <a:prstGeom prst="line">
            <a:avLst/>
          </a:prstGeom>
          <a:noFill/>
          <a:ln w="19050">
            <a:solidFill>
              <a:srgbClr val="3A7DC9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20040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401568"/>
            <a:ext cx="1920240" cy="3657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Code generation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10712" y="3401568"/>
            <a:ext cx="0" cy="-77724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96312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96312" y="3401568"/>
            <a:ext cx="1920240" cy="3657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2496312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96312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Web research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87752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86984" y="3401568"/>
            <a:ext cx="0" cy="-777240"/>
          </a:xfrm>
          <a:prstGeom prst="line">
            <a:avLst/>
          </a:prstGeom>
          <a:noFill/>
          <a:ln w="19050">
            <a:solidFill>
              <a:srgbClr val="3A7E6E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672584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72584" y="3401568"/>
            <a:ext cx="1920240" cy="3657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72584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672584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File operations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64024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63256" y="3401568"/>
            <a:ext cx="0" cy="-777240"/>
          </a:xfrm>
          <a:prstGeom prst="line">
            <a:avLst/>
          </a:prstGeom>
          <a:noFill/>
          <a:ln w="19050">
            <a:solidFill>
              <a:srgbClr val="8096B0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848856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848856" y="3401568"/>
            <a:ext cx="1920240" cy="36576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5" name="Text 33"/>
          <p:cNvSpPr/>
          <p:nvPr/>
        </p:nvSpPr>
        <p:spPr>
          <a:xfrm>
            <a:off x="6848856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48856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API calls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40296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681728"/>
            <a:ext cx="26974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Text 37"/>
          <p:cNvSpPr/>
          <p:nvPr/>
        </p:nvSpPr>
        <p:spPr>
          <a:xfrm>
            <a:off x="411480" y="4681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Parallelisation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0" y="4681728"/>
            <a:ext cx="26974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1" name="Text 39"/>
          <p:cNvSpPr/>
          <p:nvPr/>
        </p:nvSpPr>
        <p:spPr>
          <a:xfrm>
            <a:off x="3291840" y="4681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Fresh Context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080760" y="4681728"/>
            <a:ext cx="26974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3" name="Text 41"/>
          <p:cNvSpPr/>
          <p:nvPr/>
        </p:nvSpPr>
        <p:spPr>
          <a:xfrm>
            <a:off x="6172200" y="4681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Specialisation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MODEL CONTEXT PROTOCOL  (MCP)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The USB-C of AI tools — one standard to connect everything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475488" y="11887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What it 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148132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 open protocol (Anthropic, 2024) that standardises how agents connect to external tools, data sources, and services via structured tool definitions.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14884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2148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Before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244144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tool integration was bespoke — custom code, custom auth, custom schemas. 10 tools meant 10 different integration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310896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3108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With MCP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" y="340156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Any MCP-compatible agent connects to any MCP server with the same interface. Build once, use across Claude, Cursor, Copilot, and any compliant agent.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406908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4069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In CI/CD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" y="436168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MCP servers run as local processes or URLs. Claude Code uses MCP for linting, formatting, testing — giving agents deterministic tool access.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1078992"/>
            <a:ext cx="3749040" cy="379476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078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MCP ECOSYSTEM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(Claude)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GitHub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Slack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Postgres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Browser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Custom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Latest MCP spec (June 2025): structured tool outputs, OAuth, server-initiated requests, security best practices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CLAUDE AGENT SDK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harness that powers Claude Code — now available for any agent you build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235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Full Filesystem Access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235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read, write, execute — treating your repo as a working environment, not just a text prompt.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8872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669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Tool Orchestration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2669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Compose bash, grep, glob, Python, and MCP tools into agent workflows with full control over permissions.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00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6517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35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Subagent Parallelisation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9235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Spawn subagents by default. Lead agents coordinate work; subagents execute. Results merge automatically.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634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468880"/>
            <a:ext cx="54864" cy="1170432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65176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2669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Context Management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2669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Auto-compaction, tool result clearing, and agentic memory — the SDK manages the context window for you.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00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0040" y="374904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93192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235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Permission Scoping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9235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Grant or deny tool access per agent. Sandbox subagents for security — exactly what Spotify does with Honk.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6634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663440" y="374904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93192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2669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CI/CD Integration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2669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on a schedule: morning PR reviews, overnight CI failure analysis, weekly dependency audits, doc sync.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12-FACTOR AGENTS  ·  Dex Horthy, HumanLayer  ·  AI Engineer 2024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Patterns for building reliable LLM applications at production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Natural Language to Tool Calls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Own your prompts; don't hide them in abstractions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Context Window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Context engineering IS agent engineering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Loops, branches, and retries belong in your code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Tools Are Structured Outputs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Model outputs JSON, your code calls the real function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815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387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Unify Execution State &amp; Steps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387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Store what happened — not just what to do next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0815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387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Launch Small, Focused Agents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5387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Decompose to subagents before context gets polluted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815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5387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Contact Humans with Tools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5387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HITL is just another tool call — not a framework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0815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35387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Plane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5387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Interrupt, pause, resume — agents need kill switches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8247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2819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Compact Errors into Context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2819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Errors are signal — summarise and continue, don't crash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247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2819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Small, Focused Context Windows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2819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Tight context = predictable behavior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8247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62819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Trigger from Events, Not Cron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2819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Agents are reactive — wire to events not schedules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8247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2819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Stateless Reducer Architecture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2819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Replay any agent run from its event log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Foundation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Reliability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Human Control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MULTI-AGENT PATTERNS  ·  WITH CODING AGENT EXAMPLES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Each pattern applies both inside Claude Code and in production agent systems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7899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78992"/>
            <a:ext cx="502920" cy="178308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07899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1704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Sequential Pipeline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51790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Each agent's output is the next agent's input. Simple and debuggable. Use when tasks have clear sequential dependencies.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2139696"/>
            <a:ext cx="3474720" cy="621792"/>
          </a:xfrm>
          <a:prstGeom prst="rect">
            <a:avLst/>
          </a:prstGeom>
          <a:solidFill>
            <a:srgbClr val="3A7DC9">
              <a:alpha val="2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Claude Code: reads spec → writes tests → writes code → runs tests → opens PR. Each step feeds the next.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07899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078992"/>
            <a:ext cx="502920" cy="178308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07899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03520" y="11704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Parallel Fan-Out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0" y="151790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Parallelise independent subtasks. Reduces wall-clock time for research or analysis. Use when subtasks are independent.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0" y="2139696"/>
            <a:ext cx="3474720" cy="621792"/>
          </a:xfrm>
          <a:prstGeom prst="rect">
            <a:avLst/>
          </a:prstGeom>
          <a:solidFill>
            <a:srgbClr val="4A7FA8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367528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Claude Code simultaneously searches multiple codebase areas before synthesising an implementation plan.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999232"/>
            <a:ext cx="502920" cy="178308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299923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309067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Evaluator-Optimizer Loop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34381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An evaluator scores the generator's output and feeds back a critique. The generator revises until quality threshold is met.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4400" y="4059936"/>
            <a:ext cx="3474720" cy="621792"/>
          </a:xfrm>
          <a:prstGeom prst="rect">
            <a:avLst/>
          </a:prstGeom>
          <a:solidFill>
            <a:srgbClr val="3A7E6E">
              <a:alpha val="2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07822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Claude Code writes a function, runs tests, reads failures, revises — autonomously — until tests pass.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09160" y="299923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2999232"/>
            <a:ext cx="502920" cy="178308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709160" y="299923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03520" y="309067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Specialist Routing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03520" y="34381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lightweight router examines the request and delegates to the right specialist agent for the job.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303520" y="4059936"/>
            <a:ext cx="3474720" cy="621792"/>
          </a:xfrm>
          <a:prstGeom prst="rect">
            <a:avLst/>
          </a:prstGeom>
          <a:solidFill>
            <a:srgbClr val="8096B0">
              <a:alpha val="2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367528" y="407822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Copilot Chat routes to codebase search vs. documentation lookup vs. code generation depending on intent.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0040" y="4956048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8DB8"/>
                </a:solidFill>
              </a:rPr>
              <a:t>Understanding these patterns helps you reason about Claude Code behavior and design production systems when the time comes.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3557"/>
                </a:solidFill>
              </a:rPr>
              <a:t>Apply the Vocabulary to a Real Claude Code Scenario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61872"/>
            <a:ext cx="54864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618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SCENARIO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8275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D3D"/>
                </a:solidFill>
              </a:rPr>
              <a:t>A developer asks Claude Code: "Refactor the PaymentService to extract a separate InvoiceService, move the relevant methods, update all call sites, and make sure the tests still pass."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011680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011680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20482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the Agent Loop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0482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Break this task into the steps Claude Code would take. For each step: what tool does it call? What does it observe? What decision does it make next?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596896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596896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596896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6334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Classify the Tools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26334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2871216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List every tool Claude Code would need (file read, file write, shell execution, etc.) and classify each as read, write, or communication.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182112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182112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3182112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2186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Identify Memory 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651760" y="32186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3456432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information must the agent carry forward across steps? Which memory type (in-context, external, semantic, episodic) applies to each piece of state?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3767328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767328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3767328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2960" y="38039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Define the Trust Boundary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651760" y="38039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4041648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should Claude Code do autonomously? Where should it pause for human confirmation? Write the interrupt conditions for this specific task.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4352544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52544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352544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2296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Apply a Pattern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51760" y="43891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960" y="4626864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multi-agent pattern best describes how Claude Code should approach this refactor — sequential pipeline, fan-out, or evaluator-optimizer? Why?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of the 12 factors maps most directly to a production failure you have seen?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For your team's next automation candidate, which memory tier does it primarily need?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Where in your SDLC would you first introduce an orchestrator/subagent pattern — and why?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What's the first MCP server you would build or adopt for your team? What would it connect to?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= Tool + Memory + Loop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Tools are the agent's hands — design them carefully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Three memory tiers — match to task complexity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Orchestrators decompose; subagents specialise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MCP is the standard — adopt it now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12-Factor = reliability checklist for production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 proves this works at enterprise scale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03: Context Engineering  —  CLAUDE.md, Rules Files, Skills, Just-in-Time Retrieval, Compaction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2: Core Agentic Concepts &amp; Terms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2026-04-05T20:37:43Z</dcterms:created>
  <dcterms:modified xsi:type="dcterms:W3CDTF">2026-04-05T20:37:43Z</dcterms:modified>
</cp:coreProperties>
</file>