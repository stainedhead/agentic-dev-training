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926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170432"/>
            <a:ext cx="6217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Design Reviews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for Agentic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Systems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65760" y="3291840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8DB8"/>
                </a:solidFill>
              </a:rPr>
              <a:t>Designing for Agent Experience (AX) before writing a single line of code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3886200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404164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60–75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Level: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Advanced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675120" y="594360"/>
            <a:ext cx="2148840" cy="731520"/>
          </a:xfrm>
          <a:prstGeom prst="rect">
            <a:avLst/>
          </a:prstGeom>
          <a:solidFill>
            <a:srgbClr val="8096B0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675120" y="594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Architecture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Decision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675120" y="1490472"/>
            <a:ext cx="2148840" cy="731520"/>
          </a:xfrm>
          <a:prstGeom prst="rect">
            <a:avLst/>
          </a:prstGeom>
          <a:solidFill>
            <a:srgbClr val="4A7FA8">
              <a:alpha val="94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675120" y="149047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AX Design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675120" y="2386584"/>
            <a:ext cx="2148840" cy="731520"/>
          </a:xfrm>
          <a:prstGeom prst="rect">
            <a:avLst/>
          </a:prstGeom>
          <a:solidFill>
            <a:srgbClr val="3A7DC9">
              <a:alpha val="88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675120" y="238658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Security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Review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675120" y="3282696"/>
            <a:ext cx="2148840" cy="731520"/>
          </a:xfrm>
          <a:prstGeom prst="rect">
            <a:avLst/>
          </a:prstGeom>
          <a:solidFill>
            <a:srgbClr val="3A7E6E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675120" y="3282696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FinOps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Review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675120" y="4178808"/>
            <a:ext cx="2148840" cy="731520"/>
          </a:xfrm>
          <a:prstGeom prst="rect">
            <a:avLst/>
          </a:prstGeom>
          <a:solidFill>
            <a:srgbClr val="2E5073">
              <a:alpha val="76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75120" y="4178808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Deploy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Approval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LEARNING OBJECTIVES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By the end of this module you will be able to: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64008" cy="166420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716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Apply Agent-First Design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Articulate the core principles of designing systems where agents are the primary actors, not afterthoughts added to human-first architectures.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6634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170432"/>
            <a:ext cx="64008" cy="1664208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716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Design for AX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3035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Apply Agent Experience (AX) design patterns: clean interfaces, parseable schemas, MCP-compatible tool definitions, and llms.txt documentation.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3200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0040" y="2999232"/>
            <a:ext cx="64008" cy="166420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2004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601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Write Effective ADRs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601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Create Architecture Decision Records that capture decisions, context, and consequences in a format agents can consume as just-in-time context.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6634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663440" y="2999232"/>
            <a:ext cx="64008" cy="1664208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20040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035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Run the Design Review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3035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Facilitate a structured pre-deployment design review covering architecture, security, FinOps, and Agent Experience dimensions.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AGENT-FIRST DESIGN PRINCIPLES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Speed of AI-generated code makes design discipline MORE important, not less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347472" cy="117043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70432"/>
            <a:ext cx="347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58952" y="1225296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Reduced flexibility = predictability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" y="1591056"/>
            <a:ext cx="36758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Spotify’s most important design decision: intentionally limit what the agent can do. Tightly scoped agents are predictable agents. Flexibility is an enemy of reliability at scale.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2468880"/>
            <a:ext cx="347472" cy="1170432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2468880"/>
            <a:ext cx="347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58952" y="2523744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Infrastructure outside the agent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8952" y="2889504"/>
            <a:ext cx="36758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Slack comms, git push, prompt authoring, logging — all happen in surrounding infrastructure. The agent touches only its designated domain. This contains blast radius and improves security.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3767328"/>
            <a:ext cx="347472" cy="1170432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320040" y="3767328"/>
            <a:ext cx="347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58952" y="3822192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E6E"/>
                </a:solidFill>
              </a:rPr>
              <a:t>Every tool must justify its existence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58952" y="4187952"/>
            <a:ext cx="36758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Self-contained, non-overlapping, purpose-specific. If you can’t explain in one sentence what a tool does and when it’s called, don’t build it yet. Tool proliferation creates chaos.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0916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09160" y="1170432"/>
            <a:ext cx="347472" cy="1170432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4709160" y="1170432"/>
            <a:ext cx="347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148072" y="1225296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096B0"/>
                </a:solidFill>
              </a:rPr>
              <a:t>Folder structure IS context engineering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48072" y="1591056"/>
            <a:ext cx="36758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How you organize the project communicates intent to the agent. CLAUDE.md at root, specs in /specs, ADRs in /adr, agent docs in /agent_docs. Structure first, then prompt.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0916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09160" y="2468880"/>
            <a:ext cx="347472" cy="1170432"/>
          </a:xfrm>
          <a:prstGeom prst="rect">
            <a:avLst/>
          </a:prstGeom>
          <a:solidFill>
            <a:srgbClr val="5B8DB8">
              <a:alpha val="9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4709160" y="2468880"/>
            <a:ext cx="347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148072" y="2523744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Design for Agent Experience (AX)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48072" y="2889504"/>
            <a:ext cx="36758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Just as you design APIs for Developer Experience (DX), design your system for Agent Experience. OpenAPI schemas, llms.txt, MCP-compatible interfaces, parseable formats.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70916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09160" y="3767328"/>
            <a:ext cx="347472" cy="117043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4709160" y="3767328"/>
            <a:ext cx="347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148072" y="3822192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Observability before deployment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48072" y="4187952"/>
            <a:ext cx="36758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Instrument first. If you can’t observe it, you can’t debug it. Tracing, logging, and evaluation must be designed in from day one — retrofitting is extremely expensive.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DESIGNING FOR AGENT EXPERIENCE  (AX)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Just as we design APIs for Developer Experience (DX), design your system for the agents that will use it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7830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54864" cy="178308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466344" y="1243584"/>
            <a:ext cx="3922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OpenAPI schemas for every API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66344" y="1609344"/>
            <a:ext cx="3922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Agents handle OpenAPI schemas reliably. They can validate parameters, understand response shapes, and auto-generate correct API calls from a spec. No schema = hallucinated calls.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66344" y="2176272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✓ Provide machine-readable OpenAPI/JSON Schema for every API the agent will consume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66344" y="2523744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3040"/>
                </a:solidFill>
              </a:rPr>
              <a:t>✕ Expect agents to infer API contracts from prose documentation or examples alone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170432"/>
            <a:ext cx="4160520" cy="17830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1170432"/>
            <a:ext cx="54864" cy="178308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4809744" y="1243584"/>
            <a:ext cx="3922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llms.txt for documentation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09744" y="1609344"/>
            <a:ext cx="3922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llms.txt is an emerging standard (like robots.txt) that summarises what an LLM needs to know about a site or service in a compact, LLM-optimized format.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809744" y="2176272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✓ Add llms.txt to your services. Keep it current. Reference it in agent skills.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09744" y="2523744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3040"/>
                </a:solidFill>
              </a:rPr>
              <a:t>✕ Expect agents to parse full HTML docs, changelogs, or wiki pages for context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3108960"/>
            <a:ext cx="4160520" cy="17830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108960"/>
            <a:ext cx="54864" cy="17830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" y="3182112"/>
            <a:ext cx="3922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MCP-compatible tool definitions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66344" y="3547872"/>
            <a:ext cx="3922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Tools built to the MCP spec work across Claude, Cursor, Copilot, and any compliant agent. Build once, integrate everywhere. Non-MCP tools are single-platform dead ends.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66344" y="4114800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✓ Define tools with MCP schemas: name, description, input schema, output shape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66344" y="4462272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3040"/>
                </a:solidFill>
              </a:rPr>
              <a:t>✕ Write bespoke tool integrations per agent platform or per agent version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63440" y="3108960"/>
            <a:ext cx="4160520" cy="17830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3108960"/>
            <a:ext cx="54864" cy="178308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5" name="Text 23"/>
          <p:cNvSpPr/>
          <p:nvPr/>
        </p:nvSpPr>
        <p:spPr>
          <a:xfrm>
            <a:off x="4809744" y="3182112"/>
            <a:ext cx="3922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E6E"/>
                </a:solidFill>
              </a:rPr>
              <a:t>Explicit type definitions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809744" y="3547872"/>
            <a:ext cx="3922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Strongly-typed interfaces reduce hallucinations dramatically. Agents that see exact types produce correct outputs. Loose or missing types produce creative but wrong outputs.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809744" y="4114800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✓ Use TypeScript types, Pydantic models, or JSON Schema for all inputs/outputs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09744" y="4462272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3040"/>
                </a:solidFill>
              </a:rPr>
              <a:t>✕ Use Dict[str, Any] or untyped JSON blobs as agent I/O interfaces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ARCHITECTURE DECISION RECORDS  (ADRs)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90A8"/>
                </a:solidFill>
              </a:rPr>
              <a:t>Spotify captures ADRs from Slack threads via agents  —  architecture reasoning as continuous, machine-readable context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2070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160520" cy="36576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WHY AGENTS NEED ADRs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591056"/>
            <a:ext cx="3977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Agents making code changes need architectural context to avoid breaking invariants. Without ADRs, agents “remember” nothing from the last design session and will confidently re-introduce rejected patterns.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0040" y="2487168"/>
            <a:ext cx="4160520" cy="2432304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2487168"/>
            <a:ext cx="416052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2487168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ADR TEMPLATE (adr/NNN-title.md)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29768" y="289864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D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ADR-NNN: [Title]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9768" y="315468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D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Status: [Proposed | Accepted | Deprecated]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29768" y="341071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D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Context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" y="366674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What problem are we solving? What constraints exist?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29768" y="392277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D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Decision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29768" y="417880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What did we decide to do?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29768" y="443484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D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Consequences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29768" y="469087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What changes? What are the tradeoffs?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1170432"/>
            <a:ext cx="416052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1170432"/>
            <a:ext cx="4160520" cy="36576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117043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ADR LIFECYCLE IN AN AGENTIC TEAM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73168" y="1645920"/>
            <a:ext cx="3931920" cy="58521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4" name="Shape 22"/>
          <p:cNvSpPr/>
          <p:nvPr/>
        </p:nvSpPr>
        <p:spPr>
          <a:xfrm>
            <a:off x="4773168" y="1645920"/>
            <a:ext cx="54864" cy="585216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25" name="Text 23"/>
          <p:cNvSpPr/>
          <p:nvPr/>
        </p:nvSpPr>
        <p:spPr>
          <a:xfrm>
            <a:off x="4901184" y="1700784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096B0"/>
                </a:solidFill>
              </a:rPr>
              <a:t>1. Decision Arises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901184" y="1956816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Design discussion happens in Slack, PR, or architecture meeting. A significant architectural choice is made.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73168" y="2304288"/>
            <a:ext cx="3931920" cy="58521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8" name="Shape 26"/>
          <p:cNvSpPr/>
          <p:nvPr/>
        </p:nvSpPr>
        <p:spPr>
          <a:xfrm>
            <a:off x="4773168" y="2304288"/>
            <a:ext cx="54864" cy="585216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9" name="Text 27"/>
          <p:cNvSpPr/>
          <p:nvPr/>
        </p:nvSpPr>
        <p:spPr>
          <a:xfrm>
            <a:off x="4901184" y="2359152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A7FA8"/>
                </a:solidFill>
              </a:rPr>
              <a:t>2. ADR Captured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901184" y="2615184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Human or agent writes ADR from conversation. Spotify: agents extract ADRs from Slack threads automatically.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73168" y="2962656"/>
            <a:ext cx="3931920" cy="58521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2" name="Shape 30"/>
          <p:cNvSpPr/>
          <p:nvPr/>
        </p:nvSpPr>
        <p:spPr>
          <a:xfrm>
            <a:off x="4773168" y="2962656"/>
            <a:ext cx="54864" cy="58521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3" name="Text 31"/>
          <p:cNvSpPr/>
          <p:nvPr/>
        </p:nvSpPr>
        <p:spPr>
          <a:xfrm>
            <a:off x="4901184" y="3017520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3. ADR Committed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901184" y="3273552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ADR committed to /adr folder in the repo. Becomes part of the project’s persistent knowledge base.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773168" y="3621024"/>
            <a:ext cx="3931920" cy="58521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6" name="Shape 34"/>
          <p:cNvSpPr/>
          <p:nvPr/>
        </p:nvSpPr>
        <p:spPr>
          <a:xfrm>
            <a:off x="4773168" y="3621024"/>
            <a:ext cx="54864" cy="585216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7" name="Text 35"/>
          <p:cNvSpPr/>
          <p:nvPr/>
        </p:nvSpPr>
        <p:spPr>
          <a:xfrm>
            <a:off x="4901184" y="3675888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E6E"/>
                </a:solidFill>
              </a:rPr>
              <a:t>4. Agent Reads JIT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4901184" y="3931920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Future agents read relevant ADRs via just-in-time retrieval before making changes. Referenced in CLAUDE.md.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773168" y="4279392"/>
            <a:ext cx="3931920" cy="58521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40" name="Shape 38"/>
          <p:cNvSpPr/>
          <p:nvPr/>
        </p:nvSpPr>
        <p:spPr>
          <a:xfrm>
            <a:off x="4773168" y="4279392"/>
            <a:ext cx="54864" cy="585216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41" name="Text 39"/>
          <p:cNvSpPr/>
          <p:nvPr/>
        </p:nvSpPr>
        <p:spPr>
          <a:xfrm>
            <a:off x="4901184" y="4334256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096B0"/>
                </a:solidFill>
              </a:rPr>
              <a:t>5. ADR Updated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4901184" y="4590288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When decision changes, ADR is updated or superseded. Agents always see current architectural intent.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MODULE SCOPE  —  WHAT THIS MODULE COVERS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Both parts use the same vocabulary and review discipline. The difference is the blast radius.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0040" y="1115568"/>
            <a:ext cx="4160520" cy="3401568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15568"/>
            <a:ext cx="4160520" cy="475488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15568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PART 1 — Coding Agent Workflows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166420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8DB8"/>
                </a:solidFill>
              </a:rPr>
              <a:t>Reviewing your use of coding agents (Claude Code, Copilot) in the SDLC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75488" y="2011680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Agent-first design principles (P1–P6) govern how your team works today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" y="2450592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AX design thinking shapes your CLAUDE.md, folder structure, and tool schemas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5488" y="2889504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ADR practices capture decisions agents and engineers both need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5488" y="3328416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Lightweight checklist subset: items 01, 04, 05, 06, 07, 10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5488" y="3767328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Applies NOW — to your codebase, your workflows, your team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1115568"/>
            <a:ext cx="4160520" cy="3401568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63440" y="1115568"/>
            <a:ext cx="4160520" cy="475488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1115568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PART 2 — Production Agent Systems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754880" y="166420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8DB8"/>
                </a:solidFill>
              </a:rPr>
              <a:t>Designing agent systems your team ships as products (AWS Bedrock, Agent Core…)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754880" y="201168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Full 12-point checklist required before production deployment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54880" y="2450592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Security: identity, sandboxing, kill switches, audit trail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54880" y="2889504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Governance: HITL gates, compliance, data retention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754880" y="3328416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FinOps: cost-per-unit model, budget guardrails, routing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54880" y="3767328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Shadow mode rollout before full production traffic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4626864"/>
            <a:ext cx="8503920" cy="347472"/>
          </a:xfrm>
          <a:prstGeom prst="rect">
            <a:avLst/>
          </a:prstGeom>
          <a:solidFill>
            <a:srgbClr val="3A7DC9">
              <a:alpha val="82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320040" y="4626864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▶  Same vocabulary. Same review discipline. Different blast radius.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FULL 12-POINT CHECKLIST  —  PRODUCTION AGENT SYSTEMS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D4E4F0"/>
                </a:solidFill>
              </a:rPr>
              <a:t>Production agents: full 12 items required.  Coding agent workflows: use the lightweight subset — items 01, 04, 05, 06, 07, 10.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4206240" cy="347472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704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Context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9768" y="1591056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29768" y="1591056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7FA8"/>
                </a:solidFill>
              </a:rPr>
              <a:t>□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67512" y="1591056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CLAUDE.md ≤ 300 lines?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1792224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429768" y="1792224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7FA8"/>
                </a:solidFill>
              </a:rPr>
              <a:t>□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67512" y="179222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SPEC.md / DoD in repo?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9768" y="1993392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429768" y="199339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7FA8"/>
                </a:solidFill>
              </a:rPr>
              <a:t>□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7512" y="1993392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ADRs for all key decisions?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" y="2194560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429768" y="2194560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7FA8"/>
                </a:solidFill>
              </a:rPr>
              <a:t>□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67512" y="219456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Skills created for domain knowledge?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2468880"/>
            <a:ext cx="4206240" cy="34747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320040" y="24688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Architecture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29768" y="2889504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429768" y="2889504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DC9"/>
                </a:solidFill>
              </a:rPr>
              <a:t>□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67512" y="288950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Agent scope bounded?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29768" y="3090672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429768" y="309067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DC9"/>
                </a:solidFill>
              </a:rPr>
              <a:t>□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67512" y="3090672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Tools self-contained?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29768" y="3291840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429768" y="3291840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DC9"/>
                </a:solidFill>
              </a:rPr>
              <a:t>□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67512" y="329184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Subagent boundaries defined?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29768" y="3493008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429768" y="3493008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DC9"/>
                </a:solidFill>
              </a:rPr>
              <a:t>□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67512" y="3493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Rollback plan documented?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2004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20040" y="3767328"/>
            <a:ext cx="4206240" cy="347472"/>
          </a:xfrm>
          <a:prstGeom prst="rect">
            <a:avLst/>
          </a:prstGeom>
          <a:solidFill>
            <a:srgbClr val="5B8DB8">
              <a:alpha val="90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320040" y="37673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Agent Experience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29768" y="4187952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429768" y="418795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8DB8"/>
                </a:solidFill>
              </a:rPr>
              <a:t>□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67512" y="4187952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OpenAPI schemas available?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29768" y="4389120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429768" y="4389120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8DB8"/>
                </a:solidFill>
              </a:rPr>
              <a:t>□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67512" y="438912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llms.txt created?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29768" y="4590288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44" name="Text 42"/>
          <p:cNvSpPr/>
          <p:nvPr/>
        </p:nvSpPr>
        <p:spPr>
          <a:xfrm>
            <a:off x="429768" y="4590288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8DB8"/>
                </a:solidFill>
              </a:rPr>
              <a:t>□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67512" y="459028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MCP-compatible tools?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29768" y="4791456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429768" y="4791456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8DB8"/>
                </a:solidFill>
              </a:rPr>
              <a:t>□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67512" y="4791456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Types strongly defined?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470916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4709160" y="1170432"/>
            <a:ext cx="4206240" cy="347472"/>
          </a:xfrm>
          <a:prstGeom prst="rect">
            <a:avLst/>
          </a:prstGeom>
          <a:solidFill>
            <a:srgbClr val="E05555">
              <a:alpha val="90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4709160" y="11704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Security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4818888" y="1591056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53" name="Text 51"/>
          <p:cNvSpPr/>
          <p:nvPr/>
        </p:nvSpPr>
        <p:spPr>
          <a:xfrm>
            <a:off x="4818888" y="1591056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5555"/>
                </a:solidFill>
              </a:rPr>
              <a:t>□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056632" y="1591056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Unique agent identity?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4818888" y="1792224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56" name="Text 54"/>
          <p:cNvSpPr/>
          <p:nvPr/>
        </p:nvSpPr>
        <p:spPr>
          <a:xfrm>
            <a:off x="4818888" y="1792224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5555"/>
                </a:solidFill>
              </a:rPr>
              <a:t>□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056632" y="179222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Sandboxed execution?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4818888" y="1993392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4818888" y="199339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5555"/>
                </a:solidFill>
              </a:rPr>
              <a:t>□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056632" y="1993392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Kill switch tested?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818888" y="2194560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62" name="Text 60"/>
          <p:cNvSpPr/>
          <p:nvPr/>
        </p:nvSpPr>
        <p:spPr>
          <a:xfrm>
            <a:off x="4818888" y="2194560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5555"/>
                </a:solidFill>
              </a:rPr>
              <a:t>□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5056632" y="219456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Audit trail enabled?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470916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4709160" y="2468880"/>
            <a:ext cx="4206240" cy="347472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66" name="Text 64"/>
          <p:cNvSpPr/>
          <p:nvPr/>
        </p:nvSpPr>
        <p:spPr>
          <a:xfrm>
            <a:off x="4709160" y="24688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FinOps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4818888" y="2889504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68" name="Text 66"/>
          <p:cNvSpPr/>
          <p:nvPr/>
        </p:nvSpPr>
        <p:spPr>
          <a:xfrm>
            <a:off x="4818888" y="2889504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E6E"/>
                </a:solidFill>
              </a:rPr>
              <a:t>□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5056632" y="288950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Cost-per-unit modelled?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4818888" y="3090672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71" name="Text 69"/>
          <p:cNvSpPr/>
          <p:nvPr/>
        </p:nvSpPr>
        <p:spPr>
          <a:xfrm>
            <a:off x="4818888" y="309067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E6E"/>
                </a:solidFill>
              </a:rPr>
              <a:t>□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5056632" y="3090672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Model routing designed?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4818888" y="3291840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74" name="Text 72"/>
          <p:cNvSpPr/>
          <p:nvPr/>
        </p:nvSpPr>
        <p:spPr>
          <a:xfrm>
            <a:off x="4818888" y="3291840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E6E"/>
                </a:solidFill>
              </a:rPr>
              <a:t>□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5056632" y="329184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Budget guardrails set?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4818888" y="3493008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77" name="Text 75"/>
          <p:cNvSpPr/>
          <p:nvPr/>
        </p:nvSpPr>
        <p:spPr>
          <a:xfrm>
            <a:off x="4818888" y="3493008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E6E"/>
                </a:solidFill>
              </a:rPr>
              <a:t>□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5056632" y="3493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Cost alerts configured?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470916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4709160" y="3767328"/>
            <a:ext cx="4206240" cy="347472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81" name="Text 79"/>
          <p:cNvSpPr/>
          <p:nvPr/>
        </p:nvSpPr>
        <p:spPr>
          <a:xfrm>
            <a:off x="4709160" y="37673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Observability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4818888" y="4187952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83" name="Text 81"/>
          <p:cNvSpPr/>
          <p:nvPr/>
        </p:nvSpPr>
        <p:spPr>
          <a:xfrm>
            <a:off x="4818888" y="418795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6B0"/>
                </a:solidFill>
              </a:rPr>
              <a:t>□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5056632" y="4187952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OTel spans instrumented?</a:t>
            </a:r>
            <a:endParaRPr lang="en-US" sz="1050" dirty="0"/>
          </a:p>
        </p:txBody>
      </p:sp>
      <p:sp>
        <p:nvSpPr>
          <p:cNvPr id="85" name="Shape 83"/>
          <p:cNvSpPr/>
          <p:nvPr/>
        </p:nvSpPr>
        <p:spPr>
          <a:xfrm>
            <a:off x="4818888" y="4389120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86" name="Text 84"/>
          <p:cNvSpPr/>
          <p:nvPr/>
        </p:nvSpPr>
        <p:spPr>
          <a:xfrm>
            <a:off x="4818888" y="4389120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6B0"/>
                </a:solidFill>
              </a:rPr>
              <a:t>□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5056632" y="438912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Evaluation set defined?</a:t>
            </a:r>
            <a:endParaRPr lang="en-US" sz="1050" dirty="0"/>
          </a:p>
        </p:txBody>
      </p:sp>
      <p:sp>
        <p:nvSpPr>
          <p:cNvPr id="88" name="Shape 86"/>
          <p:cNvSpPr/>
          <p:nvPr/>
        </p:nvSpPr>
        <p:spPr>
          <a:xfrm>
            <a:off x="4818888" y="4590288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89" name="Text 87"/>
          <p:cNvSpPr/>
          <p:nvPr/>
        </p:nvSpPr>
        <p:spPr>
          <a:xfrm>
            <a:off x="4818888" y="4590288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6B0"/>
                </a:solidFill>
              </a:rPr>
              <a:t>□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5056632" y="459028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Drift detection alerts?</a:t>
            </a:r>
            <a:endParaRPr lang="en-US" sz="1050" dirty="0"/>
          </a:p>
        </p:txBody>
      </p:sp>
      <p:sp>
        <p:nvSpPr>
          <p:cNvPr id="91" name="Shape 89"/>
          <p:cNvSpPr/>
          <p:nvPr/>
        </p:nvSpPr>
        <p:spPr>
          <a:xfrm>
            <a:off x="4818888" y="4791456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92" name="Text 90"/>
          <p:cNvSpPr/>
          <p:nvPr/>
        </p:nvSpPr>
        <p:spPr>
          <a:xfrm>
            <a:off x="4818888" y="4791456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6B0"/>
                </a:solidFill>
              </a:rPr>
              <a:t>□</a:t>
            </a:r>
            <a:endParaRPr lang="en-US" sz="900" dirty="0"/>
          </a:p>
        </p:txBody>
      </p:sp>
      <p:sp>
        <p:nvSpPr>
          <p:cNvPr id="93" name="Text 91"/>
          <p:cNvSpPr/>
          <p:nvPr/>
        </p:nvSpPr>
        <p:spPr>
          <a:xfrm>
            <a:off x="5056632" y="4791456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MTTD target set?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COMMON DESIGN MISTAKES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These patterns appear in almost every first-generation enterprise agent deployment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02336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13816" y="1225296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Adding agents to human-first architecture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13816" y="1554480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inherits human-centric assumptions (session state, UI interactions, manual checkpoints) and fails unpredictably.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13816" y="1920240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Redesign the workflow for agents first. Human touchpoints are explicit HITL gates, not implicit assumptions.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468880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468880"/>
            <a:ext cx="402336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468880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3816" y="2523744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Tools with overlapping responsibilities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13816" y="2852928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gets confused about which tool to call. Calls multiple tools for the same task. Produces inconsistent results.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13816" y="3218688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One tool, one responsibility. If two tools share 50% of their purpose, merge or split them more radically.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3767328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767328"/>
            <a:ext cx="402336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767328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13816" y="3822192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Design without observability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13816" y="4151376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First production incident is untraceable. No spans, no logs, no evaluation baseline. Fix requires full observability retrofit.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13816" y="4517136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Observability is a design artifact, not an operational afterthought. Specify what to trace in the design doc.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63440" y="1170432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1170432"/>
            <a:ext cx="402336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663440" y="1170432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157216" y="1225296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 explicit agent permission model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157216" y="1554480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accumulates permissions organically as features are added. Audit reveals least-privilege was never applied.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57216" y="1920240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Define agent permissions as a table in the design doc. Review it in the security gate before writing any code.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63440" y="2468880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2468880"/>
            <a:ext cx="402336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0" y="2468880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157216" y="2523744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Context designed for humans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57216" y="2852928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Documentation is in HTML, changelogs are in unstructured text, APIs have no schemas. Agent hallucinates constantly.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157216" y="3218688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Treat agents as first-class API consumers. Design all interfaces for machine readability, not just human readability.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663440" y="3767328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663440" y="3767328"/>
            <a:ext cx="402336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4663440" y="3767328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157216" y="3822192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 rollback plan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157216" y="4151376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is deployed with no tested rollback mechanism. First serious incident causes extended outage.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157216" y="4517136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Rollback plan is a required section of every design doc. Test it in staging before production deployment.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PUTTING IT ALL TOGETHER  —  THE AGENTIC SDLC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All 10 modules as one integrated development lifecycle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2697480" cy="157276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2697480" cy="475488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7043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Design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801368" y="117043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4E4F0"/>
                </a:solidFill>
              </a:rPr>
              <a:t>Modules 1, 2, 10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" y="171907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Agent-first architecture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29768" y="19751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AX design (schemas, MCP, types)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29768" y="22311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Design review gate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9768" y="248716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ADRs documented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0" y="1170432"/>
            <a:ext cx="2697480" cy="157276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0" y="1170432"/>
            <a:ext cx="2697480" cy="475488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17043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Specify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681728" y="117043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4E4F0"/>
                </a:solidFill>
              </a:rPr>
              <a:t>Modules 3, 4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310128" y="171907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Context engineering (CLAUDE.md, Skills)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310128" y="19751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requirements.md + plan.md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310128" y="22311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SPEC.md + Acceptance Criteria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310128" y="248716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Non-goals stated explicitly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80760" y="1170432"/>
            <a:ext cx="2697480" cy="157276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080760" y="1170432"/>
            <a:ext cx="2697480" cy="475488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6080760" y="117043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Build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562088" y="117043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4E4F0"/>
                </a:solidFill>
              </a:rPr>
              <a:t>Modules 2, 5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190488" y="171907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Research → Plan → Implement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190488" y="19751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TDD with verifier loops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190488" y="22311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CI/CD integration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90488" y="248716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Agent self-correction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0040" y="2926080"/>
            <a:ext cx="2697480" cy="157276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20040" y="2926080"/>
            <a:ext cx="2697480" cy="475488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320040" y="292608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Govern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801368" y="292608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4E4F0"/>
                </a:solidFill>
              </a:rPr>
              <a:t>Modules 6, 7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29768" y="347472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HITL review cycles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29768" y="373075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Observability &amp; tracing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29768" y="398678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Evaluation baselines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29768" y="42428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Drift detection alerts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200400" y="2926080"/>
            <a:ext cx="2697480" cy="157276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200400" y="2926080"/>
            <a:ext cx="2697480" cy="475488"/>
          </a:xfrm>
          <a:prstGeom prst="rect">
            <a:avLst/>
          </a:prstGeom>
          <a:solidFill>
            <a:srgbClr val="D04040">
              <a:alpha val="90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3200400" y="292608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Secure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4681728" y="292608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4E4F0"/>
                </a:solidFill>
              </a:rPr>
              <a:t>Module 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310128" y="347472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Identity &amp; sandboxing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310128" y="373075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OWASP threat mitigation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3310128" y="398678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Kill switches tested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310128" y="42428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Audit trail live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080760" y="2926080"/>
            <a:ext cx="2697480" cy="157276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080760" y="2926080"/>
            <a:ext cx="2697480" cy="475488"/>
          </a:xfrm>
          <a:prstGeom prst="rect">
            <a:avLst/>
          </a:prstGeom>
          <a:solidFill>
            <a:srgbClr val="5B8DB8">
              <a:alpha val="90000"/>
            </a:srgbClr>
          </a:solidFill>
          <a:ln/>
        </p:spPr>
      </p:sp>
      <p:sp>
        <p:nvSpPr>
          <p:cNvPr id="46" name="Text 44"/>
          <p:cNvSpPr/>
          <p:nvPr/>
        </p:nvSpPr>
        <p:spPr>
          <a:xfrm>
            <a:off x="6080760" y="292608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Optimize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7562088" y="292608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4E4F0"/>
                </a:solidFill>
              </a:rPr>
              <a:t>Module 9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190488" y="347472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Cost-per-unit measured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190488" y="373075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Model routing deployed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190488" y="398678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Budget guardrails set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190488" y="42428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FinOps dashboard live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20040" y="48463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The agentic SDLC is not waterfall — it’s iterative and continuous. Each cycle tightens the spec, improves the context, and reduces the cost.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20040" cy="74980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WHAT GREAT LOOKS LIKE  ·  ENTERPRISE AGENTIC MATURITY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20116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2011680" cy="594360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Level 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Foundation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85623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Chat tools in use (Copilot, Claude.ai)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29768" y="258775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Developers prompting ad-hoc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29768" y="331927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No structured context or specs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29768" y="405079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No cost visibility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496312" y="1170432"/>
            <a:ext cx="20116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496312" y="1170432"/>
            <a:ext cx="2011680" cy="59436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4" name="Text 12"/>
          <p:cNvSpPr/>
          <p:nvPr/>
        </p:nvSpPr>
        <p:spPr>
          <a:xfrm>
            <a:off x="2496312" y="117043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Level 2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Structured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606040" y="185623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CLAUDE.md and Skills in repos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606040" y="258775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SDD workflow adopted by some teams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606040" y="331927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Basic cost tracking per team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606040" y="405079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First agent in CI pipeline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496312" y="4663440"/>
            <a:ext cx="2011680" cy="201168"/>
          </a:xfrm>
          <a:prstGeom prst="rect">
            <a:avLst/>
          </a:prstGeom>
          <a:solidFill>
            <a:srgbClr val="4A7FA8">
              <a:alpha val="3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2496312" y="46634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Most enterprises today ↑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672584" y="1170432"/>
            <a:ext cx="20116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72584" y="1170432"/>
            <a:ext cx="2011680" cy="59436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3" name="Text 21"/>
          <p:cNvSpPr/>
          <p:nvPr/>
        </p:nvSpPr>
        <p:spPr>
          <a:xfrm>
            <a:off x="4672584" y="117043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Level 3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Managed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782312" y="185623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Design reviews before agent deployment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782312" y="258775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Verifier loops and HITL gates standard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782312" y="331927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Cost-per-unit tracked for AI features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782312" y="405079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ADR process adopted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848856" y="1170432"/>
            <a:ext cx="20116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848856" y="1170432"/>
            <a:ext cx="2011680" cy="59436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0" name="Text 28"/>
          <p:cNvSpPr/>
          <p:nvPr/>
        </p:nvSpPr>
        <p:spPr>
          <a:xfrm>
            <a:off x="6848856" y="117043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Level 4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Optimized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958584" y="185623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Agents primary authors of code (Spotify model)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958584" y="258775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Full observability and drift detection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958584" y="331927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FinOps governance with routing and caching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958584" y="405079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Security audited quarterly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20040" y="4892040"/>
            <a:ext cx="8503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The goal of this training program: move your teams from Level 2 to Level 3 within 90 days, with a clear path to Level 4.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45 MINUTES  ·  CAPSTONE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3557"/>
                </a:solidFill>
              </a:rPr>
              <a:t>Run a Full Design Review (Production) or Apply the Lightweight Subset (Coding Agent Workflow)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" y="1316736"/>
            <a:ext cx="4023360" cy="274320"/>
          </a:xfrm>
          <a:prstGeom prst="rect">
            <a:avLst/>
          </a:prstGeom>
          <a:solidFill>
            <a:srgbClr val="4A7FA8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84048" y="1316736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Track A: Production agent system — run all 12 checklist items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480560" y="1316736"/>
            <a:ext cx="4343400" cy="274320"/>
          </a:xfrm>
          <a:prstGeom prst="rect">
            <a:avLst/>
          </a:prstGeom>
          <a:solidFill>
            <a:srgbClr val="3A7DC9">
              <a:alpha val="8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544568" y="131673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Track B: Coding agent workflow — items 01, 04, 05, 06, 07, 10 only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1682496"/>
            <a:ext cx="8503920" cy="603504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1682496"/>
            <a:ext cx="475488" cy="603504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1682496"/>
            <a:ext cx="4754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86968" y="171907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Finalise your architecture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355848" y="1719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(10 min)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86968" y="1993392"/>
            <a:ext cx="7818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Draw the complete system: orchestrator/subagents, tools, memory, context sources, HITL gates, kill switch, budget model. For coding-agent track: map your CLAUDE.md, skills, verifier loop, and HITL points.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" y="2359152"/>
            <a:ext cx="8503920" cy="603504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" y="2359152"/>
            <a:ext cx="475488" cy="603504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" y="2359152"/>
            <a:ext cx="4754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86968" y="239572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Run the checklist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355848" y="239572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(12 min)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86968" y="2670048"/>
            <a:ext cx="7818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Work through every applicable checklist item: ✓ Pass, ⚠ Partial, ✗ Gap. Document every gap with an owner and timeline. Production track: all 12. Coding-agent track: items 01, 04, 05, 06, 07, 10.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0040" y="3035808"/>
            <a:ext cx="8503920" cy="603504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3035808"/>
            <a:ext cx="475488" cy="603504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3" name="Text 21"/>
          <p:cNvSpPr/>
          <p:nvPr/>
        </p:nvSpPr>
        <p:spPr>
          <a:xfrm>
            <a:off x="320040" y="3035808"/>
            <a:ext cx="4754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86968" y="307238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Write one ADR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355848" y="30723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86968" y="3346704"/>
            <a:ext cx="7818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Identify the single most important architectural decision in your system. Write a full ADR: Context, Decision, Consequences. It must be specific, consequential, and irreversible. Swap with a neighbour.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20040" y="3712464"/>
            <a:ext cx="8503920" cy="603504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20040" y="3712464"/>
            <a:ext cx="475488" cy="603504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9" name="Text 27"/>
          <p:cNvSpPr/>
          <p:nvPr/>
        </p:nvSpPr>
        <p:spPr>
          <a:xfrm>
            <a:off x="320040" y="3712464"/>
            <a:ext cx="4754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886968" y="374904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Threat model + FinOps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3355848" y="374904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86968" y="4023360"/>
            <a:ext cx="7818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Identify your top 3 OWASP threats with mitigations and owners. Estimate $/day at 1,000 runs. Identify the highest-ROI cost optimization lever. (Coding-agent track: estimate cost-per-session and set a budget cap.)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20040" y="4389120"/>
            <a:ext cx="8503920" cy="603504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0040" y="4389120"/>
            <a:ext cx="475488" cy="603504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5" name="Text 33"/>
          <p:cNvSpPr/>
          <p:nvPr/>
        </p:nvSpPr>
        <p:spPr>
          <a:xfrm>
            <a:off x="320040" y="4389120"/>
            <a:ext cx="4754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5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886968" y="442569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Present to peer review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3355848" y="442569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86968" y="4700016"/>
            <a:ext cx="7818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10-minute presentation. Panel plays enterprise architecture review board. Focus questions: security gaps, cost model, and what happens when the agent fails.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PROGRAM WRAP-UP  ·  MODULE 10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502920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solidFill>
            <a:srgbClr val="5B8DB8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10-MODULE JOURNEY RECAP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M01: Chat vs. Agents — the autonomy spectrum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M02: Core Concepts — tools, memory, MCP, 12-Factor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M03: Context Engineering — CLAUDE.md, Skills, strategies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M04: Product Documentation — rules files, PRODUCT.md, ADRs, README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M05: Automated Testing — TDD, coverage ≥85%, AC-to-test pipeline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M06: Spec-Driven Development — PRD → Spec → Plan → 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M07: Review Cycles — HITL, verifiers, evaluators, feedback loops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M08: Review Hygiene — HITL tiers, ADRs, improvement loop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M09: Observability — logs, metrics, traces, events, health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M10: Design Reviews — design principles, security &amp; FinOps review, 12-point checklist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532120" y="749808"/>
            <a:ext cx="329184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YOUR 90-DAY PLAN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280160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Week 1–2: Deploy CLAUDE.md + Skills for your team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Week 3–4: Run SDD for your next sprint feature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Week 5–6: Add verifier loop to one CI pipeline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Week 7–8: Instrument one agent with OTel tracing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Week 9–10: Run first formal design review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Week 11–12: FinOps dashboard live, cost-per-unit tracked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solidFill>
            <a:srgbClr val="3A7E6E">
              <a:alpha val="85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✅  Program Complete  ·  Enterprise Agentic Practices  ·  10 Modules  ·  Delivered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10: Design Reviews</dc:title>
  <dc:subject>PptxGenJS Presentation</dc:subject>
  <dc:creator>PptxGenJS</dc:creator>
  <cp:lastModifiedBy>PptxGenJS</cp:lastModifiedBy>
  <cp:revision>1</cp:revision>
  <dcterms:created xsi:type="dcterms:W3CDTF">2026-04-08T00:08:27Z</dcterms:created>
  <dcterms:modified xsi:type="dcterms:W3CDTF">2026-04-08T00:08:27Z</dcterms:modified>
</cp:coreProperties>
</file>