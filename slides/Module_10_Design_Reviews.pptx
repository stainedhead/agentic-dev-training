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21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Design Reviews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for Agentic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Systems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Designing for Agent Experience (AX) before writing a single line of code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solidFill>
            <a:srgbClr val="8096B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Architecture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Decision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solidFill>
            <a:srgbClr val="4A7FA8">
              <a:alpha val="9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AX Design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solidFill>
            <a:srgbClr val="3A7DC9">
              <a:alpha val="8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Security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solidFill>
            <a:srgbClr val="3A7E6E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FinOps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solidFill>
            <a:srgbClr val="2E5073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Deploy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Approval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Agent-First Design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the core principles of designing systems where agents are the primary actors, not afterthoughts added to human-first architectures.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for AX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Agent Experience (AX) design patterns: clean interfaces, parseable schemas, MCP-compatible tool definitions, and llms.txt documentation.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Effective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Create Architecture Decision Records that capture decisions, context, and consequences in a format agents can consume as just-in-time context.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Facilitate a structured pre-deployment design review covering architecture, security, FinOps, and Agent Experience dimensions.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AGENT-FIRST DESIGN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Speed of AI-generated code makes design discipline MORE important, not less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Reduced flexibility = predictability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Spotify’s most important design decision: intentionally limit what the agent can do. Tightly scoped agents are predictable agents. Flexibility is an enemy of reliability at scale.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Infrastructure outside the 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Slack comms, git push, prompt authoring, logging — all happen in surrounding infrastructure. The agent touches only its designated domain. This contains blast radius and improves security.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Every tool must justify its existence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Self-contained, non-overlapping, purpose-specific. If you can’t explain in one sentence what a tool does and when it’s called, don’t build it yet. Tool proliferation creates chaos.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4807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Folder structure IS context engineering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4807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you organise the project communicates intent to the agent. CLAUDE.md at root, specs in /specs, ADRs in /adr, agent docs in /agent_docs. Structure first, then prompt.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Design for Agent Experience (AX)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Just as you design APIs for Developer Experience (DX), design your system for Agent Experience. OpenAPI schemas, llms.txt, MCP-compatible interfaces, parseable formats.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4807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Observability before deployment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Instrument first. If you can’t observe it, you can’t debug it. Tracing, logging, and evaluation must be designed in from day one — retrofitting is extremely expensive.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FOR AGENT EXPERIENCE  (AX)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Just as we design APIs for Developer Experience (DX), design your system for the agents that will use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783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OpenAPI schemas for every API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Agents handle OpenAPI schemas reliably. They can validate parameters, understand response shapes, and auto-generate correct API calls from a spec. No schema = hallucinated calls.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Provide machine-readable OpenAPI/JSON Schema for every API the agent will consume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infer API contracts from prose documentation or examples alone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70432"/>
            <a:ext cx="54864" cy="1783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llms.txt for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llms.txt is an emerging standard (like robots.txt) that summarises what an LLM needs to know about a site or service in a compact, LLM-optimised format.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97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Add llms.txt to your services. Keep it current. Reference it in agent skills.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parse full HTML docs, changelogs, or wiki pages for context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08960"/>
            <a:ext cx="54864" cy="1783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MCP-compatible tool definitions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Tools built to the MCP spec work across Claude, Cursor, Copilot, and any compliant agent. Build once, integrate everywhere. Non-MCP tools are single-platform dead ends.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63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Define tools with MCP schemas: name, description, input schema, output shape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Write bespoke tool integrations per agent platform or per agent version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108960"/>
            <a:ext cx="54864" cy="1783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Explicit type definitions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Strongly-typed interfaces reduce hallucinations dramatically. Agents that see exact types produce correct outputs. Loose or missing types produce creative but wrong outputs.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97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Use TypeScript types, Pydantic models, or JSON Schema for all inputs/outputs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97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Use Dict[str, Any] or untyped JSON blobs as agent I/O interfaces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 (ADRs)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captures ADRs from Slack threads via agents  —  architecture reasoning as continuous, machine-readable context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WHY AGENTS NEED ADRs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making code changes need architectural context to avoid breaking invariants. Without ADRs, agents “remember” nothing from the last design session and will confidently re-introduce rejected patterns.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487168"/>
            <a:ext cx="4160520" cy="24323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TEMPLATE (adr/NNN-title.md)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28986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ADR-NNN: [Title]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Status: [Proposed | Accepted | Deprecated]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4107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36667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problem are we solving? What constraints exist?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9227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Decision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41788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did we decide to do?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44348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Consequences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" y="4690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changes? What are the tradeoffs?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LIFECYCLE IN AN AGENTIC TEAM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73168" y="1645920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1645920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17007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1. Decision Arises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01184" y="19568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Design discussion happens in Slack, PR, or architecture meeting. A significant architectural choice is made.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3168" y="2304288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Shape 26"/>
          <p:cNvSpPr/>
          <p:nvPr/>
        </p:nvSpPr>
        <p:spPr>
          <a:xfrm>
            <a:off x="4773168" y="2304288"/>
            <a:ext cx="54864" cy="58521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4901184" y="23591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7FA8"/>
                </a:solidFill>
              </a:rPr>
              <a:t>2. ADR Captured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01184" y="26151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Human or agent writes ADR from conversation. Spotify: agents extract ADRs from Slack threads automatically.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73168" y="2962656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2962656"/>
            <a:ext cx="54864" cy="58521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01184" y="30175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3. ADR Committed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01184" y="32735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ADR committed to /adr folder in the repo. Becomes part of the project’s persistent knowledge base.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3621024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3621024"/>
            <a:ext cx="54864" cy="585216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01184" y="36758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E6E"/>
                </a:solidFill>
              </a:rPr>
              <a:t>4. Agent Reads JIT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01184" y="39319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Future agents read relevant ADRs via just-in-time retrieval before making changes. Referenced in CLAUDE.md.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73168" y="4279392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4279392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1" name="Text 39"/>
          <p:cNvSpPr/>
          <p:nvPr/>
        </p:nvSpPr>
        <p:spPr>
          <a:xfrm>
            <a:off x="4901184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5. ADR Updated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901184" y="45902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When decision changes, ADR is updated or superseded. Agents always see current architectural intent.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DESIGN REVIEW FRAMEWORK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Four dimensions to review before every production agent deployment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43891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117043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" y="1682496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429768" y="168249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" y="168249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agent scope clearly bounded?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" y="1938528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" y="193852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22376" y="19385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infrastructure outside the agent boundary?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" y="2194560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429768" y="219456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22376" y="219456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tools self-contained and non-overlapping?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29768" y="2450592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429768" y="24505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22376" y="245059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folder/file structure communicating intent?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29768" y="2706624"/>
            <a:ext cx="219456" cy="201168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22" name="Text 19"/>
          <p:cNvSpPr/>
          <p:nvPr/>
        </p:nvSpPr>
        <p:spPr>
          <a:xfrm>
            <a:off x="429768" y="270662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□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22376" y="270662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subagent boundaries defined?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663440" y="117043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63440" y="1170432"/>
            <a:ext cx="4160520" cy="43891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61872"/>
            <a:ext cx="256032" cy="25603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120640" y="117043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Agent Experience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773168" y="1682496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9" name="Text 25"/>
          <p:cNvSpPr/>
          <p:nvPr/>
        </p:nvSpPr>
        <p:spPr>
          <a:xfrm>
            <a:off x="4773168" y="168249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065776" y="168249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all APIs exposed as OpenAPI schemas?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4773168" y="1938528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2" name="Text 28"/>
          <p:cNvSpPr/>
          <p:nvPr/>
        </p:nvSpPr>
        <p:spPr>
          <a:xfrm>
            <a:off x="4773168" y="193852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5065776" y="19385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llms.txt created for this service?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773168" y="2194560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5" name="Text 31"/>
          <p:cNvSpPr/>
          <p:nvPr/>
        </p:nvSpPr>
        <p:spPr>
          <a:xfrm>
            <a:off x="4773168" y="219456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5065776" y="219456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tool definitions MCP-compatible?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773168" y="2450592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4773168" y="24505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5065776" y="245059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all I/O types strongly typed?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773168" y="2706624"/>
            <a:ext cx="219456" cy="201168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1" name="Text 37"/>
          <p:cNvSpPr/>
          <p:nvPr/>
        </p:nvSpPr>
        <p:spPr>
          <a:xfrm>
            <a:off x="4773168" y="270662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7FA8"/>
                </a:solidFill>
              </a:rPr>
              <a:t>□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5065776" y="270662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CLAUDE.md &lt;300 lines, universal rules only?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320040" y="309067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320040" y="3090672"/>
            <a:ext cx="4160520" cy="43891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82112"/>
            <a:ext cx="256032" cy="256032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777240" y="309067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429768" y="3602736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8" name="Text 43"/>
          <p:cNvSpPr/>
          <p:nvPr/>
        </p:nvSpPr>
        <p:spPr>
          <a:xfrm>
            <a:off x="429768" y="360273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49" name="Text 44"/>
          <p:cNvSpPr/>
          <p:nvPr/>
        </p:nvSpPr>
        <p:spPr>
          <a:xfrm>
            <a:off x="722376" y="360273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agent identity defined (not shared creds)?</a:t>
            </a:r>
            <a:endParaRPr lang="en-US" sz="1050" dirty="0"/>
          </a:p>
        </p:txBody>
      </p:sp>
      <p:sp>
        <p:nvSpPr>
          <p:cNvPr id="50" name="Shape 45"/>
          <p:cNvSpPr/>
          <p:nvPr/>
        </p:nvSpPr>
        <p:spPr>
          <a:xfrm>
            <a:off x="429768" y="3858768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1" name="Text 46"/>
          <p:cNvSpPr/>
          <p:nvPr/>
        </p:nvSpPr>
        <p:spPr>
          <a:xfrm>
            <a:off x="429768" y="38587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722376" y="385876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sandboxing designed (container, egress)?</a:t>
            </a:r>
            <a:endParaRPr lang="en-US" sz="1050" dirty="0"/>
          </a:p>
        </p:txBody>
      </p:sp>
      <p:sp>
        <p:nvSpPr>
          <p:cNvPr id="53" name="Shape 48"/>
          <p:cNvSpPr/>
          <p:nvPr/>
        </p:nvSpPr>
        <p:spPr>
          <a:xfrm>
            <a:off x="429768" y="4114800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4" name="Text 49"/>
          <p:cNvSpPr/>
          <p:nvPr/>
        </p:nvSpPr>
        <p:spPr>
          <a:xfrm>
            <a:off x="429768" y="4114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5" name="Text 50"/>
          <p:cNvSpPr/>
          <p:nvPr/>
        </p:nvSpPr>
        <p:spPr>
          <a:xfrm>
            <a:off x="722376" y="411480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HITL gates placed at irreversible actions?</a:t>
            </a:r>
            <a:endParaRPr lang="en-US" sz="1050" dirty="0"/>
          </a:p>
        </p:txBody>
      </p:sp>
      <p:sp>
        <p:nvSpPr>
          <p:cNvPr id="56" name="Shape 51"/>
          <p:cNvSpPr/>
          <p:nvPr/>
        </p:nvSpPr>
        <p:spPr>
          <a:xfrm>
            <a:off x="429768" y="4370832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2"/>
          <p:cNvSpPr/>
          <p:nvPr/>
        </p:nvSpPr>
        <p:spPr>
          <a:xfrm>
            <a:off x="429768" y="4370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58" name="Text 53"/>
          <p:cNvSpPr/>
          <p:nvPr/>
        </p:nvSpPr>
        <p:spPr>
          <a:xfrm>
            <a:off x="722376" y="437083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kill switch mechanism defined and tested?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429768" y="4626864"/>
            <a:ext cx="219456" cy="201168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60" name="Text 55"/>
          <p:cNvSpPr/>
          <p:nvPr/>
        </p:nvSpPr>
        <p:spPr>
          <a:xfrm>
            <a:off x="429768" y="46268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DC9"/>
                </a:solidFill>
              </a:rPr>
              <a:t>□</a:t>
            </a:r>
            <a:endParaRPr lang="en-US" sz="1000" dirty="0"/>
          </a:p>
        </p:txBody>
      </p:sp>
      <p:sp>
        <p:nvSpPr>
          <p:cNvPr id="61" name="Text 56"/>
          <p:cNvSpPr/>
          <p:nvPr/>
        </p:nvSpPr>
        <p:spPr>
          <a:xfrm>
            <a:off x="722376" y="462686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audit trail instrumented?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4663440" y="3090672"/>
            <a:ext cx="4160520" cy="1773936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3" name="Shape 58"/>
          <p:cNvSpPr/>
          <p:nvPr/>
        </p:nvSpPr>
        <p:spPr>
          <a:xfrm>
            <a:off x="4663440" y="3090672"/>
            <a:ext cx="4160520" cy="43891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3182112"/>
            <a:ext cx="256032" cy="256032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5120640" y="3090672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</a:t>
            </a:r>
            <a:endParaRPr lang="en-US" sz="1400" dirty="0"/>
          </a:p>
        </p:txBody>
      </p:sp>
      <p:sp>
        <p:nvSpPr>
          <p:cNvPr id="66" name="Shape 60"/>
          <p:cNvSpPr/>
          <p:nvPr/>
        </p:nvSpPr>
        <p:spPr>
          <a:xfrm>
            <a:off x="4773168" y="3602736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67" name="Text 61"/>
          <p:cNvSpPr/>
          <p:nvPr/>
        </p:nvSpPr>
        <p:spPr>
          <a:xfrm>
            <a:off x="4773168" y="360273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68" name="Text 62"/>
          <p:cNvSpPr/>
          <p:nvPr/>
        </p:nvSpPr>
        <p:spPr>
          <a:xfrm>
            <a:off x="5065776" y="3602736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cost-per-unit-of-work modelled?</a:t>
            </a:r>
            <a:endParaRPr lang="en-US" sz="1050" dirty="0"/>
          </a:p>
        </p:txBody>
      </p:sp>
      <p:sp>
        <p:nvSpPr>
          <p:cNvPr id="69" name="Shape 63"/>
          <p:cNvSpPr/>
          <p:nvPr/>
        </p:nvSpPr>
        <p:spPr>
          <a:xfrm>
            <a:off x="4773168" y="3858768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0" name="Text 64"/>
          <p:cNvSpPr/>
          <p:nvPr/>
        </p:nvSpPr>
        <p:spPr>
          <a:xfrm>
            <a:off x="4773168" y="38587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1" name="Text 65"/>
          <p:cNvSpPr/>
          <p:nvPr/>
        </p:nvSpPr>
        <p:spPr>
          <a:xfrm>
            <a:off x="5065776" y="385876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Is model routing designed (not one model for all)?</a:t>
            </a:r>
            <a:endParaRPr lang="en-US" sz="1050" dirty="0"/>
          </a:p>
        </p:txBody>
      </p:sp>
      <p:sp>
        <p:nvSpPr>
          <p:cNvPr id="72" name="Shape 66"/>
          <p:cNvSpPr/>
          <p:nvPr/>
        </p:nvSpPr>
        <p:spPr>
          <a:xfrm>
            <a:off x="4773168" y="4114800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3" name="Text 67"/>
          <p:cNvSpPr/>
          <p:nvPr/>
        </p:nvSpPr>
        <p:spPr>
          <a:xfrm>
            <a:off x="4773168" y="4114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4" name="Text 68"/>
          <p:cNvSpPr/>
          <p:nvPr/>
        </p:nvSpPr>
        <p:spPr>
          <a:xfrm>
            <a:off x="5065776" y="4114800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compaction thresholds defined?</a:t>
            </a:r>
            <a:endParaRPr lang="en-US" sz="1050" dirty="0"/>
          </a:p>
        </p:txBody>
      </p:sp>
      <p:sp>
        <p:nvSpPr>
          <p:cNvPr id="75" name="Shape 69"/>
          <p:cNvSpPr/>
          <p:nvPr/>
        </p:nvSpPr>
        <p:spPr>
          <a:xfrm>
            <a:off x="4773168" y="4370832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6" name="Text 70"/>
          <p:cNvSpPr/>
          <p:nvPr/>
        </p:nvSpPr>
        <p:spPr>
          <a:xfrm>
            <a:off x="4773168" y="437083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77" name="Text 71"/>
          <p:cNvSpPr/>
          <p:nvPr/>
        </p:nvSpPr>
        <p:spPr>
          <a:xfrm>
            <a:off x="5065776" y="4370832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token budget limits set at gateway?</a:t>
            </a:r>
            <a:endParaRPr lang="en-US" sz="1050" dirty="0"/>
          </a:p>
        </p:txBody>
      </p:sp>
      <p:sp>
        <p:nvSpPr>
          <p:cNvPr id="78" name="Shape 72"/>
          <p:cNvSpPr/>
          <p:nvPr/>
        </p:nvSpPr>
        <p:spPr>
          <a:xfrm>
            <a:off x="4773168" y="4626864"/>
            <a:ext cx="219456" cy="201168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79" name="Text 73"/>
          <p:cNvSpPr/>
          <p:nvPr/>
        </p:nvSpPr>
        <p:spPr>
          <a:xfrm>
            <a:off x="4773168" y="462686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□</a:t>
            </a:r>
            <a:endParaRPr lang="en-US" sz="1000" dirty="0"/>
          </a:p>
        </p:txBody>
      </p:sp>
      <p:sp>
        <p:nvSpPr>
          <p:cNvPr id="80" name="Text 74"/>
          <p:cNvSpPr/>
          <p:nvPr/>
        </p:nvSpPr>
        <p:spPr>
          <a:xfrm>
            <a:off x="5065776" y="4626864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Are cost alerts and throttle thresholds configured?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PRE-DEPLOYMENT DESIGN REVIEW  —  FULL CHECKLIST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This is the complete gate. Every unchecked item is a known gap entering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751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CLAUDE.md ≤ 300 lines?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SPEC.md / DoD in repo?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751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ADRs for all key decisions?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Skills created for domain knowledge?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751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scope bounded?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Tools self-contained?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751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Subagent boundaries defined?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Rollback plan documented?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Agent Experience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751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OpenAPI schemas available?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751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llms.txt created?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MCP-compatible tools?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751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strongly defined?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E05555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Security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5663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Unique agent identity?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5663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Sandboxed execution?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5663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Kill switch tested?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5663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Audit trail enabled?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FinOps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05663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Cost-per-unit modelled?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5663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routing designed?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505663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guardrails set?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05663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alerts configured?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Observability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3" name="Text 81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05663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OTel spans instrumented?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05663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Evaluation set defined?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05663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Drift detection alerts?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505663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MTTD target set?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COMMON DESIGN MISTAKES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appear in almost every first-generation enterprise agent deployment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Adding agents to human-first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inherits human-centric assumptions (session state, UI interactions, manual checkpoints) and fails unpredictably.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138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Redesign the workflow for agents first. Human touchpoints are explicit HITL gates, not implicit assumptions.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Tools with overlapping responsibilities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confused about which tool to call. Calls multiple tools for the same task. Produces inconsistent results.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138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One tool, one responsibility. If two tools share 50% of their purpose, merge or split them more radically.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Design without observability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38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First production incident is untraceable. No spans, no logs, no evaluation baseline. Fix requires full observability retrofit.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Observability is a design artefact, not an operational afterthought. Specify what to trace in the design doc.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explicit agent permission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572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accumulates permissions organically as features are added. Audit reveals least-privilege was never applied.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572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agent permissions as a table in the design doc. Review it in the security gate before writing any code.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designed for humans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572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Documentation is in HTML, changelogs are in unstructured text, APIs have no schemas. Agent hallucinates constantly.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572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Treat agents as first-class API consumers. Design all interfaces for machine readability, not just human readability.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rollback plan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572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is deployed with no tested rollback mechanism. First serious incident causes extended outage.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Rollback plan is a required section of every design doc. Test it in staging before production deployment.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PUTTING IT ALL TOGETHER  —  THE AGENTIC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All 10 modules as one integrated development lifecycle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0136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1, 2, 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Agent-first architecture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AX design (schemas, MCP, types)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Design review gate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ADRs documented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Specify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8172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3,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Context engineering (CLAUDE.md, Skills)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012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requirements.md + plan.md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SPEC.md + Acceptance Criteria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Non-goals stated explicitly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Build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6208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2, 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9048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Research → Plan → Implement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TDD with verifier loops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9048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CI/CD integration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9048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 self-correction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2926080"/>
            <a:ext cx="2697480" cy="47548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80136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6, 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976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HITL review cycles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976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Observability &amp; tracing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976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Evaluation baselines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976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Drift detection alerts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0" y="2926080"/>
            <a:ext cx="2697480" cy="475488"/>
          </a:xfrm>
          <a:prstGeom prst="rect">
            <a:avLst/>
          </a:prstGeom>
          <a:solidFill>
            <a:srgbClr val="D04040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Secure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68172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1012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Identity &amp; sandboxing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012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OWASP threat mitigation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31012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Kill switches tested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31012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Audit trail live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8076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80760" y="2926080"/>
            <a:ext cx="2697480" cy="47548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08076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56208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048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Cost-per-unit measured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9048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Model routing deployed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9048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Budget guardrails set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9048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FinOps dashboard live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The agentic SDLC is not waterfall — it’s iterative and continuous. Each cycle tightens the spec, improves the context, and reduces the cost.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WHAT GREAT LOOKS LIKE  ·  ENTERPRISE AGENTIC MATURITY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Chat tools in use (Copilot, Claude.ai)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9768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Developers prompting ad-hoc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structured context or specs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cost visibility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Structured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06040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CLAUDE.md and Skills in repos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06040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SDD workflow adopted by some teams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06040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Basic cost tracking per team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First agent in CI pipeline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solidFill>
            <a:srgbClr val="4A7FA8">
              <a:alpha val="3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Most enterprises today ↑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Managed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82312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Design reviews before agent deployment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82312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 loops and HITL gates standard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82312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Cost-per-unit tracked for AI features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82312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ADR process adopted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Optimised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58584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Agents primary authors of code (Spotify model)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58584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Full observability and drift detection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58584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FinOps governance with routing and caching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58584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audited quarterly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goal of this training programme: move your teams from Level 2 to Level 3 within 90 days, with a clear path to Level 4.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Run a Design Review for Your Agent Workflow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Rate your current maturity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810512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Use the maturity model on slide 10. Where is your team today across each of the four dimensions: Architecture, AX, Security, FinOps? Be honest.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33172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(15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97480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Use the slide 7 checklist for the agent workflow you’ve designed in this programme. Work through all 24 questions. Identify every unchecked box. Group: which gaps are blockers vs nice-to-have?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Write one ADR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72968" y="32186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84448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Identify the most significant architectural decision in your agent design. Write a 1-page ADR using the template: Context, Decision, Consequences. Swap with a neighbour: could an agent use this to understand what NOT to change?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AX audit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172968" y="41056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71416"/>
            <a:ext cx="7818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your agent’s primary tool or API: does it have an OpenAPI schema? A type definition? An MCP-compatible interface? If not, sketch what it would look like. What would change in the agent’s reliability?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PROGRAMME WRAP-UP  ·  MODULE 10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10-MODULE JOURNEY RECAP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M01: Chat vs. Agents — the autonomy spectrum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M02: Core Concepts — tools, memory, MCP, 12-Factor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M03: Context Engineering — CLAUDE.md, Skills, strategies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M04: Spec-Driven Development — PRD → Spec → Plan →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M05: Testing &amp; CI/CD — verifiers, judges, feedback loops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M06: Review Cycles — HITL, hygiene, continuous improvement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M07: Observability — tracing, logging, evaluation,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M08: Security — identity, sandboxing, OWASP, kill switches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M09: FinOps — token economics, routing, governance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M10: Design Reviews — AX, ADRs, maturity model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YOUR 90-DAY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1–2: Deploy CLAUDE.md + Skills for your team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3–4: Run SDD for your next sprint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5–6: Add verifier loop to one CI pipeline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7–8: Instrument one agent with OTel tracing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9–10: Run first formal design review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11–12: FinOps dashboard live, cost-per-unit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Programme Complete  ·  Enterprise Agentic Practices  ·  10 Modules  ·  Delivered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Design Reviews</dc:title>
  <dc:subject>PptxGenJS Presentation</dc:subject>
  <dc:creator>PptxGenJS</dc:creator>
  <cp:lastModifiedBy>PptxGenJS</cp:lastModifiedBy>
  <cp:revision>1</cp:revision>
  <dcterms:created xsi:type="dcterms:W3CDTF">2026-04-05T19:46:33Z</dcterms:created>
  <dcterms:modified xsi:type="dcterms:W3CDTF">2026-04-05T19:46:33Z</dcterms:modified>
</cp:coreProperties>
</file>