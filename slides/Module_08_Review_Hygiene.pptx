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3557"/>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3A7DC9"/>
          </a:solidFill>
          <a:ln/>
        </p:spPr>
      </p:sp>
      <p:sp>
        <p:nvSpPr>
          <p:cNvPr id="3" name="Text 1"/>
          <p:cNvSpPr/>
          <p:nvPr/>
        </p:nvSpPr>
        <p:spPr>
          <a:xfrm>
            <a:off x="365760" y="292608"/>
            <a:ext cx="8412480" cy="320040"/>
          </a:xfrm>
          <a:prstGeom prst="rect">
            <a:avLst/>
          </a:prstGeom>
          <a:noFill/>
          <a:ln/>
        </p:spPr>
        <p:txBody>
          <a:bodyPr wrap="square" lIns="0" tIns="0" rIns="0" bIns="0" rtlCol="0" anchor="ctr"/>
          <a:lstStyle/>
          <a:p>
            <a:pPr indent="0" marL="0">
              <a:buNone/>
            </a:pPr>
            <a:r>
              <a:rPr lang="en-US" sz="1000" b="1" spc="400" kern="0" dirty="0">
                <a:solidFill>
                  <a:srgbClr val="5B8DB8"/>
                </a:solidFill>
              </a:rPr>
              <a:t>ENTERPRISE AGENTIC PRACTICES</a:t>
            </a:r>
            <a:endParaRPr lang="en-US" sz="1000" dirty="0"/>
          </a:p>
        </p:txBody>
      </p:sp>
      <p:sp>
        <p:nvSpPr>
          <p:cNvPr id="4" name="Shape 2"/>
          <p:cNvSpPr/>
          <p:nvPr/>
        </p:nvSpPr>
        <p:spPr>
          <a:xfrm>
            <a:off x="365760" y="749808"/>
            <a:ext cx="1371600" cy="347472"/>
          </a:xfrm>
          <a:prstGeom prst="rect">
            <a:avLst/>
          </a:prstGeom>
          <a:solidFill>
            <a:srgbClr val="3A7DC9"/>
          </a:solidFill>
          <a:ln/>
        </p:spPr>
      </p:sp>
      <p:sp>
        <p:nvSpPr>
          <p:cNvPr id="5" name="Text 3"/>
          <p:cNvSpPr/>
          <p:nvPr/>
        </p:nvSpPr>
        <p:spPr>
          <a:xfrm>
            <a:off x="365760" y="749808"/>
            <a:ext cx="1371600" cy="347472"/>
          </a:xfrm>
          <a:prstGeom prst="rect">
            <a:avLst/>
          </a:prstGeom>
          <a:noFill/>
          <a:ln/>
        </p:spPr>
        <p:txBody>
          <a:bodyPr wrap="square" lIns="0" tIns="0" rIns="0" bIns="0" rtlCol="0" anchor="ctr"/>
          <a:lstStyle/>
          <a:p>
            <a:pPr algn="ctr" indent="0" marL="0">
              <a:buNone/>
            </a:pPr>
            <a:r>
              <a:rPr lang="en-US" sz="1100" b="1" dirty="0">
                <a:solidFill>
                  <a:srgbClr val="FFFFFF"/>
                </a:solidFill>
              </a:rPr>
              <a:t>MODULE 08</a:t>
            </a:r>
            <a:endParaRPr lang="en-US" sz="1100" dirty="0"/>
          </a:p>
        </p:txBody>
      </p:sp>
      <p:sp>
        <p:nvSpPr>
          <p:cNvPr id="6" name="Text 4"/>
          <p:cNvSpPr/>
          <p:nvPr/>
        </p:nvSpPr>
        <p:spPr>
          <a:xfrm>
            <a:off x="365760" y="1115568"/>
            <a:ext cx="6400800" cy="2011680"/>
          </a:xfrm>
          <a:prstGeom prst="rect">
            <a:avLst/>
          </a:prstGeom>
          <a:noFill/>
          <a:ln/>
        </p:spPr>
        <p:txBody>
          <a:bodyPr wrap="square" lIns="0" tIns="0" rIns="0" bIns="0" rtlCol="0" anchor="ctr"/>
          <a:lstStyle/>
          <a:p>
            <a:pPr indent="0" marL="0">
              <a:buNone/>
            </a:pPr>
            <a:r>
              <a:rPr lang="en-US" sz="4000" b="1" dirty="0">
                <a:solidFill>
                  <a:srgbClr val="FFFFFF"/>
                </a:solidFill>
              </a:rPr>
              <a:t>Review Hygiene &amp;</a:t>
            </a:r>
            <a:endParaRPr lang="en-US" sz="4000" dirty="0"/>
          </a:p>
          <a:p>
            <a:pPr indent="0" marL="0">
              <a:buNone/>
            </a:pPr>
            <a:r>
              <a:rPr lang="en-US" sz="4000" b="1" dirty="0">
                <a:solidFill>
                  <a:srgbClr val="FFFFFF"/>
                </a:solidFill>
              </a:rPr>
              <a:t>Continuous</a:t>
            </a:r>
            <a:endParaRPr lang="en-US" sz="4000" dirty="0"/>
          </a:p>
          <a:p>
            <a:pPr indent="0" marL="0">
              <a:buNone/>
            </a:pPr>
            <a:r>
              <a:rPr lang="en-US" sz="4000" b="1" dirty="0">
                <a:solidFill>
                  <a:srgbClr val="FFFFFF"/>
                </a:solidFill>
              </a:rPr>
              <a:t>Improvement</a:t>
            </a:r>
            <a:endParaRPr lang="en-US" sz="4000" dirty="0"/>
          </a:p>
        </p:txBody>
      </p:sp>
      <p:sp>
        <p:nvSpPr>
          <p:cNvPr id="7" name="Text 5"/>
          <p:cNvSpPr/>
          <p:nvPr/>
        </p:nvSpPr>
        <p:spPr>
          <a:xfrm>
            <a:off x="365760" y="3218688"/>
            <a:ext cx="6858000" cy="548640"/>
          </a:xfrm>
          <a:prstGeom prst="rect">
            <a:avLst/>
          </a:prstGeom>
          <a:noFill/>
          <a:ln/>
        </p:spPr>
        <p:txBody>
          <a:bodyPr wrap="square" lIns="0" tIns="0" rIns="0" bIns="0" rtlCol="0" anchor="ctr"/>
          <a:lstStyle/>
          <a:p>
            <a:pPr indent="0" marL="0">
              <a:buNone/>
            </a:pPr>
            <a:r>
              <a:rPr lang="en-US" sz="1400" i="1" dirty="0">
                <a:solidFill>
                  <a:srgbClr val="5B8DB8"/>
                </a:solidFill>
              </a:rPr>
              <a:t>HITL tier design, AI-generated PR review, living ADRs, and the improvement loop that keeps automation accurate</a:t>
            </a:r>
            <a:endParaRPr lang="en-US" sz="1400" dirty="0"/>
          </a:p>
        </p:txBody>
      </p:sp>
      <p:sp>
        <p:nvSpPr>
          <p:cNvPr id="8" name="Shape 6"/>
          <p:cNvSpPr/>
          <p:nvPr/>
        </p:nvSpPr>
        <p:spPr>
          <a:xfrm>
            <a:off x="365760" y="3840480"/>
            <a:ext cx="3200400" cy="36576"/>
          </a:xfrm>
          <a:prstGeom prst="rect">
            <a:avLst/>
          </a:prstGeom>
          <a:solidFill>
            <a:srgbClr val="3A7DC9"/>
          </a:solidFill>
          <a:ln/>
        </p:spPr>
      </p:sp>
      <p:sp>
        <p:nvSpPr>
          <p:cNvPr id="9" name="Text 7"/>
          <p:cNvSpPr/>
          <p:nvPr/>
        </p:nvSpPr>
        <p:spPr>
          <a:xfrm>
            <a:off x="365760" y="4005072"/>
            <a:ext cx="4572000" cy="347472"/>
          </a:xfrm>
          <a:prstGeom prst="rect">
            <a:avLst/>
          </a:prstGeom>
          <a:noFill/>
          <a:ln/>
        </p:spPr>
        <p:txBody>
          <a:bodyPr wrap="square" lIns="0" tIns="0" rIns="0" bIns="0" rtlCol="0" anchor="ctr"/>
          <a:lstStyle/>
          <a:p>
            <a:pPr indent="0" marL="0">
              <a:buNone/>
            </a:pPr>
            <a:r>
              <a:rPr lang="en-US" sz="1300" b="1" dirty="0">
                <a:solidFill>
                  <a:srgbClr val="7A90A8"/>
                </a:solidFill>
              </a:rPr>
              <a:t>Duration: </a:t>
            </a:r>
            <a:pPr indent="0" marL="0">
              <a:buNone/>
            </a:pPr>
            <a:r>
              <a:rPr lang="en-US" sz="1300" dirty="0">
                <a:solidFill>
                  <a:srgbClr val="7A90A8"/>
                </a:solidFill>
              </a:rPr>
              <a:t>75–90 min  </a:t>
            </a:r>
            <a:pPr indent="0" marL="0">
              <a:buNone/>
            </a:pPr>
            <a:r>
              <a:rPr lang="en-US" sz="1300" dirty="0">
                <a:solidFill>
                  <a:srgbClr val="7A90A8"/>
                </a:solidFill>
              </a:rPr>
              <a:t>  |  </a:t>
            </a:r>
            <a:pPr indent="0" marL="0">
              <a:buNone/>
            </a:pPr>
            <a:r>
              <a:rPr lang="en-US" sz="1300" b="1" dirty="0">
                <a:solidFill>
                  <a:srgbClr val="7A90A8"/>
                </a:solidFill>
              </a:rPr>
              <a:t>Level: </a:t>
            </a:r>
            <a:pPr indent="0" marL="0">
              <a:buNone/>
            </a:pPr>
            <a:r>
              <a:rPr lang="en-US" sz="1300" dirty="0">
                <a:solidFill>
                  <a:srgbClr val="7A90A8"/>
                </a:solidFill>
              </a:rPr>
              <a:t>Intermediate</a:t>
            </a:r>
            <a:endParaRPr lang="en-US" sz="1300" dirty="0"/>
          </a:p>
        </p:txBody>
      </p:sp>
      <p:sp>
        <p:nvSpPr>
          <p:cNvPr id="10" name="Shape 8"/>
          <p:cNvSpPr/>
          <p:nvPr/>
        </p:nvSpPr>
        <p:spPr>
          <a:xfrm>
            <a:off x="6949440" y="594360"/>
            <a:ext cx="1874520" cy="749808"/>
          </a:xfrm>
          <a:prstGeom prst="rect">
            <a:avLst/>
          </a:prstGeom>
          <a:solidFill>
            <a:srgbClr val="3A7DC9"/>
          </a:solidFill>
          <a:ln/>
          <a:effectLst>
            <a:outerShdw sx="100000" sy="100000" kx="0" ky="0" algn="bl" rotWithShape="0" blurRad="101600" dist="38100" dir="8100000">
              <a:srgbClr val="000000">
                <a:alpha val="13000"/>
              </a:srgbClr>
            </a:outerShdw>
          </a:effectLst>
        </p:spPr>
      </p:sp>
      <p:sp>
        <p:nvSpPr>
          <p:cNvPr id="11" name="Text 9"/>
          <p:cNvSpPr/>
          <p:nvPr/>
        </p:nvSpPr>
        <p:spPr>
          <a:xfrm>
            <a:off x="6949440" y="594360"/>
            <a:ext cx="1874520" cy="749808"/>
          </a:xfrm>
          <a:prstGeom prst="rect">
            <a:avLst/>
          </a:prstGeom>
          <a:noFill/>
          <a:ln/>
        </p:spPr>
        <p:txBody>
          <a:bodyPr wrap="square" lIns="0" tIns="0" rIns="0" bIns="0" rtlCol="0" anchor="ctr"/>
          <a:lstStyle/>
          <a:p>
            <a:pPr algn="ctr" indent="0" marL="0">
              <a:buNone/>
            </a:pPr>
            <a:r>
              <a:rPr lang="en-US" sz="1300" b="1" dirty="0">
                <a:solidFill>
                  <a:srgbClr val="FFFFFF"/>
                </a:solidFill>
              </a:rPr>
              <a:t>HITL Tiers</a:t>
            </a:r>
            <a:endParaRPr lang="en-US" sz="1300" dirty="0"/>
          </a:p>
        </p:txBody>
      </p:sp>
      <p:sp>
        <p:nvSpPr>
          <p:cNvPr id="12" name="Shape 10"/>
          <p:cNvSpPr/>
          <p:nvPr/>
        </p:nvSpPr>
        <p:spPr>
          <a:xfrm>
            <a:off x="6949440" y="1600200"/>
            <a:ext cx="1874520" cy="749808"/>
          </a:xfrm>
          <a:prstGeom prst="rect">
            <a:avLst/>
          </a:prstGeom>
          <a:solidFill>
            <a:srgbClr val="4A7FA8"/>
          </a:solidFill>
          <a:ln/>
          <a:effectLst>
            <a:outerShdw sx="100000" sy="100000" kx="0" ky="0" algn="bl" rotWithShape="0" blurRad="101600" dist="38100" dir="8100000">
              <a:srgbClr val="000000">
                <a:alpha val="13000"/>
              </a:srgbClr>
            </a:outerShdw>
          </a:effectLst>
        </p:spPr>
      </p:sp>
      <p:sp>
        <p:nvSpPr>
          <p:cNvPr id="13" name="Text 11"/>
          <p:cNvSpPr/>
          <p:nvPr/>
        </p:nvSpPr>
        <p:spPr>
          <a:xfrm>
            <a:off x="6949440" y="1600200"/>
            <a:ext cx="1874520" cy="749808"/>
          </a:xfrm>
          <a:prstGeom prst="rect">
            <a:avLst/>
          </a:prstGeom>
          <a:noFill/>
          <a:ln/>
        </p:spPr>
        <p:txBody>
          <a:bodyPr wrap="square" lIns="0" tIns="0" rIns="0" bIns="0" rtlCol="0" anchor="ctr"/>
          <a:lstStyle/>
          <a:p>
            <a:pPr algn="ctr" indent="0" marL="0">
              <a:buNone/>
            </a:pPr>
            <a:r>
              <a:rPr lang="en-US" sz="1300" b="1" dirty="0">
                <a:solidFill>
                  <a:srgbClr val="FFFFFF"/>
                </a:solidFill>
              </a:rPr>
              <a:t>PR Review</a:t>
            </a:r>
            <a:endParaRPr lang="en-US" sz="1300" dirty="0"/>
          </a:p>
        </p:txBody>
      </p:sp>
      <p:sp>
        <p:nvSpPr>
          <p:cNvPr id="14" name="Shape 12"/>
          <p:cNvSpPr/>
          <p:nvPr/>
        </p:nvSpPr>
        <p:spPr>
          <a:xfrm>
            <a:off x="6949440" y="2606040"/>
            <a:ext cx="1874520" cy="749808"/>
          </a:xfrm>
          <a:prstGeom prst="rect">
            <a:avLst/>
          </a:prstGeom>
          <a:solidFill>
            <a:srgbClr val="3A7E6E"/>
          </a:solidFill>
          <a:ln/>
          <a:effectLst>
            <a:outerShdw sx="100000" sy="100000" kx="0" ky="0" algn="bl" rotWithShape="0" blurRad="101600" dist="38100" dir="8100000">
              <a:srgbClr val="000000">
                <a:alpha val="13000"/>
              </a:srgbClr>
            </a:outerShdw>
          </a:effectLst>
        </p:spPr>
      </p:sp>
      <p:sp>
        <p:nvSpPr>
          <p:cNvPr id="15" name="Text 13"/>
          <p:cNvSpPr/>
          <p:nvPr/>
        </p:nvSpPr>
        <p:spPr>
          <a:xfrm>
            <a:off x="6949440" y="2606040"/>
            <a:ext cx="1874520" cy="749808"/>
          </a:xfrm>
          <a:prstGeom prst="rect">
            <a:avLst/>
          </a:prstGeom>
          <a:noFill/>
          <a:ln/>
        </p:spPr>
        <p:txBody>
          <a:bodyPr wrap="square" lIns="0" tIns="0" rIns="0" bIns="0" rtlCol="0" anchor="ctr"/>
          <a:lstStyle/>
          <a:p>
            <a:pPr algn="ctr" indent="0" marL="0">
              <a:buNone/>
            </a:pPr>
            <a:r>
              <a:rPr lang="en-US" sz="1300" b="1" dirty="0">
                <a:solidFill>
                  <a:srgbClr val="FFFFFF"/>
                </a:solidFill>
              </a:rPr>
              <a:t>Living ADRs</a:t>
            </a:r>
            <a:endParaRPr lang="en-US" sz="1300" dirty="0"/>
          </a:p>
        </p:txBody>
      </p:sp>
      <p:sp>
        <p:nvSpPr>
          <p:cNvPr id="16" name="Shape 14"/>
          <p:cNvSpPr/>
          <p:nvPr/>
        </p:nvSpPr>
        <p:spPr>
          <a:xfrm>
            <a:off x="6949440" y="3611880"/>
            <a:ext cx="1874520" cy="749808"/>
          </a:xfrm>
          <a:prstGeom prst="rect">
            <a:avLst/>
          </a:prstGeom>
          <a:solidFill>
            <a:srgbClr val="8096B0"/>
          </a:solidFill>
          <a:ln/>
          <a:effectLst>
            <a:outerShdw sx="100000" sy="100000" kx="0" ky="0" algn="bl" rotWithShape="0" blurRad="101600" dist="38100" dir="8100000">
              <a:srgbClr val="000000">
                <a:alpha val="13000"/>
              </a:srgbClr>
            </a:outerShdw>
          </a:effectLst>
        </p:spPr>
      </p:sp>
      <p:sp>
        <p:nvSpPr>
          <p:cNvPr id="17" name="Text 15"/>
          <p:cNvSpPr/>
          <p:nvPr/>
        </p:nvSpPr>
        <p:spPr>
          <a:xfrm>
            <a:off x="6949440" y="3611880"/>
            <a:ext cx="1874520" cy="749808"/>
          </a:xfrm>
          <a:prstGeom prst="rect">
            <a:avLst/>
          </a:prstGeom>
          <a:noFill/>
          <a:ln/>
        </p:spPr>
        <p:txBody>
          <a:bodyPr wrap="square" lIns="0" tIns="0" rIns="0" bIns="0" rtlCol="0" anchor="ctr"/>
          <a:lstStyle/>
          <a:p>
            <a:pPr algn="ctr" indent="0" marL="0">
              <a:buNone/>
            </a:pPr>
            <a:r>
              <a:rPr lang="en-US" sz="1300" b="1" dirty="0">
                <a:solidFill>
                  <a:srgbClr val="FFFFFF"/>
                </a:solidFill>
              </a:rPr>
              <a:t>Improvement Loop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C3557"/>
          </a:solidFill>
          <a:ln/>
        </p:spPr>
      </p:sp>
      <p:sp>
        <p:nvSpPr>
          <p:cNvPr id="3" name="Text 1"/>
          <p:cNvSpPr/>
          <p:nvPr/>
        </p:nvSpPr>
        <p:spPr>
          <a:xfrm>
            <a:off x="365760" y="0"/>
            <a:ext cx="841248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LEARNING OBJECTIVES</a:t>
            </a:r>
            <a:endParaRPr lang="en-US" sz="1300" dirty="0"/>
          </a:p>
        </p:txBody>
      </p:sp>
      <p:sp>
        <p:nvSpPr>
          <p:cNvPr id="4" name="Text 2"/>
          <p:cNvSpPr/>
          <p:nvPr/>
        </p:nvSpPr>
        <p:spPr>
          <a:xfrm>
            <a:off x="320040" y="822960"/>
            <a:ext cx="8503920" cy="256032"/>
          </a:xfrm>
          <a:prstGeom prst="rect">
            <a:avLst/>
          </a:prstGeom>
          <a:noFill/>
          <a:ln/>
        </p:spPr>
        <p:txBody>
          <a:bodyPr wrap="square" lIns="0" tIns="0" rIns="0" bIns="0" rtlCol="0" anchor="ctr"/>
          <a:lstStyle/>
          <a:p>
            <a:pPr indent="0" marL="0">
              <a:buNone/>
            </a:pPr>
            <a:r>
              <a:rPr lang="en-US" sz="1100" i="1" dirty="0">
                <a:solidFill>
                  <a:srgbClr val="7A90A8"/>
                </a:solidFill>
              </a:rPr>
              <a:t>By the end of this module you will be able to:</a:t>
            </a:r>
            <a:endParaRPr lang="en-US" sz="1100" dirty="0"/>
          </a:p>
        </p:txBody>
      </p:sp>
      <p:sp>
        <p:nvSpPr>
          <p:cNvPr id="5" name="Shape 3"/>
          <p:cNvSpPr/>
          <p:nvPr/>
        </p:nvSpPr>
        <p:spPr>
          <a:xfrm>
            <a:off x="320040" y="1170432"/>
            <a:ext cx="4160520" cy="166420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170432"/>
            <a:ext cx="64008" cy="1664208"/>
          </a:xfrm>
          <a:prstGeom prst="rect">
            <a:avLst/>
          </a:prstGeom>
          <a:solidFill>
            <a:srgbClr val="3A7DC9"/>
          </a:solidFill>
          <a:ln/>
        </p:spPr>
      </p:sp>
      <p:pic>
        <p:nvPicPr>
          <p:cNvPr id="7" name="Image 0" descr="preencoded.png">    </p:cNvPr>
          <p:cNvPicPr>
            <a:picLocks noChangeAspect="1"/>
          </p:cNvPicPr>
          <p:nvPr/>
        </p:nvPicPr>
        <p:blipFill>
          <a:blip r:embed="rId1"/>
          <a:stretch>
            <a:fillRect/>
          </a:stretch>
        </p:blipFill>
        <p:spPr>
          <a:xfrm>
            <a:off x="484632" y="1371600"/>
            <a:ext cx="365760" cy="365760"/>
          </a:xfrm>
          <a:prstGeom prst="rect">
            <a:avLst/>
          </a:prstGeom>
        </p:spPr>
      </p:pic>
      <p:sp>
        <p:nvSpPr>
          <p:cNvPr id="8" name="Text 5"/>
          <p:cNvSpPr/>
          <p:nvPr/>
        </p:nvSpPr>
        <p:spPr>
          <a:xfrm>
            <a:off x="960120" y="1335024"/>
            <a:ext cx="3383280" cy="384048"/>
          </a:xfrm>
          <a:prstGeom prst="rect">
            <a:avLst/>
          </a:prstGeom>
          <a:noFill/>
          <a:ln/>
        </p:spPr>
        <p:txBody>
          <a:bodyPr wrap="square" lIns="0" tIns="0" rIns="0" bIns="0" rtlCol="0" anchor="ctr"/>
          <a:lstStyle/>
          <a:p>
            <a:pPr indent="0" marL="0">
              <a:buNone/>
            </a:pPr>
            <a:r>
              <a:rPr lang="en-US" sz="1300" b="1" dirty="0">
                <a:solidFill>
                  <a:srgbClr val="1C3557"/>
                </a:solidFill>
              </a:rPr>
              <a:t>HITL Tier Architecture</a:t>
            </a:r>
            <a:endParaRPr lang="en-US" sz="1300" dirty="0"/>
          </a:p>
        </p:txBody>
      </p:sp>
      <p:sp>
        <p:nvSpPr>
          <p:cNvPr id="9" name="Text 6"/>
          <p:cNvSpPr/>
          <p:nvPr/>
        </p:nvSpPr>
        <p:spPr>
          <a:xfrm>
            <a:off x="960120" y="1755648"/>
            <a:ext cx="3383280" cy="960120"/>
          </a:xfrm>
          <a:prstGeom prst="rect">
            <a:avLst/>
          </a:prstGeom>
          <a:noFill/>
          <a:ln/>
        </p:spPr>
        <p:txBody>
          <a:bodyPr wrap="square" lIns="0" tIns="0" rIns="0" bIns="0" rtlCol="0" anchor="ctr"/>
          <a:lstStyle/>
          <a:p>
            <a:pPr indent="0" marL="0">
              <a:buNone/>
            </a:pPr>
            <a:r>
              <a:rPr lang="en-US" sz="1150" dirty="0">
                <a:solidFill>
                  <a:srgbClr val="7A90A8"/>
                </a:solidFill>
              </a:rPr>
              <a:t>Design a three-tier human oversight system that matches review level to decision risk</a:t>
            </a:r>
            <a:endParaRPr lang="en-US" sz="1150" dirty="0"/>
          </a:p>
        </p:txBody>
      </p:sp>
      <p:sp>
        <p:nvSpPr>
          <p:cNvPr id="10" name="Shape 7"/>
          <p:cNvSpPr/>
          <p:nvPr/>
        </p:nvSpPr>
        <p:spPr>
          <a:xfrm>
            <a:off x="4663440" y="1170432"/>
            <a:ext cx="4160520" cy="166420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1" name="Shape 8"/>
          <p:cNvSpPr/>
          <p:nvPr/>
        </p:nvSpPr>
        <p:spPr>
          <a:xfrm>
            <a:off x="4663440" y="1170432"/>
            <a:ext cx="64008" cy="1664208"/>
          </a:xfrm>
          <a:prstGeom prst="rect">
            <a:avLst/>
          </a:prstGeom>
          <a:solidFill>
            <a:srgbClr val="4A7FA8"/>
          </a:solidFill>
          <a:ln/>
        </p:spPr>
      </p:sp>
      <p:pic>
        <p:nvPicPr>
          <p:cNvPr id="12" name="Image 1" descr="preencoded.png">    </p:cNvPr>
          <p:cNvPicPr>
            <a:picLocks noChangeAspect="1"/>
          </p:cNvPicPr>
          <p:nvPr/>
        </p:nvPicPr>
        <p:blipFill>
          <a:blip r:embed="rId2"/>
          <a:stretch>
            <a:fillRect/>
          </a:stretch>
        </p:blipFill>
        <p:spPr>
          <a:xfrm>
            <a:off x="4828032" y="1371600"/>
            <a:ext cx="365760" cy="365760"/>
          </a:xfrm>
          <a:prstGeom prst="rect">
            <a:avLst/>
          </a:prstGeom>
        </p:spPr>
      </p:pic>
      <p:sp>
        <p:nvSpPr>
          <p:cNvPr id="13" name="Text 9"/>
          <p:cNvSpPr/>
          <p:nvPr/>
        </p:nvSpPr>
        <p:spPr>
          <a:xfrm>
            <a:off x="5303520" y="1335024"/>
            <a:ext cx="3383280" cy="384048"/>
          </a:xfrm>
          <a:prstGeom prst="rect">
            <a:avLst/>
          </a:prstGeom>
          <a:noFill/>
          <a:ln/>
        </p:spPr>
        <p:txBody>
          <a:bodyPr wrap="square" lIns="0" tIns="0" rIns="0" bIns="0" rtlCol="0" anchor="ctr"/>
          <a:lstStyle/>
          <a:p>
            <a:pPr indent="0" marL="0">
              <a:buNone/>
            </a:pPr>
            <a:r>
              <a:rPr lang="en-US" sz="1300" b="1" dirty="0">
                <a:solidFill>
                  <a:srgbClr val="1C3557"/>
                </a:solidFill>
              </a:rPr>
              <a:t>AI PR Review</a:t>
            </a:r>
            <a:endParaRPr lang="en-US" sz="1300" dirty="0"/>
          </a:p>
        </p:txBody>
      </p:sp>
      <p:sp>
        <p:nvSpPr>
          <p:cNvPr id="14" name="Text 10"/>
          <p:cNvSpPr/>
          <p:nvPr/>
        </p:nvSpPr>
        <p:spPr>
          <a:xfrm>
            <a:off x="5303520" y="1755648"/>
            <a:ext cx="3383280" cy="960120"/>
          </a:xfrm>
          <a:prstGeom prst="rect">
            <a:avLst/>
          </a:prstGeom>
          <a:noFill/>
          <a:ln/>
        </p:spPr>
        <p:txBody>
          <a:bodyPr wrap="square" lIns="0" tIns="0" rIns="0" bIns="0" rtlCol="0" anchor="ctr"/>
          <a:lstStyle/>
          <a:p>
            <a:pPr indent="0" marL="0">
              <a:buNone/>
            </a:pPr>
            <a:r>
              <a:rPr lang="en-US" sz="1150" dirty="0">
                <a:solidFill>
                  <a:srgbClr val="7A90A8"/>
                </a:solidFill>
              </a:rPr>
              <a:t>Apply the six dimensions of AI-generated PR review to focus human attention where it matters</a:t>
            </a:r>
            <a:endParaRPr lang="en-US" sz="1150" dirty="0"/>
          </a:p>
        </p:txBody>
      </p:sp>
      <p:sp>
        <p:nvSpPr>
          <p:cNvPr id="15" name="Shape 11"/>
          <p:cNvSpPr/>
          <p:nvPr/>
        </p:nvSpPr>
        <p:spPr>
          <a:xfrm>
            <a:off x="320040" y="2999232"/>
            <a:ext cx="4160520" cy="166420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6" name="Shape 12"/>
          <p:cNvSpPr/>
          <p:nvPr/>
        </p:nvSpPr>
        <p:spPr>
          <a:xfrm>
            <a:off x="320040" y="2999232"/>
            <a:ext cx="64008" cy="1664208"/>
          </a:xfrm>
          <a:prstGeom prst="rect">
            <a:avLst/>
          </a:prstGeom>
          <a:solidFill>
            <a:srgbClr val="3A7E6E"/>
          </a:solidFill>
          <a:ln/>
        </p:spPr>
      </p:sp>
      <p:pic>
        <p:nvPicPr>
          <p:cNvPr id="17" name="Image 2" descr="preencoded.png">    </p:cNvPr>
          <p:cNvPicPr>
            <a:picLocks noChangeAspect="1"/>
          </p:cNvPicPr>
          <p:nvPr/>
        </p:nvPicPr>
        <p:blipFill>
          <a:blip r:embed="rId3"/>
          <a:stretch>
            <a:fillRect/>
          </a:stretch>
        </p:blipFill>
        <p:spPr>
          <a:xfrm>
            <a:off x="484632" y="3200400"/>
            <a:ext cx="365760" cy="365760"/>
          </a:xfrm>
          <a:prstGeom prst="rect">
            <a:avLst/>
          </a:prstGeom>
        </p:spPr>
      </p:pic>
      <p:sp>
        <p:nvSpPr>
          <p:cNvPr id="18" name="Text 13"/>
          <p:cNvSpPr/>
          <p:nvPr/>
        </p:nvSpPr>
        <p:spPr>
          <a:xfrm>
            <a:off x="960120" y="3163824"/>
            <a:ext cx="3383280" cy="384048"/>
          </a:xfrm>
          <a:prstGeom prst="rect">
            <a:avLst/>
          </a:prstGeom>
          <a:noFill/>
          <a:ln/>
        </p:spPr>
        <p:txBody>
          <a:bodyPr wrap="square" lIns="0" tIns="0" rIns="0" bIns="0" rtlCol="0" anchor="ctr"/>
          <a:lstStyle/>
          <a:p>
            <a:pPr indent="0" marL="0">
              <a:buNone/>
            </a:pPr>
            <a:r>
              <a:rPr lang="en-US" sz="1300" b="1" dirty="0">
                <a:solidFill>
                  <a:srgbClr val="1C3557"/>
                </a:solidFill>
              </a:rPr>
              <a:t>Living ADRs</a:t>
            </a:r>
            <a:endParaRPr lang="en-US" sz="1300" dirty="0"/>
          </a:p>
        </p:txBody>
      </p:sp>
      <p:sp>
        <p:nvSpPr>
          <p:cNvPr id="19" name="Text 14"/>
          <p:cNvSpPr/>
          <p:nvPr/>
        </p:nvSpPr>
        <p:spPr>
          <a:xfrm>
            <a:off x="960120" y="3584448"/>
            <a:ext cx="3383280" cy="960120"/>
          </a:xfrm>
          <a:prstGeom prst="rect">
            <a:avLst/>
          </a:prstGeom>
          <a:noFill/>
          <a:ln/>
        </p:spPr>
        <p:txBody>
          <a:bodyPr wrap="square" lIns="0" tIns="0" rIns="0" bIns="0" rtlCol="0" anchor="ctr"/>
          <a:lstStyle/>
          <a:p>
            <a:pPr indent="0" marL="0">
              <a:buNone/>
            </a:pPr>
            <a:r>
              <a:rPr lang="en-US" sz="1150" dirty="0">
                <a:solidFill>
                  <a:srgbClr val="7A90A8"/>
                </a:solidFill>
              </a:rPr>
              <a:t>Maintain Architecture Decision Records as persistent agent context, not static documentation</a:t>
            </a:r>
            <a:endParaRPr lang="en-US" sz="1150" dirty="0"/>
          </a:p>
        </p:txBody>
      </p:sp>
      <p:sp>
        <p:nvSpPr>
          <p:cNvPr id="20" name="Shape 15"/>
          <p:cNvSpPr/>
          <p:nvPr/>
        </p:nvSpPr>
        <p:spPr>
          <a:xfrm>
            <a:off x="4663440" y="2999232"/>
            <a:ext cx="4160520" cy="166420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1" name="Shape 16"/>
          <p:cNvSpPr/>
          <p:nvPr/>
        </p:nvSpPr>
        <p:spPr>
          <a:xfrm>
            <a:off x="4663440" y="2999232"/>
            <a:ext cx="64008" cy="1664208"/>
          </a:xfrm>
          <a:prstGeom prst="rect">
            <a:avLst/>
          </a:prstGeom>
          <a:solidFill>
            <a:srgbClr val="8096B0"/>
          </a:solidFill>
          <a:ln/>
        </p:spPr>
      </p:sp>
      <p:pic>
        <p:nvPicPr>
          <p:cNvPr id="22" name="Image 3" descr="preencoded.png">    </p:cNvPr>
          <p:cNvPicPr>
            <a:picLocks noChangeAspect="1"/>
          </p:cNvPicPr>
          <p:nvPr/>
        </p:nvPicPr>
        <p:blipFill>
          <a:blip r:embed="rId4"/>
          <a:stretch>
            <a:fillRect/>
          </a:stretch>
        </p:blipFill>
        <p:spPr>
          <a:xfrm>
            <a:off x="4828032" y="3200400"/>
            <a:ext cx="365760" cy="365760"/>
          </a:xfrm>
          <a:prstGeom prst="rect">
            <a:avLst/>
          </a:prstGeom>
        </p:spPr>
      </p:pic>
      <p:sp>
        <p:nvSpPr>
          <p:cNvPr id="23" name="Text 17"/>
          <p:cNvSpPr/>
          <p:nvPr/>
        </p:nvSpPr>
        <p:spPr>
          <a:xfrm>
            <a:off x="5303520" y="3163824"/>
            <a:ext cx="3383280" cy="384048"/>
          </a:xfrm>
          <a:prstGeom prst="rect">
            <a:avLst/>
          </a:prstGeom>
          <a:noFill/>
          <a:ln/>
        </p:spPr>
        <p:txBody>
          <a:bodyPr wrap="square" lIns="0" tIns="0" rIns="0" bIns="0" rtlCol="0" anchor="ctr"/>
          <a:lstStyle/>
          <a:p>
            <a:pPr indent="0" marL="0">
              <a:buNone/>
            </a:pPr>
            <a:r>
              <a:rPr lang="en-US" sz="1300" b="1" dirty="0">
                <a:solidFill>
                  <a:srgbClr val="1C3557"/>
                </a:solidFill>
              </a:rPr>
              <a:t>Improvement Loop</a:t>
            </a:r>
            <a:endParaRPr lang="en-US" sz="1300" dirty="0"/>
          </a:p>
        </p:txBody>
      </p:sp>
      <p:sp>
        <p:nvSpPr>
          <p:cNvPr id="24" name="Text 18"/>
          <p:cNvSpPr/>
          <p:nvPr/>
        </p:nvSpPr>
        <p:spPr>
          <a:xfrm>
            <a:off x="5303520" y="3584448"/>
            <a:ext cx="3383280" cy="960120"/>
          </a:xfrm>
          <a:prstGeom prst="rect">
            <a:avLst/>
          </a:prstGeom>
          <a:noFill/>
          <a:ln/>
        </p:spPr>
        <p:txBody>
          <a:bodyPr wrap="square" lIns="0" tIns="0" rIns="0" bIns="0" rtlCol="0" anchor="ctr"/>
          <a:lstStyle/>
          <a:p>
            <a:pPr indent="0" marL="0">
              <a:buNone/>
            </a:pPr>
            <a:r>
              <a:rPr lang="en-US" sz="1150" dirty="0">
                <a:solidFill>
                  <a:srgbClr val="7A90A8"/>
                </a:solidFill>
              </a:rPr>
              <a:t>Build and run a continuous improvement cycle for your agentic development process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C3557"/>
        </a:solidFill>
      </p:bgPr>
    </p:bg>
    <p:spTree>
      <p:nvGrpSpPr>
        <p:cNvPr id="1" name=""/>
        <p:cNvGrpSpPr/>
        <p:nvPr/>
      </p:nvGrpSpPr>
      <p:grpSpPr>
        <a:xfrm>
          <a:off x="0" y="0"/>
          <a:ext cx="0" cy="0"/>
          <a:chOff x="0" y="0"/>
          <a:chExt cx="0" cy="0"/>
        </a:xfrm>
      </p:grpSpPr>
      <p:sp>
        <p:nvSpPr>
          <p:cNvPr id="2" name="Text 0"/>
          <p:cNvSpPr/>
          <p:nvPr/>
        </p:nvSpPr>
        <p:spPr>
          <a:xfrm>
            <a:off x="365760" y="201168"/>
            <a:ext cx="8412480" cy="411480"/>
          </a:xfrm>
          <a:prstGeom prst="rect">
            <a:avLst/>
          </a:prstGeom>
          <a:noFill/>
          <a:ln/>
        </p:spPr>
        <p:txBody>
          <a:bodyPr wrap="square" lIns="0" tIns="0" rIns="0" bIns="0" rtlCol="0" anchor="ctr"/>
          <a:lstStyle/>
          <a:p>
            <a:pPr indent="0" marL="0">
              <a:buNone/>
            </a:pPr>
            <a:r>
              <a:rPr lang="en-US" sz="1300" b="1" spc="300" kern="0" dirty="0">
                <a:solidFill>
                  <a:srgbClr val="5B8DB8"/>
                </a:solidFill>
              </a:rPr>
              <a:t>WITHOUT IMPROVEMENT LOOPS, AUTOMATION DRIFTS</a:t>
            </a:r>
            <a:endParaRPr lang="en-US" sz="1300" dirty="0"/>
          </a:p>
        </p:txBody>
      </p:sp>
      <p:sp>
        <p:nvSpPr>
          <p:cNvPr id="3" name="Text 1"/>
          <p:cNvSpPr/>
          <p:nvPr/>
        </p:nvSpPr>
        <p:spPr>
          <a:xfrm>
            <a:off x="365760" y="658368"/>
            <a:ext cx="8412480" cy="411480"/>
          </a:xfrm>
          <a:prstGeom prst="rect">
            <a:avLst/>
          </a:prstGeom>
          <a:noFill/>
          <a:ln/>
        </p:spPr>
        <p:txBody>
          <a:bodyPr wrap="square" lIns="0" tIns="0" rIns="0" bIns="0" rtlCol="0" anchor="ctr"/>
          <a:lstStyle/>
          <a:p>
            <a:pPr indent="0" marL="0">
              <a:buNone/>
            </a:pPr>
            <a:r>
              <a:rPr lang="en-US" sz="1300" i="1" dirty="0">
                <a:solidFill>
                  <a:srgbClr val="FFFFFF"/>
                </a:solidFill>
              </a:rPr>
              <a:t>A rules file written in January stops reflecting team standards by March. An evaluator from six months ago rejects correct code.</a:t>
            </a:r>
            <a:endParaRPr lang="en-US" sz="1300" dirty="0"/>
          </a:p>
        </p:txBody>
      </p:sp>
      <p:sp>
        <p:nvSpPr>
          <p:cNvPr id="4" name="Shape 2"/>
          <p:cNvSpPr/>
          <p:nvPr/>
        </p:nvSpPr>
        <p:spPr>
          <a:xfrm>
            <a:off x="320040" y="1170432"/>
            <a:ext cx="4023360" cy="3401568"/>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5" name="Shape 3"/>
          <p:cNvSpPr/>
          <p:nvPr/>
        </p:nvSpPr>
        <p:spPr>
          <a:xfrm>
            <a:off x="320040" y="1170432"/>
            <a:ext cx="4023360" cy="402336"/>
          </a:xfrm>
          <a:prstGeom prst="rect">
            <a:avLst/>
          </a:prstGeom>
          <a:solidFill>
            <a:srgbClr val="B03040">
              <a:alpha val="90000"/>
            </a:srgbClr>
          </a:solidFill>
          <a:ln/>
        </p:spPr>
      </p:sp>
      <p:sp>
        <p:nvSpPr>
          <p:cNvPr id="6" name="Text 4"/>
          <p:cNvSpPr/>
          <p:nvPr/>
        </p:nvSpPr>
        <p:spPr>
          <a:xfrm>
            <a:off x="320040" y="1170432"/>
            <a:ext cx="4023360" cy="402336"/>
          </a:xfrm>
          <a:prstGeom prst="rect">
            <a:avLst/>
          </a:prstGeom>
          <a:noFill/>
          <a:ln/>
        </p:spPr>
        <p:txBody>
          <a:bodyPr wrap="square" lIns="0" tIns="0" rIns="0" bIns="0" rtlCol="0" anchor="ctr"/>
          <a:lstStyle/>
          <a:p>
            <a:pPr algn="ctr" indent="0" marL="0">
              <a:buNone/>
            </a:pPr>
            <a:r>
              <a:rPr lang="en-US" sz="1050" b="1" spc="200" kern="0" dirty="0">
                <a:solidFill>
                  <a:srgbClr val="FFFFFF"/>
                </a:solidFill>
              </a:rPr>
              <a:t>WITHOUT IMPROVEMENT LOOPS</a:t>
            </a:r>
            <a:endParaRPr lang="en-US" sz="1050" dirty="0"/>
          </a:p>
        </p:txBody>
      </p:sp>
      <p:sp>
        <p:nvSpPr>
          <p:cNvPr id="7" name="Shape 5"/>
          <p:cNvSpPr/>
          <p:nvPr/>
        </p:nvSpPr>
        <p:spPr>
          <a:xfrm>
            <a:off x="475488" y="1773936"/>
            <a:ext cx="146304" cy="146304"/>
          </a:xfrm>
          <a:prstGeom prst="ellipse">
            <a:avLst/>
          </a:prstGeom>
          <a:solidFill>
            <a:srgbClr val="B03040"/>
          </a:solidFill>
          <a:ln/>
        </p:spPr>
      </p:sp>
      <p:sp>
        <p:nvSpPr>
          <p:cNvPr id="8" name="Text 6"/>
          <p:cNvSpPr/>
          <p:nvPr/>
        </p:nvSpPr>
        <p:spPr>
          <a:xfrm>
            <a:off x="731520" y="1682496"/>
            <a:ext cx="3456432" cy="475488"/>
          </a:xfrm>
          <a:prstGeom prst="rect">
            <a:avLst/>
          </a:prstGeom>
          <a:noFill/>
          <a:ln/>
        </p:spPr>
        <p:txBody>
          <a:bodyPr wrap="square" lIns="0" tIns="0" rIns="0" bIns="0" rtlCol="0" anchor="ctr"/>
          <a:lstStyle/>
          <a:p>
            <a:pPr indent="0" marL="0">
              <a:buNone/>
            </a:pPr>
            <a:r>
              <a:rPr lang="en-US" sz="1100" dirty="0">
                <a:solidFill>
                  <a:srgbClr val="D4E4F0"/>
                </a:solidFill>
              </a:rPr>
              <a:t>Evaluator passes code violating current standards</a:t>
            </a:r>
            <a:endParaRPr lang="en-US" sz="1100" dirty="0"/>
          </a:p>
        </p:txBody>
      </p:sp>
      <p:sp>
        <p:nvSpPr>
          <p:cNvPr id="9" name="Shape 7"/>
          <p:cNvSpPr/>
          <p:nvPr/>
        </p:nvSpPr>
        <p:spPr>
          <a:xfrm>
            <a:off x="475488" y="2322576"/>
            <a:ext cx="146304" cy="146304"/>
          </a:xfrm>
          <a:prstGeom prst="ellipse">
            <a:avLst/>
          </a:prstGeom>
          <a:solidFill>
            <a:srgbClr val="B03040"/>
          </a:solidFill>
          <a:ln/>
        </p:spPr>
      </p:sp>
      <p:sp>
        <p:nvSpPr>
          <p:cNvPr id="10" name="Text 8"/>
          <p:cNvSpPr/>
          <p:nvPr/>
        </p:nvSpPr>
        <p:spPr>
          <a:xfrm>
            <a:off x="731520" y="2231136"/>
            <a:ext cx="3456432" cy="475488"/>
          </a:xfrm>
          <a:prstGeom prst="rect">
            <a:avLst/>
          </a:prstGeom>
          <a:noFill/>
          <a:ln/>
        </p:spPr>
        <p:txBody>
          <a:bodyPr wrap="square" lIns="0" tIns="0" rIns="0" bIns="0" rtlCol="0" anchor="ctr"/>
          <a:lstStyle/>
          <a:p>
            <a:pPr indent="0" marL="0">
              <a:buNone/>
            </a:pPr>
            <a:r>
              <a:rPr lang="en-US" sz="1100" dirty="0">
                <a:solidFill>
                  <a:srgbClr val="D4E4F0"/>
                </a:solidFill>
              </a:rPr>
              <a:t>ADRs diverge from actual implementation decisions</a:t>
            </a:r>
            <a:endParaRPr lang="en-US" sz="1100" dirty="0"/>
          </a:p>
        </p:txBody>
      </p:sp>
      <p:sp>
        <p:nvSpPr>
          <p:cNvPr id="11" name="Shape 9"/>
          <p:cNvSpPr/>
          <p:nvPr/>
        </p:nvSpPr>
        <p:spPr>
          <a:xfrm>
            <a:off x="475488" y="2871216"/>
            <a:ext cx="146304" cy="146304"/>
          </a:xfrm>
          <a:prstGeom prst="ellipse">
            <a:avLst/>
          </a:prstGeom>
          <a:solidFill>
            <a:srgbClr val="B03040"/>
          </a:solidFill>
          <a:ln/>
        </p:spPr>
      </p:sp>
      <p:sp>
        <p:nvSpPr>
          <p:cNvPr id="12" name="Text 10"/>
          <p:cNvSpPr/>
          <p:nvPr/>
        </p:nvSpPr>
        <p:spPr>
          <a:xfrm>
            <a:off x="731520" y="2779776"/>
            <a:ext cx="3456432" cy="475488"/>
          </a:xfrm>
          <a:prstGeom prst="rect">
            <a:avLst/>
          </a:prstGeom>
          <a:noFill/>
          <a:ln/>
        </p:spPr>
        <p:txBody>
          <a:bodyPr wrap="square" lIns="0" tIns="0" rIns="0" bIns="0" rtlCol="0" anchor="ctr"/>
          <a:lstStyle/>
          <a:p>
            <a:pPr indent="0" marL="0">
              <a:buNone/>
            </a:pPr>
            <a:r>
              <a:rPr lang="en-US" sz="1100" dirty="0">
                <a:solidFill>
                  <a:srgbClr val="D4E4F0"/>
                </a:solidFill>
              </a:rPr>
              <a:t>HITL thresholds miscalibrated — too tight or too loose</a:t>
            </a:r>
            <a:endParaRPr lang="en-US" sz="1100" dirty="0"/>
          </a:p>
        </p:txBody>
      </p:sp>
      <p:sp>
        <p:nvSpPr>
          <p:cNvPr id="13" name="Shape 11"/>
          <p:cNvSpPr/>
          <p:nvPr/>
        </p:nvSpPr>
        <p:spPr>
          <a:xfrm>
            <a:off x="475488" y="3419856"/>
            <a:ext cx="146304" cy="146304"/>
          </a:xfrm>
          <a:prstGeom prst="ellipse">
            <a:avLst/>
          </a:prstGeom>
          <a:solidFill>
            <a:srgbClr val="B03040"/>
          </a:solidFill>
          <a:ln/>
        </p:spPr>
      </p:sp>
      <p:sp>
        <p:nvSpPr>
          <p:cNvPr id="14" name="Text 12"/>
          <p:cNvSpPr/>
          <p:nvPr/>
        </p:nvSpPr>
        <p:spPr>
          <a:xfrm>
            <a:off x="731520" y="3328416"/>
            <a:ext cx="3456432" cy="475488"/>
          </a:xfrm>
          <a:prstGeom prst="rect">
            <a:avLst/>
          </a:prstGeom>
          <a:noFill/>
          <a:ln/>
        </p:spPr>
        <p:txBody>
          <a:bodyPr wrap="square" lIns="0" tIns="0" rIns="0" bIns="0" rtlCol="0" anchor="ctr"/>
          <a:lstStyle/>
          <a:p>
            <a:pPr indent="0" marL="0">
              <a:buNone/>
            </a:pPr>
            <a:r>
              <a:rPr lang="en-US" sz="1100" dirty="0">
                <a:solidFill>
                  <a:srgbClr val="D4E4F0"/>
                </a:solidFill>
              </a:rPr>
              <a:t>Rules file reflects old patterns, new ones go unchecked</a:t>
            </a:r>
            <a:endParaRPr lang="en-US" sz="1100" dirty="0"/>
          </a:p>
        </p:txBody>
      </p:sp>
      <p:sp>
        <p:nvSpPr>
          <p:cNvPr id="15" name="Shape 13"/>
          <p:cNvSpPr/>
          <p:nvPr/>
        </p:nvSpPr>
        <p:spPr>
          <a:xfrm>
            <a:off x="475488" y="3968496"/>
            <a:ext cx="146304" cy="146304"/>
          </a:xfrm>
          <a:prstGeom prst="ellipse">
            <a:avLst/>
          </a:prstGeom>
          <a:solidFill>
            <a:srgbClr val="B03040"/>
          </a:solidFill>
          <a:ln/>
        </p:spPr>
      </p:sp>
      <p:sp>
        <p:nvSpPr>
          <p:cNvPr id="16" name="Text 14"/>
          <p:cNvSpPr/>
          <p:nvPr/>
        </p:nvSpPr>
        <p:spPr>
          <a:xfrm>
            <a:off x="731520" y="3877056"/>
            <a:ext cx="3456432" cy="475488"/>
          </a:xfrm>
          <a:prstGeom prst="rect">
            <a:avLst/>
          </a:prstGeom>
          <a:noFill/>
          <a:ln/>
        </p:spPr>
        <p:txBody>
          <a:bodyPr wrap="square" lIns="0" tIns="0" rIns="0" bIns="0" rtlCol="0" anchor="ctr"/>
          <a:lstStyle/>
          <a:p>
            <a:pPr indent="0" marL="0">
              <a:buNone/>
            </a:pPr>
            <a:r>
              <a:rPr lang="en-US" sz="1100" dirty="0">
                <a:solidFill>
                  <a:srgbClr val="D4E4F0"/>
                </a:solidFill>
              </a:rPr>
              <a:t>Team loses confidence in automated review</a:t>
            </a:r>
            <a:endParaRPr lang="en-US" sz="1100" dirty="0"/>
          </a:p>
        </p:txBody>
      </p:sp>
      <p:sp>
        <p:nvSpPr>
          <p:cNvPr id="17" name="Shape 15"/>
          <p:cNvSpPr/>
          <p:nvPr/>
        </p:nvSpPr>
        <p:spPr>
          <a:xfrm>
            <a:off x="4800600" y="1170432"/>
            <a:ext cx="4023360" cy="3401568"/>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18" name="Shape 16"/>
          <p:cNvSpPr/>
          <p:nvPr/>
        </p:nvSpPr>
        <p:spPr>
          <a:xfrm>
            <a:off x="4800600" y="1170432"/>
            <a:ext cx="4023360" cy="402336"/>
          </a:xfrm>
          <a:prstGeom prst="rect">
            <a:avLst/>
          </a:prstGeom>
          <a:solidFill>
            <a:srgbClr val="3A7E6E">
              <a:alpha val="90000"/>
            </a:srgbClr>
          </a:solidFill>
          <a:ln/>
        </p:spPr>
      </p:sp>
      <p:sp>
        <p:nvSpPr>
          <p:cNvPr id="19" name="Text 17"/>
          <p:cNvSpPr/>
          <p:nvPr/>
        </p:nvSpPr>
        <p:spPr>
          <a:xfrm>
            <a:off x="4800600" y="1170432"/>
            <a:ext cx="4023360" cy="402336"/>
          </a:xfrm>
          <a:prstGeom prst="rect">
            <a:avLst/>
          </a:prstGeom>
          <a:noFill/>
          <a:ln/>
        </p:spPr>
        <p:txBody>
          <a:bodyPr wrap="square" lIns="0" tIns="0" rIns="0" bIns="0" rtlCol="0" anchor="ctr"/>
          <a:lstStyle/>
          <a:p>
            <a:pPr algn="ctr" indent="0" marL="0">
              <a:buNone/>
            </a:pPr>
            <a:r>
              <a:rPr lang="en-US" sz="1050" b="1" spc="200" kern="0" dirty="0">
                <a:solidFill>
                  <a:srgbClr val="FFFFFF"/>
                </a:solidFill>
              </a:rPr>
              <a:t>WITH IMPROVEMENT LOOPS</a:t>
            </a:r>
            <a:endParaRPr lang="en-US" sz="1050" dirty="0"/>
          </a:p>
        </p:txBody>
      </p:sp>
      <p:sp>
        <p:nvSpPr>
          <p:cNvPr id="20" name="Shape 18"/>
          <p:cNvSpPr/>
          <p:nvPr/>
        </p:nvSpPr>
        <p:spPr>
          <a:xfrm>
            <a:off x="4956048" y="1773936"/>
            <a:ext cx="146304" cy="146304"/>
          </a:xfrm>
          <a:prstGeom prst="ellipse">
            <a:avLst/>
          </a:prstGeom>
          <a:solidFill>
            <a:srgbClr val="3A7E6E"/>
          </a:solidFill>
          <a:ln/>
        </p:spPr>
      </p:sp>
      <p:sp>
        <p:nvSpPr>
          <p:cNvPr id="21" name="Text 19"/>
          <p:cNvSpPr/>
          <p:nvPr/>
        </p:nvSpPr>
        <p:spPr>
          <a:xfrm>
            <a:off x="5212080" y="1682496"/>
            <a:ext cx="3456432" cy="475488"/>
          </a:xfrm>
          <a:prstGeom prst="rect">
            <a:avLst/>
          </a:prstGeom>
          <a:noFill/>
          <a:ln/>
        </p:spPr>
        <p:txBody>
          <a:bodyPr wrap="square" lIns="0" tIns="0" rIns="0" bIns="0" rtlCol="0" anchor="ctr"/>
          <a:lstStyle/>
          <a:p>
            <a:pPr indent="0" marL="0">
              <a:buNone/>
            </a:pPr>
            <a:r>
              <a:rPr lang="en-US" sz="1100" dirty="0">
                <a:solidFill>
                  <a:srgbClr val="D4E4F0"/>
                </a:solidFill>
              </a:rPr>
              <a:t>Evaluator criteria updated monthly from PR pattern data</a:t>
            </a:r>
            <a:endParaRPr lang="en-US" sz="1100" dirty="0"/>
          </a:p>
        </p:txBody>
      </p:sp>
      <p:sp>
        <p:nvSpPr>
          <p:cNvPr id="22" name="Shape 20"/>
          <p:cNvSpPr/>
          <p:nvPr/>
        </p:nvSpPr>
        <p:spPr>
          <a:xfrm>
            <a:off x="4956048" y="2322576"/>
            <a:ext cx="146304" cy="146304"/>
          </a:xfrm>
          <a:prstGeom prst="ellipse">
            <a:avLst/>
          </a:prstGeom>
          <a:solidFill>
            <a:srgbClr val="3A7E6E"/>
          </a:solidFill>
          <a:ln/>
        </p:spPr>
      </p:sp>
      <p:sp>
        <p:nvSpPr>
          <p:cNvPr id="23" name="Text 21"/>
          <p:cNvSpPr/>
          <p:nvPr/>
        </p:nvSpPr>
        <p:spPr>
          <a:xfrm>
            <a:off x="5212080" y="2231136"/>
            <a:ext cx="3456432" cy="475488"/>
          </a:xfrm>
          <a:prstGeom prst="rect">
            <a:avLst/>
          </a:prstGeom>
          <a:noFill/>
          <a:ln/>
        </p:spPr>
        <p:txBody>
          <a:bodyPr wrap="square" lIns="0" tIns="0" rIns="0" bIns="0" rtlCol="0" anchor="ctr"/>
          <a:lstStyle/>
          <a:p>
            <a:pPr indent="0" marL="0">
              <a:buNone/>
            </a:pPr>
            <a:r>
              <a:rPr lang="en-US" sz="1100" dirty="0">
                <a:solidFill>
                  <a:srgbClr val="D4E4F0"/>
                </a:solidFill>
              </a:rPr>
              <a:t>ADRs drafted by agents from Slack discussions, reviewed by engineers</a:t>
            </a:r>
            <a:endParaRPr lang="en-US" sz="1100" dirty="0"/>
          </a:p>
        </p:txBody>
      </p:sp>
      <p:sp>
        <p:nvSpPr>
          <p:cNvPr id="24" name="Shape 22"/>
          <p:cNvSpPr/>
          <p:nvPr/>
        </p:nvSpPr>
        <p:spPr>
          <a:xfrm>
            <a:off x="4956048" y="2871216"/>
            <a:ext cx="146304" cy="146304"/>
          </a:xfrm>
          <a:prstGeom prst="ellipse">
            <a:avLst/>
          </a:prstGeom>
          <a:solidFill>
            <a:srgbClr val="3A7E6E"/>
          </a:solidFill>
          <a:ln/>
        </p:spPr>
      </p:sp>
      <p:sp>
        <p:nvSpPr>
          <p:cNvPr id="25" name="Text 23"/>
          <p:cNvSpPr/>
          <p:nvPr/>
        </p:nvSpPr>
        <p:spPr>
          <a:xfrm>
            <a:off x="5212080" y="2779776"/>
            <a:ext cx="3456432" cy="475488"/>
          </a:xfrm>
          <a:prstGeom prst="rect">
            <a:avLst/>
          </a:prstGeom>
          <a:noFill/>
          <a:ln/>
        </p:spPr>
        <p:txBody>
          <a:bodyPr wrap="square" lIns="0" tIns="0" rIns="0" bIns="0" rtlCol="0" anchor="ctr"/>
          <a:lstStyle/>
          <a:p>
            <a:pPr indent="0" marL="0">
              <a:buNone/>
            </a:pPr>
            <a:r>
              <a:rPr lang="en-US" sz="1100" dirty="0">
                <a:solidFill>
                  <a:srgbClr val="D4E4F0"/>
                </a:solidFill>
              </a:rPr>
              <a:t>HITL tiers re-calibrated quarterly from escalation rate data</a:t>
            </a:r>
            <a:endParaRPr lang="en-US" sz="1100" dirty="0"/>
          </a:p>
        </p:txBody>
      </p:sp>
      <p:sp>
        <p:nvSpPr>
          <p:cNvPr id="26" name="Shape 24"/>
          <p:cNvSpPr/>
          <p:nvPr/>
        </p:nvSpPr>
        <p:spPr>
          <a:xfrm>
            <a:off x="4956048" y="3419856"/>
            <a:ext cx="146304" cy="146304"/>
          </a:xfrm>
          <a:prstGeom prst="ellipse">
            <a:avLst/>
          </a:prstGeom>
          <a:solidFill>
            <a:srgbClr val="3A7E6E"/>
          </a:solidFill>
          <a:ln/>
        </p:spPr>
      </p:sp>
      <p:sp>
        <p:nvSpPr>
          <p:cNvPr id="27" name="Text 25"/>
          <p:cNvSpPr/>
          <p:nvPr/>
        </p:nvSpPr>
        <p:spPr>
          <a:xfrm>
            <a:off x="5212080" y="3328416"/>
            <a:ext cx="3456432" cy="475488"/>
          </a:xfrm>
          <a:prstGeom prst="rect">
            <a:avLst/>
          </a:prstGeom>
          <a:noFill/>
          <a:ln/>
        </p:spPr>
        <p:txBody>
          <a:bodyPr wrap="square" lIns="0" tIns="0" rIns="0" bIns="0" rtlCol="0" anchor="ctr"/>
          <a:lstStyle/>
          <a:p>
            <a:pPr indent="0" marL="0">
              <a:buNone/>
            </a:pPr>
            <a:r>
              <a:rPr lang="en-US" sz="1100" dirty="0">
                <a:solidFill>
                  <a:srgbClr val="D4E4F0"/>
                </a:solidFill>
              </a:rPr>
              <a:t>Rules file versioned, reviewed, and updated on a cadence</a:t>
            </a:r>
            <a:endParaRPr lang="en-US" sz="1100" dirty="0"/>
          </a:p>
        </p:txBody>
      </p:sp>
      <p:sp>
        <p:nvSpPr>
          <p:cNvPr id="28" name="Shape 26"/>
          <p:cNvSpPr/>
          <p:nvPr/>
        </p:nvSpPr>
        <p:spPr>
          <a:xfrm>
            <a:off x="4956048" y="3968496"/>
            <a:ext cx="146304" cy="146304"/>
          </a:xfrm>
          <a:prstGeom prst="ellipse">
            <a:avLst/>
          </a:prstGeom>
          <a:solidFill>
            <a:srgbClr val="3A7E6E"/>
          </a:solidFill>
          <a:ln/>
        </p:spPr>
      </p:sp>
      <p:sp>
        <p:nvSpPr>
          <p:cNvPr id="29" name="Text 27"/>
          <p:cNvSpPr/>
          <p:nvPr/>
        </p:nvSpPr>
        <p:spPr>
          <a:xfrm>
            <a:off x="5212080" y="3877056"/>
            <a:ext cx="3456432" cy="475488"/>
          </a:xfrm>
          <a:prstGeom prst="rect">
            <a:avLst/>
          </a:prstGeom>
          <a:noFill/>
          <a:ln/>
        </p:spPr>
        <p:txBody>
          <a:bodyPr wrap="square" lIns="0" tIns="0" rIns="0" bIns="0" rtlCol="0" anchor="ctr"/>
          <a:lstStyle/>
          <a:p>
            <a:pPr indent="0" marL="0">
              <a:buNone/>
            </a:pPr>
            <a:r>
              <a:rPr lang="en-US" sz="1100" dirty="0">
                <a:solidFill>
                  <a:srgbClr val="D4E4F0"/>
                </a:solidFill>
              </a:rPr>
              <a:t>Team trust in automation grows as accuracy improves</a:t>
            </a:r>
            <a:endParaRPr lang="en-US" sz="1100" dirty="0"/>
          </a:p>
        </p:txBody>
      </p:sp>
      <p:sp>
        <p:nvSpPr>
          <p:cNvPr id="30" name="Text 28"/>
          <p:cNvSpPr/>
          <p:nvPr/>
        </p:nvSpPr>
        <p:spPr>
          <a:xfrm>
            <a:off x="320040" y="4892040"/>
            <a:ext cx="8503920" cy="219456"/>
          </a:xfrm>
          <a:prstGeom prst="rect">
            <a:avLst/>
          </a:prstGeom>
          <a:noFill/>
          <a:ln/>
        </p:spPr>
        <p:txBody>
          <a:bodyPr wrap="square" lIns="0" tIns="0" rIns="0" bIns="0" rtlCol="0" anchor="ctr"/>
          <a:lstStyle/>
          <a:p>
            <a:pPr indent="0" marL="0">
              <a:buNone/>
            </a:pPr>
            <a:r>
              <a:rPr lang="en-US" sz="950" i="1" dirty="0">
                <a:solidFill>
                  <a:srgbClr val="7A90A8"/>
                </a:solidFill>
              </a:rPr>
              <a:t>This is kaizen applied to development process: small, continuous improvements compounding over time rather than large, infrequent overhauls.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C3557"/>
          </a:solidFill>
          <a:ln/>
        </p:spPr>
      </p:sp>
      <p:sp>
        <p:nvSpPr>
          <p:cNvPr id="3" name="Text 1"/>
          <p:cNvSpPr/>
          <p:nvPr/>
        </p:nvSpPr>
        <p:spPr>
          <a:xfrm>
            <a:off x="365760" y="0"/>
            <a:ext cx="841248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HITL TIER ARCHITECTURE  —  MATCH OVERSIGHT TO DECISION RISK</a:t>
            </a:r>
            <a:endParaRPr lang="en-US" sz="1300" dirty="0"/>
          </a:p>
        </p:txBody>
      </p:sp>
      <p:sp>
        <p:nvSpPr>
          <p:cNvPr id="4" name="Text 2"/>
          <p:cNvSpPr/>
          <p:nvPr/>
        </p:nvSpPr>
        <p:spPr>
          <a:xfrm>
            <a:off x="365760" y="822960"/>
            <a:ext cx="8412480" cy="274320"/>
          </a:xfrm>
          <a:prstGeom prst="rect">
            <a:avLst/>
          </a:prstGeom>
          <a:noFill/>
          <a:ln/>
        </p:spPr>
        <p:txBody>
          <a:bodyPr wrap="square" lIns="0" tIns="0" rIns="0" bIns="0" rtlCol="0" anchor="ctr"/>
          <a:lstStyle/>
          <a:p>
            <a:pPr indent="0" marL="0">
              <a:buNone/>
            </a:pPr>
            <a:r>
              <a:rPr lang="en-US" sz="1200" i="1" dirty="0">
                <a:solidFill>
                  <a:srgbClr val="7A90A8"/>
                </a:solidFill>
              </a:rPr>
              <a:t>Not all decisions carry the same risk. A uniform policy either creates bottlenecks or creates gaps.</a:t>
            </a:r>
            <a:endParaRPr lang="en-US" sz="1200" dirty="0"/>
          </a:p>
        </p:txBody>
      </p:sp>
      <p:sp>
        <p:nvSpPr>
          <p:cNvPr id="5" name="Shape 3"/>
          <p:cNvSpPr/>
          <p:nvPr/>
        </p:nvSpPr>
        <p:spPr>
          <a:xfrm>
            <a:off x="320040" y="1152144"/>
            <a:ext cx="2743200" cy="384048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152144"/>
            <a:ext cx="2743200" cy="475488"/>
          </a:xfrm>
          <a:prstGeom prst="rect">
            <a:avLst/>
          </a:prstGeom>
          <a:solidFill>
            <a:srgbClr val="3A7E6E"/>
          </a:solidFill>
          <a:ln/>
        </p:spPr>
      </p:sp>
      <p:sp>
        <p:nvSpPr>
          <p:cNvPr id="7" name="Text 5"/>
          <p:cNvSpPr/>
          <p:nvPr/>
        </p:nvSpPr>
        <p:spPr>
          <a:xfrm>
            <a:off x="320040" y="1152144"/>
            <a:ext cx="2743200" cy="256032"/>
          </a:xfrm>
          <a:prstGeom prst="rect">
            <a:avLst/>
          </a:prstGeom>
          <a:noFill/>
          <a:ln/>
        </p:spPr>
        <p:txBody>
          <a:bodyPr wrap="square" lIns="0" tIns="0" rIns="0" bIns="0" rtlCol="0" anchor="ctr"/>
          <a:lstStyle/>
          <a:p>
            <a:pPr algn="ctr" indent="0" marL="0">
              <a:buNone/>
            </a:pPr>
            <a:r>
              <a:rPr lang="en-US" sz="1000" b="1" dirty="0">
                <a:solidFill>
                  <a:srgbClr val="FFFFFF"/>
                </a:solidFill>
              </a:rPr>
              <a:t>Tier 1</a:t>
            </a:r>
            <a:endParaRPr lang="en-US" sz="1000" dirty="0"/>
          </a:p>
        </p:txBody>
      </p:sp>
      <p:sp>
        <p:nvSpPr>
          <p:cNvPr id="8" name="Text 6"/>
          <p:cNvSpPr/>
          <p:nvPr/>
        </p:nvSpPr>
        <p:spPr>
          <a:xfrm>
            <a:off x="320040" y="1371600"/>
            <a:ext cx="2743200" cy="256032"/>
          </a:xfrm>
          <a:prstGeom prst="rect">
            <a:avLst/>
          </a:prstGeom>
          <a:noFill/>
          <a:ln/>
        </p:spPr>
        <p:txBody>
          <a:bodyPr wrap="square" lIns="0" tIns="0" rIns="0" bIns="0" rtlCol="0" anchor="ctr"/>
          <a:lstStyle/>
          <a:p>
            <a:pPr algn="ctr" indent="0" marL="0">
              <a:buNone/>
            </a:pPr>
            <a:r>
              <a:rPr lang="en-US" sz="1200" b="1" dirty="0">
                <a:solidFill>
                  <a:srgbClr val="FFFFFF"/>
                </a:solidFill>
              </a:rPr>
              <a:t>Fully Automated</a:t>
            </a:r>
            <a:endParaRPr lang="en-US" sz="1200" dirty="0"/>
          </a:p>
        </p:txBody>
      </p:sp>
      <p:sp>
        <p:nvSpPr>
          <p:cNvPr id="9" name="Shape 7"/>
          <p:cNvSpPr/>
          <p:nvPr/>
        </p:nvSpPr>
        <p:spPr>
          <a:xfrm>
            <a:off x="320040" y="1627632"/>
            <a:ext cx="2743200" cy="219456"/>
          </a:xfrm>
          <a:prstGeom prst="rect">
            <a:avLst/>
          </a:prstGeom>
          <a:solidFill>
            <a:srgbClr val="3A7E6E">
              <a:alpha val="60000"/>
            </a:srgbClr>
          </a:solidFill>
          <a:ln/>
        </p:spPr>
      </p:sp>
      <p:sp>
        <p:nvSpPr>
          <p:cNvPr id="10" name="Text 8"/>
          <p:cNvSpPr/>
          <p:nvPr/>
        </p:nvSpPr>
        <p:spPr>
          <a:xfrm>
            <a:off x="320040" y="1627632"/>
            <a:ext cx="2743200" cy="219456"/>
          </a:xfrm>
          <a:prstGeom prst="rect">
            <a:avLst/>
          </a:prstGeom>
          <a:noFill/>
          <a:ln/>
        </p:spPr>
        <p:txBody>
          <a:bodyPr wrap="square" lIns="0" tIns="0" rIns="0" bIns="0" rtlCol="0" anchor="ctr"/>
          <a:lstStyle/>
          <a:p>
            <a:pPr algn="ctr" indent="0" marL="0">
              <a:buNone/>
            </a:pPr>
            <a:r>
              <a:rPr lang="en-US" sz="950" i="1" dirty="0">
                <a:solidFill>
                  <a:srgbClr val="FFFFFF"/>
                </a:solidFill>
              </a:rPr>
              <a:t>No human required</a:t>
            </a:r>
            <a:endParaRPr lang="en-US" sz="950" dirty="0"/>
          </a:p>
        </p:txBody>
      </p:sp>
      <p:sp>
        <p:nvSpPr>
          <p:cNvPr id="11" name="Text 9"/>
          <p:cNvSpPr/>
          <p:nvPr/>
        </p:nvSpPr>
        <p:spPr>
          <a:xfrm>
            <a:off x="448056" y="1920240"/>
            <a:ext cx="2487168" cy="201168"/>
          </a:xfrm>
          <a:prstGeom prst="rect">
            <a:avLst/>
          </a:prstGeom>
          <a:noFill/>
          <a:ln/>
        </p:spPr>
        <p:txBody>
          <a:bodyPr wrap="square" lIns="0" tIns="0" rIns="0" bIns="0" rtlCol="0" anchor="ctr"/>
          <a:lstStyle/>
          <a:p>
            <a:pPr indent="0" marL="0">
              <a:buNone/>
            </a:pPr>
            <a:r>
              <a:rPr lang="en-US" sz="950" b="1" dirty="0">
                <a:solidFill>
                  <a:srgbClr val="7A90A8"/>
                </a:solidFill>
              </a:rPr>
              <a:t>What:</a:t>
            </a:r>
            <a:endParaRPr lang="en-US" sz="950" dirty="0"/>
          </a:p>
        </p:txBody>
      </p:sp>
      <p:sp>
        <p:nvSpPr>
          <p:cNvPr id="12" name="Text 10"/>
          <p:cNvSpPr/>
          <p:nvPr/>
        </p:nvSpPr>
        <p:spPr>
          <a:xfrm>
            <a:off x="448056" y="2103120"/>
            <a:ext cx="2487168" cy="274320"/>
          </a:xfrm>
          <a:prstGeom prst="rect">
            <a:avLst/>
          </a:prstGeom>
          <a:noFill/>
          <a:ln/>
        </p:spPr>
        <p:txBody>
          <a:bodyPr wrap="square" lIns="0" tIns="0" rIns="0" bIns="0" rtlCol="0" anchor="ctr"/>
          <a:lstStyle/>
          <a:p>
            <a:pPr indent="0" marL="0">
              <a:buNone/>
            </a:pPr>
            <a:r>
              <a:rPr lang="en-US" sz="1000" dirty="0">
                <a:solidFill>
                  <a:srgbClr val="1E2D3D"/>
                </a:solidFill>
              </a:rPr>
              <a:t>Reversible, low blast-radius, well-understood</a:t>
            </a:r>
            <a:endParaRPr lang="en-US" sz="1000" dirty="0"/>
          </a:p>
        </p:txBody>
      </p:sp>
      <p:sp>
        <p:nvSpPr>
          <p:cNvPr id="13" name="Text 11"/>
          <p:cNvSpPr/>
          <p:nvPr/>
        </p:nvSpPr>
        <p:spPr>
          <a:xfrm>
            <a:off x="448056" y="2450592"/>
            <a:ext cx="2487168" cy="201168"/>
          </a:xfrm>
          <a:prstGeom prst="rect">
            <a:avLst/>
          </a:prstGeom>
          <a:noFill/>
          <a:ln/>
        </p:spPr>
        <p:txBody>
          <a:bodyPr wrap="square" lIns="0" tIns="0" rIns="0" bIns="0" rtlCol="0" anchor="ctr"/>
          <a:lstStyle/>
          <a:p>
            <a:pPr indent="0" marL="0">
              <a:buNone/>
            </a:pPr>
            <a:r>
              <a:rPr lang="en-US" sz="950" b="1" dirty="0">
                <a:solidFill>
                  <a:srgbClr val="7A90A8"/>
                </a:solidFill>
              </a:rPr>
              <a:t>Examples:</a:t>
            </a:r>
            <a:endParaRPr lang="en-US" sz="950" dirty="0"/>
          </a:p>
        </p:txBody>
      </p:sp>
      <p:sp>
        <p:nvSpPr>
          <p:cNvPr id="14" name="Text 12"/>
          <p:cNvSpPr/>
          <p:nvPr/>
        </p:nvSpPr>
        <p:spPr>
          <a:xfrm>
            <a:off x="448056" y="2651760"/>
            <a:ext cx="2487168" cy="237744"/>
          </a:xfrm>
          <a:prstGeom prst="rect">
            <a:avLst/>
          </a:prstGeom>
          <a:noFill/>
          <a:ln/>
        </p:spPr>
        <p:txBody>
          <a:bodyPr wrap="square" lIns="0" tIns="0" rIns="0" bIns="0" rtlCol="0" anchor="ctr"/>
          <a:lstStyle/>
          <a:p>
            <a:pPr indent="0" marL="0">
              <a:buNone/>
            </a:pPr>
            <a:r>
              <a:rPr lang="en-US" sz="950" dirty="0">
                <a:solidFill>
                  <a:srgbClr val="1E2D3D"/>
                </a:solidFill>
              </a:rPr>
              <a:t>·  Style / formatting fixes</a:t>
            </a:r>
            <a:endParaRPr lang="en-US" sz="950" dirty="0"/>
          </a:p>
        </p:txBody>
      </p:sp>
      <p:sp>
        <p:nvSpPr>
          <p:cNvPr id="15" name="Text 13"/>
          <p:cNvSpPr/>
          <p:nvPr/>
        </p:nvSpPr>
        <p:spPr>
          <a:xfrm>
            <a:off x="448056" y="2907792"/>
            <a:ext cx="2487168" cy="237744"/>
          </a:xfrm>
          <a:prstGeom prst="rect">
            <a:avLst/>
          </a:prstGeom>
          <a:noFill/>
          <a:ln/>
        </p:spPr>
        <p:txBody>
          <a:bodyPr wrap="square" lIns="0" tIns="0" rIns="0" bIns="0" rtlCol="0" anchor="ctr"/>
          <a:lstStyle/>
          <a:p>
            <a:pPr indent="0" marL="0">
              <a:buNone/>
            </a:pPr>
            <a:r>
              <a:rPr lang="en-US" sz="950" dirty="0">
                <a:solidFill>
                  <a:srgbClr val="1E2D3D"/>
                </a:solidFill>
              </a:rPr>
              <a:t>·  Test additions without behaviour change</a:t>
            </a:r>
            <a:endParaRPr lang="en-US" sz="950" dirty="0"/>
          </a:p>
        </p:txBody>
      </p:sp>
      <p:sp>
        <p:nvSpPr>
          <p:cNvPr id="16" name="Text 14"/>
          <p:cNvSpPr/>
          <p:nvPr/>
        </p:nvSpPr>
        <p:spPr>
          <a:xfrm>
            <a:off x="448056" y="3163824"/>
            <a:ext cx="2487168" cy="237744"/>
          </a:xfrm>
          <a:prstGeom prst="rect">
            <a:avLst/>
          </a:prstGeom>
          <a:noFill/>
          <a:ln/>
        </p:spPr>
        <p:txBody>
          <a:bodyPr wrap="square" lIns="0" tIns="0" rIns="0" bIns="0" rtlCol="0" anchor="ctr"/>
          <a:lstStyle/>
          <a:p>
            <a:pPr indent="0" marL="0">
              <a:buNone/>
            </a:pPr>
            <a:r>
              <a:rPr lang="en-US" sz="950" dirty="0">
                <a:solidFill>
                  <a:srgbClr val="1E2D3D"/>
                </a:solidFill>
              </a:rPr>
              <a:t>·  Doc updates for internal APIs</a:t>
            </a:r>
            <a:endParaRPr lang="en-US" sz="950" dirty="0"/>
          </a:p>
        </p:txBody>
      </p:sp>
      <p:sp>
        <p:nvSpPr>
          <p:cNvPr id="17" name="Text 15"/>
          <p:cNvSpPr/>
          <p:nvPr/>
        </p:nvSpPr>
        <p:spPr>
          <a:xfrm>
            <a:off x="448056" y="3419856"/>
            <a:ext cx="2487168" cy="237744"/>
          </a:xfrm>
          <a:prstGeom prst="rect">
            <a:avLst/>
          </a:prstGeom>
          <a:noFill/>
          <a:ln/>
        </p:spPr>
        <p:txBody>
          <a:bodyPr wrap="square" lIns="0" tIns="0" rIns="0" bIns="0" rtlCol="0" anchor="ctr"/>
          <a:lstStyle/>
          <a:p>
            <a:pPr indent="0" marL="0">
              <a:buNone/>
            </a:pPr>
            <a:r>
              <a:rPr lang="en-US" sz="950" dirty="0">
                <a:solidFill>
                  <a:srgbClr val="1E2D3D"/>
                </a:solidFill>
              </a:rPr>
              <a:t>·  Dependency upgrades (no API changes, tests pass)</a:t>
            </a:r>
            <a:endParaRPr lang="en-US" sz="950" dirty="0"/>
          </a:p>
        </p:txBody>
      </p:sp>
      <p:sp>
        <p:nvSpPr>
          <p:cNvPr id="18" name="Shape 16"/>
          <p:cNvSpPr/>
          <p:nvPr/>
        </p:nvSpPr>
        <p:spPr>
          <a:xfrm>
            <a:off x="411480" y="3803904"/>
            <a:ext cx="2560320" cy="201168"/>
          </a:xfrm>
          <a:prstGeom prst="rect">
            <a:avLst/>
          </a:prstGeom>
          <a:solidFill>
            <a:srgbClr val="3A7E6E">
              <a:alpha val="70000"/>
            </a:srgbClr>
          </a:solidFill>
          <a:ln/>
        </p:spPr>
      </p:sp>
      <p:sp>
        <p:nvSpPr>
          <p:cNvPr id="19" name="Text 17"/>
          <p:cNvSpPr/>
          <p:nvPr/>
        </p:nvSpPr>
        <p:spPr>
          <a:xfrm>
            <a:off x="411480" y="3803904"/>
            <a:ext cx="2560320" cy="201168"/>
          </a:xfrm>
          <a:prstGeom prst="rect">
            <a:avLst/>
          </a:prstGeom>
          <a:noFill/>
          <a:ln/>
        </p:spPr>
        <p:txBody>
          <a:bodyPr wrap="square" lIns="0" tIns="0" rIns="0" bIns="0" rtlCol="0" anchor="ctr"/>
          <a:lstStyle/>
          <a:p>
            <a:pPr algn="ctr" indent="0" marL="0">
              <a:buNone/>
            </a:pPr>
            <a:r>
              <a:rPr lang="en-US" sz="900" i="1" dirty="0">
                <a:solidFill>
                  <a:srgbClr val="1E2D3D"/>
                </a:solidFill>
              </a:rPr>
              <a:t>Agent acts immediately. No gate.</a:t>
            </a:r>
            <a:endParaRPr lang="en-US" sz="900" dirty="0"/>
          </a:p>
        </p:txBody>
      </p:sp>
      <p:sp>
        <p:nvSpPr>
          <p:cNvPr id="20" name="Shape 18"/>
          <p:cNvSpPr/>
          <p:nvPr/>
        </p:nvSpPr>
        <p:spPr>
          <a:xfrm>
            <a:off x="3172968" y="1152144"/>
            <a:ext cx="2743200" cy="384048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21" name="Shape 19"/>
          <p:cNvSpPr/>
          <p:nvPr/>
        </p:nvSpPr>
        <p:spPr>
          <a:xfrm>
            <a:off x="3172968" y="1152144"/>
            <a:ext cx="2743200" cy="475488"/>
          </a:xfrm>
          <a:prstGeom prst="rect">
            <a:avLst/>
          </a:prstGeom>
          <a:solidFill>
            <a:srgbClr val="B87820"/>
          </a:solidFill>
          <a:ln/>
        </p:spPr>
      </p:sp>
      <p:sp>
        <p:nvSpPr>
          <p:cNvPr id="22" name="Text 20"/>
          <p:cNvSpPr/>
          <p:nvPr/>
        </p:nvSpPr>
        <p:spPr>
          <a:xfrm>
            <a:off x="3172968" y="1152144"/>
            <a:ext cx="2743200" cy="256032"/>
          </a:xfrm>
          <a:prstGeom prst="rect">
            <a:avLst/>
          </a:prstGeom>
          <a:noFill/>
          <a:ln/>
        </p:spPr>
        <p:txBody>
          <a:bodyPr wrap="square" lIns="0" tIns="0" rIns="0" bIns="0" rtlCol="0" anchor="ctr"/>
          <a:lstStyle/>
          <a:p>
            <a:pPr algn="ctr" indent="0" marL="0">
              <a:buNone/>
            </a:pPr>
            <a:r>
              <a:rPr lang="en-US" sz="1000" b="1" dirty="0">
                <a:solidFill>
                  <a:srgbClr val="FFFFFF"/>
                </a:solidFill>
              </a:rPr>
              <a:t>Tier 2</a:t>
            </a:r>
            <a:endParaRPr lang="en-US" sz="1000" dirty="0"/>
          </a:p>
        </p:txBody>
      </p:sp>
      <p:sp>
        <p:nvSpPr>
          <p:cNvPr id="23" name="Text 21"/>
          <p:cNvSpPr/>
          <p:nvPr/>
        </p:nvSpPr>
        <p:spPr>
          <a:xfrm>
            <a:off x="3172968" y="1371600"/>
            <a:ext cx="2743200" cy="256032"/>
          </a:xfrm>
          <a:prstGeom prst="rect">
            <a:avLst/>
          </a:prstGeom>
          <a:noFill/>
          <a:ln/>
        </p:spPr>
        <p:txBody>
          <a:bodyPr wrap="square" lIns="0" tIns="0" rIns="0" bIns="0" rtlCol="0" anchor="ctr"/>
          <a:lstStyle/>
          <a:p>
            <a:pPr algn="ctr" indent="0" marL="0">
              <a:buNone/>
            </a:pPr>
            <a:r>
              <a:rPr lang="en-US" sz="1200" b="1" dirty="0">
                <a:solidFill>
                  <a:srgbClr val="FFFFFF"/>
                </a:solidFill>
              </a:rPr>
              <a:t>Soft Gate</a:t>
            </a:r>
            <a:endParaRPr lang="en-US" sz="1200" dirty="0"/>
          </a:p>
        </p:txBody>
      </p:sp>
      <p:sp>
        <p:nvSpPr>
          <p:cNvPr id="24" name="Shape 22"/>
          <p:cNvSpPr/>
          <p:nvPr/>
        </p:nvSpPr>
        <p:spPr>
          <a:xfrm>
            <a:off x="3172968" y="1627632"/>
            <a:ext cx="2743200" cy="219456"/>
          </a:xfrm>
          <a:prstGeom prst="rect">
            <a:avLst/>
          </a:prstGeom>
          <a:solidFill>
            <a:srgbClr val="B87820">
              <a:alpha val="60000"/>
            </a:srgbClr>
          </a:solidFill>
          <a:ln/>
        </p:spPr>
      </p:sp>
      <p:sp>
        <p:nvSpPr>
          <p:cNvPr id="25" name="Text 23"/>
          <p:cNvSpPr/>
          <p:nvPr/>
        </p:nvSpPr>
        <p:spPr>
          <a:xfrm>
            <a:off x="3172968" y="1627632"/>
            <a:ext cx="2743200" cy="219456"/>
          </a:xfrm>
          <a:prstGeom prst="rect">
            <a:avLst/>
          </a:prstGeom>
          <a:noFill/>
          <a:ln/>
        </p:spPr>
        <p:txBody>
          <a:bodyPr wrap="square" lIns="0" tIns="0" rIns="0" bIns="0" rtlCol="0" anchor="ctr"/>
          <a:lstStyle/>
          <a:p>
            <a:pPr algn="ctr" indent="0" marL="0">
              <a:buNone/>
            </a:pPr>
            <a:r>
              <a:rPr lang="en-US" sz="950" i="1" dirty="0">
                <a:solidFill>
                  <a:srgbClr val="FFFFFF"/>
                </a:solidFill>
              </a:rPr>
              <a:t>Human notified, not required</a:t>
            </a:r>
            <a:endParaRPr lang="en-US" sz="950" dirty="0"/>
          </a:p>
        </p:txBody>
      </p:sp>
      <p:sp>
        <p:nvSpPr>
          <p:cNvPr id="26" name="Text 24"/>
          <p:cNvSpPr/>
          <p:nvPr/>
        </p:nvSpPr>
        <p:spPr>
          <a:xfrm>
            <a:off x="3300984" y="1920240"/>
            <a:ext cx="2487168" cy="201168"/>
          </a:xfrm>
          <a:prstGeom prst="rect">
            <a:avLst/>
          </a:prstGeom>
          <a:noFill/>
          <a:ln/>
        </p:spPr>
        <p:txBody>
          <a:bodyPr wrap="square" lIns="0" tIns="0" rIns="0" bIns="0" rtlCol="0" anchor="ctr"/>
          <a:lstStyle/>
          <a:p>
            <a:pPr indent="0" marL="0">
              <a:buNone/>
            </a:pPr>
            <a:r>
              <a:rPr lang="en-US" sz="950" b="1" dirty="0">
                <a:solidFill>
                  <a:srgbClr val="7A90A8"/>
                </a:solidFill>
              </a:rPr>
              <a:t>What:</a:t>
            </a:r>
            <a:endParaRPr lang="en-US" sz="950" dirty="0"/>
          </a:p>
        </p:txBody>
      </p:sp>
      <p:sp>
        <p:nvSpPr>
          <p:cNvPr id="27" name="Text 25"/>
          <p:cNvSpPr/>
          <p:nvPr/>
        </p:nvSpPr>
        <p:spPr>
          <a:xfrm>
            <a:off x="3300984" y="2103120"/>
            <a:ext cx="2487168" cy="274320"/>
          </a:xfrm>
          <a:prstGeom prst="rect">
            <a:avLst/>
          </a:prstGeom>
          <a:noFill/>
          <a:ln/>
        </p:spPr>
        <p:txBody>
          <a:bodyPr wrap="square" lIns="0" tIns="0" rIns="0" bIns="0" rtlCol="0" anchor="ctr"/>
          <a:lstStyle/>
          <a:p>
            <a:pPr indent="0" marL="0">
              <a:buNone/>
            </a:pPr>
            <a:r>
              <a:rPr lang="en-US" sz="1000" dirty="0">
                <a:solidFill>
                  <a:srgbClr val="1E2D3D"/>
                </a:solidFill>
              </a:rPr>
              <a:t>Medium-risk or partially reversible</a:t>
            </a:r>
            <a:endParaRPr lang="en-US" sz="1000" dirty="0"/>
          </a:p>
        </p:txBody>
      </p:sp>
      <p:sp>
        <p:nvSpPr>
          <p:cNvPr id="28" name="Text 26"/>
          <p:cNvSpPr/>
          <p:nvPr/>
        </p:nvSpPr>
        <p:spPr>
          <a:xfrm>
            <a:off x="3300984" y="2450592"/>
            <a:ext cx="2487168" cy="201168"/>
          </a:xfrm>
          <a:prstGeom prst="rect">
            <a:avLst/>
          </a:prstGeom>
          <a:noFill/>
          <a:ln/>
        </p:spPr>
        <p:txBody>
          <a:bodyPr wrap="square" lIns="0" tIns="0" rIns="0" bIns="0" rtlCol="0" anchor="ctr"/>
          <a:lstStyle/>
          <a:p>
            <a:pPr indent="0" marL="0">
              <a:buNone/>
            </a:pPr>
            <a:r>
              <a:rPr lang="en-US" sz="950" b="1" dirty="0">
                <a:solidFill>
                  <a:srgbClr val="7A90A8"/>
                </a:solidFill>
              </a:rPr>
              <a:t>Examples:</a:t>
            </a:r>
            <a:endParaRPr lang="en-US" sz="950" dirty="0"/>
          </a:p>
        </p:txBody>
      </p:sp>
      <p:sp>
        <p:nvSpPr>
          <p:cNvPr id="29" name="Text 27"/>
          <p:cNvSpPr/>
          <p:nvPr/>
        </p:nvSpPr>
        <p:spPr>
          <a:xfrm>
            <a:off x="3300984" y="2651760"/>
            <a:ext cx="2487168" cy="237744"/>
          </a:xfrm>
          <a:prstGeom prst="rect">
            <a:avLst/>
          </a:prstGeom>
          <a:noFill/>
          <a:ln/>
        </p:spPr>
        <p:txBody>
          <a:bodyPr wrap="square" lIns="0" tIns="0" rIns="0" bIns="0" rtlCol="0" anchor="ctr"/>
          <a:lstStyle/>
          <a:p>
            <a:pPr indent="0" marL="0">
              <a:buNone/>
            </a:pPr>
            <a:r>
              <a:rPr lang="en-US" sz="950" dirty="0">
                <a:solidFill>
                  <a:srgbClr val="1E2D3D"/>
                </a:solidFill>
              </a:rPr>
              <a:t>·  New feature matching approved spec</a:t>
            </a:r>
            <a:endParaRPr lang="en-US" sz="950" dirty="0"/>
          </a:p>
        </p:txBody>
      </p:sp>
      <p:sp>
        <p:nvSpPr>
          <p:cNvPr id="30" name="Text 28"/>
          <p:cNvSpPr/>
          <p:nvPr/>
        </p:nvSpPr>
        <p:spPr>
          <a:xfrm>
            <a:off x="3300984" y="2907792"/>
            <a:ext cx="2487168" cy="237744"/>
          </a:xfrm>
          <a:prstGeom prst="rect">
            <a:avLst/>
          </a:prstGeom>
          <a:noFill/>
          <a:ln/>
        </p:spPr>
        <p:txBody>
          <a:bodyPr wrap="square" lIns="0" tIns="0" rIns="0" bIns="0" rtlCol="0" anchor="ctr"/>
          <a:lstStyle/>
          <a:p>
            <a:pPr indent="0" marL="0">
              <a:buNone/>
            </a:pPr>
            <a:r>
              <a:rPr lang="en-US" sz="950" dirty="0">
                <a:solidFill>
                  <a:srgbClr val="1E2D3D"/>
                </a:solidFill>
              </a:rPr>
              <a:t>·  Refactoring within a module (full coverage)</a:t>
            </a:r>
            <a:endParaRPr lang="en-US" sz="950" dirty="0"/>
          </a:p>
        </p:txBody>
      </p:sp>
      <p:sp>
        <p:nvSpPr>
          <p:cNvPr id="31" name="Text 29"/>
          <p:cNvSpPr/>
          <p:nvPr/>
        </p:nvSpPr>
        <p:spPr>
          <a:xfrm>
            <a:off x="3300984" y="3163824"/>
            <a:ext cx="2487168" cy="237744"/>
          </a:xfrm>
          <a:prstGeom prst="rect">
            <a:avLst/>
          </a:prstGeom>
          <a:noFill/>
          <a:ln/>
        </p:spPr>
        <p:txBody>
          <a:bodyPr wrap="square" lIns="0" tIns="0" rIns="0" bIns="0" rtlCol="0" anchor="ctr"/>
          <a:lstStyle/>
          <a:p>
            <a:pPr indent="0" marL="0">
              <a:buNone/>
            </a:pPr>
            <a:r>
              <a:rPr lang="en-US" sz="950" dirty="0">
                <a:solidFill>
                  <a:srgbClr val="1E2D3D"/>
                </a:solidFill>
              </a:rPr>
              <a:t>·  Config changes in non-production</a:t>
            </a:r>
            <a:endParaRPr lang="en-US" sz="950" dirty="0"/>
          </a:p>
        </p:txBody>
      </p:sp>
      <p:sp>
        <p:nvSpPr>
          <p:cNvPr id="32" name="Text 30"/>
          <p:cNvSpPr/>
          <p:nvPr/>
        </p:nvSpPr>
        <p:spPr>
          <a:xfrm>
            <a:off x="3300984" y="3419856"/>
            <a:ext cx="2487168" cy="237744"/>
          </a:xfrm>
          <a:prstGeom prst="rect">
            <a:avLst/>
          </a:prstGeom>
          <a:noFill/>
          <a:ln/>
        </p:spPr>
        <p:txBody>
          <a:bodyPr wrap="square" lIns="0" tIns="0" rIns="0" bIns="0" rtlCol="0" anchor="ctr"/>
          <a:lstStyle/>
          <a:p>
            <a:pPr indent="0" marL="0">
              <a:buNone/>
            </a:pPr>
            <a:r>
              <a:rPr lang="en-US" sz="950" dirty="0">
                <a:solidFill>
                  <a:srgbClr val="1E2D3D"/>
                </a:solidFill>
              </a:rPr>
              <a:t>·  Dependency upgrades with API changes</a:t>
            </a:r>
            <a:endParaRPr lang="en-US" sz="950" dirty="0"/>
          </a:p>
        </p:txBody>
      </p:sp>
      <p:sp>
        <p:nvSpPr>
          <p:cNvPr id="33" name="Shape 31"/>
          <p:cNvSpPr/>
          <p:nvPr/>
        </p:nvSpPr>
        <p:spPr>
          <a:xfrm>
            <a:off x="3264408" y="3803904"/>
            <a:ext cx="2560320" cy="201168"/>
          </a:xfrm>
          <a:prstGeom prst="rect">
            <a:avLst/>
          </a:prstGeom>
          <a:solidFill>
            <a:srgbClr val="B87820">
              <a:alpha val="70000"/>
            </a:srgbClr>
          </a:solidFill>
          <a:ln/>
        </p:spPr>
      </p:sp>
      <p:sp>
        <p:nvSpPr>
          <p:cNvPr id="34" name="Text 32"/>
          <p:cNvSpPr/>
          <p:nvPr/>
        </p:nvSpPr>
        <p:spPr>
          <a:xfrm>
            <a:off x="3264408" y="3803904"/>
            <a:ext cx="2560320" cy="201168"/>
          </a:xfrm>
          <a:prstGeom prst="rect">
            <a:avLst/>
          </a:prstGeom>
          <a:noFill/>
          <a:ln/>
        </p:spPr>
        <p:txBody>
          <a:bodyPr wrap="square" lIns="0" tIns="0" rIns="0" bIns="0" rtlCol="0" anchor="ctr"/>
          <a:lstStyle/>
          <a:p>
            <a:pPr algn="ctr" indent="0" marL="0">
              <a:buNone/>
            </a:pPr>
            <a:r>
              <a:rPr lang="en-US" sz="900" i="1" dirty="0">
                <a:solidFill>
                  <a:srgbClr val="1E2D3D"/>
                </a:solidFill>
              </a:rPr>
              <a:t>Agent acts, human has a window to intervene.</a:t>
            </a:r>
            <a:endParaRPr lang="en-US" sz="900" dirty="0"/>
          </a:p>
        </p:txBody>
      </p:sp>
      <p:sp>
        <p:nvSpPr>
          <p:cNvPr id="35" name="Shape 33"/>
          <p:cNvSpPr/>
          <p:nvPr/>
        </p:nvSpPr>
        <p:spPr>
          <a:xfrm>
            <a:off x="6025896" y="1152144"/>
            <a:ext cx="2743200" cy="384048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36" name="Shape 34"/>
          <p:cNvSpPr/>
          <p:nvPr/>
        </p:nvSpPr>
        <p:spPr>
          <a:xfrm>
            <a:off x="6025896" y="1152144"/>
            <a:ext cx="2743200" cy="475488"/>
          </a:xfrm>
          <a:prstGeom prst="rect">
            <a:avLst/>
          </a:prstGeom>
          <a:solidFill>
            <a:srgbClr val="B03040"/>
          </a:solidFill>
          <a:ln/>
        </p:spPr>
      </p:sp>
      <p:sp>
        <p:nvSpPr>
          <p:cNvPr id="37" name="Text 35"/>
          <p:cNvSpPr/>
          <p:nvPr/>
        </p:nvSpPr>
        <p:spPr>
          <a:xfrm>
            <a:off x="6025896" y="1152144"/>
            <a:ext cx="2743200" cy="256032"/>
          </a:xfrm>
          <a:prstGeom prst="rect">
            <a:avLst/>
          </a:prstGeom>
          <a:noFill/>
          <a:ln/>
        </p:spPr>
        <p:txBody>
          <a:bodyPr wrap="square" lIns="0" tIns="0" rIns="0" bIns="0" rtlCol="0" anchor="ctr"/>
          <a:lstStyle/>
          <a:p>
            <a:pPr algn="ctr" indent="0" marL="0">
              <a:buNone/>
            </a:pPr>
            <a:r>
              <a:rPr lang="en-US" sz="1000" b="1" dirty="0">
                <a:solidFill>
                  <a:srgbClr val="FFFFFF"/>
                </a:solidFill>
              </a:rPr>
              <a:t>Tier 3</a:t>
            </a:r>
            <a:endParaRPr lang="en-US" sz="1000" dirty="0"/>
          </a:p>
        </p:txBody>
      </p:sp>
      <p:sp>
        <p:nvSpPr>
          <p:cNvPr id="38" name="Text 36"/>
          <p:cNvSpPr/>
          <p:nvPr/>
        </p:nvSpPr>
        <p:spPr>
          <a:xfrm>
            <a:off x="6025896" y="1371600"/>
            <a:ext cx="2743200" cy="256032"/>
          </a:xfrm>
          <a:prstGeom prst="rect">
            <a:avLst/>
          </a:prstGeom>
          <a:noFill/>
          <a:ln/>
        </p:spPr>
        <p:txBody>
          <a:bodyPr wrap="square" lIns="0" tIns="0" rIns="0" bIns="0" rtlCol="0" anchor="ctr"/>
          <a:lstStyle/>
          <a:p>
            <a:pPr algn="ctr" indent="0" marL="0">
              <a:buNone/>
            </a:pPr>
            <a:r>
              <a:rPr lang="en-US" sz="1200" b="1" dirty="0">
                <a:solidFill>
                  <a:srgbClr val="FFFFFF"/>
                </a:solidFill>
              </a:rPr>
              <a:t>Hard Gate</a:t>
            </a:r>
            <a:endParaRPr lang="en-US" sz="1200" dirty="0"/>
          </a:p>
        </p:txBody>
      </p:sp>
      <p:sp>
        <p:nvSpPr>
          <p:cNvPr id="39" name="Shape 37"/>
          <p:cNvSpPr/>
          <p:nvPr/>
        </p:nvSpPr>
        <p:spPr>
          <a:xfrm>
            <a:off x="6025896" y="1627632"/>
            <a:ext cx="2743200" cy="219456"/>
          </a:xfrm>
          <a:prstGeom prst="rect">
            <a:avLst/>
          </a:prstGeom>
          <a:solidFill>
            <a:srgbClr val="B03040">
              <a:alpha val="60000"/>
            </a:srgbClr>
          </a:solidFill>
          <a:ln/>
        </p:spPr>
      </p:sp>
      <p:sp>
        <p:nvSpPr>
          <p:cNvPr id="40" name="Text 38"/>
          <p:cNvSpPr/>
          <p:nvPr/>
        </p:nvSpPr>
        <p:spPr>
          <a:xfrm>
            <a:off x="6025896" y="1627632"/>
            <a:ext cx="2743200" cy="219456"/>
          </a:xfrm>
          <a:prstGeom prst="rect">
            <a:avLst/>
          </a:prstGeom>
          <a:noFill/>
          <a:ln/>
        </p:spPr>
        <p:txBody>
          <a:bodyPr wrap="square" lIns="0" tIns="0" rIns="0" bIns="0" rtlCol="0" anchor="ctr"/>
          <a:lstStyle/>
          <a:p>
            <a:pPr algn="ctr" indent="0" marL="0">
              <a:buNone/>
            </a:pPr>
            <a:r>
              <a:rPr lang="en-US" sz="950" i="1" dirty="0">
                <a:solidFill>
                  <a:srgbClr val="FFFFFF"/>
                </a:solidFill>
              </a:rPr>
              <a:t>Human approval before action</a:t>
            </a:r>
            <a:endParaRPr lang="en-US" sz="950" dirty="0"/>
          </a:p>
        </p:txBody>
      </p:sp>
      <p:sp>
        <p:nvSpPr>
          <p:cNvPr id="41" name="Text 39"/>
          <p:cNvSpPr/>
          <p:nvPr/>
        </p:nvSpPr>
        <p:spPr>
          <a:xfrm>
            <a:off x="6153912" y="1920240"/>
            <a:ext cx="2487168" cy="201168"/>
          </a:xfrm>
          <a:prstGeom prst="rect">
            <a:avLst/>
          </a:prstGeom>
          <a:noFill/>
          <a:ln/>
        </p:spPr>
        <p:txBody>
          <a:bodyPr wrap="square" lIns="0" tIns="0" rIns="0" bIns="0" rtlCol="0" anchor="ctr"/>
          <a:lstStyle/>
          <a:p>
            <a:pPr indent="0" marL="0">
              <a:buNone/>
            </a:pPr>
            <a:r>
              <a:rPr lang="en-US" sz="950" b="1" dirty="0">
                <a:solidFill>
                  <a:srgbClr val="7A90A8"/>
                </a:solidFill>
              </a:rPr>
              <a:t>What:</a:t>
            </a:r>
            <a:endParaRPr lang="en-US" sz="950" dirty="0"/>
          </a:p>
        </p:txBody>
      </p:sp>
      <p:sp>
        <p:nvSpPr>
          <p:cNvPr id="42" name="Text 40"/>
          <p:cNvSpPr/>
          <p:nvPr/>
        </p:nvSpPr>
        <p:spPr>
          <a:xfrm>
            <a:off x="6153912" y="2103120"/>
            <a:ext cx="2487168" cy="274320"/>
          </a:xfrm>
          <a:prstGeom prst="rect">
            <a:avLst/>
          </a:prstGeom>
          <a:noFill/>
          <a:ln/>
        </p:spPr>
        <p:txBody>
          <a:bodyPr wrap="square" lIns="0" tIns="0" rIns="0" bIns="0" rtlCol="0" anchor="ctr"/>
          <a:lstStyle/>
          <a:p>
            <a:pPr indent="0" marL="0">
              <a:buNone/>
            </a:pPr>
            <a:r>
              <a:rPr lang="en-US" sz="1000" dirty="0">
                <a:solidFill>
                  <a:srgbClr val="1E2D3D"/>
                </a:solidFill>
              </a:rPr>
              <a:t>Irreversible, high blast-radius, or cross-team</a:t>
            </a:r>
            <a:endParaRPr lang="en-US" sz="1000" dirty="0"/>
          </a:p>
        </p:txBody>
      </p:sp>
      <p:sp>
        <p:nvSpPr>
          <p:cNvPr id="43" name="Text 41"/>
          <p:cNvSpPr/>
          <p:nvPr/>
        </p:nvSpPr>
        <p:spPr>
          <a:xfrm>
            <a:off x="6153912" y="2450592"/>
            <a:ext cx="2487168" cy="201168"/>
          </a:xfrm>
          <a:prstGeom prst="rect">
            <a:avLst/>
          </a:prstGeom>
          <a:noFill/>
          <a:ln/>
        </p:spPr>
        <p:txBody>
          <a:bodyPr wrap="square" lIns="0" tIns="0" rIns="0" bIns="0" rtlCol="0" anchor="ctr"/>
          <a:lstStyle/>
          <a:p>
            <a:pPr indent="0" marL="0">
              <a:buNone/>
            </a:pPr>
            <a:r>
              <a:rPr lang="en-US" sz="950" b="1" dirty="0">
                <a:solidFill>
                  <a:srgbClr val="7A90A8"/>
                </a:solidFill>
              </a:rPr>
              <a:t>Examples:</a:t>
            </a:r>
            <a:endParaRPr lang="en-US" sz="950" dirty="0"/>
          </a:p>
        </p:txBody>
      </p:sp>
      <p:sp>
        <p:nvSpPr>
          <p:cNvPr id="44" name="Text 42"/>
          <p:cNvSpPr/>
          <p:nvPr/>
        </p:nvSpPr>
        <p:spPr>
          <a:xfrm>
            <a:off x="6153912" y="2651760"/>
            <a:ext cx="2487168" cy="237744"/>
          </a:xfrm>
          <a:prstGeom prst="rect">
            <a:avLst/>
          </a:prstGeom>
          <a:noFill/>
          <a:ln/>
        </p:spPr>
        <p:txBody>
          <a:bodyPr wrap="square" lIns="0" tIns="0" rIns="0" bIns="0" rtlCol="0" anchor="ctr"/>
          <a:lstStyle/>
          <a:p>
            <a:pPr indent="0" marL="0">
              <a:buNone/>
            </a:pPr>
            <a:r>
              <a:rPr lang="en-US" sz="950" dirty="0">
                <a:solidFill>
                  <a:srgbClr val="1E2D3D"/>
                </a:solidFill>
              </a:rPr>
              <a:t>·  Schema migrations on production data</a:t>
            </a:r>
            <a:endParaRPr lang="en-US" sz="950" dirty="0"/>
          </a:p>
        </p:txBody>
      </p:sp>
      <p:sp>
        <p:nvSpPr>
          <p:cNvPr id="45" name="Text 43"/>
          <p:cNvSpPr/>
          <p:nvPr/>
        </p:nvSpPr>
        <p:spPr>
          <a:xfrm>
            <a:off x="6153912" y="2907792"/>
            <a:ext cx="2487168" cy="237744"/>
          </a:xfrm>
          <a:prstGeom prst="rect">
            <a:avLst/>
          </a:prstGeom>
          <a:noFill/>
          <a:ln/>
        </p:spPr>
        <p:txBody>
          <a:bodyPr wrap="square" lIns="0" tIns="0" rIns="0" bIns="0" rtlCol="0" anchor="ctr"/>
          <a:lstStyle/>
          <a:p>
            <a:pPr indent="0" marL="0">
              <a:buNone/>
            </a:pPr>
            <a:r>
              <a:rPr lang="en-US" sz="950" dirty="0">
                <a:solidFill>
                  <a:srgbClr val="1E2D3D"/>
                </a:solidFill>
              </a:rPr>
              <a:t>·  Auth / crypto code changes</a:t>
            </a:r>
            <a:endParaRPr lang="en-US" sz="950" dirty="0"/>
          </a:p>
        </p:txBody>
      </p:sp>
      <p:sp>
        <p:nvSpPr>
          <p:cNvPr id="46" name="Text 44"/>
          <p:cNvSpPr/>
          <p:nvPr/>
        </p:nvSpPr>
        <p:spPr>
          <a:xfrm>
            <a:off x="6153912" y="3163824"/>
            <a:ext cx="2487168" cy="237744"/>
          </a:xfrm>
          <a:prstGeom prst="rect">
            <a:avLst/>
          </a:prstGeom>
          <a:noFill/>
          <a:ln/>
        </p:spPr>
        <p:txBody>
          <a:bodyPr wrap="square" lIns="0" tIns="0" rIns="0" bIns="0" rtlCol="0" anchor="ctr"/>
          <a:lstStyle/>
          <a:p>
            <a:pPr indent="0" marL="0">
              <a:buNone/>
            </a:pPr>
            <a:r>
              <a:rPr lang="en-US" sz="950" dirty="0">
                <a:solidFill>
                  <a:srgbClr val="1E2D3D"/>
                </a:solidFill>
              </a:rPr>
              <a:t>·  External API contract changes</a:t>
            </a:r>
            <a:endParaRPr lang="en-US" sz="950" dirty="0"/>
          </a:p>
        </p:txBody>
      </p:sp>
      <p:sp>
        <p:nvSpPr>
          <p:cNvPr id="47" name="Text 45"/>
          <p:cNvSpPr/>
          <p:nvPr/>
        </p:nvSpPr>
        <p:spPr>
          <a:xfrm>
            <a:off x="6153912" y="3419856"/>
            <a:ext cx="2487168" cy="237744"/>
          </a:xfrm>
          <a:prstGeom prst="rect">
            <a:avLst/>
          </a:prstGeom>
          <a:noFill/>
          <a:ln/>
        </p:spPr>
        <p:txBody>
          <a:bodyPr wrap="square" lIns="0" tIns="0" rIns="0" bIns="0" rtlCol="0" anchor="ctr"/>
          <a:lstStyle/>
          <a:p>
            <a:pPr indent="0" marL="0">
              <a:buNone/>
            </a:pPr>
            <a:r>
              <a:rPr lang="en-US" sz="950" dirty="0">
                <a:solidFill>
                  <a:srgbClr val="1E2D3D"/>
                </a:solidFill>
              </a:rPr>
              <a:t>·  Changes touching &gt; N files · Production deploys</a:t>
            </a:r>
            <a:endParaRPr lang="en-US" sz="950" dirty="0"/>
          </a:p>
        </p:txBody>
      </p:sp>
      <p:sp>
        <p:nvSpPr>
          <p:cNvPr id="48" name="Shape 46"/>
          <p:cNvSpPr/>
          <p:nvPr/>
        </p:nvSpPr>
        <p:spPr>
          <a:xfrm>
            <a:off x="6117336" y="3803904"/>
            <a:ext cx="2560320" cy="201168"/>
          </a:xfrm>
          <a:prstGeom prst="rect">
            <a:avLst/>
          </a:prstGeom>
          <a:solidFill>
            <a:srgbClr val="B03040">
              <a:alpha val="70000"/>
            </a:srgbClr>
          </a:solidFill>
          <a:ln/>
        </p:spPr>
      </p:sp>
      <p:sp>
        <p:nvSpPr>
          <p:cNvPr id="49" name="Text 47"/>
          <p:cNvSpPr/>
          <p:nvPr/>
        </p:nvSpPr>
        <p:spPr>
          <a:xfrm>
            <a:off x="6117336" y="3803904"/>
            <a:ext cx="2560320" cy="201168"/>
          </a:xfrm>
          <a:prstGeom prst="rect">
            <a:avLst/>
          </a:prstGeom>
          <a:noFill/>
          <a:ln/>
        </p:spPr>
        <p:txBody>
          <a:bodyPr wrap="square" lIns="0" tIns="0" rIns="0" bIns="0" rtlCol="0" anchor="ctr"/>
          <a:lstStyle/>
          <a:p>
            <a:pPr algn="ctr" indent="0" marL="0">
              <a:buNone/>
            </a:pPr>
            <a:r>
              <a:rPr lang="en-US" sz="900" i="1" dirty="0">
                <a:solidFill>
                  <a:srgbClr val="1E2D3D"/>
                </a:solidFill>
              </a:rPr>
              <a:t>Agent waits. No action without approval.</a:t>
            </a:r>
            <a:endParaRPr lang="en-US" sz="900" dirty="0"/>
          </a:p>
        </p:txBody>
      </p:sp>
      <p:sp>
        <p:nvSpPr>
          <p:cNvPr id="50" name="Text 48"/>
          <p:cNvSpPr/>
          <p:nvPr/>
        </p:nvSpPr>
        <p:spPr>
          <a:xfrm>
            <a:off x="320040" y="4892040"/>
            <a:ext cx="8503920" cy="219456"/>
          </a:xfrm>
          <a:prstGeom prst="rect">
            <a:avLst/>
          </a:prstGeom>
          <a:noFill/>
          <a:ln/>
        </p:spPr>
        <p:txBody>
          <a:bodyPr wrap="square" lIns="0" tIns="0" rIns="0" bIns="0" rtlCol="0" anchor="ctr"/>
          <a:lstStyle/>
          <a:p>
            <a:pPr indent="0" marL="0">
              <a:buNone/>
            </a:pPr>
            <a:r>
              <a:rPr lang="en-US" sz="950" i="1" dirty="0">
                <a:solidFill>
                  <a:srgbClr val="7A90A8"/>
                </a:solidFill>
              </a:rPr>
              <a:t>The tier system belongs in your CLAUDE.md — an explicit policy that agents, engineers, and stakeholders can all read.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C3557"/>
        </a:solidFill>
      </p:bgPr>
    </p:bg>
    <p:spTree>
      <p:nvGrpSpPr>
        <p:cNvPr id="1" name=""/>
        <p:cNvGrpSpPr/>
        <p:nvPr/>
      </p:nvGrpSpPr>
      <p:grpSpPr>
        <a:xfrm>
          <a:off x="0" y="0"/>
          <a:ext cx="0" cy="0"/>
          <a:chOff x="0" y="0"/>
          <a:chExt cx="0" cy="0"/>
        </a:xfrm>
      </p:grpSpPr>
      <p:sp>
        <p:nvSpPr>
          <p:cNvPr id="2" name="Text 0"/>
          <p:cNvSpPr/>
          <p:nvPr/>
        </p:nvSpPr>
        <p:spPr>
          <a:xfrm>
            <a:off x="365760" y="201168"/>
            <a:ext cx="8412480" cy="411480"/>
          </a:xfrm>
          <a:prstGeom prst="rect">
            <a:avLst/>
          </a:prstGeom>
          <a:noFill/>
          <a:ln/>
        </p:spPr>
        <p:txBody>
          <a:bodyPr wrap="square" lIns="0" tIns="0" rIns="0" bIns="0" rtlCol="0" anchor="ctr"/>
          <a:lstStyle/>
          <a:p>
            <a:pPr indent="0" marL="0">
              <a:buNone/>
            </a:pPr>
            <a:r>
              <a:rPr lang="en-US" sz="1300" b="1" spc="300" kern="0" dirty="0">
                <a:solidFill>
                  <a:srgbClr val="5B8DB8"/>
                </a:solidFill>
              </a:rPr>
              <a:t>THE SIX DIMENSIONS OF AI-GENERATED PR REVIEW</a:t>
            </a:r>
            <a:endParaRPr lang="en-US" sz="1300" dirty="0"/>
          </a:p>
        </p:txBody>
      </p:sp>
      <p:sp>
        <p:nvSpPr>
          <p:cNvPr id="3" name="Text 1"/>
          <p:cNvSpPr/>
          <p:nvPr/>
        </p:nvSpPr>
        <p:spPr>
          <a:xfrm>
            <a:off x="365760" y="658368"/>
            <a:ext cx="8412480" cy="329184"/>
          </a:xfrm>
          <a:prstGeom prst="rect">
            <a:avLst/>
          </a:prstGeom>
          <a:noFill/>
          <a:ln/>
        </p:spPr>
        <p:txBody>
          <a:bodyPr wrap="square" lIns="0" tIns="0" rIns="0" bIns="0" rtlCol="0" anchor="ctr"/>
          <a:lstStyle/>
          <a:p>
            <a:pPr indent="0" marL="0">
              <a:buNone/>
            </a:pPr>
            <a:r>
              <a:rPr lang="en-US" sz="1300" i="1" dirty="0">
                <a:solidFill>
                  <a:srgbClr val="FFFFFF"/>
                </a:solidFill>
              </a:rPr>
              <a:t>An agent makes mistakes through hallucination, specification drift, or over-literal interpretation — not human distraction.</a:t>
            </a:r>
            <a:endParaRPr lang="en-US" sz="1300" dirty="0"/>
          </a:p>
        </p:txBody>
      </p:sp>
      <p:sp>
        <p:nvSpPr>
          <p:cNvPr id="4" name="Shape 2"/>
          <p:cNvSpPr/>
          <p:nvPr/>
        </p:nvSpPr>
        <p:spPr>
          <a:xfrm>
            <a:off x="320040" y="1133856"/>
            <a:ext cx="2697480" cy="1719072"/>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5" name="Shape 3"/>
          <p:cNvSpPr/>
          <p:nvPr/>
        </p:nvSpPr>
        <p:spPr>
          <a:xfrm>
            <a:off x="320040" y="1133856"/>
            <a:ext cx="329184" cy="329184"/>
          </a:xfrm>
          <a:prstGeom prst="rect">
            <a:avLst/>
          </a:prstGeom>
          <a:solidFill>
            <a:srgbClr val="3A7DC9"/>
          </a:solidFill>
          <a:ln/>
        </p:spPr>
      </p:sp>
      <p:sp>
        <p:nvSpPr>
          <p:cNvPr id="6" name="Text 4"/>
          <p:cNvSpPr/>
          <p:nvPr/>
        </p:nvSpPr>
        <p:spPr>
          <a:xfrm>
            <a:off x="320040" y="113385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5"/>
          <p:cNvSpPr/>
          <p:nvPr/>
        </p:nvSpPr>
        <p:spPr>
          <a:xfrm>
            <a:off x="722376" y="1170432"/>
            <a:ext cx="2221992" cy="274320"/>
          </a:xfrm>
          <a:prstGeom prst="rect">
            <a:avLst/>
          </a:prstGeom>
          <a:noFill/>
          <a:ln/>
        </p:spPr>
        <p:txBody>
          <a:bodyPr wrap="square" lIns="0" tIns="0" rIns="0" bIns="0" rtlCol="0" anchor="ctr"/>
          <a:lstStyle/>
          <a:p>
            <a:pPr indent="0" marL="0">
              <a:buNone/>
            </a:pPr>
            <a:r>
              <a:rPr lang="en-US" sz="1200" b="1" dirty="0">
                <a:solidFill>
                  <a:srgbClr val="3A7DC9"/>
                </a:solidFill>
              </a:rPr>
              <a:t>Scope alignment</a:t>
            </a:r>
            <a:endParaRPr lang="en-US" sz="1200" dirty="0"/>
          </a:p>
        </p:txBody>
      </p:sp>
      <p:sp>
        <p:nvSpPr>
          <p:cNvPr id="8" name="Text 6"/>
          <p:cNvSpPr/>
          <p:nvPr/>
        </p:nvSpPr>
        <p:spPr>
          <a:xfrm>
            <a:off x="429768" y="1536192"/>
            <a:ext cx="2478024" cy="1243584"/>
          </a:xfrm>
          <a:prstGeom prst="rect">
            <a:avLst/>
          </a:prstGeom>
          <a:noFill/>
          <a:ln/>
        </p:spPr>
        <p:txBody>
          <a:bodyPr wrap="square" lIns="0" tIns="0" rIns="0" bIns="0" rtlCol="0" anchor="ctr"/>
          <a:lstStyle/>
          <a:p>
            <a:pPr indent="0" marL="0">
              <a:buNone/>
            </a:pPr>
            <a:r>
              <a:rPr lang="en-US" sz="1050" dirty="0">
                <a:solidFill>
                  <a:srgbClr val="D4E4F0"/>
                </a:solidFill>
              </a:rPr>
              <a:t>Does the change do exactly what the spec required? Agents tend toward overreach (solving adjacent problems) or underreach (implementing the literal instruction while missing intent).</a:t>
            </a:r>
            <a:endParaRPr lang="en-US" sz="1050" dirty="0"/>
          </a:p>
        </p:txBody>
      </p:sp>
      <p:sp>
        <p:nvSpPr>
          <p:cNvPr id="9" name="Shape 7"/>
          <p:cNvSpPr/>
          <p:nvPr/>
        </p:nvSpPr>
        <p:spPr>
          <a:xfrm>
            <a:off x="3200400" y="1133856"/>
            <a:ext cx="2697480" cy="1719072"/>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10" name="Shape 8"/>
          <p:cNvSpPr/>
          <p:nvPr/>
        </p:nvSpPr>
        <p:spPr>
          <a:xfrm>
            <a:off x="3200400" y="1133856"/>
            <a:ext cx="329184" cy="329184"/>
          </a:xfrm>
          <a:prstGeom prst="rect">
            <a:avLst/>
          </a:prstGeom>
          <a:solidFill>
            <a:srgbClr val="4A7FA8"/>
          </a:solidFill>
          <a:ln/>
        </p:spPr>
      </p:sp>
      <p:sp>
        <p:nvSpPr>
          <p:cNvPr id="11" name="Text 9"/>
          <p:cNvSpPr/>
          <p:nvPr/>
        </p:nvSpPr>
        <p:spPr>
          <a:xfrm>
            <a:off x="3200400" y="113385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p:nvPr/>
        </p:nvSpPr>
        <p:spPr>
          <a:xfrm>
            <a:off x="3602736" y="1170432"/>
            <a:ext cx="2221992" cy="274320"/>
          </a:xfrm>
          <a:prstGeom prst="rect">
            <a:avLst/>
          </a:prstGeom>
          <a:noFill/>
          <a:ln/>
        </p:spPr>
        <p:txBody>
          <a:bodyPr wrap="square" lIns="0" tIns="0" rIns="0" bIns="0" rtlCol="0" anchor="ctr"/>
          <a:lstStyle/>
          <a:p>
            <a:pPr indent="0" marL="0">
              <a:buNone/>
            </a:pPr>
            <a:r>
              <a:rPr lang="en-US" sz="1200" b="1" dirty="0">
                <a:solidFill>
                  <a:srgbClr val="4A7FA8"/>
                </a:solidFill>
              </a:rPr>
              <a:t>Intent clarity</a:t>
            </a:r>
            <a:endParaRPr lang="en-US" sz="1200" dirty="0"/>
          </a:p>
        </p:txBody>
      </p:sp>
      <p:sp>
        <p:nvSpPr>
          <p:cNvPr id="13" name="Text 11"/>
          <p:cNvSpPr/>
          <p:nvPr/>
        </p:nvSpPr>
        <p:spPr>
          <a:xfrm>
            <a:off x="3310128" y="1536192"/>
            <a:ext cx="2478024" cy="1243584"/>
          </a:xfrm>
          <a:prstGeom prst="rect">
            <a:avLst/>
          </a:prstGeom>
          <a:noFill/>
          <a:ln/>
        </p:spPr>
        <p:txBody>
          <a:bodyPr wrap="square" lIns="0" tIns="0" rIns="0" bIns="0" rtlCol="0" anchor="ctr"/>
          <a:lstStyle/>
          <a:p>
            <a:pPr indent="0" marL="0">
              <a:buNone/>
            </a:pPr>
            <a:r>
              <a:rPr lang="en-US" sz="1050" dirty="0">
                <a:solidFill>
                  <a:srgbClr val="D4E4F0"/>
                </a:solidFill>
              </a:rPr>
              <a:t>Can you explain in one sentence why this change was made? If not, the PR description is insufficient — regardless of code correctness.</a:t>
            </a:r>
            <a:endParaRPr lang="en-US" sz="1050" dirty="0"/>
          </a:p>
        </p:txBody>
      </p:sp>
      <p:sp>
        <p:nvSpPr>
          <p:cNvPr id="14" name="Shape 12"/>
          <p:cNvSpPr/>
          <p:nvPr/>
        </p:nvSpPr>
        <p:spPr>
          <a:xfrm>
            <a:off x="6080760" y="1133856"/>
            <a:ext cx="2697480" cy="1719072"/>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15" name="Shape 13"/>
          <p:cNvSpPr/>
          <p:nvPr/>
        </p:nvSpPr>
        <p:spPr>
          <a:xfrm>
            <a:off x="6080760" y="1133856"/>
            <a:ext cx="329184" cy="329184"/>
          </a:xfrm>
          <a:prstGeom prst="rect">
            <a:avLst/>
          </a:prstGeom>
          <a:solidFill>
            <a:srgbClr val="3A7E6E"/>
          </a:solidFill>
          <a:ln/>
        </p:spPr>
      </p:sp>
      <p:sp>
        <p:nvSpPr>
          <p:cNvPr id="16" name="Text 14"/>
          <p:cNvSpPr/>
          <p:nvPr/>
        </p:nvSpPr>
        <p:spPr>
          <a:xfrm>
            <a:off x="6080760" y="113385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5"/>
          <p:cNvSpPr/>
          <p:nvPr/>
        </p:nvSpPr>
        <p:spPr>
          <a:xfrm>
            <a:off x="6483096" y="1170432"/>
            <a:ext cx="2221992" cy="274320"/>
          </a:xfrm>
          <a:prstGeom prst="rect">
            <a:avLst/>
          </a:prstGeom>
          <a:noFill/>
          <a:ln/>
        </p:spPr>
        <p:txBody>
          <a:bodyPr wrap="square" lIns="0" tIns="0" rIns="0" bIns="0" rtlCol="0" anchor="ctr"/>
          <a:lstStyle/>
          <a:p>
            <a:pPr indent="0" marL="0">
              <a:buNone/>
            </a:pPr>
            <a:r>
              <a:rPr lang="en-US" sz="1200" b="1" dirty="0">
                <a:solidFill>
                  <a:srgbClr val="3A7E6E"/>
                </a:solidFill>
              </a:rPr>
              <a:t>AC coverage</a:t>
            </a:r>
            <a:endParaRPr lang="en-US" sz="1200" dirty="0"/>
          </a:p>
        </p:txBody>
      </p:sp>
      <p:sp>
        <p:nvSpPr>
          <p:cNvPr id="18" name="Text 16"/>
          <p:cNvSpPr/>
          <p:nvPr/>
        </p:nvSpPr>
        <p:spPr>
          <a:xfrm>
            <a:off x="6190488" y="1536192"/>
            <a:ext cx="2478024" cy="1243584"/>
          </a:xfrm>
          <a:prstGeom prst="rect">
            <a:avLst/>
          </a:prstGeom>
          <a:noFill/>
          <a:ln/>
        </p:spPr>
        <p:txBody>
          <a:bodyPr wrap="square" lIns="0" tIns="0" rIns="0" bIns="0" rtlCol="0" anchor="ctr"/>
          <a:lstStyle/>
          <a:p>
            <a:pPr indent="0" marL="0">
              <a:buNone/>
            </a:pPr>
            <a:r>
              <a:rPr lang="en-US" sz="1050" dirty="0">
                <a:solidFill>
                  <a:srgbClr val="D4E4F0"/>
                </a:solidFill>
              </a:rPr>
              <a:t>Map each acceptance criterion to a test. Agents generate tests that pass but don’t test what the AC actually requires.</a:t>
            </a:r>
            <a:endParaRPr lang="en-US" sz="1050" dirty="0"/>
          </a:p>
        </p:txBody>
      </p:sp>
      <p:sp>
        <p:nvSpPr>
          <p:cNvPr id="19" name="Shape 17"/>
          <p:cNvSpPr/>
          <p:nvPr/>
        </p:nvSpPr>
        <p:spPr>
          <a:xfrm>
            <a:off x="320040" y="3035808"/>
            <a:ext cx="2697480" cy="1719072"/>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20" name="Shape 18"/>
          <p:cNvSpPr/>
          <p:nvPr/>
        </p:nvSpPr>
        <p:spPr>
          <a:xfrm>
            <a:off x="320040" y="3035808"/>
            <a:ext cx="329184" cy="329184"/>
          </a:xfrm>
          <a:prstGeom prst="rect">
            <a:avLst/>
          </a:prstGeom>
          <a:solidFill>
            <a:srgbClr val="8096B0"/>
          </a:solidFill>
          <a:ln/>
        </p:spPr>
      </p:sp>
      <p:sp>
        <p:nvSpPr>
          <p:cNvPr id="21" name="Text 19"/>
          <p:cNvSpPr/>
          <p:nvPr/>
        </p:nvSpPr>
        <p:spPr>
          <a:xfrm>
            <a:off x="320040" y="30358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2" name="Text 20"/>
          <p:cNvSpPr/>
          <p:nvPr/>
        </p:nvSpPr>
        <p:spPr>
          <a:xfrm>
            <a:off x="722376" y="3072384"/>
            <a:ext cx="2221992" cy="274320"/>
          </a:xfrm>
          <a:prstGeom prst="rect">
            <a:avLst/>
          </a:prstGeom>
          <a:noFill/>
          <a:ln/>
        </p:spPr>
        <p:txBody>
          <a:bodyPr wrap="square" lIns="0" tIns="0" rIns="0" bIns="0" rtlCol="0" anchor="ctr"/>
          <a:lstStyle/>
          <a:p>
            <a:pPr indent="0" marL="0">
              <a:buNone/>
            </a:pPr>
            <a:r>
              <a:rPr lang="en-US" sz="1200" b="1" dirty="0">
                <a:solidFill>
                  <a:srgbClr val="8096B0"/>
                </a:solidFill>
              </a:rPr>
              <a:t>Hallucinated APIs</a:t>
            </a:r>
            <a:endParaRPr lang="en-US" sz="1200" dirty="0"/>
          </a:p>
        </p:txBody>
      </p:sp>
      <p:sp>
        <p:nvSpPr>
          <p:cNvPr id="23" name="Text 21"/>
          <p:cNvSpPr/>
          <p:nvPr/>
        </p:nvSpPr>
        <p:spPr>
          <a:xfrm>
            <a:off x="429768" y="3438144"/>
            <a:ext cx="2478024" cy="1243584"/>
          </a:xfrm>
          <a:prstGeom prst="rect">
            <a:avLst/>
          </a:prstGeom>
          <a:noFill/>
          <a:ln/>
        </p:spPr>
        <p:txBody>
          <a:bodyPr wrap="square" lIns="0" tIns="0" rIns="0" bIns="0" rtlCol="0" anchor="ctr"/>
          <a:lstStyle/>
          <a:p>
            <a:pPr indent="0" marL="0">
              <a:buNone/>
            </a:pPr>
            <a:r>
              <a:rPr lang="en-US" sz="1050" dirty="0">
                <a:solidFill>
                  <a:srgbClr val="D4E4F0"/>
                </a:solidFill>
              </a:rPr>
              <a:t>Does every function and import reference something that actually exists? Agents occasionally invent plausible-looking APIs. Linting catches most; not all.</a:t>
            </a:r>
            <a:endParaRPr lang="en-US" sz="1050" dirty="0"/>
          </a:p>
        </p:txBody>
      </p:sp>
      <p:sp>
        <p:nvSpPr>
          <p:cNvPr id="24" name="Shape 22"/>
          <p:cNvSpPr/>
          <p:nvPr/>
        </p:nvSpPr>
        <p:spPr>
          <a:xfrm>
            <a:off x="3200400" y="3035808"/>
            <a:ext cx="2697480" cy="1719072"/>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25" name="Shape 23"/>
          <p:cNvSpPr/>
          <p:nvPr/>
        </p:nvSpPr>
        <p:spPr>
          <a:xfrm>
            <a:off x="3200400" y="3035808"/>
            <a:ext cx="329184" cy="329184"/>
          </a:xfrm>
          <a:prstGeom prst="rect">
            <a:avLst/>
          </a:prstGeom>
          <a:solidFill>
            <a:srgbClr val="B87820"/>
          </a:solidFill>
          <a:ln/>
        </p:spPr>
      </p:sp>
      <p:sp>
        <p:nvSpPr>
          <p:cNvPr id="26" name="Text 24"/>
          <p:cNvSpPr/>
          <p:nvPr/>
        </p:nvSpPr>
        <p:spPr>
          <a:xfrm>
            <a:off x="3200400" y="30358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7" name="Text 25"/>
          <p:cNvSpPr/>
          <p:nvPr/>
        </p:nvSpPr>
        <p:spPr>
          <a:xfrm>
            <a:off x="3602736" y="3072384"/>
            <a:ext cx="2221992" cy="274320"/>
          </a:xfrm>
          <a:prstGeom prst="rect">
            <a:avLst/>
          </a:prstGeom>
          <a:noFill/>
          <a:ln/>
        </p:spPr>
        <p:txBody>
          <a:bodyPr wrap="square" lIns="0" tIns="0" rIns="0" bIns="0" rtlCol="0" anchor="ctr"/>
          <a:lstStyle/>
          <a:p>
            <a:pPr indent="0" marL="0">
              <a:buNone/>
            </a:pPr>
            <a:r>
              <a:rPr lang="en-US" sz="1200" b="1" dirty="0">
                <a:solidFill>
                  <a:srgbClr val="B87820"/>
                </a:solidFill>
              </a:rPr>
              <a:t>Technical debt</a:t>
            </a:r>
            <a:endParaRPr lang="en-US" sz="1200" dirty="0"/>
          </a:p>
        </p:txBody>
      </p:sp>
      <p:sp>
        <p:nvSpPr>
          <p:cNvPr id="28" name="Text 26"/>
          <p:cNvSpPr/>
          <p:nvPr/>
        </p:nvSpPr>
        <p:spPr>
          <a:xfrm>
            <a:off x="3310128" y="3438144"/>
            <a:ext cx="2478024" cy="1243584"/>
          </a:xfrm>
          <a:prstGeom prst="rect">
            <a:avLst/>
          </a:prstGeom>
          <a:noFill/>
          <a:ln/>
        </p:spPr>
        <p:txBody>
          <a:bodyPr wrap="square" lIns="0" tIns="0" rIns="0" bIns="0" rtlCol="0" anchor="ctr"/>
          <a:lstStyle/>
          <a:p>
            <a:pPr indent="0" marL="0">
              <a:buNone/>
            </a:pPr>
            <a:r>
              <a:rPr lang="en-US" sz="1050" dirty="0">
                <a:solidFill>
                  <a:srgbClr val="D4E4F0"/>
                </a:solidFill>
              </a:rPr>
              <a:t>Does the implementation follow current architectural patterns? Agents trained on mixed old/new code may reproduce deprecated patterns.</a:t>
            </a:r>
            <a:endParaRPr lang="en-US" sz="1050" dirty="0"/>
          </a:p>
        </p:txBody>
      </p:sp>
      <p:sp>
        <p:nvSpPr>
          <p:cNvPr id="29" name="Shape 27"/>
          <p:cNvSpPr/>
          <p:nvPr/>
        </p:nvSpPr>
        <p:spPr>
          <a:xfrm>
            <a:off x="6080760" y="3035808"/>
            <a:ext cx="2697480" cy="1719072"/>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30" name="Shape 28"/>
          <p:cNvSpPr/>
          <p:nvPr/>
        </p:nvSpPr>
        <p:spPr>
          <a:xfrm>
            <a:off x="6080760" y="3035808"/>
            <a:ext cx="329184" cy="329184"/>
          </a:xfrm>
          <a:prstGeom prst="rect">
            <a:avLst/>
          </a:prstGeom>
          <a:solidFill>
            <a:srgbClr val="B03040"/>
          </a:solidFill>
          <a:ln/>
        </p:spPr>
      </p:sp>
      <p:sp>
        <p:nvSpPr>
          <p:cNvPr id="31" name="Text 29"/>
          <p:cNvSpPr/>
          <p:nvPr/>
        </p:nvSpPr>
        <p:spPr>
          <a:xfrm>
            <a:off x="6080760" y="30358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2" name="Text 30"/>
          <p:cNvSpPr/>
          <p:nvPr/>
        </p:nvSpPr>
        <p:spPr>
          <a:xfrm>
            <a:off x="6483096" y="3072384"/>
            <a:ext cx="2221992" cy="274320"/>
          </a:xfrm>
          <a:prstGeom prst="rect">
            <a:avLst/>
          </a:prstGeom>
          <a:noFill/>
          <a:ln/>
        </p:spPr>
        <p:txBody>
          <a:bodyPr wrap="square" lIns="0" tIns="0" rIns="0" bIns="0" rtlCol="0" anchor="ctr"/>
          <a:lstStyle/>
          <a:p>
            <a:pPr indent="0" marL="0">
              <a:buNone/>
            </a:pPr>
            <a:r>
              <a:rPr lang="en-US" sz="1200" b="1" dirty="0">
                <a:solidFill>
                  <a:srgbClr val="B03040"/>
                </a:solidFill>
              </a:rPr>
              <a:t>Behaviour match</a:t>
            </a:r>
            <a:endParaRPr lang="en-US" sz="1200" dirty="0"/>
          </a:p>
        </p:txBody>
      </p:sp>
      <p:sp>
        <p:nvSpPr>
          <p:cNvPr id="33" name="Text 31"/>
          <p:cNvSpPr/>
          <p:nvPr/>
        </p:nvSpPr>
        <p:spPr>
          <a:xfrm>
            <a:off x="6190488" y="3438144"/>
            <a:ext cx="2478024" cy="1243584"/>
          </a:xfrm>
          <a:prstGeom prst="rect">
            <a:avLst/>
          </a:prstGeom>
          <a:noFill/>
          <a:ln/>
        </p:spPr>
        <p:txBody>
          <a:bodyPr wrap="square" lIns="0" tIns="0" rIns="0" bIns="0" rtlCol="0" anchor="ctr"/>
          <a:lstStyle/>
          <a:p>
            <a:pPr indent="0" marL="0">
              <a:buNone/>
            </a:pPr>
            <a:r>
              <a:rPr lang="en-US" sz="1050" dirty="0">
                <a:solidFill>
                  <a:srgbClr val="D4E4F0"/>
                </a:solidFill>
              </a:rPr>
              <a:t>Does the code do what the description says? Read description first, verify code matches. Catches subtle behavioural mismatches.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3A7E6E"/>
          </a:solidFill>
          <a:ln/>
        </p:spPr>
      </p:sp>
      <p:sp>
        <p:nvSpPr>
          <p:cNvPr id="3" name="Text 1"/>
          <p:cNvSpPr/>
          <p:nvPr/>
        </p:nvSpPr>
        <p:spPr>
          <a:xfrm>
            <a:off x="365760" y="0"/>
            <a:ext cx="841248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ARCHITECTURE DECISION RECORDS: LIVING AGENT CONTEXT</a:t>
            </a:r>
            <a:endParaRPr lang="en-US" sz="1300" dirty="0"/>
          </a:p>
        </p:txBody>
      </p:sp>
      <p:sp>
        <p:nvSpPr>
          <p:cNvPr id="4" name="Text 2"/>
          <p:cNvSpPr/>
          <p:nvPr/>
        </p:nvSpPr>
        <p:spPr>
          <a:xfrm>
            <a:off x="365760" y="822960"/>
            <a:ext cx="8412480" cy="274320"/>
          </a:xfrm>
          <a:prstGeom prst="rect">
            <a:avLst/>
          </a:prstGeom>
          <a:noFill/>
          <a:ln/>
        </p:spPr>
        <p:txBody>
          <a:bodyPr wrap="square" lIns="0" tIns="0" rIns="0" bIns="0" rtlCol="0" anchor="ctr"/>
          <a:lstStyle/>
          <a:p>
            <a:pPr indent="0" marL="0">
              <a:buNone/>
            </a:pPr>
            <a:r>
              <a:rPr lang="en-US" sz="1200" i="1" dirty="0">
                <a:solidFill>
                  <a:srgbClr val="7A90A8"/>
                </a:solidFill>
              </a:rPr>
              <a:t>ADRs are not documentation artifacts — they are persistent context that agents use to understand why constraints exist.</a:t>
            </a:r>
            <a:endParaRPr lang="en-US" sz="1200" dirty="0"/>
          </a:p>
        </p:txBody>
      </p:sp>
      <p:sp>
        <p:nvSpPr>
          <p:cNvPr id="5" name="Shape 3"/>
          <p:cNvSpPr/>
          <p:nvPr/>
        </p:nvSpPr>
        <p:spPr>
          <a:xfrm>
            <a:off x="320040" y="1170432"/>
            <a:ext cx="4572000" cy="3749040"/>
          </a:xfrm>
          <a:prstGeom prst="rect">
            <a:avLst/>
          </a:prstGeom>
          <a:solidFill>
            <a:srgbClr val="1C3557"/>
          </a:solidFill>
          <a:ln/>
          <a:effectLst>
            <a:outerShdw sx="100000" sy="100000" kx="0" ky="0" algn="bl" rotWithShape="0" blurRad="101600" dist="38100" dir="8100000">
              <a:srgbClr val="000000">
                <a:alpha val="13000"/>
              </a:srgbClr>
            </a:outerShdw>
          </a:effectLst>
        </p:spPr>
      </p:sp>
      <p:sp>
        <p:nvSpPr>
          <p:cNvPr id="6" name="Text 4"/>
          <p:cNvSpPr/>
          <p:nvPr/>
        </p:nvSpPr>
        <p:spPr>
          <a:xfrm>
            <a:off x="475488" y="1243584"/>
            <a:ext cx="4261104" cy="3584448"/>
          </a:xfrm>
          <a:prstGeom prst="rect">
            <a:avLst/>
          </a:prstGeom>
          <a:noFill/>
          <a:ln/>
        </p:spPr>
        <p:txBody>
          <a:bodyPr wrap="square" lIns="0" tIns="0" rIns="0" bIns="0" rtlCol="0" anchor="t"/>
          <a:lstStyle/>
          <a:p>
            <a:pPr indent="0" marL="0">
              <a:buNone/>
            </a:pPr>
            <a:r>
              <a:rPr lang="en-US" sz="950" dirty="0">
                <a:solidFill>
                  <a:srgbClr val="D4E4F0"/>
                </a:solidFill>
                <a:latin typeface="Consolas" pitchFamily="34" charset="0"/>
                <a:ea typeface="Consolas" pitchFamily="34" charset="-122"/>
                <a:cs typeface="Consolas" pitchFamily="34" charset="-120"/>
              </a:rPr>
              <a:t># ADR-[number]: [Short title]</a:t>
            </a:r>
            <a:endParaRPr lang="en-US" sz="950" dirty="0"/>
          </a:p>
          <a:p>
            <a:pPr indent="0" marL="0">
              <a:buNone/>
            </a:pPr>
            <a:r>
              <a:rPr lang="en-US" sz="950" dirty="0">
                <a:solidFill>
                  <a:srgbClr val="D4E4F0"/>
                </a:solidFill>
                <a:latin typeface="Consolas" pitchFamily="34" charset="0"/>
                <a:ea typeface="Consolas" pitchFamily="34" charset="-122"/>
                <a:cs typeface="Consolas" pitchFamily="34" charset="-120"/>
              </a:rPr>
              <a:t>Status: Proposed | Accepted | Deprecated</a:t>
            </a:r>
            <a:endParaRPr lang="en-US" sz="950" dirty="0"/>
          </a:p>
          <a:p>
            <a:pPr indent="0" marL="0">
              <a:buNone/>
            </a:pPr>
            <a:r>
              <a:rPr lang="en-US" sz="950" dirty="0">
                <a:solidFill>
                  <a:srgbClr val="D4E4F0"/>
                </a:solidFill>
                <a:latin typeface="Consolas" pitchFamily="34" charset="0"/>
                <a:ea typeface="Consolas" pitchFamily="34" charset="-122"/>
                <a:cs typeface="Consolas" pitchFamily="34" charset="-120"/>
              </a:rPr>
              <a:t>Date: YYYY-MM-DD</a:t>
            </a:r>
            <a:endParaRPr lang="en-US" sz="950" dirty="0"/>
          </a:p>
          <a:p>
            <a:pPr indent="0" marL="0">
              <a:buNone/>
            </a:pPr>
            <a:endParaRPr lang="en-US" sz="950" dirty="0"/>
          </a:p>
          <a:p>
            <a:pPr indent="0" marL="0">
              <a:buNone/>
            </a:pPr>
            <a:r>
              <a:rPr lang="en-US" sz="950" dirty="0">
                <a:solidFill>
                  <a:srgbClr val="D4E4F0"/>
                </a:solidFill>
                <a:latin typeface="Consolas" pitchFamily="34" charset="0"/>
                <a:ea typeface="Consolas" pitchFamily="34" charset="-122"/>
                <a:cs typeface="Consolas" pitchFamily="34" charset="-120"/>
              </a:rPr>
              <a:t>## Context</a:t>
            </a:r>
            <a:endParaRPr lang="en-US" sz="950" dirty="0"/>
          </a:p>
          <a:p>
            <a:pPr indent="0" marL="0">
              <a:buNone/>
            </a:pPr>
            <a:r>
              <a:rPr lang="en-US" sz="950" dirty="0">
                <a:solidFill>
                  <a:srgbClr val="D4E4F0"/>
                </a:solidFill>
                <a:latin typeface="Consolas" pitchFamily="34" charset="0"/>
                <a:ea typeface="Consolas" pitchFamily="34" charset="-122"/>
                <a:cs typeface="Consolas" pitchFamily="34" charset="-120"/>
              </a:rPr>
              <a:t>What forced this decision?</a:t>
            </a:r>
            <a:endParaRPr lang="en-US" sz="950" dirty="0"/>
          </a:p>
          <a:p>
            <a:pPr indent="0" marL="0">
              <a:buNone/>
            </a:pPr>
            <a:endParaRPr lang="en-US" sz="950" dirty="0"/>
          </a:p>
          <a:p>
            <a:pPr indent="0" marL="0">
              <a:buNone/>
            </a:pPr>
            <a:r>
              <a:rPr lang="en-US" sz="950" dirty="0">
                <a:solidFill>
                  <a:srgbClr val="D4E4F0"/>
                </a:solidFill>
                <a:latin typeface="Consolas" pitchFamily="34" charset="0"/>
                <a:ea typeface="Consolas" pitchFamily="34" charset="-122"/>
                <a:cs typeface="Consolas" pitchFamily="34" charset="-120"/>
              </a:rPr>
              <a:t>## Decision</a:t>
            </a:r>
            <a:endParaRPr lang="en-US" sz="950" dirty="0"/>
          </a:p>
          <a:p>
            <a:pPr indent="0" marL="0">
              <a:buNone/>
            </a:pPr>
            <a:r>
              <a:rPr lang="en-US" sz="950" dirty="0">
                <a:solidFill>
                  <a:srgbClr val="D4E4F0"/>
                </a:solidFill>
                <a:latin typeface="Consolas" pitchFamily="34" charset="0"/>
                <a:ea typeface="Consolas" pitchFamily="34" charset="-122"/>
                <a:cs typeface="Consolas" pitchFamily="34" charset="-120"/>
              </a:rPr>
              <a:t>What was decided, and why?</a:t>
            </a:r>
            <a:endParaRPr lang="en-US" sz="950" dirty="0"/>
          </a:p>
          <a:p>
            <a:pPr indent="0" marL="0">
              <a:buNone/>
            </a:pPr>
            <a:endParaRPr lang="en-US" sz="950" dirty="0"/>
          </a:p>
          <a:p>
            <a:pPr indent="0" marL="0">
              <a:buNone/>
            </a:pPr>
            <a:r>
              <a:rPr lang="en-US" sz="950" dirty="0">
                <a:solidFill>
                  <a:srgbClr val="D4E4F0"/>
                </a:solidFill>
                <a:latin typeface="Consolas" pitchFamily="34" charset="0"/>
                <a:ea typeface="Consolas" pitchFamily="34" charset="-122"/>
                <a:cs typeface="Consolas" pitchFamily="34" charset="-120"/>
              </a:rPr>
              <a:t>## Alternatives considered</a:t>
            </a:r>
            <a:endParaRPr lang="en-US" sz="950" dirty="0"/>
          </a:p>
          <a:p>
            <a:pPr indent="0" marL="0">
              <a:buNone/>
            </a:pPr>
            <a:r>
              <a:rPr lang="en-US" sz="950" dirty="0">
                <a:solidFill>
                  <a:srgbClr val="D4E4F0"/>
                </a:solidFill>
                <a:latin typeface="Consolas" pitchFamily="34" charset="0"/>
                <a:ea typeface="Consolas" pitchFamily="34" charset="-122"/>
                <a:cs typeface="Consolas" pitchFamily="34" charset="-120"/>
              </a:rPr>
              <a:t>What was rejected and why?</a:t>
            </a:r>
            <a:endParaRPr lang="en-US" sz="950" dirty="0"/>
          </a:p>
          <a:p>
            <a:pPr indent="0" marL="0">
              <a:buNone/>
            </a:pPr>
            <a:endParaRPr lang="en-US" sz="950" dirty="0"/>
          </a:p>
          <a:p>
            <a:pPr indent="0" marL="0">
              <a:buNone/>
            </a:pPr>
            <a:r>
              <a:rPr lang="en-US" sz="950" dirty="0">
                <a:solidFill>
                  <a:srgbClr val="D4E4F0"/>
                </a:solidFill>
                <a:latin typeface="Consolas" pitchFamily="34" charset="0"/>
                <a:ea typeface="Consolas" pitchFamily="34" charset="-122"/>
                <a:cs typeface="Consolas" pitchFamily="34" charset="-120"/>
              </a:rPr>
              <a:t>## Consequences</a:t>
            </a:r>
            <a:endParaRPr lang="en-US" sz="950" dirty="0"/>
          </a:p>
          <a:p>
            <a:pPr indent="0" marL="0">
              <a:buNone/>
            </a:pPr>
            <a:r>
              <a:rPr lang="en-US" sz="950" dirty="0">
                <a:solidFill>
                  <a:srgbClr val="D4E4F0"/>
                </a:solidFill>
                <a:latin typeface="Consolas" pitchFamily="34" charset="0"/>
                <a:ea typeface="Consolas" pitchFamily="34" charset="-122"/>
                <a:cs typeface="Consolas" pitchFamily="34" charset="-120"/>
              </a:rPr>
              <a:t>+ What becomes easier</a:t>
            </a:r>
            <a:endParaRPr lang="en-US" sz="950" dirty="0"/>
          </a:p>
          <a:p>
            <a:pPr indent="0" marL="0">
              <a:buNone/>
            </a:pPr>
            <a:r>
              <a:rPr lang="en-US" sz="950" dirty="0">
                <a:solidFill>
                  <a:srgbClr val="D4E4F0"/>
                </a:solidFill>
                <a:latin typeface="Consolas" pitchFamily="34" charset="0"/>
                <a:ea typeface="Consolas" pitchFamily="34" charset="-122"/>
                <a:cs typeface="Consolas" pitchFamily="34" charset="-120"/>
              </a:rPr>
              <a:t>- What becomes harder / prohibited</a:t>
            </a:r>
            <a:endParaRPr lang="en-US" sz="950" dirty="0"/>
          </a:p>
          <a:p>
            <a:pPr indent="0" marL="0">
              <a:buNone/>
            </a:pPr>
            <a:r>
              <a:rPr lang="en-US" sz="950" dirty="0">
                <a:solidFill>
                  <a:srgbClr val="D4E4F0"/>
                </a:solidFill>
                <a:latin typeface="Consolas" pitchFamily="34" charset="0"/>
                <a:ea typeface="Consolas" pitchFamily="34" charset="-122"/>
                <a:cs typeface="Consolas" pitchFamily="34" charset="-120"/>
              </a:rPr>
              <a:t>~ What must be monitored</a:t>
            </a:r>
            <a:endParaRPr lang="en-US" sz="950" dirty="0"/>
          </a:p>
          <a:p>
            <a:pPr indent="0" marL="0">
              <a:buNone/>
            </a:pPr>
            <a:endParaRPr lang="en-US" sz="950" dirty="0"/>
          </a:p>
          <a:p>
            <a:pPr indent="0" marL="0">
              <a:buNone/>
            </a:pPr>
            <a:r>
              <a:rPr lang="en-US" sz="950" dirty="0">
                <a:solidFill>
                  <a:srgbClr val="D4E4F0"/>
                </a:solidFill>
                <a:latin typeface="Consolas" pitchFamily="34" charset="0"/>
                <a:ea typeface="Consolas" pitchFamily="34" charset="-122"/>
                <a:cs typeface="Consolas" pitchFamily="34" charset="-120"/>
              </a:rPr>
              <a:t>## Review trigger</a:t>
            </a:r>
            <a:endParaRPr lang="en-US" sz="950" dirty="0"/>
          </a:p>
          <a:p>
            <a:pPr indent="0" marL="0">
              <a:buNone/>
            </a:pPr>
            <a:r>
              <a:rPr lang="en-US" sz="950" dirty="0">
                <a:solidFill>
                  <a:srgbClr val="D4E4F0"/>
                </a:solidFill>
                <a:latin typeface="Consolas" pitchFamily="34" charset="0"/>
                <a:ea typeface="Consolas" pitchFamily="34" charset="-122"/>
                <a:cs typeface="Consolas" pitchFamily="34" charset="-120"/>
              </a:rPr>
              <a:t>What would require revisiting?</a:t>
            </a:r>
            <a:endParaRPr lang="en-US" sz="950" dirty="0"/>
          </a:p>
        </p:txBody>
      </p:sp>
      <p:sp>
        <p:nvSpPr>
          <p:cNvPr id="7" name="Shape 5"/>
          <p:cNvSpPr/>
          <p:nvPr/>
        </p:nvSpPr>
        <p:spPr>
          <a:xfrm>
            <a:off x="5074920" y="1170432"/>
            <a:ext cx="3749040" cy="84124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8" name="Shape 6"/>
          <p:cNvSpPr/>
          <p:nvPr/>
        </p:nvSpPr>
        <p:spPr>
          <a:xfrm>
            <a:off x="5074920" y="1170432"/>
            <a:ext cx="54864" cy="841248"/>
          </a:xfrm>
          <a:prstGeom prst="rect">
            <a:avLst/>
          </a:prstGeom>
          <a:solidFill>
            <a:srgbClr val="3A7E6E"/>
          </a:solidFill>
          <a:ln/>
        </p:spPr>
      </p:sp>
      <p:sp>
        <p:nvSpPr>
          <p:cNvPr id="9" name="Text 7"/>
          <p:cNvSpPr/>
          <p:nvPr/>
        </p:nvSpPr>
        <p:spPr>
          <a:xfrm>
            <a:off x="5212080" y="1225296"/>
            <a:ext cx="3547872" cy="256032"/>
          </a:xfrm>
          <a:prstGeom prst="rect">
            <a:avLst/>
          </a:prstGeom>
          <a:noFill/>
          <a:ln/>
        </p:spPr>
        <p:txBody>
          <a:bodyPr wrap="square" lIns="0" tIns="0" rIns="0" bIns="0" rtlCol="0" anchor="ctr"/>
          <a:lstStyle/>
          <a:p>
            <a:pPr indent="0" marL="0">
              <a:buNone/>
            </a:pPr>
            <a:r>
              <a:rPr lang="en-US" sz="1150" b="1" dirty="0">
                <a:solidFill>
                  <a:srgbClr val="1C3557"/>
                </a:solidFill>
              </a:rPr>
              <a:t>One decision per ADR</a:t>
            </a:r>
            <a:endParaRPr lang="en-US" sz="1150" dirty="0"/>
          </a:p>
        </p:txBody>
      </p:sp>
      <p:sp>
        <p:nvSpPr>
          <p:cNvPr id="10" name="Text 8"/>
          <p:cNvSpPr/>
          <p:nvPr/>
        </p:nvSpPr>
        <p:spPr>
          <a:xfrm>
            <a:off x="5212080" y="1517904"/>
            <a:ext cx="3547872" cy="438912"/>
          </a:xfrm>
          <a:prstGeom prst="rect">
            <a:avLst/>
          </a:prstGeom>
          <a:noFill/>
          <a:ln/>
        </p:spPr>
        <p:txBody>
          <a:bodyPr wrap="square" lIns="0" tIns="0" rIns="0" bIns="0" rtlCol="0" anchor="ctr"/>
          <a:lstStyle/>
          <a:p>
            <a:pPr indent="0" marL="0">
              <a:buNone/>
            </a:pPr>
            <a:r>
              <a:rPr lang="en-US" sz="1050" dirty="0">
                <a:solidFill>
                  <a:srgbClr val="7A90A8"/>
                </a:solidFill>
              </a:rPr>
              <a:t>Each ADR answers one architectural question. Not a design document. Not a meeting summary.</a:t>
            </a:r>
            <a:endParaRPr lang="en-US" sz="1050" dirty="0"/>
          </a:p>
        </p:txBody>
      </p:sp>
      <p:sp>
        <p:nvSpPr>
          <p:cNvPr id="11" name="Shape 9"/>
          <p:cNvSpPr/>
          <p:nvPr/>
        </p:nvSpPr>
        <p:spPr>
          <a:xfrm>
            <a:off x="5074920" y="2103120"/>
            <a:ext cx="3749040" cy="84124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2" name="Shape 10"/>
          <p:cNvSpPr/>
          <p:nvPr/>
        </p:nvSpPr>
        <p:spPr>
          <a:xfrm>
            <a:off x="5074920" y="2103120"/>
            <a:ext cx="54864" cy="841248"/>
          </a:xfrm>
          <a:prstGeom prst="rect">
            <a:avLst/>
          </a:prstGeom>
          <a:solidFill>
            <a:srgbClr val="3A7E6E"/>
          </a:solidFill>
          <a:ln/>
        </p:spPr>
      </p:sp>
      <p:sp>
        <p:nvSpPr>
          <p:cNvPr id="13" name="Text 11"/>
          <p:cNvSpPr/>
          <p:nvPr/>
        </p:nvSpPr>
        <p:spPr>
          <a:xfrm>
            <a:off x="5212080" y="2157984"/>
            <a:ext cx="3547872" cy="256032"/>
          </a:xfrm>
          <a:prstGeom prst="rect">
            <a:avLst/>
          </a:prstGeom>
          <a:noFill/>
          <a:ln/>
        </p:spPr>
        <p:txBody>
          <a:bodyPr wrap="square" lIns="0" tIns="0" rIns="0" bIns="0" rtlCol="0" anchor="ctr"/>
          <a:lstStyle/>
          <a:p>
            <a:pPr indent="0" marL="0">
              <a:buNone/>
            </a:pPr>
            <a:r>
              <a:rPr lang="en-US" sz="1150" b="1" dirty="0">
                <a:solidFill>
                  <a:srgbClr val="1C3557"/>
                </a:solidFill>
              </a:rPr>
              <a:t>Commit to adr/ folder</a:t>
            </a:r>
            <a:endParaRPr lang="en-US" sz="1150" dirty="0"/>
          </a:p>
        </p:txBody>
      </p:sp>
      <p:sp>
        <p:nvSpPr>
          <p:cNvPr id="14" name="Text 12"/>
          <p:cNvSpPr/>
          <p:nvPr/>
        </p:nvSpPr>
        <p:spPr>
          <a:xfrm>
            <a:off x="5212080" y="2450592"/>
            <a:ext cx="3547872" cy="438912"/>
          </a:xfrm>
          <a:prstGeom prst="rect">
            <a:avLst/>
          </a:prstGeom>
          <a:noFill/>
          <a:ln/>
        </p:spPr>
        <p:txBody>
          <a:bodyPr wrap="square" lIns="0" tIns="0" rIns="0" bIns="0" rtlCol="0" anchor="ctr"/>
          <a:lstStyle/>
          <a:p>
            <a:pPr indent="0" marL="0">
              <a:buNone/>
            </a:pPr>
            <a:r>
              <a:rPr lang="en-US" sz="1050" dirty="0">
                <a:solidFill>
                  <a:srgbClr val="7A90A8"/>
                </a:solidFill>
              </a:rPr>
              <a:t>Version-controlled, referenced in CLAUDE.md. Agent loads on demand. Never in a wiki.</a:t>
            </a:r>
            <a:endParaRPr lang="en-US" sz="1050" dirty="0"/>
          </a:p>
        </p:txBody>
      </p:sp>
      <p:sp>
        <p:nvSpPr>
          <p:cNvPr id="15" name="Shape 13"/>
          <p:cNvSpPr/>
          <p:nvPr/>
        </p:nvSpPr>
        <p:spPr>
          <a:xfrm>
            <a:off x="5074920" y="3035808"/>
            <a:ext cx="3749040" cy="84124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16" name="Shape 14"/>
          <p:cNvSpPr/>
          <p:nvPr/>
        </p:nvSpPr>
        <p:spPr>
          <a:xfrm>
            <a:off x="5074920" y="3035808"/>
            <a:ext cx="54864" cy="841248"/>
          </a:xfrm>
          <a:prstGeom prst="rect">
            <a:avLst/>
          </a:prstGeom>
          <a:solidFill>
            <a:srgbClr val="3A7E6E"/>
          </a:solidFill>
          <a:ln/>
        </p:spPr>
      </p:sp>
      <p:sp>
        <p:nvSpPr>
          <p:cNvPr id="17" name="Text 15"/>
          <p:cNvSpPr/>
          <p:nvPr/>
        </p:nvSpPr>
        <p:spPr>
          <a:xfrm>
            <a:off x="5212080" y="3090672"/>
            <a:ext cx="3547872" cy="256032"/>
          </a:xfrm>
          <a:prstGeom prst="rect">
            <a:avLst/>
          </a:prstGeom>
          <a:noFill/>
          <a:ln/>
        </p:spPr>
        <p:txBody>
          <a:bodyPr wrap="square" lIns="0" tIns="0" rIns="0" bIns="0" rtlCol="0" anchor="ctr"/>
          <a:lstStyle/>
          <a:p>
            <a:pPr indent="0" marL="0">
              <a:buNone/>
            </a:pPr>
            <a:r>
              <a:rPr lang="en-US" sz="1150" b="1" dirty="0">
                <a:solidFill>
                  <a:srgbClr val="1C3557"/>
                </a:solidFill>
              </a:rPr>
              <a:t>Agent-assisted drafting</a:t>
            </a:r>
            <a:endParaRPr lang="en-US" sz="1150" dirty="0"/>
          </a:p>
        </p:txBody>
      </p:sp>
      <p:sp>
        <p:nvSpPr>
          <p:cNvPr id="18" name="Text 16"/>
          <p:cNvSpPr/>
          <p:nvPr/>
        </p:nvSpPr>
        <p:spPr>
          <a:xfrm>
            <a:off x="5212080" y="3383280"/>
            <a:ext cx="3547872" cy="438912"/>
          </a:xfrm>
          <a:prstGeom prst="rect">
            <a:avLst/>
          </a:prstGeom>
          <a:noFill/>
          <a:ln/>
        </p:spPr>
        <p:txBody>
          <a:bodyPr wrap="square" lIns="0" tIns="0" rIns="0" bIns="0" rtlCol="0" anchor="ctr"/>
          <a:lstStyle/>
          <a:p>
            <a:pPr indent="0" marL="0">
              <a:buNone/>
            </a:pPr>
            <a:r>
              <a:rPr lang="en-US" sz="1050" dirty="0">
                <a:solidFill>
                  <a:srgbClr val="7A90A8"/>
                </a:solidFill>
              </a:rPr>
              <a:t>Engineers decide in Slack. Agent summarises discussion, drafts ADR. Human reviews and merges. Sustainable.</a:t>
            </a:r>
            <a:endParaRPr lang="en-US" sz="1050" dirty="0"/>
          </a:p>
        </p:txBody>
      </p:sp>
      <p:sp>
        <p:nvSpPr>
          <p:cNvPr id="19" name="Shape 17"/>
          <p:cNvSpPr/>
          <p:nvPr/>
        </p:nvSpPr>
        <p:spPr>
          <a:xfrm>
            <a:off x="5074920" y="3968496"/>
            <a:ext cx="3749040" cy="841248"/>
          </a:xfrm>
          <a:prstGeom prst="rect">
            <a:avLst/>
          </a:prstGeom>
          <a:solidFill>
            <a:srgbClr val="FFFFFF"/>
          </a:solidFill>
          <a:ln/>
          <a:effectLst>
            <a:outerShdw sx="100000" sy="100000" kx="0" ky="0" algn="bl" rotWithShape="0" blurRad="101600" dist="38100" dir="8100000">
              <a:srgbClr val="000000">
                <a:alpha val="13000"/>
              </a:srgbClr>
            </a:outerShdw>
          </a:effectLst>
        </p:spPr>
      </p:sp>
      <p:sp>
        <p:nvSpPr>
          <p:cNvPr id="20" name="Shape 18"/>
          <p:cNvSpPr/>
          <p:nvPr/>
        </p:nvSpPr>
        <p:spPr>
          <a:xfrm>
            <a:off x="5074920" y="3968496"/>
            <a:ext cx="54864" cy="841248"/>
          </a:xfrm>
          <a:prstGeom prst="rect">
            <a:avLst/>
          </a:prstGeom>
          <a:solidFill>
            <a:srgbClr val="3A7E6E"/>
          </a:solidFill>
          <a:ln/>
        </p:spPr>
      </p:sp>
      <p:sp>
        <p:nvSpPr>
          <p:cNvPr id="21" name="Text 19"/>
          <p:cNvSpPr/>
          <p:nvPr/>
        </p:nvSpPr>
        <p:spPr>
          <a:xfrm>
            <a:off x="5212080" y="4023360"/>
            <a:ext cx="3547872" cy="256032"/>
          </a:xfrm>
          <a:prstGeom prst="rect">
            <a:avLst/>
          </a:prstGeom>
          <a:noFill/>
          <a:ln/>
        </p:spPr>
        <p:txBody>
          <a:bodyPr wrap="square" lIns="0" tIns="0" rIns="0" bIns="0" rtlCol="0" anchor="ctr"/>
          <a:lstStyle/>
          <a:p>
            <a:pPr indent="0" marL="0">
              <a:buNone/>
            </a:pPr>
            <a:r>
              <a:rPr lang="en-US" sz="1150" b="1" dirty="0">
                <a:solidFill>
                  <a:srgbClr val="1C3557"/>
                </a:solidFill>
              </a:rPr>
              <a:t>Link superseded ADRs</a:t>
            </a:r>
            <a:endParaRPr lang="en-US" sz="1150" dirty="0"/>
          </a:p>
        </p:txBody>
      </p:sp>
      <p:sp>
        <p:nvSpPr>
          <p:cNvPr id="22" name="Text 20"/>
          <p:cNvSpPr/>
          <p:nvPr/>
        </p:nvSpPr>
        <p:spPr>
          <a:xfrm>
            <a:off x="5212080" y="4315968"/>
            <a:ext cx="3547872" cy="438912"/>
          </a:xfrm>
          <a:prstGeom prst="rect">
            <a:avLst/>
          </a:prstGeom>
          <a:noFill/>
          <a:ln/>
        </p:spPr>
        <p:txBody>
          <a:bodyPr wrap="square" lIns="0" tIns="0" rIns="0" bIns="0" rtlCol="0" anchor="ctr"/>
          <a:lstStyle/>
          <a:p>
            <a:pPr indent="0" marL="0">
              <a:buNone/>
            </a:pPr>
            <a:r>
              <a:rPr lang="en-US" sz="1050" dirty="0">
                <a:solidFill>
                  <a:srgbClr val="7A90A8"/>
                </a:solidFill>
              </a:rPr>
              <a:t>When a decision changes, mark old ADR as superseded and link forward to the new one.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C3557"/>
          </a:solidFill>
          <a:ln/>
        </p:spPr>
      </p:sp>
      <p:sp>
        <p:nvSpPr>
          <p:cNvPr id="3" name="Text 1"/>
          <p:cNvSpPr/>
          <p:nvPr/>
        </p:nvSpPr>
        <p:spPr>
          <a:xfrm>
            <a:off x="365760" y="0"/>
            <a:ext cx="841248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AGENTIC DEFINITION OF DONE</a:t>
            </a:r>
            <a:endParaRPr lang="en-US" sz="1300" dirty="0"/>
          </a:p>
        </p:txBody>
      </p:sp>
      <p:sp>
        <p:nvSpPr>
          <p:cNvPr id="4" name="Text 2"/>
          <p:cNvSpPr/>
          <p:nvPr/>
        </p:nvSpPr>
        <p:spPr>
          <a:xfrm>
            <a:off x="365760" y="822960"/>
            <a:ext cx="8412480" cy="274320"/>
          </a:xfrm>
          <a:prstGeom prst="rect">
            <a:avLst/>
          </a:prstGeom>
          <a:noFill/>
          <a:ln/>
        </p:spPr>
        <p:txBody>
          <a:bodyPr wrap="square" lIns="0" tIns="0" rIns="0" bIns="0" rtlCol="0" anchor="ctr"/>
          <a:lstStyle/>
          <a:p>
            <a:pPr indent="0" marL="0">
              <a:buNone/>
            </a:pPr>
            <a:r>
              <a:rPr lang="en-US" sz="1200" i="1" dirty="0">
                <a:solidFill>
                  <a:srgbClr val="7A90A8"/>
                </a:solidFill>
              </a:rPr>
              <a:t>A DoD that exists only as a wiki page is not enforced. An agentic DoD is encoded in the evaluator’s checklist.</a:t>
            </a:r>
            <a:endParaRPr lang="en-US" sz="1200" dirty="0"/>
          </a:p>
        </p:txBody>
      </p:sp>
      <p:sp>
        <p:nvSpPr>
          <p:cNvPr id="5" name="Shape 3"/>
          <p:cNvSpPr/>
          <p:nvPr/>
        </p:nvSpPr>
        <p:spPr>
          <a:xfrm>
            <a:off x="320040" y="1170432"/>
            <a:ext cx="4114800" cy="3657600"/>
          </a:xfrm>
          <a:prstGeom prst="rect">
            <a:avLst/>
          </a:prstGeom>
          <a:solidFill>
            <a:srgbClr val="1C3557"/>
          </a:solidFill>
          <a:ln/>
          <a:effectLst>
            <a:outerShdw sx="100000" sy="100000" kx="0" ky="0" algn="bl" rotWithShape="0" blurRad="101600" dist="38100" dir="8100000">
              <a:srgbClr val="000000">
                <a:alpha val="13000"/>
              </a:srgbClr>
            </a:outerShdw>
          </a:effectLst>
        </p:spPr>
      </p:sp>
      <p:sp>
        <p:nvSpPr>
          <p:cNvPr id="6" name="Text 4"/>
          <p:cNvSpPr/>
          <p:nvPr/>
        </p:nvSpPr>
        <p:spPr>
          <a:xfrm>
            <a:off x="475488" y="1261872"/>
            <a:ext cx="3803904" cy="3474720"/>
          </a:xfrm>
          <a:prstGeom prst="rect">
            <a:avLst/>
          </a:prstGeom>
          <a:noFill/>
          <a:ln/>
        </p:spPr>
        <p:txBody>
          <a:bodyPr wrap="square" lIns="0" tIns="0" rIns="0" bIns="0" rtlCol="0" anchor="t"/>
          <a:lstStyle/>
          <a:p>
            <a:pPr indent="0" marL="0">
              <a:buNone/>
            </a:pPr>
            <a:r>
              <a:rPr lang="en-US" sz="1100" dirty="0">
                <a:solidFill>
                  <a:srgbClr val="D4E4F0"/>
                </a:solidFill>
                <a:latin typeface="Consolas" pitchFamily="34" charset="0"/>
                <a:ea typeface="Consolas" pitchFamily="34" charset="-122"/>
                <a:cs typeface="Consolas" pitchFamily="34" charset="-120"/>
              </a:rPr>
              <a:t>definition_of_done:</a:t>
            </a:r>
            <a:endParaRPr lang="en-US" sz="1100" dirty="0"/>
          </a:p>
          <a:p>
            <a:pPr indent="0" marL="0">
              <a:buNone/>
            </a:pPr>
            <a:r>
              <a:rPr lang="en-US" sz="1100" dirty="0">
                <a:solidFill>
                  <a:srgbClr val="D4E4F0"/>
                </a:solidFill>
                <a:latin typeface="Consolas" pitchFamily="34" charset="0"/>
                <a:ea typeface="Consolas" pitchFamily="34" charset="-122"/>
                <a:cs typeface="Consolas" pitchFamily="34" charset="-120"/>
              </a:rPr>
              <a:t>  all_tests_pass: true</a:t>
            </a:r>
            <a:endParaRPr lang="en-US" sz="1100" dirty="0"/>
          </a:p>
          <a:p>
            <a:pPr indent="0" marL="0">
              <a:buNone/>
            </a:pPr>
            <a:r>
              <a:rPr lang="en-US" sz="1100" dirty="0">
                <a:solidFill>
                  <a:srgbClr val="D4E4F0"/>
                </a:solidFill>
                <a:latin typeface="Consolas" pitchFamily="34" charset="0"/>
                <a:ea typeface="Consolas" pitchFamily="34" charset="-122"/>
                <a:cs typeface="Consolas" pitchFamily="34" charset="-120"/>
              </a:rPr>
              <a:t>  coverage_threshold: 85%</a:t>
            </a:r>
            <a:endParaRPr lang="en-US" sz="1100" dirty="0"/>
          </a:p>
          <a:p>
            <a:pPr indent="0" marL="0">
              <a:buNone/>
            </a:pPr>
            <a:r>
              <a:rPr lang="en-US" sz="1100" dirty="0">
                <a:solidFill>
                  <a:srgbClr val="D4E4F0"/>
                </a:solidFill>
                <a:latin typeface="Consolas" pitchFamily="34" charset="0"/>
                <a:ea typeface="Consolas" pitchFamily="34" charset="-122"/>
                <a:cs typeface="Consolas" pitchFamily="34" charset="-120"/>
              </a:rPr>
              <a:t>  no_new_lint_errors: true</a:t>
            </a:r>
            <a:endParaRPr lang="en-US" sz="1100" dirty="0"/>
          </a:p>
          <a:p>
            <a:pPr indent="0" marL="0">
              <a:buNone/>
            </a:pPr>
            <a:r>
              <a:rPr lang="en-US" sz="1100" dirty="0">
                <a:solidFill>
                  <a:srgbClr val="D4E4F0"/>
                </a:solidFill>
                <a:latin typeface="Consolas" pitchFamily="34" charset="0"/>
                <a:ea typeface="Consolas" pitchFamily="34" charset="-122"/>
                <a:cs typeface="Consolas" pitchFamily="34" charset="-120"/>
              </a:rPr>
              <a:t>  spec_requirements_mapped: true</a:t>
            </a:r>
            <a:endParaRPr lang="en-US" sz="1100" dirty="0"/>
          </a:p>
          <a:p>
            <a:pPr indent="0" marL="0">
              <a:buNone/>
            </a:pPr>
            <a:r>
              <a:rPr lang="en-US" sz="1100" dirty="0">
                <a:solidFill>
                  <a:srgbClr val="D4E4F0"/>
                </a:solidFill>
                <a:latin typeface="Consolas" pitchFamily="34" charset="0"/>
                <a:ea typeface="Consolas" pitchFamily="34" charset="-122"/>
                <a:cs typeface="Consolas" pitchFamily="34" charset="-120"/>
              </a:rPr>
              <a:t>  pr_description_complete: true</a:t>
            </a:r>
            <a:endParaRPr lang="en-US" sz="1100" dirty="0"/>
          </a:p>
          <a:p>
            <a:pPr indent="0" marL="0">
              <a:buNone/>
            </a:pPr>
            <a:r>
              <a:rPr lang="en-US" sz="1100" dirty="0">
                <a:solidFill>
                  <a:srgbClr val="D4E4F0"/>
                </a:solidFill>
                <a:latin typeface="Consolas" pitchFamily="34" charset="0"/>
                <a:ea typeface="Consolas" pitchFamily="34" charset="-122"/>
                <a:cs typeface="Consolas" pitchFamily="34" charset="-120"/>
              </a:rPr>
              <a:t>  no_secrets_in_code: true</a:t>
            </a:r>
            <a:endParaRPr lang="en-US" sz="1100" dirty="0"/>
          </a:p>
          <a:p>
            <a:pPr indent="0" marL="0">
              <a:buNone/>
            </a:pPr>
            <a:r>
              <a:rPr lang="en-US" sz="1100" dirty="0">
                <a:solidFill>
                  <a:srgbClr val="D4E4F0"/>
                </a:solidFill>
                <a:latin typeface="Consolas" pitchFamily="34" charset="0"/>
                <a:ea typeface="Consolas" pitchFamily="34" charset="-122"/>
                <a:cs typeface="Consolas" pitchFamily="34" charset="-120"/>
              </a:rPr>
              <a:t>  no_hallucinated_imports: true</a:t>
            </a:r>
            <a:endParaRPr lang="en-US" sz="1100" dirty="0"/>
          </a:p>
          <a:p>
            <a:pPr indent="0" marL="0">
              <a:buNone/>
            </a:pPr>
            <a:r>
              <a:rPr lang="en-US" sz="1100" dirty="0">
                <a:solidFill>
                  <a:srgbClr val="D4E4F0"/>
                </a:solidFill>
                <a:latin typeface="Consolas" pitchFamily="34" charset="0"/>
                <a:ea typeface="Consolas" pitchFamily="34" charset="-122"/>
                <a:cs typeface="Consolas" pitchFamily="34" charset="-120"/>
              </a:rPr>
              <a:t>  adr_conflicts_checked: true</a:t>
            </a:r>
            <a:endParaRPr lang="en-US" sz="1100" dirty="0"/>
          </a:p>
        </p:txBody>
      </p:sp>
      <p:sp>
        <p:nvSpPr>
          <p:cNvPr id="7" name="Shape 5"/>
          <p:cNvSpPr/>
          <p:nvPr/>
        </p:nvSpPr>
        <p:spPr>
          <a:xfrm>
            <a:off x="4709160" y="1170432"/>
            <a:ext cx="4114800" cy="841248"/>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8" name="Shape 6"/>
          <p:cNvSpPr/>
          <p:nvPr/>
        </p:nvSpPr>
        <p:spPr>
          <a:xfrm>
            <a:off x="4709160" y="1170432"/>
            <a:ext cx="54864" cy="841248"/>
          </a:xfrm>
          <a:prstGeom prst="rect">
            <a:avLst/>
          </a:prstGeom>
          <a:solidFill>
            <a:srgbClr val="1C3557"/>
          </a:solidFill>
          <a:ln/>
        </p:spPr>
      </p:sp>
      <p:sp>
        <p:nvSpPr>
          <p:cNvPr id="9" name="Text 7"/>
          <p:cNvSpPr/>
          <p:nvPr/>
        </p:nvSpPr>
        <p:spPr>
          <a:xfrm>
            <a:off x="4846320" y="1225296"/>
            <a:ext cx="3913632" cy="256032"/>
          </a:xfrm>
          <a:prstGeom prst="rect">
            <a:avLst/>
          </a:prstGeom>
          <a:noFill/>
          <a:ln/>
        </p:spPr>
        <p:txBody>
          <a:bodyPr wrap="square" lIns="0" tIns="0" rIns="0" bIns="0" rtlCol="0" anchor="ctr"/>
          <a:lstStyle/>
          <a:p>
            <a:pPr indent="0" marL="0">
              <a:buNone/>
            </a:pPr>
            <a:r>
              <a:rPr lang="en-US" sz="1150" b="1" dirty="0">
                <a:solidFill>
                  <a:srgbClr val="1C3557"/>
                </a:solidFill>
              </a:rPr>
              <a:t>Automated, not aspirational</a:t>
            </a:r>
            <a:endParaRPr lang="en-US" sz="1150" dirty="0"/>
          </a:p>
        </p:txBody>
      </p:sp>
      <p:sp>
        <p:nvSpPr>
          <p:cNvPr id="10" name="Text 8"/>
          <p:cNvSpPr/>
          <p:nvPr/>
        </p:nvSpPr>
        <p:spPr>
          <a:xfrm>
            <a:off x="4846320" y="1517904"/>
            <a:ext cx="3913632" cy="438912"/>
          </a:xfrm>
          <a:prstGeom prst="rect">
            <a:avLst/>
          </a:prstGeom>
          <a:noFill/>
          <a:ln/>
        </p:spPr>
        <p:txBody>
          <a:bodyPr wrap="square" lIns="0" tIns="0" rIns="0" bIns="0" rtlCol="0" anchor="ctr"/>
          <a:lstStyle/>
          <a:p>
            <a:pPr indent="0" marL="0">
              <a:buNone/>
            </a:pPr>
            <a:r>
              <a:rPr lang="en-US" sz="1050" dirty="0">
                <a:solidFill>
                  <a:srgbClr val="7A90A8"/>
                </a:solidFill>
              </a:rPr>
              <a:t>Every item the evaluator can check is one fewer thing the human reviewer spends time on.</a:t>
            </a:r>
            <a:endParaRPr lang="en-US" sz="1050" dirty="0"/>
          </a:p>
        </p:txBody>
      </p:sp>
      <p:sp>
        <p:nvSpPr>
          <p:cNvPr id="11" name="Shape 9"/>
          <p:cNvSpPr/>
          <p:nvPr/>
        </p:nvSpPr>
        <p:spPr>
          <a:xfrm>
            <a:off x="4709160" y="2103120"/>
            <a:ext cx="4114800" cy="841248"/>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12" name="Shape 10"/>
          <p:cNvSpPr/>
          <p:nvPr/>
        </p:nvSpPr>
        <p:spPr>
          <a:xfrm>
            <a:off x="4709160" y="2103120"/>
            <a:ext cx="54864" cy="841248"/>
          </a:xfrm>
          <a:prstGeom prst="rect">
            <a:avLst/>
          </a:prstGeom>
          <a:solidFill>
            <a:srgbClr val="1C3557"/>
          </a:solidFill>
          <a:ln/>
        </p:spPr>
      </p:sp>
      <p:sp>
        <p:nvSpPr>
          <p:cNvPr id="13" name="Text 11"/>
          <p:cNvSpPr/>
          <p:nvPr/>
        </p:nvSpPr>
        <p:spPr>
          <a:xfrm>
            <a:off x="4846320" y="2157984"/>
            <a:ext cx="3913632" cy="256032"/>
          </a:xfrm>
          <a:prstGeom prst="rect">
            <a:avLst/>
          </a:prstGeom>
          <a:noFill/>
          <a:ln/>
        </p:spPr>
        <p:txBody>
          <a:bodyPr wrap="square" lIns="0" tIns="0" rIns="0" bIns="0" rtlCol="0" anchor="ctr"/>
          <a:lstStyle/>
          <a:p>
            <a:pPr indent="0" marL="0">
              <a:buNone/>
            </a:pPr>
            <a:r>
              <a:rPr lang="en-US" sz="1150" b="1" dirty="0">
                <a:solidFill>
                  <a:srgbClr val="1C3557"/>
                </a:solidFill>
              </a:rPr>
              <a:t>Coverage threshold in DoD</a:t>
            </a:r>
            <a:endParaRPr lang="en-US" sz="1150" dirty="0"/>
          </a:p>
        </p:txBody>
      </p:sp>
      <p:sp>
        <p:nvSpPr>
          <p:cNvPr id="14" name="Text 12"/>
          <p:cNvSpPr/>
          <p:nvPr/>
        </p:nvSpPr>
        <p:spPr>
          <a:xfrm>
            <a:off x="4846320" y="2450592"/>
            <a:ext cx="3913632" cy="438912"/>
          </a:xfrm>
          <a:prstGeom prst="rect">
            <a:avLst/>
          </a:prstGeom>
          <a:noFill/>
          <a:ln/>
        </p:spPr>
        <p:txBody>
          <a:bodyPr wrap="square" lIns="0" tIns="0" rIns="0" bIns="0" rtlCol="0" anchor="ctr"/>
          <a:lstStyle/>
          <a:p>
            <a:pPr indent="0" marL="0">
              <a:buNone/>
            </a:pPr>
            <a:r>
              <a:rPr lang="en-US" sz="1050" dirty="0">
                <a:solidFill>
                  <a:srgbClr val="7A90A8"/>
                </a:solidFill>
              </a:rPr>
              <a:t>85% coverage enforced at the gate. Not a guideline. The PR fails if coverage drops.</a:t>
            </a:r>
            <a:endParaRPr lang="en-US" sz="1050" dirty="0"/>
          </a:p>
        </p:txBody>
      </p:sp>
      <p:sp>
        <p:nvSpPr>
          <p:cNvPr id="15" name="Shape 13"/>
          <p:cNvSpPr/>
          <p:nvPr/>
        </p:nvSpPr>
        <p:spPr>
          <a:xfrm>
            <a:off x="4709160" y="3035808"/>
            <a:ext cx="4114800" cy="841248"/>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16" name="Shape 14"/>
          <p:cNvSpPr/>
          <p:nvPr/>
        </p:nvSpPr>
        <p:spPr>
          <a:xfrm>
            <a:off x="4709160" y="3035808"/>
            <a:ext cx="54864" cy="841248"/>
          </a:xfrm>
          <a:prstGeom prst="rect">
            <a:avLst/>
          </a:prstGeom>
          <a:solidFill>
            <a:srgbClr val="1C3557"/>
          </a:solidFill>
          <a:ln/>
        </p:spPr>
      </p:sp>
      <p:sp>
        <p:nvSpPr>
          <p:cNvPr id="17" name="Text 15"/>
          <p:cNvSpPr/>
          <p:nvPr/>
        </p:nvSpPr>
        <p:spPr>
          <a:xfrm>
            <a:off x="4846320" y="3090672"/>
            <a:ext cx="3913632" cy="256032"/>
          </a:xfrm>
          <a:prstGeom prst="rect">
            <a:avLst/>
          </a:prstGeom>
          <a:noFill/>
          <a:ln/>
        </p:spPr>
        <p:txBody>
          <a:bodyPr wrap="square" lIns="0" tIns="0" rIns="0" bIns="0" rtlCol="0" anchor="ctr"/>
          <a:lstStyle/>
          <a:p>
            <a:pPr indent="0" marL="0">
              <a:buNone/>
            </a:pPr>
            <a:r>
              <a:rPr lang="en-US" sz="1150" b="1" dirty="0">
                <a:solidFill>
                  <a:srgbClr val="1C3557"/>
                </a:solidFill>
              </a:rPr>
              <a:t>adr_conflicts_checked</a:t>
            </a:r>
            <a:endParaRPr lang="en-US" sz="1150" dirty="0"/>
          </a:p>
        </p:txBody>
      </p:sp>
      <p:sp>
        <p:nvSpPr>
          <p:cNvPr id="18" name="Text 16"/>
          <p:cNvSpPr/>
          <p:nvPr/>
        </p:nvSpPr>
        <p:spPr>
          <a:xfrm>
            <a:off x="4846320" y="3383280"/>
            <a:ext cx="3913632" cy="438912"/>
          </a:xfrm>
          <a:prstGeom prst="rect">
            <a:avLst/>
          </a:prstGeom>
          <a:noFill/>
          <a:ln/>
        </p:spPr>
        <p:txBody>
          <a:bodyPr wrap="square" lIns="0" tIns="0" rIns="0" bIns="0" rtlCol="0" anchor="ctr"/>
          <a:lstStyle/>
          <a:p>
            <a:pPr indent="0" marL="0">
              <a:buNone/>
            </a:pPr>
            <a:r>
              <a:rPr lang="en-US" sz="1050" dirty="0">
                <a:solidFill>
                  <a:srgbClr val="7A90A8"/>
                </a:solidFill>
              </a:rPr>
              <a:t>Before merging, verify no new code contradicts an accepted ADR. The evaluator reads the ADR folder.</a:t>
            </a:r>
            <a:endParaRPr lang="en-US" sz="1050" dirty="0"/>
          </a:p>
        </p:txBody>
      </p:sp>
      <p:sp>
        <p:nvSpPr>
          <p:cNvPr id="19" name="Shape 17"/>
          <p:cNvSpPr/>
          <p:nvPr/>
        </p:nvSpPr>
        <p:spPr>
          <a:xfrm>
            <a:off x="4709160" y="3968496"/>
            <a:ext cx="4114800" cy="841248"/>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20" name="Shape 18"/>
          <p:cNvSpPr/>
          <p:nvPr/>
        </p:nvSpPr>
        <p:spPr>
          <a:xfrm>
            <a:off x="4709160" y="3968496"/>
            <a:ext cx="54864" cy="841248"/>
          </a:xfrm>
          <a:prstGeom prst="rect">
            <a:avLst/>
          </a:prstGeom>
          <a:solidFill>
            <a:srgbClr val="1C3557"/>
          </a:solidFill>
          <a:ln/>
        </p:spPr>
      </p:sp>
      <p:sp>
        <p:nvSpPr>
          <p:cNvPr id="21" name="Text 19"/>
          <p:cNvSpPr/>
          <p:nvPr/>
        </p:nvSpPr>
        <p:spPr>
          <a:xfrm>
            <a:off x="4846320" y="4023360"/>
            <a:ext cx="3913632" cy="256032"/>
          </a:xfrm>
          <a:prstGeom prst="rect">
            <a:avLst/>
          </a:prstGeom>
          <a:noFill/>
          <a:ln/>
        </p:spPr>
        <p:txBody>
          <a:bodyPr wrap="square" lIns="0" tIns="0" rIns="0" bIns="0" rtlCol="0" anchor="ctr"/>
          <a:lstStyle/>
          <a:p>
            <a:pPr indent="0" marL="0">
              <a:buNone/>
            </a:pPr>
            <a:r>
              <a:rPr lang="en-US" sz="1150" b="1" dirty="0">
                <a:solidFill>
                  <a:srgbClr val="1C3557"/>
                </a:solidFill>
              </a:rPr>
              <a:t>Review trigger</a:t>
            </a:r>
            <a:endParaRPr lang="en-US" sz="1150" dirty="0"/>
          </a:p>
        </p:txBody>
      </p:sp>
      <p:sp>
        <p:nvSpPr>
          <p:cNvPr id="22" name="Text 20"/>
          <p:cNvSpPr/>
          <p:nvPr/>
        </p:nvSpPr>
        <p:spPr>
          <a:xfrm>
            <a:off x="4846320" y="4315968"/>
            <a:ext cx="3913632" cy="438912"/>
          </a:xfrm>
          <a:prstGeom prst="rect">
            <a:avLst/>
          </a:prstGeom>
          <a:noFill/>
          <a:ln/>
        </p:spPr>
        <p:txBody>
          <a:bodyPr wrap="square" lIns="0" tIns="0" rIns="0" bIns="0" rtlCol="0" anchor="ctr"/>
          <a:lstStyle/>
          <a:p>
            <a:pPr indent="0" marL="0">
              <a:buNone/>
            </a:pPr>
            <a:r>
              <a:rPr lang="en-US" sz="1050" dirty="0">
                <a:solidFill>
                  <a:srgbClr val="7A90A8"/>
                </a:solidFill>
              </a:rPr>
              <a:t>DoD changes require team review. Lowering the bar silently is how quality debt accumulates.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3557"/>
        </a:solidFill>
      </p:bgPr>
    </p:bg>
    <p:spTree>
      <p:nvGrpSpPr>
        <p:cNvPr id="1" name=""/>
        <p:cNvGrpSpPr/>
        <p:nvPr/>
      </p:nvGrpSpPr>
      <p:grpSpPr>
        <a:xfrm>
          <a:off x="0" y="0"/>
          <a:ext cx="0" cy="0"/>
          <a:chOff x="0" y="0"/>
          <a:chExt cx="0" cy="0"/>
        </a:xfrm>
      </p:grpSpPr>
      <p:sp>
        <p:nvSpPr>
          <p:cNvPr id="2" name="Text 0"/>
          <p:cNvSpPr/>
          <p:nvPr/>
        </p:nvSpPr>
        <p:spPr>
          <a:xfrm>
            <a:off x="365760" y="201168"/>
            <a:ext cx="8412480" cy="411480"/>
          </a:xfrm>
          <a:prstGeom prst="rect">
            <a:avLst/>
          </a:prstGeom>
          <a:noFill/>
          <a:ln/>
        </p:spPr>
        <p:txBody>
          <a:bodyPr wrap="square" lIns="0" tIns="0" rIns="0" bIns="0" rtlCol="0" anchor="ctr"/>
          <a:lstStyle/>
          <a:p>
            <a:pPr indent="0" marL="0">
              <a:buNone/>
            </a:pPr>
            <a:r>
              <a:rPr lang="en-US" sz="1300" b="1" spc="300" kern="0" dirty="0">
                <a:solidFill>
                  <a:srgbClr val="5B8DB8"/>
                </a:solidFill>
              </a:rPr>
              <a:t>THE CONTINUOUS IMPROVEMENT LOOP</a:t>
            </a:r>
            <a:endParaRPr lang="en-US" sz="1300" dirty="0"/>
          </a:p>
        </p:txBody>
      </p:sp>
      <p:sp>
        <p:nvSpPr>
          <p:cNvPr id="3" name="Text 1"/>
          <p:cNvSpPr/>
          <p:nvPr/>
        </p:nvSpPr>
        <p:spPr>
          <a:xfrm>
            <a:off x="365760" y="658368"/>
            <a:ext cx="8412480" cy="329184"/>
          </a:xfrm>
          <a:prstGeom prst="rect">
            <a:avLst/>
          </a:prstGeom>
          <a:noFill/>
          <a:ln/>
        </p:spPr>
        <p:txBody>
          <a:bodyPr wrap="square" lIns="0" tIns="0" rIns="0" bIns="0" rtlCol="0" anchor="ctr"/>
          <a:lstStyle/>
          <a:p>
            <a:pPr indent="0" marL="0">
              <a:buNone/>
            </a:pPr>
            <a:r>
              <a:rPr lang="en-US" sz="1300" i="1" dirty="0">
                <a:solidFill>
                  <a:srgbClr val="FFFFFF"/>
                </a:solidFill>
              </a:rPr>
              <a:t>The DevOps feedback cycle applied to the development process itself, not just the production system.</a:t>
            </a:r>
            <a:endParaRPr lang="en-US" sz="1300" dirty="0"/>
          </a:p>
        </p:txBody>
      </p:sp>
      <p:sp>
        <p:nvSpPr>
          <p:cNvPr id="4" name="Shape 2"/>
          <p:cNvSpPr/>
          <p:nvPr/>
        </p:nvSpPr>
        <p:spPr>
          <a:xfrm>
            <a:off x="320040" y="1115568"/>
            <a:ext cx="1554480" cy="2487168"/>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5" name="Shape 3"/>
          <p:cNvSpPr/>
          <p:nvPr/>
        </p:nvSpPr>
        <p:spPr>
          <a:xfrm>
            <a:off x="320040" y="1115568"/>
            <a:ext cx="1554480" cy="420624"/>
          </a:xfrm>
          <a:prstGeom prst="rect">
            <a:avLst/>
          </a:prstGeom>
          <a:solidFill>
            <a:srgbClr val="3A7DC9"/>
          </a:solidFill>
          <a:ln/>
        </p:spPr>
      </p:sp>
      <p:sp>
        <p:nvSpPr>
          <p:cNvPr id="6" name="Text 4"/>
          <p:cNvSpPr/>
          <p:nvPr/>
        </p:nvSpPr>
        <p:spPr>
          <a:xfrm>
            <a:off x="320040" y="1115568"/>
            <a:ext cx="1554480" cy="420624"/>
          </a:xfrm>
          <a:prstGeom prst="rect">
            <a:avLst/>
          </a:prstGeom>
          <a:noFill/>
          <a:ln/>
        </p:spPr>
        <p:txBody>
          <a:bodyPr wrap="square" lIns="0" tIns="0" rIns="0" bIns="0" rtlCol="0" anchor="ctr"/>
          <a:lstStyle/>
          <a:p>
            <a:pPr algn="ctr" indent="0" marL="0">
              <a:buNone/>
            </a:pPr>
            <a:r>
              <a:rPr lang="en-US" sz="1300" b="1" dirty="0">
                <a:solidFill>
                  <a:srgbClr val="FFFFFF"/>
                </a:solidFill>
              </a:rPr>
              <a:t>Deploy</a:t>
            </a:r>
            <a:endParaRPr lang="en-US" sz="1300" dirty="0"/>
          </a:p>
        </p:txBody>
      </p:sp>
      <p:sp>
        <p:nvSpPr>
          <p:cNvPr id="7" name="Text 5"/>
          <p:cNvSpPr/>
          <p:nvPr/>
        </p:nvSpPr>
        <p:spPr>
          <a:xfrm>
            <a:off x="411480" y="1627632"/>
            <a:ext cx="1371600" cy="1883664"/>
          </a:xfrm>
          <a:prstGeom prst="rect">
            <a:avLst/>
          </a:prstGeom>
          <a:noFill/>
          <a:ln/>
        </p:spPr>
        <p:txBody>
          <a:bodyPr wrap="square" lIns="0" tIns="0" rIns="0" bIns="0" rtlCol="0" anchor="ctr"/>
          <a:lstStyle/>
          <a:p>
            <a:pPr indent="0" marL="0">
              <a:buNone/>
            </a:pPr>
            <a:r>
              <a:rPr lang="en-US" sz="1050" dirty="0">
                <a:solidFill>
                  <a:srgbClr val="D4E4F0"/>
                </a:solidFill>
              </a:rPr>
              <a:t>Agent changes ship within HITL tier constraints. Observability captures every run.</a:t>
            </a:r>
            <a:endParaRPr lang="en-US" sz="1050" dirty="0"/>
          </a:p>
        </p:txBody>
      </p:sp>
      <p:sp>
        <p:nvSpPr>
          <p:cNvPr id="8" name="Text 6"/>
          <p:cNvSpPr/>
          <p:nvPr/>
        </p:nvSpPr>
        <p:spPr>
          <a:xfrm>
            <a:off x="1874520" y="2029968"/>
            <a:ext cx="164592" cy="548640"/>
          </a:xfrm>
          <a:prstGeom prst="rect">
            <a:avLst/>
          </a:prstGeom>
          <a:noFill/>
          <a:ln/>
        </p:spPr>
        <p:txBody>
          <a:bodyPr wrap="square" lIns="0" tIns="0" rIns="0" bIns="0" rtlCol="0" anchor="ctr"/>
          <a:lstStyle/>
          <a:p>
            <a:pPr algn="ctr" indent="0" marL="0">
              <a:buNone/>
            </a:pPr>
            <a:r>
              <a:rPr lang="en-US" sz="1800" dirty="0">
                <a:solidFill>
                  <a:srgbClr val="5B8DB8"/>
                </a:solidFill>
              </a:rPr>
              <a:t>→</a:t>
            </a:r>
            <a:endParaRPr lang="en-US" sz="1800" dirty="0"/>
          </a:p>
        </p:txBody>
      </p:sp>
      <p:sp>
        <p:nvSpPr>
          <p:cNvPr id="9" name="Shape 7"/>
          <p:cNvSpPr/>
          <p:nvPr/>
        </p:nvSpPr>
        <p:spPr>
          <a:xfrm>
            <a:off x="1984248" y="1115568"/>
            <a:ext cx="1554480" cy="2487168"/>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10" name="Shape 8"/>
          <p:cNvSpPr/>
          <p:nvPr/>
        </p:nvSpPr>
        <p:spPr>
          <a:xfrm>
            <a:off x="1984248" y="1115568"/>
            <a:ext cx="1554480" cy="420624"/>
          </a:xfrm>
          <a:prstGeom prst="rect">
            <a:avLst/>
          </a:prstGeom>
          <a:solidFill>
            <a:srgbClr val="4A7FA8"/>
          </a:solidFill>
          <a:ln/>
        </p:spPr>
      </p:sp>
      <p:sp>
        <p:nvSpPr>
          <p:cNvPr id="11" name="Text 9"/>
          <p:cNvSpPr/>
          <p:nvPr/>
        </p:nvSpPr>
        <p:spPr>
          <a:xfrm>
            <a:off x="1984248" y="1115568"/>
            <a:ext cx="1554480" cy="420624"/>
          </a:xfrm>
          <a:prstGeom prst="rect">
            <a:avLst/>
          </a:prstGeom>
          <a:noFill/>
          <a:ln/>
        </p:spPr>
        <p:txBody>
          <a:bodyPr wrap="square" lIns="0" tIns="0" rIns="0" bIns="0" rtlCol="0" anchor="ctr"/>
          <a:lstStyle/>
          <a:p>
            <a:pPr algn="ctr" indent="0" marL="0">
              <a:buNone/>
            </a:pPr>
            <a:r>
              <a:rPr lang="en-US" sz="1300" b="1" dirty="0">
                <a:solidFill>
                  <a:srgbClr val="FFFFFF"/>
                </a:solidFill>
              </a:rPr>
              <a:t>Observe</a:t>
            </a:r>
            <a:endParaRPr lang="en-US" sz="1300" dirty="0"/>
          </a:p>
        </p:txBody>
      </p:sp>
      <p:sp>
        <p:nvSpPr>
          <p:cNvPr id="12" name="Text 10"/>
          <p:cNvSpPr/>
          <p:nvPr/>
        </p:nvSpPr>
        <p:spPr>
          <a:xfrm>
            <a:off x="2075688" y="1627632"/>
            <a:ext cx="1371600" cy="1883664"/>
          </a:xfrm>
          <a:prstGeom prst="rect">
            <a:avLst/>
          </a:prstGeom>
          <a:noFill/>
          <a:ln/>
        </p:spPr>
        <p:txBody>
          <a:bodyPr wrap="square" lIns="0" tIns="0" rIns="0" bIns="0" rtlCol="0" anchor="ctr"/>
          <a:lstStyle/>
          <a:p>
            <a:pPr indent="0" marL="0">
              <a:buNone/>
            </a:pPr>
            <a:r>
              <a:rPr lang="en-US" sz="1050" dirty="0">
                <a:solidFill>
                  <a:srgbClr val="D4E4F0"/>
                </a:solidFill>
              </a:rPr>
              <a:t>Metrics accumulate: evaluator rejection rate, escalation rate, most common failure modes, PR cycle time.</a:t>
            </a:r>
            <a:endParaRPr lang="en-US" sz="1050" dirty="0"/>
          </a:p>
        </p:txBody>
      </p:sp>
      <p:sp>
        <p:nvSpPr>
          <p:cNvPr id="13" name="Text 11"/>
          <p:cNvSpPr/>
          <p:nvPr/>
        </p:nvSpPr>
        <p:spPr>
          <a:xfrm>
            <a:off x="3538728" y="2029968"/>
            <a:ext cx="164592" cy="548640"/>
          </a:xfrm>
          <a:prstGeom prst="rect">
            <a:avLst/>
          </a:prstGeom>
          <a:noFill/>
          <a:ln/>
        </p:spPr>
        <p:txBody>
          <a:bodyPr wrap="square" lIns="0" tIns="0" rIns="0" bIns="0" rtlCol="0" anchor="ctr"/>
          <a:lstStyle/>
          <a:p>
            <a:pPr algn="ctr" indent="0" marL="0">
              <a:buNone/>
            </a:pPr>
            <a:r>
              <a:rPr lang="en-US" sz="1800" dirty="0">
                <a:solidFill>
                  <a:srgbClr val="5B8DB8"/>
                </a:solidFill>
              </a:rPr>
              <a:t>→</a:t>
            </a:r>
            <a:endParaRPr lang="en-US" sz="1800" dirty="0"/>
          </a:p>
        </p:txBody>
      </p:sp>
      <p:sp>
        <p:nvSpPr>
          <p:cNvPr id="14" name="Shape 12"/>
          <p:cNvSpPr/>
          <p:nvPr/>
        </p:nvSpPr>
        <p:spPr>
          <a:xfrm>
            <a:off x="3648456" y="1115568"/>
            <a:ext cx="1554480" cy="2487168"/>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15" name="Shape 13"/>
          <p:cNvSpPr/>
          <p:nvPr/>
        </p:nvSpPr>
        <p:spPr>
          <a:xfrm>
            <a:off x="3648456" y="1115568"/>
            <a:ext cx="1554480" cy="420624"/>
          </a:xfrm>
          <a:prstGeom prst="rect">
            <a:avLst/>
          </a:prstGeom>
          <a:solidFill>
            <a:srgbClr val="3A7E6E"/>
          </a:solidFill>
          <a:ln/>
        </p:spPr>
      </p:sp>
      <p:sp>
        <p:nvSpPr>
          <p:cNvPr id="16" name="Text 14"/>
          <p:cNvSpPr/>
          <p:nvPr/>
        </p:nvSpPr>
        <p:spPr>
          <a:xfrm>
            <a:off x="3648456" y="1115568"/>
            <a:ext cx="1554480" cy="420624"/>
          </a:xfrm>
          <a:prstGeom prst="rect">
            <a:avLst/>
          </a:prstGeom>
          <a:noFill/>
          <a:ln/>
        </p:spPr>
        <p:txBody>
          <a:bodyPr wrap="square" lIns="0" tIns="0" rIns="0" bIns="0" rtlCol="0" anchor="ctr"/>
          <a:lstStyle/>
          <a:p>
            <a:pPr algn="ctr" indent="0" marL="0">
              <a:buNone/>
            </a:pPr>
            <a:r>
              <a:rPr lang="en-US" sz="1300" b="1" dirty="0">
                <a:solidFill>
                  <a:srgbClr val="FFFFFF"/>
                </a:solidFill>
              </a:rPr>
              <a:t>Review</a:t>
            </a:r>
            <a:endParaRPr lang="en-US" sz="1300" dirty="0"/>
          </a:p>
        </p:txBody>
      </p:sp>
      <p:sp>
        <p:nvSpPr>
          <p:cNvPr id="17" name="Text 15"/>
          <p:cNvSpPr/>
          <p:nvPr/>
        </p:nvSpPr>
        <p:spPr>
          <a:xfrm>
            <a:off x="3739896" y="1627632"/>
            <a:ext cx="1371600" cy="1883664"/>
          </a:xfrm>
          <a:prstGeom prst="rect">
            <a:avLst/>
          </a:prstGeom>
          <a:noFill/>
          <a:ln/>
        </p:spPr>
        <p:txBody>
          <a:bodyPr wrap="square" lIns="0" tIns="0" rIns="0" bIns="0" rtlCol="0" anchor="ctr"/>
          <a:lstStyle/>
          <a:p>
            <a:pPr indent="0" marL="0">
              <a:buNone/>
            </a:pPr>
            <a:r>
              <a:rPr lang="en-US" sz="1050" dirty="0">
                <a:solidFill>
                  <a:srgbClr val="D4E4F0"/>
                </a:solidFill>
              </a:rPr>
              <a:t>Monthly/quarterly: are the standards accurate? Are ADRs current? Are HITL tiers calibrated? Not production review — process review.</a:t>
            </a:r>
            <a:endParaRPr lang="en-US" sz="1050" dirty="0"/>
          </a:p>
        </p:txBody>
      </p:sp>
      <p:sp>
        <p:nvSpPr>
          <p:cNvPr id="18" name="Text 16"/>
          <p:cNvSpPr/>
          <p:nvPr/>
        </p:nvSpPr>
        <p:spPr>
          <a:xfrm>
            <a:off x="5202936" y="2029968"/>
            <a:ext cx="164592" cy="548640"/>
          </a:xfrm>
          <a:prstGeom prst="rect">
            <a:avLst/>
          </a:prstGeom>
          <a:noFill/>
          <a:ln/>
        </p:spPr>
        <p:txBody>
          <a:bodyPr wrap="square" lIns="0" tIns="0" rIns="0" bIns="0" rtlCol="0" anchor="ctr"/>
          <a:lstStyle/>
          <a:p>
            <a:pPr algn="ctr" indent="0" marL="0">
              <a:buNone/>
            </a:pPr>
            <a:r>
              <a:rPr lang="en-US" sz="1800" dirty="0">
                <a:solidFill>
                  <a:srgbClr val="5B8DB8"/>
                </a:solidFill>
              </a:rPr>
              <a:t>→</a:t>
            </a:r>
            <a:endParaRPr lang="en-US" sz="1800" dirty="0"/>
          </a:p>
        </p:txBody>
      </p:sp>
      <p:sp>
        <p:nvSpPr>
          <p:cNvPr id="19" name="Shape 17"/>
          <p:cNvSpPr/>
          <p:nvPr/>
        </p:nvSpPr>
        <p:spPr>
          <a:xfrm>
            <a:off x="5312664" y="1115568"/>
            <a:ext cx="1554480" cy="2487168"/>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20" name="Shape 18"/>
          <p:cNvSpPr/>
          <p:nvPr/>
        </p:nvSpPr>
        <p:spPr>
          <a:xfrm>
            <a:off x="5312664" y="1115568"/>
            <a:ext cx="1554480" cy="420624"/>
          </a:xfrm>
          <a:prstGeom prst="rect">
            <a:avLst/>
          </a:prstGeom>
          <a:solidFill>
            <a:srgbClr val="B87820"/>
          </a:solidFill>
          <a:ln/>
        </p:spPr>
      </p:sp>
      <p:sp>
        <p:nvSpPr>
          <p:cNvPr id="21" name="Text 19"/>
          <p:cNvSpPr/>
          <p:nvPr/>
        </p:nvSpPr>
        <p:spPr>
          <a:xfrm>
            <a:off x="5312664" y="1115568"/>
            <a:ext cx="1554480" cy="420624"/>
          </a:xfrm>
          <a:prstGeom prst="rect">
            <a:avLst/>
          </a:prstGeom>
          <a:noFill/>
          <a:ln/>
        </p:spPr>
        <p:txBody>
          <a:bodyPr wrap="square" lIns="0" tIns="0" rIns="0" bIns="0" rtlCol="0" anchor="ctr"/>
          <a:lstStyle/>
          <a:p>
            <a:pPr algn="ctr" indent="0" marL="0">
              <a:buNone/>
            </a:pPr>
            <a:r>
              <a:rPr lang="en-US" sz="1300" b="1" dirty="0">
                <a:solidFill>
                  <a:srgbClr val="FFFFFF"/>
                </a:solidFill>
              </a:rPr>
              <a:t>Improve</a:t>
            </a:r>
            <a:endParaRPr lang="en-US" sz="1300" dirty="0"/>
          </a:p>
        </p:txBody>
      </p:sp>
      <p:sp>
        <p:nvSpPr>
          <p:cNvPr id="22" name="Text 20"/>
          <p:cNvSpPr/>
          <p:nvPr/>
        </p:nvSpPr>
        <p:spPr>
          <a:xfrm>
            <a:off x="5404104" y="1627632"/>
            <a:ext cx="1371600" cy="1883664"/>
          </a:xfrm>
          <a:prstGeom prst="rect">
            <a:avLst/>
          </a:prstGeom>
          <a:noFill/>
          <a:ln/>
        </p:spPr>
        <p:txBody>
          <a:bodyPr wrap="square" lIns="0" tIns="0" rIns="0" bIns="0" rtlCol="0" anchor="ctr"/>
          <a:lstStyle/>
          <a:p>
            <a:pPr indent="0" marL="0">
              <a:buNone/>
            </a:pPr>
            <a:r>
              <a:rPr lang="en-US" sz="1050" dirty="0">
                <a:solidFill>
                  <a:srgbClr val="D4E4F0"/>
                </a:solidFill>
              </a:rPr>
              <a:t>Update rules file, checklist, and HITL configuration from observed patterns. Agent summarises; human decides.</a:t>
            </a:r>
            <a:endParaRPr lang="en-US" sz="1050" dirty="0"/>
          </a:p>
        </p:txBody>
      </p:sp>
      <p:sp>
        <p:nvSpPr>
          <p:cNvPr id="23" name="Text 21"/>
          <p:cNvSpPr/>
          <p:nvPr/>
        </p:nvSpPr>
        <p:spPr>
          <a:xfrm>
            <a:off x="6867144" y="2029968"/>
            <a:ext cx="164592" cy="548640"/>
          </a:xfrm>
          <a:prstGeom prst="rect">
            <a:avLst/>
          </a:prstGeom>
          <a:noFill/>
          <a:ln/>
        </p:spPr>
        <p:txBody>
          <a:bodyPr wrap="square" lIns="0" tIns="0" rIns="0" bIns="0" rtlCol="0" anchor="ctr"/>
          <a:lstStyle/>
          <a:p>
            <a:pPr algn="ctr" indent="0" marL="0">
              <a:buNone/>
            </a:pPr>
            <a:r>
              <a:rPr lang="en-US" sz="1800" dirty="0">
                <a:solidFill>
                  <a:srgbClr val="5B8DB8"/>
                </a:solidFill>
              </a:rPr>
              <a:t>→</a:t>
            </a:r>
            <a:endParaRPr lang="en-US" sz="1800" dirty="0"/>
          </a:p>
        </p:txBody>
      </p:sp>
      <p:sp>
        <p:nvSpPr>
          <p:cNvPr id="24" name="Shape 22"/>
          <p:cNvSpPr/>
          <p:nvPr/>
        </p:nvSpPr>
        <p:spPr>
          <a:xfrm>
            <a:off x="6976872" y="1115568"/>
            <a:ext cx="1554480" cy="2487168"/>
          </a:xfrm>
          <a:prstGeom prst="rect">
            <a:avLst/>
          </a:prstGeom>
          <a:solidFill>
            <a:srgbClr val="2E5073">
              <a:alpha val="82000"/>
            </a:srgbClr>
          </a:solidFill>
          <a:ln/>
          <a:effectLst>
            <a:outerShdw sx="100000" sy="100000" kx="0" ky="0" algn="bl" rotWithShape="0" blurRad="101600" dist="38100" dir="8100000">
              <a:srgbClr val="000000">
                <a:alpha val="13000"/>
              </a:srgbClr>
            </a:outerShdw>
          </a:effectLst>
        </p:spPr>
      </p:sp>
      <p:sp>
        <p:nvSpPr>
          <p:cNvPr id="25" name="Shape 23"/>
          <p:cNvSpPr/>
          <p:nvPr/>
        </p:nvSpPr>
        <p:spPr>
          <a:xfrm>
            <a:off x="6976872" y="1115568"/>
            <a:ext cx="1554480" cy="420624"/>
          </a:xfrm>
          <a:prstGeom prst="rect">
            <a:avLst/>
          </a:prstGeom>
          <a:solidFill>
            <a:srgbClr val="8096B0"/>
          </a:solidFill>
          <a:ln/>
        </p:spPr>
      </p:sp>
      <p:sp>
        <p:nvSpPr>
          <p:cNvPr id="26" name="Text 24"/>
          <p:cNvSpPr/>
          <p:nvPr/>
        </p:nvSpPr>
        <p:spPr>
          <a:xfrm>
            <a:off x="6976872" y="1115568"/>
            <a:ext cx="1554480" cy="420624"/>
          </a:xfrm>
          <a:prstGeom prst="rect">
            <a:avLst/>
          </a:prstGeom>
          <a:noFill/>
          <a:ln/>
        </p:spPr>
        <p:txBody>
          <a:bodyPr wrap="square" lIns="0" tIns="0" rIns="0" bIns="0" rtlCol="0" anchor="ctr"/>
          <a:lstStyle/>
          <a:p>
            <a:pPr algn="ctr" indent="0" marL="0">
              <a:buNone/>
            </a:pPr>
            <a:r>
              <a:rPr lang="en-US" sz="1300" b="1" dirty="0">
                <a:solidFill>
                  <a:srgbClr val="FFFFFF"/>
                </a:solidFill>
              </a:rPr>
              <a:t>Repeat</a:t>
            </a:r>
            <a:endParaRPr lang="en-US" sz="1300" dirty="0"/>
          </a:p>
        </p:txBody>
      </p:sp>
      <p:sp>
        <p:nvSpPr>
          <p:cNvPr id="27" name="Text 25"/>
          <p:cNvSpPr/>
          <p:nvPr/>
        </p:nvSpPr>
        <p:spPr>
          <a:xfrm>
            <a:off x="7068312" y="1627632"/>
            <a:ext cx="1371600" cy="1883664"/>
          </a:xfrm>
          <a:prstGeom prst="rect">
            <a:avLst/>
          </a:prstGeom>
          <a:noFill/>
          <a:ln/>
        </p:spPr>
        <p:txBody>
          <a:bodyPr wrap="square" lIns="0" tIns="0" rIns="0" bIns="0" rtlCol="0" anchor="ctr"/>
          <a:lstStyle/>
          <a:p>
            <a:pPr indent="0" marL="0">
              <a:buNone/>
            </a:pPr>
            <a:r>
              <a:rPr lang="en-US" sz="1050" dirty="0">
                <a:solidFill>
                  <a:srgbClr val="D4E4F0"/>
                </a:solidFill>
              </a:rPr>
              <a:t>The improved configuration is the input to the next cycle. Compound returns over time.</a:t>
            </a:r>
            <a:endParaRPr lang="en-US" sz="1050" dirty="0"/>
          </a:p>
        </p:txBody>
      </p:sp>
      <p:sp>
        <p:nvSpPr>
          <p:cNvPr id="28" name="Shape 26"/>
          <p:cNvSpPr/>
          <p:nvPr/>
        </p:nvSpPr>
        <p:spPr>
          <a:xfrm>
            <a:off x="320040" y="3749040"/>
            <a:ext cx="8503920" cy="896112"/>
          </a:xfrm>
          <a:prstGeom prst="rect">
            <a:avLst/>
          </a:prstGeom>
          <a:solidFill>
            <a:srgbClr val="2E5073">
              <a:alpha val="82000"/>
            </a:srgbClr>
          </a:solidFill>
          <a:ln/>
        </p:spPr>
      </p:sp>
      <p:sp>
        <p:nvSpPr>
          <p:cNvPr id="29" name="Shape 27"/>
          <p:cNvSpPr/>
          <p:nvPr/>
        </p:nvSpPr>
        <p:spPr>
          <a:xfrm>
            <a:off x="320040" y="3749040"/>
            <a:ext cx="54864" cy="896112"/>
          </a:xfrm>
          <a:prstGeom prst="rect">
            <a:avLst/>
          </a:prstGeom>
          <a:solidFill>
            <a:srgbClr val="5B8DB8"/>
          </a:solidFill>
          <a:ln/>
        </p:spPr>
      </p:sp>
      <p:sp>
        <p:nvSpPr>
          <p:cNvPr id="30" name="Text 28"/>
          <p:cNvSpPr/>
          <p:nvPr/>
        </p:nvSpPr>
        <p:spPr>
          <a:xfrm>
            <a:off x="475488" y="3803904"/>
            <a:ext cx="8229600" cy="786384"/>
          </a:xfrm>
          <a:prstGeom prst="rect">
            <a:avLst/>
          </a:prstGeom>
          <a:noFill/>
          <a:ln/>
        </p:spPr>
        <p:txBody>
          <a:bodyPr wrap="square" lIns="0" tIns="0" rIns="0" bIns="0" rtlCol="0" anchor="ctr"/>
          <a:lstStyle/>
          <a:p>
            <a:pPr indent="0" marL="0">
              <a:buNone/>
            </a:pPr>
            <a:r>
              <a:rPr lang="en-US" sz="1100" i="1" dirty="0">
                <a:solidFill>
                  <a:srgbClr val="D4E4F0"/>
                </a:solidFill>
              </a:rPr>
              <a:t>DevOps teams who implemented measurement-driven improvement got compound returns. This is kaizen applied to development process. The improvement is incremental; the compound effect is large.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9"/>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C3557"/>
          </a:solidFill>
          <a:ln/>
        </p:spPr>
      </p:sp>
      <p:sp>
        <p:nvSpPr>
          <p:cNvPr id="3" name="Text 1"/>
          <p:cNvSpPr/>
          <p:nvPr/>
        </p:nvSpPr>
        <p:spPr>
          <a:xfrm>
            <a:off x="365760" y="0"/>
            <a:ext cx="841248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SLOs FOR YOUR AGENTIC DEVELOPMENT WORKFLOW</a:t>
            </a:r>
            <a:endParaRPr lang="en-US" sz="1300" dirty="0"/>
          </a:p>
        </p:txBody>
      </p:sp>
      <p:sp>
        <p:nvSpPr>
          <p:cNvPr id="4" name="Text 2"/>
          <p:cNvSpPr/>
          <p:nvPr/>
        </p:nvSpPr>
        <p:spPr>
          <a:xfrm>
            <a:off x="365760" y="822960"/>
            <a:ext cx="8412480" cy="274320"/>
          </a:xfrm>
          <a:prstGeom prst="rect">
            <a:avLst/>
          </a:prstGeom>
          <a:noFill/>
          <a:ln/>
        </p:spPr>
        <p:txBody>
          <a:bodyPr wrap="square" lIns="0" tIns="0" rIns="0" bIns="0" rtlCol="0" anchor="ctr"/>
          <a:lstStyle/>
          <a:p>
            <a:pPr indent="0" marL="0">
              <a:buNone/>
            </a:pPr>
            <a:r>
              <a:rPr lang="en-US" sz="1200" i="1" dirty="0">
                <a:solidFill>
                  <a:srgbClr val="7A90A8"/>
                </a:solidFill>
              </a:rPr>
              <a:t>Define SLOs for the coding agent workflow — objective triggers for the improvement cycle, not just production metrics.</a:t>
            </a:r>
            <a:endParaRPr lang="en-US" sz="1200" dirty="0"/>
          </a:p>
        </p:txBody>
      </p:sp>
      <p:sp>
        <p:nvSpPr>
          <p:cNvPr id="5" name="Shape 3"/>
          <p:cNvSpPr/>
          <p:nvPr/>
        </p:nvSpPr>
        <p:spPr>
          <a:xfrm>
            <a:off x="320040" y="1170432"/>
            <a:ext cx="2331720" cy="365760"/>
          </a:xfrm>
          <a:prstGeom prst="rect">
            <a:avLst/>
          </a:prstGeom>
          <a:solidFill>
            <a:srgbClr val="1C3557"/>
          </a:solidFill>
          <a:ln/>
        </p:spPr>
      </p:sp>
      <p:sp>
        <p:nvSpPr>
          <p:cNvPr id="6" name="Text 4"/>
          <p:cNvSpPr/>
          <p:nvPr/>
        </p:nvSpPr>
        <p:spPr>
          <a:xfrm>
            <a:off x="411480" y="1170432"/>
            <a:ext cx="2221992" cy="365760"/>
          </a:xfrm>
          <a:prstGeom prst="rect">
            <a:avLst/>
          </a:prstGeom>
          <a:noFill/>
          <a:ln/>
        </p:spPr>
        <p:txBody>
          <a:bodyPr wrap="square" lIns="0" tIns="0" rIns="0" bIns="0" rtlCol="0" anchor="ctr"/>
          <a:lstStyle/>
          <a:p>
            <a:pPr indent="0" marL="0">
              <a:buNone/>
            </a:pPr>
            <a:r>
              <a:rPr lang="en-US" sz="1100" b="1" dirty="0">
                <a:solidFill>
                  <a:srgbClr val="FFFFFF"/>
                </a:solidFill>
              </a:rPr>
              <a:t>SLO</a:t>
            </a:r>
            <a:endParaRPr lang="en-US" sz="1100" dirty="0"/>
          </a:p>
        </p:txBody>
      </p:sp>
      <p:sp>
        <p:nvSpPr>
          <p:cNvPr id="7" name="Shape 5"/>
          <p:cNvSpPr/>
          <p:nvPr/>
        </p:nvSpPr>
        <p:spPr>
          <a:xfrm>
            <a:off x="2743200" y="1170432"/>
            <a:ext cx="1280160" cy="365760"/>
          </a:xfrm>
          <a:prstGeom prst="rect">
            <a:avLst/>
          </a:prstGeom>
          <a:solidFill>
            <a:srgbClr val="1C3557"/>
          </a:solidFill>
          <a:ln/>
        </p:spPr>
      </p:sp>
      <p:sp>
        <p:nvSpPr>
          <p:cNvPr id="8" name="Text 6"/>
          <p:cNvSpPr/>
          <p:nvPr/>
        </p:nvSpPr>
        <p:spPr>
          <a:xfrm>
            <a:off x="2834640" y="1170432"/>
            <a:ext cx="1170432" cy="365760"/>
          </a:xfrm>
          <a:prstGeom prst="rect">
            <a:avLst/>
          </a:prstGeom>
          <a:noFill/>
          <a:ln/>
        </p:spPr>
        <p:txBody>
          <a:bodyPr wrap="square" lIns="0" tIns="0" rIns="0" bIns="0" rtlCol="0" anchor="ctr"/>
          <a:lstStyle/>
          <a:p>
            <a:pPr indent="0" marL="0">
              <a:buNone/>
            </a:pPr>
            <a:r>
              <a:rPr lang="en-US" sz="1100" b="1" dirty="0">
                <a:solidFill>
                  <a:srgbClr val="FFFFFF"/>
                </a:solidFill>
              </a:rPr>
              <a:t>Target</a:t>
            </a:r>
            <a:endParaRPr lang="en-US" sz="1100" dirty="0"/>
          </a:p>
        </p:txBody>
      </p:sp>
      <p:sp>
        <p:nvSpPr>
          <p:cNvPr id="9" name="Shape 7"/>
          <p:cNvSpPr/>
          <p:nvPr/>
        </p:nvSpPr>
        <p:spPr>
          <a:xfrm>
            <a:off x="4114800" y="1170432"/>
            <a:ext cx="1188720" cy="365760"/>
          </a:xfrm>
          <a:prstGeom prst="rect">
            <a:avLst/>
          </a:prstGeom>
          <a:solidFill>
            <a:srgbClr val="1C3557"/>
          </a:solidFill>
          <a:ln/>
        </p:spPr>
      </p:sp>
      <p:sp>
        <p:nvSpPr>
          <p:cNvPr id="10" name="Text 8"/>
          <p:cNvSpPr/>
          <p:nvPr/>
        </p:nvSpPr>
        <p:spPr>
          <a:xfrm>
            <a:off x="4206240" y="1170432"/>
            <a:ext cx="1078992" cy="365760"/>
          </a:xfrm>
          <a:prstGeom prst="rect">
            <a:avLst/>
          </a:prstGeom>
          <a:noFill/>
          <a:ln/>
        </p:spPr>
        <p:txBody>
          <a:bodyPr wrap="square" lIns="0" tIns="0" rIns="0" bIns="0" rtlCol="0" anchor="ctr"/>
          <a:lstStyle/>
          <a:p>
            <a:pPr indent="0" marL="0">
              <a:buNone/>
            </a:pPr>
            <a:r>
              <a:rPr lang="en-US" sz="1100" b="1" dirty="0">
                <a:solidFill>
                  <a:srgbClr val="FFFFFF"/>
                </a:solidFill>
              </a:rPr>
              <a:t>Window</a:t>
            </a:r>
            <a:endParaRPr lang="en-US" sz="1100" dirty="0"/>
          </a:p>
        </p:txBody>
      </p:sp>
      <p:sp>
        <p:nvSpPr>
          <p:cNvPr id="11" name="Shape 9"/>
          <p:cNvSpPr/>
          <p:nvPr/>
        </p:nvSpPr>
        <p:spPr>
          <a:xfrm>
            <a:off x="5394960" y="1170432"/>
            <a:ext cx="1097280" cy="365760"/>
          </a:xfrm>
          <a:prstGeom prst="rect">
            <a:avLst/>
          </a:prstGeom>
          <a:solidFill>
            <a:srgbClr val="1C3557"/>
          </a:solidFill>
          <a:ln/>
        </p:spPr>
      </p:sp>
      <p:sp>
        <p:nvSpPr>
          <p:cNvPr id="12" name="Text 10"/>
          <p:cNvSpPr/>
          <p:nvPr/>
        </p:nvSpPr>
        <p:spPr>
          <a:xfrm>
            <a:off x="5486400" y="1170432"/>
            <a:ext cx="987552" cy="365760"/>
          </a:xfrm>
          <a:prstGeom prst="rect">
            <a:avLst/>
          </a:prstGeom>
          <a:noFill/>
          <a:ln/>
        </p:spPr>
        <p:txBody>
          <a:bodyPr wrap="square" lIns="0" tIns="0" rIns="0" bIns="0" rtlCol="0" anchor="ctr"/>
          <a:lstStyle/>
          <a:p>
            <a:pPr indent="0" marL="0">
              <a:buNone/>
            </a:pPr>
            <a:r>
              <a:rPr lang="en-US" sz="1100" b="1" dirty="0">
                <a:solidFill>
                  <a:srgbClr val="FFFFFF"/>
                </a:solidFill>
              </a:rPr>
              <a:t>Alert at</a:t>
            </a:r>
            <a:endParaRPr lang="en-US" sz="1100" dirty="0"/>
          </a:p>
        </p:txBody>
      </p:sp>
      <p:sp>
        <p:nvSpPr>
          <p:cNvPr id="13" name="Shape 11"/>
          <p:cNvSpPr/>
          <p:nvPr/>
        </p:nvSpPr>
        <p:spPr>
          <a:xfrm>
            <a:off x="6583680" y="1170432"/>
            <a:ext cx="2212848" cy="365760"/>
          </a:xfrm>
          <a:prstGeom prst="rect">
            <a:avLst/>
          </a:prstGeom>
          <a:solidFill>
            <a:srgbClr val="1C3557"/>
          </a:solidFill>
          <a:ln/>
        </p:spPr>
      </p:sp>
      <p:sp>
        <p:nvSpPr>
          <p:cNvPr id="14" name="Text 12"/>
          <p:cNvSpPr/>
          <p:nvPr/>
        </p:nvSpPr>
        <p:spPr>
          <a:xfrm>
            <a:off x="6675120" y="1170432"/>
            <a:ext cx="2103120" cy="365760"/>
          </a:xfrm>
          <a:prstGeom prst="rect">
            <a:avLst/>
          </a:prstGeom>
          <a:noFill/>
          <a:ln/>
        </p:spPr>
        <p:txBody>
          <a:bodyPr wrap="square" lIns="0" tIns="0" rIns="0" bIns="0" rtlCol="0" anchor="ctr"/>
          <a:lstStyle/>
          <a:p>
            <a:pPr indent="0" marL="0">
              <a:buNone/>
            </a:pPr>
            <a:r>
              <a:rPr lang="en-US" sz="1100" b="1" dirty="0">
                <a:solidFill>
                  <a:srgbClr val="FFFFFF"/>
                </a:solidFill>
              </a:rPr>
              <a:t>Description</a:t>
            </a:r>
            <a:endParaRPr lang="en-US" sz="1100" dirty="0"/>
          </a:p>
        </p:txBody>
      </p:sp>
      <p:sp>
        <p:nvSpPr>
          <p:cNvPr id="15" name="Shape 13"/>
          <p:cNvSpPr/>
          <p:nvPr/>
        </p:nvSpPr>
        <p:spPr>
          <a:xfrm>
            <a:off x="320040" y="1572768"/>
            <a:ext cx="2331720" cy="548640"/>
          </a:xfrm>
          <a:prstGeom prst="rect">
            <a:avLst/>
          </a:prstGeom>
          <a:solidFill>
            <a:srgbClr val="FFFFFF"/>
          </a:solidFill>
          <a:ln/>
        </p:spPr>
      </p:sp>
      <p:sp>
        <p:nvSpPr>
          <p:cNvPr id="16" name="Text 14"/>
          <p:cNvSpPr/>
          <p:nvPr/>
        </p:nvSpPr>
        <p:spPr>
          <a:xfrm>
            <a:off x="411480" y="1572768"/>
            <a:ext cx="2221992" cy="548640"/>
          </a:xfrm>
          <a:prstGeom prst="rect">
            <a:avLst/>
          </a:prstGeom>
          <a:noFill/>
          <a:ln/>
        </p:spPr>
        <p:txBody>
          <a:bodyPr wrap="square" lIns="0" tIns="0" rIns="0" bIns="0" rtlCol="0" anchor="ctr"/>
          <a:lstStyle/>
          <a:p>
            <a:pPr indent="0" marL="0">
              <a:buNone/>
            </a:pPr>
            <a:r>
              <a:rPr lang="en-US" sz="1050" b="1" dirty="0">
                <a:solidFill>
                  <a:srgbClr val="1C3557"/>
                </a:solidFill>
                <a:latin typeface="Consolas" pitchFamily="34" charset="0"/>
                <a:ea typeface="Consolas" pitchFamily="34" charset="-122"/>
                <a:cs typeface="Consolas" pitchFamily="34" charset="-120"/>
              </a:rPr>
              <a:t>evaluator_pass_rate</a:t>
            </a:r>
            <a:endParaRPr lang="en-US" sz="1050" dirty="0"/>
          </a:p>
        </p:txBody>
      </p:sp>
      <p:sp>
        <p:nvSpPr>
          <p:cNvPr id="17" name="Shape 15"/>
          <p:cNvSpPr/>
          <p:nvPr/>
        </p:nvSpPr>
        <p:spPr>
          <a:xfrm>
            <a:off x="2743200" y="1572768"/>
            <a:ext cx="1280160" cy="548640"/>
          </a:xfrm>
          <a:prstGeom prst="rect">
            <a:avLst/>
          </a:prstGeom>
          <a:solidFill>
            <a:srgbClr val="FFFFFF"/>
          </a:solidFill>
          <a:ln/>
        </p:spPr>
      </p:sp>
      <p:sp>
        <p:nvSpPr>
          <p:cNvPr id="18" name="Text 16"/>
          <p:cNvSpPr/>
          <p:nvPr/>
        </p:nvSpPr>
        <p:spPr>
          <a:xfrm>
            <a:off x="2834640" y="1572768"/>
            <a:ext cx="1170432" cy="548640"/>
          </a:xfrm>
          <a:prstGeom prst="rect">
            <a:avLst/>
          </a:prstGeom>
          <a:noFill/>
          <a:ln/>
        </p:spPr>
        <p:txBody>
          <a:bodyPr wrap="square" lIns="0" tIns="0" rIns="0" bIns="0" rtlCol="0" anchor="ctr"/>
          <a:lstStyle/>
          <a:p>
            <a:pPr indent="0" marL="0">
              <a:buNone/>
            </a:pPr>
            <a:r>
              <a:rPr lang="en-US" sz="1050" dirty="0">
                <a:solidFill>
                  <a:srgbClr val="7A90A8"/>
                </a:solidFill>
              </a:rPr>
              <a:t>85%</a:t>
            </a:r>
            <a:endParaRPr lang="en-US" sz="1050" dirty="0"/>
          </a:p>
        </p:txBody>
      </p:sp>
      <p:sp>
        <p:nvSpPr>
          <p:cNvPr id="19" name="Shape 17"/>
          <p:cNvSpPr/>
          <p:nvPr/>
        </p:nvSpPr>
        <p:spPr>
          <a:xfrm>
            <a:off x="4114800" y="1572768"/>
            <a:ext cx="1188720" cy="548640"/>
          </a:xfrm>
          <a:prstGeom prst="rect">
            <a:avLst/>
          </a:prstGeom>
          <a:solidFill>
            <a:srgbClr val="FFFFFF"/>
          </a:solidFill>
          <a:ln/>
        </p:spPr>
      </p:sp>
      <p:sp>
        <p:nvSpPr>
          <p:cNvPr id="20" name="Text 18"/>
          <p:cNvSpPr/>
          <p:nvPr/>
        </p:nvSpPr>
        <p:spPr>
          <a:xfrm>
            <a:off x="4206240" y="1572768"/>
            <a:ext cx="1078992" cy="548640"/>
          </a:xfrm>
          <a:prstGeom prst="rect">
            <a:avLst/>
          </a:prstGeom>
          <a:noFill/>
          <a:ln/>
        </p:spPr>
        <p:txBody>
          <a:bodyPr wrap="square" lIns="0" tIns="0" rIns="0" bIns="0" rtlCol="0" anchor="ctr"/>
          <a:lstStyle/>
          <a:p>
            <a:pPr indent="0" marL="0">
              <a:buNone/>
            </a:pPr>
            <a:r>
              <a:rPr lang="en-US" sz="1050" dirty="0">
                <a:solidFill>
                  <a:srgbClr val="7A90A8"/>
                </a:solidFill>
              </a:rPr>
              <a:t>7d</a:t>
            </a:r>
            <a:endParaRPr lang="en-US" sz="1050" dirty="0"/>
          </a:p>
        </p:txBody>
      </p:sp>
      <p:sp>
        <p:nvSpPr>
          <p:cNvPr id="21" name="Shape 19"/>
          <p:cNvSpPr/>
          <p:nvPr/>
        </p:nvSpPr>
        <p:spPr>
          <a:xfrm>
            <a:off x="5394960" y="1572768"/>
            <a:ext cx="1097280" cy="548640"/>
          </a:xfrm>
          <a:prstGeom prst="rect">
            <a:avLst/>
          </a:prstGeom>
          <a:solidFill>
            <a:srgbClr val="FFFFFF"/>
          </a:solidFill>
          <a:ln/>
        </p:spPr>
      </p:sp>
      <p:sp>
        <p:nvSpPr>
          <p:cNvPr id="22" name="Text 20"/>
          <p:cNvSpPr/>
          <p:nvPr/>
        </p:nvSpPr>
        <p:spPr>
          <a:xfrm>
            <a:off x="5486400" y="1572768"/>
            <a:ext cx="987552" cy="548640"/>
          </a:xfrm>
          <a:prstGeom prst="rect">
            <a:avLst/>
          </a:prstGeom>
          <a:noFill/>
          <a:ln/>
        </p:spPr>
        <p:txBody>
          <a:bodyPr wrap="square" lIns="0" tIns="0" rIns="0" bIns="0" rtlCol="0" anchor="ctr"/>
          <a:lstStyle/>
          <a:p>
            <a:pPr indent="0" marL="0">
              <a:buNone/>
            </a:pPr>
            <a:r>
              <a:rPr lang="en-US" sz="1050" dirty="0">
                <a:solidFill>
                  <a:srgbClr val="7A90A8"/>
                </a:solidFill>
              </a:rPr>
              <a:t>70%</a:t>
            </a:r>
            <a:endParaRPr lang="en-US" sz="1050" dirty="0"/>
          </a:p>
        </p:txBody>
      </p:sp>
      <p:sp>
        <p:nvSpPr>
          <p:cNvPr id="23" name="Shape 21"/>
          <p:cNvSpPr/>
          <p:nvPr/>
        </p:nvSpPr>
        <p:spPr>
          <a:xfrm>
            <a:off x="6583680" y="1572768"/>
            <a:ext cx="2212848" cy="548640"/>
          </a:xfrm>
          <a:prstGeom prst="rect">
            <a:avLst/>
          </a:prstGeom>
          <a:solidFill>
            <a:srgbClr val="FFFFFF"/>
          </a:solidFill>
          <a:ln/>
        </p:spPr>
      </p:sp>
      <p:sp>
        <p:nvSpPr>
          <p:cNvPr id="24" name="Text 22"/>
          <p:cNvSpPr/>
          <p:nvPr/>
        </p:nvSpPr>
        <p:spPr>
          <a:xfrm>
            <a:off x="6675120" y="1572768"/>
            <a:ext cx="2103120" cy="548640"/>
          </a:xfrm>
          <a:prstGeom prst="rect">
            <a:avLst/>
          </a:prstGeom>
          <a:noFill/>
          <a:ln/>
        </p:spPr>
        <p:txBody>
          <a:bodyPr wrap="square" lIns="0" tIns="0" rIns="0" bIns="0" rtlCol="0" anchor="ctr"/>
          <a:lstStyle/>
          <a:p>
            <a:pPr indent="0" marL="0">
              <a:buNone/>
            </a:pPr>
            <a:r>
              <a:rPr lang="en-US" sz="1050" dirty="0">
                <a:solidFill>
                  <a:srgbClr val="7A90A8"/>
                </a:solidFill>
              </a:rPr>
              <a:t>% of agent outputs passing evaluator on first attempt</a:t>
            </a:r>
            <a:endParaRPr lang="en-US" sz="1050" dirty="0"/>
          </a:p>
        </p:txBody>
      </p:sp>
      <p:sp>
        <p:nvSpPr>
          <p:cNvPr id="25" name="Shape 23"/>
          <p:cNvSpPr/>
          <p:nvPr/>
        </p:nvSpPr>
        <p:spPr>
          <a:xfrm>
            <a:off x="320040" y="2176272"/>
            <a:ext cx="2331720" cy="548640"/>
          </a:xfrm>
          <a:prstGeom prst="rect">
            <a:avLst/>
          </a:prstGeom>
          <a:solidFill>
            <a:srgbClr val="F3F6F9"/>
          </a:solidFill>
          <a:ln/>
        </p:spPr>
      </p:sp>
      <p:sp>
        <p:nvSpPr>
          <p:cNvPr id="26" name="Text 24"/>
          <p:cNvSpPr/>
          <p:nvPr/>
        </p:nvSpPr>
        <p:spPr>
          <a:xfrm>
            <a:off x="411480" y="2176272"/>
            <a:ext cx="2221992" cy="548640"/>
          </a:xfrm>
          <a:prstGeom prst="rect">
            <a:avLst/>
          </a:prstGeom>
          <a:noFill/>
          <a:ln/>
        </p:spPr>
        <p:txBody>
          <a:bodyPr wrap="square" lIns="0" tIns="0" rIns="0" bIns="0" rtlCol="0" anchor="ctr"/>
          <a:lstStyle/>
          <a:p>
            <a:pPr indent="0" marL="0">
              <a:buNone/>
            </a:pPr>
            <a:r>
              <a:rPr lang="en-US" sz="1050" b="1" dirty="0">
                <a:solidFill>
                  <a:srgbClr val="1C3557"/>
                </a:solidFill>
                <a:latin typeface="Consolas" pitchFamily="34" charset="0"/>
                <a:ea typeface="Consolas" pitchFamily="34" charset="-122"/>
                <a:cs typeface="Consolas" pitchFamily="34" charset="-120"/>
              </a:rPr>
              <a:t>human_escalation_rate</a:t>
            </a:r>
            <a:endParaRPr lang="en-US" sz="1050" dirty="0"/>
          </a:p>
        </p:txBody>
      </p:sp>
      <p:sp>
        <p:nvSpPr>
          <p:cNvPr id="27" name="Shape 25"/>
          <p:cNvSpPr/>
          <p:nvPr/>
        </p:nvSpPr>
        <p:spPr>
          <a:xfrm>
            <a:off x="2743200" y="2176272"/>
            <a:ext cx="1280160" cy="548640"/>
          </a:xfrm>
          <a:prstGeom prst="rect">
            <a:avLst/>
          </a:prstGeom>
          <a:solidFill>
            <a:srgbClr val="F3F6F9"/>
          </a:solidFill>
          <a:ln/>
        </p:spPr>
      </p:sp>
      <p:sp>
        <p:nvSpPr>
          <p:cNvPr id="28" name="Text 26"/>
          <p:cNvSpPr/>
          <p:nvPr/>
        </p:nvSpPr>
        <p:spPr>
          <a:xfrm>
            <a:off x="2834640" y="2176272"/>
            <a:ext cx="1170432" cy="548640"/>
          </a:xfrm>
          <a:prstGeom prst="rect">
            <a:avLst/>
          </a:prstGeom>
          <a:noFill/>
          <a:ln/>
        </p:spPr>
        <p:txBody>
          <a:bodyPr wrap="square" lIns="0" tIns="0" rIns="0" bIns="0" rtlCol="0" anchor="ctr"/>
          <a:lstStyle/>
          <a:p>
            <a:pPr indent="0" marL="0">
              <a:buNone/>
            </a:pPr>
            <a:r>
              <a:rPr lang="en-US" sz="1050" dirty="0">
                <a:solidFill>
                  <a:srgbClr val="7A90A8"/>
                </a:solidFill>
              </a:rPr>
              <a:t>&lt; 15%</a:t>
            </a:r>
            <a:endParaRPr lang="en-US" sz="1050" dirty="0"/>
          </a:p>
        </p:txBody>
      </p:sp>
      <p:sp>
        <p:nvSpPr>
          <p:cNvPr id="29" name="Shape 27"/>
          <p:cNvSpPr/>
          <p:nvPr/>
        </p:nvSpPr>
        <p:spPr>
          <a:xfrm>
            <a:off x="4114800" y="2176272"/>
            <a:ext cx="1188720" cy="548640"/>
          </a:xfrm>
          <a:prstGeom prst="rect">
            <a:avLst/>
          </a:prstGeom>
          <a:solidFill>
            <a:srgbClr val="F3F6F9"/>
          </a:solidFill>
          <a:ln/>
        </p:spPr>
      </p:sp>
      <p:sp>
        <p:nvSpPr>
          <p:cNvPr id="30" name="Text 28"/>
          <p:cNvSpPr/>
          <p:nvPr/>
        </p:nvSpPr>
        <p:spPr>
          <a:xfrm>
            <a:off x="4206240" y="2176272"/>
            <a:ext cx="1078992" cy="548640"/>
          </a:xfrm>
          <a:prstGeom prst="rect">
            <a:avLst/>
          </a:prstGeom>
          <a:noFill/>
          <a:ln/>
        </p:spPr>
        <p:txBody>
          <a:bodyPr wrap="square" lIns="0" tIns="0" rIns="0" bIns="0" rtlCol="0" anchor="ctr"/>
          <a:lstStyle/>
          <a:p>
            <a:pPr indent="0" marL="0">
              <a:buNone/>
            </a:pPr>
            <a:r>
              <a:rPr lang="en-US" sz="1050" dirty="0">
                <a:solidFill>
                  <a:srgbClr val="7A90A8"/>
                </a:solidFill>
              </a:rPr>
              <a:t>7d</a:t>
            </a:r>
            <a:endParaRPr lang="en-US" sz="1050" dirty="0"/>
          </a:p>
        </p:txBody>
      </p:sp>
      <p:sp>
        <p:nvSpPr>
          <p:cNvPr id="31" name="Shape 29"/>
          <p:cNvSpPr/>
          <p:nvPr/>
        </p:nvSpPr>
        <p:spPr>
          <a:xfrm>
            <a:off x="5394960" y="2176272"/>
            <a:ext cx="1097280" cy="548640"/>
          </a:xfrm>
          <a:prstGeom prst="rect">
            <a:avLst/>
          </a:prstGeom>
          <a:solidFill>
            <a:srgbClr val="F3F6F9"/>
          </a:solidFill>
          <a:ln/>
        </p:spPr>
      </p:sp>
      <p:sp>
        <p:nvSpPr>
          <p:cNvPr id="32" name="Text 30"/>
          <p:cNvSpPr/>
          <p:nvPr/>
        </p:nvSpPr>
        <p:spPr>
          <a:xfrm>
            <a:off x="5486400" y="2176272"/>
            <a:ext cx="987552" cy="548640"/>
          </a:xfrm>
          <a:prstGeom prst="rect">
            <a:avLst/>
          </a:prstGeom>
          <a:noFill/>
          <a:ln/>
        </p:spPr>
        <p:txBody>
          <a:bodyPr wrap="square" lIns="0" tIns="0" rIns="0" bIns="0" rtlCol="0" anchor="ctr"/>
          <a:lstStyle/>
          <a:p>
            <a:pPr indent="0" marL="0">
              <a:buNone/>
            </a:pPr>
            <a:r>
              <a:rPr lang="en-US" sz="1050" dirty="0">
                <a:solidFill>
                  <a:srgbClr val="7A90A8"/>
                </a:solidFill>
              </a:rPr>
              <a:t>25%</a:t>
            </a:r>
            <a:endParaRPr lang="en-US" sz="1050" dirty="0"/>
          </a:p>
        </p:txBody>
      </p:sp>
      <p:sp>
        <p:nvSpPr>
          <p:cNvPr id="33" name="Shape 31"/>
          <p:cNvSpPr/>
          <p:nvPr/>
        </p:nvSpPr>
        <p:spPr>
          <a:xfrm>
            <a:off x="6583680" y="2176272"/>
            <a:ext cx="2212848" cy="548640"/>
          </a:xfrm>
          <a:prstGeom prst="rect">
            <a:avLst/>
          </a:prstGeom>
          <a:solidFill>
            <a:srgbClr val="F3F6F9"/>
          </a:solidFill>
          <a:ln/>
        </p:spPr>
      </p:sp>
      <p:sp>
        <p:nvSpPr>
          <p:cNvPr id="34" name="Text 32"/>
          <p:cNvSpPr/>
          <p:nvPr/>
        </p:nvSpPr>
        <p:spPr>
          <a:xfrm>
            <a:off x="6675120" y="2176272"/>
            <a:ext cx="2103120" cy="548640"/>
          </a:xfrm>
          <a:prstGeom prst="rect">
            <a:avLst/>
          </a:prstGeom>
          <a:noFill/>
          <a:ln/>
        </p:spPr>
        <p:txBody>
          <a:bodyPr wrap="square" lIns="0" tIns="0" rIns="0" bIns="0" rtlCol="0" anchor="ctr"/>
          <a:lstStyle/>
          <a:p>
            <a:pPr indent="0" marL="0">
              <a:buNone/>
            </a:pPr>
            <a:r>
              <a:rPr lang="en-US" sz="1050" dirty="0">
                <a:solidFill>
                  <a:srgbClr val="7A90A8"/>
                </a:solidFill>
              </a:rPr>
              <a:t>% of tasks requiring human HITL intervention</a:t>
            </a:r>
            <a:endParaRPr lang="en-US" sz="1050" dirty="0"/>
          </a:p>
        </p:txBody>
      </p:sp>
      <p:sp>
        <p:nvSpPr>
          <p:cNvPr id="35" name="Shape 33"/>
          <p:cNvSpPr/>
          <p:nvPr/>
        </p:nvSpPr>
        <p:spPr>
          <a:xfrm>
            <a:off x="320040" y="2779776"/>
            <a:ext cx="2331720" cy="548640"/>
          </a:xfrm>
          <a:prstGeom prst="rect">
            <a:avLst/>
          </a:prstGeom>
          <a:solidFill>
            <a:srgbClr val="FFFFFF"/>
          </a:solidFill>
          <a:ln/>
        </p:spPr>
      </p:sp>
      <p:sp>
        <p:nvSpPr>
          <p:cNvPr id="36" name="Text 34"/>
          <p:cNvSpPr/>
          <p:nvPr/>
        </p:nvSpPr>
        <p:spPr>
          <a:xfrm>
            <a:off x="411480" y="2779776"/>
            <a:ext cx="2221992" cy="548640"/>
          </a:xfrm>
          <a:prstGeom prst="rect">
            <a:avLst/>
          </a:prstGeom>
          <a:noFill/>
          <a:ln/>
        </p:spPr>
        <p:txBody>
          <a:bodyPr wrap="square" lIns="0" tIns="0" rIns="0" bIns="0" rtlCol="0" anchor="ctr"/>
          <a:lstStyle/>
          <a:p>
            <a:pPr indent="0" marL="0">
              <a:buNone/>
            </a:pPr>
            <a:r>
              <a:rPr lang="en-US" sz="1050" b="1" dirty="0">
                <a:solidFill>
                  <a:srgbClr val="1C3557"/>
                </a:solidFill>
                <a:latin typeface="Consolas" pitchFamily="34" charset="0"/>
                <a:ea typeface="Consolas" pitchFamily="34" charset="-122"/>
                <a:cs typeface="Consolas" pitchFamily="34" charset="-120"/>
              </a:rPr>
              <a:t>pr_cycle_time</a:t>
            </a:r>
            <a:endParaRPr lang="en-US" sz="1050" dirty="0"/>
          </a:p>
        </p:txBody>
      </p:sp>
      <p:sp>
        <p:nvSpPr>
          <p:cNvPr id="37" name="Shape 35"/>
          <p:cNvSpPr/>
          <p:nvPr/>
        </p:nvSpPr>
        <p:spPr>
          <a:xfrm>
            <a:off x="2743200" y="2779776"/>
            <a:ext cx="1280160" cy="548640"/>
          </a:xfrm>
          <a:prstGeom prst="rect">
            <a:avLst/>
          </a:prstGeom>
          <a:solidFill>
            <a:srgbClr val="FFFFFF"/>
          </a:solidFill>
          <a:ln/>
        </p:spPr>
      </p:sp>
      <p:sp>
        <p:nvSpPr>
          <p:cNvPr id="38" name="Text 36"/>
          <p:cNvSpPr/>
          <p:nvPr/>
        </p:nvSpPr>
        <p:spPr>
          <a:xfrm>
            <a:off x="2834640" y="2779776"/>
            <a:ext cx="1170432" cy="548640"/>
          </a:xfrm>
          <a:prstGeom prst="rect">
            <a:avLst/>
          </a:prstGeom>
          <a:noFill/>
          <a:ln/>
        </p:spPr>
        <p:txBody>
          <a:bodyPr wrap="square" lIns="0" tIns="0" rIns="0" bIns="0" rtlCol="0" anchor="ctr"/>
          <a:lstStyle/>
          <a:p>
            <a:pPr indent="0" marL="0">
              <a:buNone/>
            </a:pPr>
            <a:r>
              <a:rPr lang="en-US" sz="1050" dirty="0">
                <a:solidFill>
                  <a:srgbClr val="7A90A8"/>
                </a:solidFill>
              </a:rPr>
              <a:t>4 h</a:t>
            </a:r>
            <a:endParaRPr lang="en-US" sz="1050" dirty="0"/>
          </a:p>
        </p:txBody>
      </p:sp>
      <p:sp>
        <p:nvSpPr>
          <p:cNvPr id="39" name="Shape 37"/>
          <p:cNvSpPr/>
          <p:nvPr/>
        </p:nvSpPr>
        <p:spPr>
          <a:xfrm>
            <a:off x="4114800" y="2779776"/>
            <a:ext cx="1188720" cy="548640"/>
          </a:xfrm>
          <a:prstGeom prst="rect">
            <a:avLst/>
          </a:prstGeom>
          <a:solidFill>
            <a:srgbClr val="FFFFFF"/>
          </a:solidFill>
          <a:ln/>
        </p:spPr>
      </p:sp>
      <p:sp>
        <p:nvSpPr>
          <p:cNvPr id="40" name="Text 38"/>
          <p:cNvSpPr/>
          <p:nvPr/>
        </p:nvSpPr>
        <p:spPr>
          <a:xfrm>
            <a:off x="4206240" y="2779776"/>
            <a:ext cx="1078992" cy="548640"/>
          </a:xfrm>
          <a:prstGeom prst="rect">
            <a:avLst/>
          </a:prstGeom>
          <a:noFill/>
          <a:ln/>
        </p:spPr>
        <p:txBody>
          <a:bodyPr wrap="square" lIns="0" tIns="0" rIns="0" bIns="0" rtlCol="0" anchor="ctr"/>
          <a:lstStyle/>
          <a:p>
            <a:pPr indent="0" marL="0">
              <a:buNone/>
            </a:pPr>
            <a:r>
              <a:rPr lang="en-US" sz="1050" dirty="0">
                <a:solidFill>
                  <a:srgbClr val="7A90A8"/>
                </a:solidFill>
              </a:rPr>
              <a:t>7d</a:t>
            </a:r>
            <a:endParaRPr lang="en-US" sz="1050" dirty="0"/>
          </a:p>
        </p:txBody>
      </p:sp>
      <p:sp>
        <p:nvSpPr>
          <p:cNvPr id="41" name="Shape 39"/>
          <p:cNvSpPr/>
          <p:nvPr/>
        </p:nvSpPr>
        <p:spPr>
          <a:xfrm>
            <a:off x="5394960" y="2779776"/>
            <a:ext cx="1097280" cy="548640"/>
          </a:xfrm>
          <a:prstGeom prst="rect">
            <a:avLst/>
          </a:prstGeom>
          <a:solidFill>
            <a:srgbClr val="FFFFFF"/>
          </a:solidFill>
          <a:ln/>
        </p:spPr>
      </p:sp>
      <p:sp>
        <p:nvSpPr>
          <p:cNvPr id="42" name="Text 40"/>
          <p:cNvSpPr/>
          <p:nvPr/>
        </p:nvSpPr>
        <p:spPr>
          <a:xfrm>
            <a:off x="5486400" y="2779776"/>
            <a:ext cx="987552" cy="548640"/>
          </a:xfrm>
          <a:prstGeom prst="rect">
            <a:avLst/>
          </a:prstGeom>
          <a:noFill/>
          <a:ln/>
        </p:spPr>
        <p:txBody>
          <a:bodyPr wrap="square" lIns="0" tIns="0" rIns="0" bIns="0" rtlCol="0" anchor="ctr"/>
          <a:lstStyle/>
          <a:p>
            <a:pPr indent="0" marL="0">
              <a:buNone/>
            </a:pPr>
            <a:r>
              <a:rPr lang="en-US" sz="1050" dirty="0">
                <a:solidFill>
                  <a:srgbClr val="7A90A8"/>
                </a:solidFill>
              </a:rPr>
              <a:t>8 h</a:t>
            </a:r>
            <a:endParaRPr lang="en-US" sz="1050" dirty="0"/>
          </a:p>
        </p:txBody>
      </p:sp>
      <p:sp>
        <p:nvSpPr>
          <p:cNvPr id="43" name="Shape 41"/>
          <p:cNvSpPr/>
          <p:nvPr/>
        </p:nvSpPr>
        <p:spPr>
          <a:xfrm>
            <a:off x="6583680" y="2779776"/>
            <a:ext cx="2212848" cy="548640"/>
          </a:xfrm>
          <a:prstGeom prst="rect">
            <a:avLst/>
          </a:prstGeom>
          <a:solidFill>
            <a:srgbClr val="FFFFFF"/>
          </a:solidFill>
          <a:ln/>
        </p:spPr>
      </p:sp>
      <p:sp>
        <p:nvSpPr>
          <p:cNvPr id="44" name="Text 42"/>
          <p:cNvSpPr/>
          <p:nvPr/>
        </p:nvSpPr>
        <p:spPr>
          <a:xfrm>
            <a:off x="6675120" y="2779776"/>
            <a:ext cx="2103120" cy="548640"/>
          </a:xfrm>
          <a:prstGeom prst="rect">
            <a:avLst/>
          </a:prstGeom>
          <a:noFill/>
          <a:ln/>
        </p:spPr>
        <p:txBody>
          <a:bodyPr wrap="square" lIns="0" tIns="0" rIns="0" bIns="0" rtlCol="0" anchor="ctr"/>
          <a:lstStyle/>
          <a:p>
            <a:pPr indent="0" marL="0">
              <a:buNone/>
            </a:pPr>
            <a:r>
              <a:rPr lang="en-US" sz="1050" dirty="0">
                <a:solidFill>
                  <a:srgbClr val="7A90A8"/>
                </a:solidFill>
              </a:rPr>
              <a:t>Median time from agent task start to PR merge</a:t>
            </a:r>
            <a:endParaRPr lang="en-US" sz="1050" dirty="0"/>
          </a:p>
        </p:txBody>
      </p:sp>
      <p:sp>
        <p:nvSpPr>
          <p:cNvPr id="45" name="Shape 43"/>
          <p:cNvSpPr/>
          <p:nvPr/>
        </p:nvSpPr>
        <p:spPr>
          <a:xfrm>
            <a:off x="320040" y="3383280"/>
            <a:ext cx="2331720" cy="548640"/>
          </a:xfrm>
          <a:prstGeom prst="rect">
            <a:avLst/>
          </a:prstGeom>
          <a:solidFill>
            <a:srgbClr val="F3F6F9"/>
          </a:solidFill>
          <a:ln/>
        </p:spPr>
      </p:sp>
      <p:sp>
        <p:nvSpPr>
          <p:cNvPr id="46" name="Text 44"/>
          <p:cNvSpPr/>
          <p:nvPr/>
        </p:nvSpPr>
        <p:spPr>
          <a:xfrm>
            <a:off x="411480" y="3383280"/>
            <a:ext cx="2221992" cy="548640"/>
          </a:xfrm>
          <a:prstGeom prst="rect">
            <a:avLst/>
          </a:prstGeom>
          <a:noFill/>
          <a:ln/>
        </p:spPr>
        <p:txBody>
          <a:bodyPr wrap="square" lIns="0" tIns="0" rIns="0" bIns="0" rtlCol="0" anchor="ctr"/>
          <a:lstStyle/>
          <a:p>
            <a:pPr indent="0" marL="0">
              <a:buNone/>
            </a:pPr>
            <a:r>
              <a:rPr lang="en-US" sz="1050" b="1" dirty="0">
                <a:solidFill>
                  <a:srgbClr val="1C3557"/>
                </a:solidFill>
                <a:latin typeface="Consolas" pitchFamily="34" charset="0"/>
                <a:ea typeface="Consolas" pitchFamily="34" charset="-122"/>
                <a:cs typeface="Consolas" pitchFamily="34" charset="-120"/>
              </a:rPr>
              <a:t>adr_coverage</a:t>
            </a:r>
            <a:endParaRPr lang="en-US" sz="1050" dirty="0"/>
          </a:p>
        </p:txBody>
      </p:sp>
      <p:sp>
        <p:nvSpPr>
          <p:cNvPr id="47" name="Shape 45"/>
          <p:cNvSpPr/>
          <p:nvPr/>
        </p:nvSpPr>
        <p:spPr>
          <a:xfrm>
            <a:off x="2743200" y="3383280"/>
            <a:ext cx="1280160" cy="548640"/>
          </a:xfrm>
          <a:prstGeom prst="rect">
            <a:avLst/>
          </a:prstGeom>
          <a:solidFill>
            <a:srgbClr val="F3F6F9"/>
          </a:solidFill>
          <a:ln/>
        </p:spPr>
      </p:sp>
      <p:sp>
        <p:nvSpPr>
          <p:cNvPr id="48" name="Text 46"/>
          <p:cNvSpPr/>
          <p:nvPr/>
        </p:nvSpPr>
        <p:spPr>
          <a:xfrm>
            <a:off x="2834640" y="3383280"/>
            <a:ext cx="1170432" cy="548640"/>
          </a:xfrm>
          <a:prstGeom prst="rect">
            <a:avLst/>
          </a:prstGeom>
          <a:noFill/>
          <a:ln/>
        </p:spPr>
        <p:txBody>
          <a:bodyPr wrap="square" lIns="0" tIns="0" rIns="0" bIns="0" rtlCol="0" anchor="ctr"/>
          <a:lstStyle/>
          <a:p>
            <a:pPr indent="0" marL="0">
              <a:buNone/>
            </a:pPr>
            <a:r>
              <a:rPr lang="en-US" sz="1050" dirty="0">
                <a:solidFill>
                  <a:srgbClr val="7A90A8"/>
                </a:solidFill>
              </a:rPr>
              <a:t>90%</a:t>
            </a:r>
            <a:endParaRPr lang="en-US" sz="1050" dirty="0"/>
          </a:p>
        </p:txBody>
      </p:sp>
      <p:sp>
        <p:nvSpPr>
          <p:cNvPr id="49" name="Shape 47"/>
          <p:cNvSpPr/>
          <p:nvPr/>
        </p:nvSpPr>
        <p:spPr>
          <a:xfrm>
            <a:off x="4114800" y="3383280"/>
            <a:ext cx="1188720" cy="548640"/>
          </a:xfrm>
          <a:prstGeom prst="rect">
            <a:avLst/>
          </a:prstGeom>
          <a:solidFill>
            <a:srgbClr val="F3F6F9"/>
          </a:solidFill>
          <a:ln/>
        </p:spPr>
      </p:sp>
      <p:sp>
        <p:nvSpPr>
          <p:cNvPr id="50" name="Text 48"/>
          <p:cNvSpPr/>
          <p:nvPr/>
        </p:nvSpPr>
        <p:spPr>
          <a:xfrm>
            <a:off x="4206240" y="3383280"/>
            <a:ext cx="1078992" cy="548640"/>
          </a:xfrm>
          <a:prstGeom prst="rect">
            <a:avLst/>
          </a:prstGeom>
          <a:noFill/>
          <a:ln/>
        </p:spPr>
        <p:txBody>
          <a:bodyPr wrap="square" lIns="0" tIns="0" rIns="0" bIns="0" rtlCol="0" anchor="ctr"/>
          <a:lstStyle/>
          <a:p>
            <a:pPr indent="0" marL="0">
              <a:buNone/>
            </a:pPr>
            <a:r>
              <a:rPr lang="en-US" sz="1050" dirty="0">
                <a:solidFill>
                  <a:srgbClr val="7A90A8"/>
                </a:solidFill>
              </a:rPr>
              <a:t>30d</a:t>
            </a:r>
            <a:endParaRPr lang="en-US" sz="1050" dirty="0"/>
          </a:p>
        </p:txBody>
      </p:sp>
      <p:sp>
        <p:nvSpPr>
          <p:cNvPr id="51" name="Shape 49"/>
          <p:cNvSpPr/>
          <p:nvPr/>
        </p:nvSpPr>
        <p:spPr>
          <a:xfrm>
            <a:off x="5394960" y="3383280"/>
            <a:ext cx="1097280" cy="548640"/>
          </a:xfrm>
          <a:prstGeom prst="rect">
            <a:avLst/>
          </a:prstGeom>
          <a:solidFill>
            <a:srgbClr val="F3F6F9"/>
          </a:solidFill>
          <a:ln/>
        </p:spPr>
      </p:sp>
      <p:sp>
        <p:nvSpPr>
          <p:cNvPr id="52" name="Text 50"/>
          <p:cNvSpPr/>
          <p:nvPr/>
        </p:nvSpPr>
        <p:spPr>
          <a:xfrm>
            <a:off x="5486400" y="3383280"/>
            <a:ext cx="987552" cy="548640"/>
          </a:xfrm>
          <a:prstGeom prst="rect">
            <a:avLst/>
          </a:prstGeom>
          <a:noFill/>
          <a:ln/>
        </p:spPr>
        <p:txBody>
          <a:bodyPr wrap="square" lIns="0" tIns="0" rIns="0" bIns="0" rtlCol="0" anchor="ctr"/>
          <a:lstStyle/>
          <a:p>
            <a:pPr indent="0" marL="0">
              <a:buNone/>
            </a:pPr>
            <a:r>
              <a:rPr lang="en-US" sz="1050" dirty="0">
                <a:solidFill>
                  <a:srgbClr val="7A90A8"/>
                </a:solidFill>
              </a:rPr>
              <a:t>75%</a:t>
            </a:r>
            <a:endParaRPr lang="en-US" sz="1050" dirty="0"/>
          </a:p>
        </p:txBody>
      </p:sp>
      <p:sp>
        <p:nvSpPr>
          <p:cNvPr id="53" name="Shape 51"/>
          <p:cNvSpPr/>
          <p:nvPr/>
        </p:nvSpPr>
        <p:spPr>
          <a:xfrm>
            <a:off x="6583680" y="3383280"/>
            <a:ext cx="2212848" cy="548640"/>
          </a:xfrm>
          <a:prstGeom prst="rect">
            <a:avLst/>
          </a:prstGeom>
          <a:solidFill>
            <a:srgbClr val="F3F6F9"/>
          </a:solidFill>
          <a:ln/>
        </p:spPr>
      </p:sp>
      <p:sp>
        <p:nvSpPr>
          <p:cNvPr id="54" name="Text 52"/>
          <p:cNvSpPr/>
          <p:nvPr/>
        </p:nvSpPr>
        <p:spPr>
          <a:xfrm>
            <a:off x="6675120" y="3383280"/>
            <a:ext cx="2103120" cy="548640"/>
          </a:xfrm>
          <a:prstGeom prst="rect">
            <a:avLst/>
          </a:prstGeom>
          <a:noFill/>
          <a:ln/>
        </p:spPr>
        <p:txBody>
          <a:bodyPr wrap="square" lIns="0" tIns="0" rIns="0" bIns="0" rtlCol="0" anchor="ctr"/>
          <a:lstStyle/>
          <a:p>
            <a:pPr indent="0" marL="0">
              <a:buNone/>
            </a:pPr>
            <a:r>
              <a:rPr lang="en-US" sz="1050" dirty="0">
                <a:solidFill>
                  <a:srgbClr val="7A90A8"/>
                </a:solidFill>
              </a:rPr>
              <a:t>% of significant architectural decisions with ADRs</a:t>
            </a:r>
            <a:endParaRPr lang="en-US" sz="1050" dirty="0"/>
          </a:p>
        </p:txBody>
      </p:sp>
      <p:sp>
        <p:nvSpPr>
          <p:cNvPr id="55" name="Shape 53"/>
          <p:cNvSpPr/>
          <p:nvPr/>
        </p:nvSpPr>
        <p:spPr>
          <a:xfrm>
            <a:off x="320040" y="3986784"/>
            <a:ext cx="2331720" cy="548640"/>
          </a:xfrm>
          <a:prstGeom prst="rect">
            <a:avLst/>
          </a:prstGeom>
          <a:solidFill>
            <a:srgbClr val="FFFFFF"/>
          </a:solidFill>
          <a:ln/>
        </p:spPr>
      </p:sp>
      <p:sp>
        <p:nvSpPr>
          <p:cNvPr id="56" name="Text 54"/>
          <p:cNvSpPr/>
          <p:nvPr/>
        </p:nvSpPr>
        <p:spPr>
          <a:xfrm>
            <a:off x="411480" y="3986784"/>
            <a:ext cx="2221992" cy="548640"/>
          </a:xfrm>
          <a:prstGeom prst="rect">
            <a:avLst/>
          </a:prstGeom>
          <a:noFill/>
          <a:ln/>
        </p:spPr>
        <p:txBody>
          <a:bodyPr wrap="square" lIns="0" tIns="0" rIns="0" bIns="0" rtlCol="0" anchor="ctr"/>
          <a:lstStyle/>
          <a:p>
            <a:pPr indent="0" marL="0">
              <a:buNone/>
            </a:pPr>
            <a:r>
              <a:rPr lang="en-US" sz="1050" b="1" dirty="0">
                <a:solidFill>
                  <a:srgbClr val="1C3557"/>
                </a:solidFill>
                <a:latin typeface="Consolas" pitchFamily="34" charset="0"/>
                <a:ea typeface="Consolas" pitchFamily="34" charset="-122"/>
                <a:cs typeface="Consolas" pitchFamily="34" charset="-120"/>
              </a:rPr>
              <a:t>rules_file_staleness</a:t>
            </a:r>
            <a:endParaRPr lang="en-US" sz="1050" dirty="0"/>
          </a:p>
        </p:txBody>
      </p:sp>
      <p:sp>
        <p:nvSpPr>
          <p:cNvPr id="57" name="Shape 55"/>
          <p:cNvSpPr/>
          <p:nvPr/>
        </p:nvSpPr>
        <p:spPr>
          <a:xfrm>
            <a:off x="2743200" y="3986784"/>
            <a:ext cx="1280160" cy="548640"/>
          </a:xfrm>
          <a:prstGeom prst="rect">
            <a:avLst/>
          </a:prstGeom>
          <a:solidFill>
            <a:srgbClr val="FFFFFF"/>
          </a:solidFill>
          <a:ln/>
        </p:spPr>
      </p:sp>
      <p:sp>
        <p:nvSpPr>
          <p:cNvPr id="58" name="Text 56"/>
          <p:cNvSpPr/>
          <p:nvPr/>
        </p:nvSpPr>
        <p:spPr>
          <a:xfrm>
            <a:off x="2834640" y="3986784"/>
            <a:ext cx="1170432" cy="548640"/>
          </a:xfrm>
          <a:prstGeom prst="rect">
            <a:avLst/>
          </a:prstGeom>
          <a:noFill/>
          <a:ln/>
        </p:spPr>
        <p:txBody>
          <a:bodyPr wrap="square" lIns="0" tIns="0" rIns="0" bIns="0" rtlCol="0" anchor="ctr"/>
          <a:lstStyle/>
          <a:p>
            <a:pPr indent="0" marL="0">
              <a:buNone/>
            </a:pPr>
            <a:r>
              <a:rPr lang="en-US" sz="1050" dirty="0">
                <a:solidFill>
                  <a:srgbClr val="7A90A8"/>
                </a:solidFill>
              </a:rPr>
              <a:t>&lt; 30 d</a:t>
            </a:r>
            <a:endParaRPr lang="en-US" sz="1050" dirty="0"/>
          </a:p>
        </p:txBody>
      </p:sp>
      <p:sp>
        <p:nvSpPr>
          <p:cNvPr id="59" name="Shape 57"/>
          <p:cNvSpPr/>
          <p:nvPr/>
        </p:nvSpPr>
        <p:spPr>
          <a:xfrm>
            <a:off x="4114800" y="3986784"/>
            <a:ext cx="1188720" cy="548640"/>
          </a:xfrm>
          <a:prstGeom prst="rect">
            <a:avLst/>
          </a:prstGeom>
          <a:solidFill>
            <a:srgbClr val="FFFFFF"/>
          </a:solidFill>
          <a:ln/>
        </p:spPr>
      </p:sp>
      <p:sp>
        <p:nvSpPr>
          <p:cNvPr id="60" name="Text 58"/>
          <p:cNvSpPr/>
          <p:nvPr/>
        </p:nvSpPr>
        <p:spPr>
          <a:xfrm>
            <a:off x="4206240" y="3986784"/>
            <a:ext cx="1078992" cy="548640"/>
          </a:xfrm>
          <a:prstGeom prst="rect">
            <a:avLst/>
          </a:prstGeom>
          <a:noFill/>
          <a:ln/>
        </p:spPr>
        <p:txBody>
          <a:bodyPr wrap="square" lIns="0" tIns="0" rIns="0" bIns="0" rtlCol="0" anchor="ctr"/>
          <a:lstStyle/>
          <a:p>
            <a:pPr indent="0" marL="0">
              <a:buNone/>
            </a:pPr>
            <a:r>
              <a:rPr lang="en-US" sz="1050" dirty="0">
                <a:solidFill>
                  <a:srgbClr val="7A90A8"/>
                </a:solidFill>
              </a:rPr>
              <a:t>—</a:t>
            </a:r>
            <a:endParaRPr lang="en-US" sz="1050" dirty="0"/>
          </a:p>
        </p:txBody>
      </p:sp>
      <p:sp>
        <p:nvSpPr>
          <p:cNvPr id="61" name="Shape 59"/>
          <p:cNvSpPr/>
          <p:nvPr/>
        </p:nvSpPr>
        <p:spPr>
          <a:xfrm>
            <a:off x="5394960" y="3986784"/>
            <a:ext cx="1097280" cy="548640"/>
          </a:xfrm>
          <a:prstGeom prst="rect">
            <a:avLst/>
          </a:prstGeom>
          <a:solidFill>
            <a:srgbClr val="FFFFFF"/>
          </a:solidFill>
          <a:ln/>
        </p:spPr>
      </p:sp>
      <p:sp>
        <p:nvSpPr>
          <p:cNvPr id="62" name="Text 60"/>
          <p:cNvSpPr/>
          <p:nvPr/>
        </p:nvSpPr>
        <p:spPr>
          <a:xfrm>
            <a:off x="5486400" y="3986784"/>
            <a:ext cx="987552" cy="548640"/>
          </a:xfrm>
          <a:prstGeom prst="rect">
            <a:avLst/>
          </a:prstGeom>
          <a:noFill/>
          <a:ln/>
        </p:spPr>
        <p:txBody>
          <a:bodyPr wrap="square" lIns="0" tIns="0" rIns="0" bIns="0" rtlCol="0" anchor="ctr"/>
          <a:lstStyle/>
          <a:p>
            <a:pPr indent="0" marL="0">
              <a:buNone/>
            </a:pPr>
            <a:r>
              <a:rPr lang="en-US" sz="1050" dirty="0">
                <a:solidFill>
                  <a:srgbClr val="7A90A8"/>
                </a:solidFill>
              </a:rPr>
              <a:t>60 d</a:t>
            </a:r>
            <a:endParaRPr lang="en-US" sz="1050" dirty="0"/>
          </a:p>
        </p:txBody>
      </p:sp>
      <p:sp>
        <p:nvSpPr>
          <p:cNvPr id="63" name="Shape 61"/>
          <p:cNvSpPr/>
          <p:nvPr/>
        </p:nvSpPr>
        <p:spPr>
          <a:xfrm>
            <a:off x="6583680" y="3986784"/>
            <a:ext cx="2212848" cy="548640"/>
          </a:xfrm>
          <a:prstGeom prst="rect">
            <a:avLst/>
          </a:prstGeom>
          <a:solidFill>
            <a:srgbClr val="FFFFFF"/>
          </a:solidFill>
          <a:ln/>
        </p:spPr>
      </p:sp>
      <p:sp>
        <p:nvSpPr>
          <p:cNvPr id="64" name="Text 62"/>
          <p:cNvSpPr/>
          <p:nvPr/>
        </p:nvSpPr>
        <p:spPr>
          <a:xfrm>
            <a:off x="6675120" y="3986784"/>
            <a:ext cx="2103120" cy="548640"/>
          </a:xfrm>
          <a:prstGeom prst="rect">
            <a:avLst/>
          </a:prstGeom>
          <a:noFill/>
          <a:ln/>
        </p:spPr>
        <p:txBody>
          <a:bodyPr wrap="square" lIns="0" tIns="0" rIns="0" bIns="0" rtlCol="0" anchor="ctr"/>
          <a:lstStyle/>
          <a:p>
            <a:pPr indent="0" marL="0">
              <a:buNone/>
            </a:pPr>
            <a:r>
              <a:rPr lang="en-US" sz="1050" dirty="0">
                <a:solidFill>
                  <a:srgbClr val="7A90A8"/>
                </a:solidFill>
              </a:rPr>
              <a:t>Days since last rules file update</a:t>
            </a:r>
            <a:endParaRPr lang="en-US" sz="1050" dirty="0"/>
          </a:p>
        </p:txBody>
      </p:sp>
      <p:sp>
        <p:nvSpPr>
          <p:cNvPr id="65" name="Text 63"/>
          <p:cNvSpPr/>
          <p:nvPr/>
        </p:nvSpPr>
        <p:spPr>
          <a:xfrm>
            <a:off x="320040" y="4892040"/>
            <a:ext cx="8503920" cy="219456"/>
          </a:xfrm>
          <a:prstGeom prst="rect">
            <a:avLst/>
          </a:prstGeom>
          <a:noFill/>
          <a:ln/>
        </p:spPr>
        <p:txBody>
          <a:bodyPr wrap="square" lIns="0" tIns="0" rIns="0" bIns="0" rtlCol="0" anchor="ctr"/>
          <a:lstStyle/>
          <a:p>
            <a:pPr indent="0" marL="0">
              <a:buNone/>
            </a:pPr>
            <a:r>
              <a:rPr lang="en-US" sz="950" i="1" dirty="0">
                <a:solidFill>
                  <a:srgbClr val="7A90A8"/>
                </a:solidFill>
              </a:rPr>
              <a:t>When an alert fires, it triggers the Review step of the improvement loop — not an incident response. These are process health signals, not production alarms.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C3557"/>
          </a:solidFill>
          <a:ln/>
        </p:spPr>
      </p:sp>
      <p:sp>
        <p:nvSpPr>
          <p:cNvPr id="3" name="Text 1"/>
          <p:cNvSpPr/>
          <p:nvPr/>
        </p:nvSpPr>
        <p:spPr>
          <a:xfrm>
            <a:off x="365760" y="0"/>
            <a:ext cx="841248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ENTERPRISE CONSIDERATIONS</a:t>
            </a:r>
            <a:endParaRPr lang="en-US" sz="1300" dirty="0"/>
          </a:p>
        </p:txBody>
      </p:sp>
      <p:sp>
        <p:nvSpPr>
          <p:cNvPr id="4" name="Shape 2"/>
          <p:cNvSpPr/>
          <p:nvPr/>
        </p:nvSpPr>
        <p:spPr>
          <a:xfrm>
            <a:off x="320040" y="877824"/>
            <a:ext cx="4160520" cy="1901952"/>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5" name="Shape 3"/>
          <p:cNvSpPr/>
          <p:nvPr/>
        </p:nvSpPr>
        <p:spPr>
          <a:xfrm>
            <a:off x="320040" y="877824"/>
            <a:ext cx="64008" cy="1901952"/>
          </a:xfrm>
          <a:prstGeom prst="rect">
            <a:avLst/>
          </a:prstGeom>
          <a:solidFill>
            <a:srgbClr val="3A7DC9"/>
          </a:solidFill>
          <a:ln/>
        </p:spPr>
      </p:sp>
      <p:sp>
        <p:nvSpPr>
          <p:cNvPr id="6" name="Shape 4"/>
          <p:cNvSpPr/>
          <p:nvPr/>
        </p:nvSpPr>
        <p:spPr>
          <a:xfrm>
            <a:off x="320040" y="877824"/>
            <a:ext cx="4160520" cy="438912"/>
          </a:xfrm>
          <a:prstGeom prst="rect">
            <a:avLst/>
          </a:prstGeom>
          <a:solidFill>
            <a:srgbClr val="3A7DC9">
              <a:alpha val="90000"/>
            </a:srgbClr>
          </a:solidFill>
          <a:ln/>
        </p:spPr>
      </p:sp>
      <p:sp>
        <p:nvSpPr>
          <p:cNvPr id="7" name="Text 5"/>
          <p:cNvSpPr/>
          <p:nvPr/>
        </p:nvSpPr>
        <p:spPr>
          <a:xfrm>
            <a:off x="466344" y="877824"/>
            <a:ext cx="3959352" cy="438912"/>
          </a:xfrm>
          <a:prstGeom prst="rect">
            <a:avLst/>
          </a:prstGeom>
          <a:noFill/>
          <a:ln/>
        </p:spPr>
        <p:txBody>
          <a:bodyPr wrap="square" lIns="0" tIns="0" rIns="0" bIns="0" rtlCol="0" anchor="ctr"/>
          <a:lstStyle/>
          <a:p>
            <a:pPr indent="0" marL="0">
              <a:buNone/>
            </a:pPr>
            <a:r>
              <a:rPr lang="en-US" sz="1250" b="1" dirty="0">
                <a:solidFill>
                  <a:srgbClr val="FFFFFF"/>
                </a:solidFill>
              </a:rPr>
              <a:t>ADR governance</a:t>
            </a:r>
            <a:endParaRPr lang="en-US" sz="1250" dirty="0"/>
          </a:p>
        </p:txBody>
      </p:sp>
      <p:sp>
        <p:nvSpPr>
          <p:cNvPr id="8" name="Text 6"/>
          <p:cNvSpPr/>
          <p:nvPr/>
        </p:nvSpPr>
        <p:spPr>
          <a:xfrm>
            <a:off x="466344" y="1389888"/>
            <a:ext cx="3959352" cy="1298448"/>
          </a:xfrm>
          <a:prstGeom prst="rect">
            <a:avLst/>
          </a:prstGeom>
          <a:noFill/>
          <a:ln/>
        </p:spPr>
        <p:txBody>
          <a:bodyPr wrap="square" lIns="0" tIns="0" rIns="0" bIns="0" rtlCol="0" anchor="ctr"/>
          <a:lstStyle/>
          <a:p>
            <a:pPr indent="0" marL="0">
              <a:buNone/>
            </a:pPr>
            <a:r>
              <a:rPr lang="en-US" sz="1150" dirty="0">
                <a:solidFill>
                  <a:srgbClr val="7A90A8"/>
                </a:solidFill>
              </a:rPr>
              <a:t>Who can approve an ADR? Who can deprecate one? ADRs are architectural policy. Changes without review silently lower the quality bar.</a:t>
            </a:r>
            <a:endParaRPr lang="en-US" sz="1150" dirty="0"/>
          </a:p>
        </p:txBody>
      </p:sp>
      <p:sp>
        <p:nvSpPr>
          <p:cNvPr id="9" name="Shape 7"/>
          <p:cNvSpPr/>
          <p:nvPr/>
        </p:nvSpPr>
        <p:spPr>
          <a:xfrm>
            <a:off x="4663440" y="877824"/>
            <a:ext cx="4160520" cy="1901952"/>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10" name="Shape 8"/>
          <p:cNvSpPr/>
          <p:nvPr/>
        </p:nvSpPr>
        <p:spPr>
          <a:xfrm>
            <a:off x="4663440" y="877824"/>
            <a:ext cx="64008" cy="1901952"/>
          </a:xfrm>
          <a:prstGeom prst="rect">
            <a:avLst/>
          </a:prstGeom>
          <a:solidFill>
            <a:srgbClr val="4A7FA8"/>
          </a:solidFill>
          <a:ln/>
        </p:spPr>
      </p:sp>
      <p:sp>
        <p:nvSpPr>
          <p:cNvPr id="11" name="Shape 9"/>
          <p:cNvSpPr/>
          <p:nvPr/>
        </p:nvSpPr>
        <p:spPr>
          <a:xfrm>
            <a:off x="4663440" y="877824"/>
            <a:ext cx="4160520" cy="438912"/>
          </a:xfrm>
          <a:prstGeom prst="rect">
            <a:avLst/>
          </a:prstGeom>
          <a:solidFill>
            <a:srgbClr val="4A7FA8">
              <a:alpha val="90000"/>
            </a:srgbClr>
          </a:solidFill>
          <a:ln/>
        </p:spPr>
      </p:sp>
      <p:sp>
        <p:nvSpPr>
          <p:cNvPr id="12" name="Text 10"/>
          <p:cNvSpPr/>
          <p:nvPr/>
        </p:nvSpPr>
        <p:spPr>
          <a:xfrm>
            <a:off x="4809744" y="877824"/>
            <a:ext cx="3959352" cy="438912"/>
          </a:xfrm>
          <a:prstGeom prst="rect">
            <a:avLst/>
          </a:prstGeom>
          <a:noFill/>
          <a:ln/>
        </p:spPr>
        <p:txBody>
          <a:bodyPr wrap="square" lIns="0" tIns="0" rIns="0" bIns="0" rtlCol="0" anchor="ctr"/>
          <a:lstStyle/>
          <a:p>
            <a:pPr indent="0" marL="0">
              <a:buNone/>
            </a:pPr>
            <a:r>
              <a:rPr lang="en-US" sz="1250" b="1" dirty="0">
                <a:solidFill>
                  <a:srgbClr val="FFFFFF"/>
                </a:solidFill>
              </a:rPr>
              <a:t>Rules file as policy</a:t>
            </a:r>
            <a:endParaRPr lang="en-US" sz="1250" dirty="0"/>
          </a:p>
        </p:txBody>
      </p:sp>
      <p:sp>
        <p:nvSpPr>
          <p:cNvPr id="13" name="Text 11"/>
          <p:cNvSpPr/>
          <p:nvPr/>
        </p:nvSpPr>
        <p:spPr>
          <a:xfrm>
            <a:off x="4809744" y="1389888"/>
            <a:ext cx="3959352" cy="1298448"/>
          </a:xfrm>
          <a:prstGeom prst="rect">
            <a:avLst/>
          </a:prstGeom>
          <a:noFill/>
          <a:ln/>
        </p:spPr>
        <p:txBody>
          <a:bodyPr wrap="square" lIns="0" tIns="0" rIns="0" bIns="0" rtlCol="0" anchor="ctr"/>
          <a:lstStyle/>
          <a:p>
            <a:pPr indent="0" marL="0">
              <a:buNone/>
            </a:pPr>
            <a:r>
              <a:rPr lang="en-US" sz="1150" dirty="0">
                <a:solidFill>
                  <a:srgbClr val="7A90A8"/>
                </a:solidFill>
              </a:rPr>
              <a:t>CLAUDE.md and evaluator checklists are subject to change management. Version them. Review changes. An unauthorized rules file change is a policy violation.</a:t>
            </a:r>
            <a:endParaRPr lang="en-US" sz="1150" dirty="0"/>
          </a:p>
        </p:txBody>
      </p:sp>
      <p:sp>
        <p:nvSpPr>
          <p:cNvPr id="14" name="Shape 12"/>
          <p:cNvSpPr/>
          <p:nvPr/>
        </p:nvSpPr>
        <p:spPr>
          <a:xfrm>
            <a:off x="320040" y="2962656"/>
            <a:ext cx="4160520" cy="1901952"/>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15" name="Shape 13"/>
          <p:cNvSpPr/>
          <p:nvPr/>
        </p:nvSpPr>
        <p:spPr>
          <a:xfrm>
            <a:off x="320040" y="2962656"/>
            <a:ext cx="64008" cy="1901952"/>
          </a:xfrm>
          <a:prstGeom prst="rect">
            <a:avLst/>
          </a:prstGeom>
          <a:solidFill>
            <a:srgbClr val="3A7E6E"/>
          </a:solidFill>
          <a:ln/>
        </p:spPr>
      </p:sp>
      <p:sp>
        <p:nvSpPr>
          <p:cNvPr id="16" name="Shape 14"/>
          <p:cNvSpPr/>
          <p:nvPr/>
        </p:nvSpPr>
        <p:spPr>
          <a:xfrm>
            <a:off x="320040" y="2962656"/>
            <a:ext cx="4160520" cy="438912"/>
          </a:xfrm>
          <a:prstGeom prst="rect">
            <a:avLst/>
          </a:prstGeom>
          <a:solidFill>
            <a:srgbClr val="3A7E6E">
              <a:alpha val="90000"/>
            </a:srgbClr>
          </a:solidFill>
          <a:ln/>
        </p:spPr>
      </p:sp>
      <p:sp>
        <p:nvSpPr>
          <p:cNvPr id="17" name="Text 15"/>
          <p:cNvSpPr/>
          <p:nvPr/>
        </p:nvSpPr>
        <p:spPr>
          <a:xfrm>
            <a:off x="466344" y="2962656"/>
            <a:ext cx="3959352" cy="438912"/>
          </a:xfrm>
          <a:prstGeom prst="rect">
            <a:avLst/>
          </a:prstGeom>
          <a:noFill/>
          <a:ln/>
        </p:spPr>
        <p:txBody>
          <a:bodyPr wrap="square" lIns="0" tIns="0" rIns="0" bIns="0" rtlCol="0" anchor="ctr"/>
          <a:lstStyle/>
          <a:p>
            <a:pPr indent="0" marL="0">
              <a:buNone/>
            </a:pPr>
            <a:r>
              <a:rPr lang="en-US" sz="1250" b="1" dirty="0">
                <a:solidFill>
                  <a:srgbClr val="FFFFFF"/>
                </a:solidFill>
              </a:rPr>
              <a:t>Multi-team hygiene</a:t>
            </a:r>
            <a:endParaRPr lang="en-US" sz="1250" dirty="0"/>
          </a:p>
        </p:txBody>
      </p:sp>
      <p:sp>
        <p:nvSpPr>
          <p:cNvPr id="18" name="Text 16"/>
          <p:cNvSpPr/>
          <p:nvPr/>
        </p:nvSpPr>
        <p:spPr>
          <a:xfrm>
            <a:off x="466344" y="3474720"/>
            <a:ext cx="3959352" cy="1298448"/>
          </a:xfrm>
          <a:prstGeom prst="rect">
            <a:avLst/>
          </a:prstGeom>
          <a:noFill/>
          <a:ln/>
        </p:spPr>
        <p:txBody>
          <a:bodyPr wrap="square" lIns="0" tIns="0" rIns="0" bIns="0" rtlCol="0" anchor="ctr"/>
          <a:lstStyle/>
          <a:p>
            <a:pPr indent="0" marL="0">
              <a:buNone/>
            </a:pPr>
            <a:r>
              <a:rPr lang="en-US" sz="1150" dirty="0">
                <a:solidFill>
                  <a:srgbClr val="7A90A8"/>
                </a:solidFill>
              </a:rPr>
              <a:t>When multiple teams share an agent pipeline, define who owns the shared evaluator criteria and who approves changes to HITL thresholds.</a:t>
            </a:r>
            <a:endParaRPr lang="en-US" sz="1150" dirty="0"/>
          </a:p>
        </p:txBody>
      </p:sp>
      <p:sp>
        <p:nvSpPr>
          <p:cNvPr id="19" name="Shape 17"/>
          <p:cNvSpPr/>
          <p:nvPr/>
        </p:nvSpPr>
        <p:spPr>
          <a:xfrm>
            <a:off x="4663440" y="2962656"/>
            <a:ext cx="4160520" cy="1901952"/>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20" name="Shape 18"/>
          <p:cNvSpPr/>
          <p:nvPr/>
        </p:nvSpPr>
        <p:spPr>
          <a:xfrm>
            <a:off x="4663440" y="2962656"/>
            <a:ext cx="64008" cy="1901952"/>
          </a:xfrm>
          <a:prstGeom prst="rect">
            <a:avLst/>
          </a:prstGeom>
          <a:solidFill>
            <a:srgbClr val="B03040"/>
          </a:solidFill>
          <a:ln/>
        </p:spPr>
      </p:sp>
      <p:sp>
        <p:nvSpPr>
          <p:cNvPr id="21" name="Shape 19"/>
          <p:cNvSpPr/>
          <p:nvPr/>
        </p:nvSpPr>
        <p:spPr>
          <a:xfrm>
            <a:off x="4663440" y="2962656"/>
            <a:ext cx="4160520" cy="438912"/>
          </a:xfrm>
          <a:prstGeom prst="rect">
            <a:avLst/>
          </a:prstGeom>
          <a:solidFill>
            <a:srgbClr val="B03040">
              <a:alpha val="90000"/>
            </a:srgbClr>
          </a:solidFill>
          <a:ln/>
        </p:spPr>
      </p:sp>
      <p:sp>
        <p:nvSpPr>
          <p:cNvPr id="22" name="Text 20"/>
          <p:cNvSpPr/>
          <p:nvPr/>
        </p:nvSpPr>
        <p:spPr>
          <a:xfrm>
            <a:off x="4809744" y="2962656"/>
            <a:ext cx="3959352" cy="438912"/>
          </a:xfrm>
          <a:prstGeom prst="rect">
            <a:avLst/>
          </a:prstGeom>
          <a:noFill/>
          <a:ln/>
        </p:spPr>
        <p:txBody>
          <a:bodyPr wrap="square" lIns="0" tIns="0" rIns="0" bIns="0" rtlCol="0" anchor="ctr"/>
          <a:lstStyle/>
          <a:p>
            <a:pPr indent="0" marL="0">
              <a:buNone/>
            </a:pPr>
            <a:r>
              <a:rPr lang="en-US" sz="1250" b="1" dirty="0">
                <a:solidFill>
                  <a:srgbClr val="FFFFFF"/>
                </a:solidFill>
              </a:rPr>
              <a:t>Improvement loop cadence</a:t>
            </a:r>
            <a:endParaRPr lang="en-US" sz="1250" dirty="0"/>
          </a:p>
        </p:txBody>
      </p:sp>
      <p:sp>
        <p:nvSpPr>
          <p:cNvPr id="23" name="Text 21"/>
          <p:cNvSpPr/>
          <p:nvPr/>
        </p:nvSpPr>
        <p:spPr>
          <a:xfrm>
            <a:off x="4809744" y="3474720"/>
            <a:ext cx="3959352" cy="1298448"/>
          </a:xfrm>
          <a:prstGeom prst="rect">
            <a:avLst/>
          </a:prstGeom>
          <a:noFill/>
          <a:ln/>
        </p:spPr>
        <p:txBody>
          <a:bodyPr wrap="square" lIns="0" tIns="0" rIns="0" bIns="0" rtlCol="0" anchor="ctr"/>
          <a:lstStyle/>
          <a:p>
            <a:pPr indent="0" marL="0">
              <a:buNone/>
            </a:pPr>
            <a:r>
              <a:rPr lang="en-US" sz="1150" dirty="0">
                <a:solidFill>
                  <a:srgbClr val="7A90A8"/>
                </a:solidFill>
              </a:rPr>
              <a:t>Monthly reviews are aspirational without calendar commitment. Book the recurring improvement session at the same time as sprint planning. It will not happen otherwise.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4A7FA8"/>
          </a:solidFill>
          <a:ln/>
        </p:spPr>
      </p:sp>
      <p:sp>
        <p:nvSpPr>
          <p:cNvPr id="3" name="Text 1"/>
          <p:cNvSpPr/>
          <p:nvPr/>
        </p:nvSpPr>
        <p:spPr>
          <a:xfrm>
            <a:off x="365760" y="0"/>
            <a:ext cx="8412480" cy="749808"/>
          </a:xfrm>
          <a:prstGeom prst="rect">
            <a:avLst/>
          </a:prstGeom>
          <a:noFill/>
          <a:ln/>
        </p:spPr>
        <p:txBody>
          <a:bodyPr wrap="square" lIns="0" tIns="0" rIns="0" bIns="0" rtlCol="0" anchor="ctr"/>
          <a:lstStyle/>
          <a:p>
            <a:pPr indent="0" marL="0">
              <a:buNone/>
            </a:pPr>
            <a:r>
              <a:rPr lang="en-US" sz="1300" b="1" spc="300" kern="0" dirty="0">
                <a:solidFill>
                  <a:srgbClr val="FFFFFF"/>
                </a:solidFill>
              </a:rPr>
              <a:t>LAB EXERCISE  ·  30 MINUTES</a:t>
            </a:r>
            <a:endParaRPr lang="en-US" sz="1300" dirty="0"/>
          </a:p>
        </p:txBody>
      </p:sp>
      <p:sp>
        <p:nvSpPr>
          <p:cNvPr id="4" name="Text 2"/>
          <p:cNvSpPr/>
          <p:nvPr/>
        </p:nvSpPr>
        <p:spPr>
          <a:xfrm>
            <a:off x="365760" y="868680"/>
            <a:ext cx="8412480" cy="420624"/>
          </a:xfrm>
          <a:prstGeom prst="rect">
            <a:avLst/>
          </a:prstGeom>
          <a:noFill/>
          <a:ln/>
        </p:spPr>
        <p:txBody>
          <a:bodyPr wrap="square" lIns="0" tIns="0" rIns="0" bIns="0" rtlCol="0" anchor="ctr"/>
          <a:lstStyle/>
          <a:p>
            <a:pPr indent="0" marL="0">
              <a:buNone/>
            </a:pPr>
            <a:r>
              <a:rPr lang="en-US" sz="1700" b="1" dirty="0">
                <a:solidFill>
                  <a:srgbClr val="1C3557"/>
                </a:solidFill>
              </a:rPr>
              <a:t>Design the Review Hygiene System for Your Team’s Coding Agent Workflow</a:t>
            </a:r>
            <a:endParaRPr lang="en-US" sz="1700" dirty="0"/>
          </a:p>
        </p:txBody>
      </p:sp>
      <p:sp>
        <p:nvSpPr>
          <p:cNvPr id="5" name="Shape 3"/>
          <p:cNvSpPr/>
          <p:nvPr/>
        </p:nvSpPr>
        <p:spPr>
          <a:xfrm>
            <a:off x="320040" y="1389888"/>
            <a:ext cx="8503920" cy="82296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6" name="Shape 4"/>
          <p:cNvSpPr/>
          <p:nvPr/>
        </p:nvSpPr>
        <p:spPr>
          <a:xfrm>
            <a:off x="320040" y="1389888"/>
            <a:ext cx="475488" cy="822960"/>
          </a:xfrm>
          <a:prstGeom prst="rect">
            <a:avLst/>
          </a:prstGeom>
          <a:solidFill>
            <a:srgbClr val="4A7FA8"/>
          </a:solidFill>
          <a:ln/>
        </p:spPr>
      </p:sp>
      <p:sp>
        <p:nvSpPr>
          <p:cNvPr id="7" name="Text 5"/>
          <p:cNvSpPr/>
          <p:nvPr/>
        </p:nvSpPr>
        <p:spPr>
          <a:xfrm>
            <a:off x="320040" y="1389888"/>
            <a:ext cx="475488" cy="822960"/>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8" name="Text 6"/>
          <p:cNvSpPr/>
          <p:nvPr/>
        </p:nvSpPr>
        <p:spPr>
          <a:xfrm>
            <a:off x="886968" y="1444752"/>
            <a:ext cx="3200400" cy="256032"/>
          </a:xfrm>
          <a:prstGeom prst="rect">
            <a:avLst/>
          </a:prstGeom>
          <a:noFill/>
          <a:ln/>
        </p:spPr>
        <p:txBody>
          <a:bodyPr wrap="square" lIns="0" tIns="0" rIns="0" bIns="0" rtlCol="0" anchor="ctr"/>
          <a:lstStyle/>
          <a:p>
            <a:pPr indent="0" marL="0">
              <a:buNone/>
            </a:pPr>
            <a:r>
              <a:rPr lang="en-US" sz="1200" b="1" dirty="0">
                <a:solidFill>
                  <a:srgbClr val="4A7FA8"/>
                </a:solidFill>
              </a:rPr>
              <a:t>HITL tier design</a:t>
            </a:r>
            <a:endParaRPr lang="en-US" sz="1200" dirty="0"/>
          </a:p>
        </p:txBody>
      </p:sp>
      <p:sp>
        <p:nvSpPr>
          <p:cNvPr id="9" name="Text 7"/>
          <p:cNvSpPr/>
          <p:nvPr/>
        </p:nvSpPr>
        <p:spPr>
          <a:xfrm>
            <a:off x="4087368" y="1444752"/>
            <a:ext cx="822960" cy="256032"/>
          </a:xfrm>
          <a:prstGeom prst="rect">
            <a:avLst/>
          </a:prstGeom>
          <a:noFill/>
          <a:ln/>
        </p:spPr>
        <p:txBody>
          <a:bodyPr wrap="square" lIns="0" tIns="0" rIns="0" bIns="0" rtlCol="0" anchor="ctr"/>
          <a:lstStyle/>
          <a:p>
            <a:pPr indent="0" marL="0">
              <a:buNone/>
            </a:pPr>
            <a:r>
              <a:rPr lang="en-US" sz="1050" i="1" dirty="0">
                <a:solidFill>
                  <a:srgbClr val="7A90A8"/>
                </a:solidFill>
              </a:rPr>
              <a:t>(8 min)</a:t>
            </a:r>
            <a:endParaRPr lang="en-US" sz="1050" dirty="0"/>
          </a:p>
        </p:txBody>
      </p:sp>
      <p:sp>
        <p:nvSpPr>
          <p:cNvPr id="10" name="Text 8"/>
          <p:cNvSpPr/>
          <p:nvPr/>
        </p:nvSpPr>
        <p:spPr>
          <a:xfrm>
            <a:off x="886968" y="1755648"/>
            <a:ext cx="7818120" cy="402336"/>
          </a:xfrm>
          <a:prstGeom prst="rect">
            <a:avLst/>
          </a:prstGeom>
          <a:noFill/>
          <a:ln/>
        </p:spPr>
        <p:txBody>
          <a:bodyPr wrap="square" lIns="0" tIns="0" rIns="0" bIns="0" rtlCol="0" anchor="ctr"/>
          <a:lstStyle/>
          <a:p>
            <a:pPr indent="0" marL="0">
              <a:buNone/>
            </a:pPr>
            <a:r>
              <a:rPr lang="en-US" sz="1050" dirty="0">
                <a:solidFill>
                  <a:srgbClr val="7A90A8"/>
                </a:solidFill>
              </a:rPr>
              <a:t>For your team’s most common agent task, define the three HITL tiers. For each tier: what qualifies? Who gets notified? What is the intervention window for Tier 2?</a:t>
            </a:r>
            <a:endParaRPr lang="en-US" sz="1050" dirty="0"/>
          </a:p>
        </p:txBody>
      </p:sp>
      <p:sp>
        <p:nvSpPr>
          <p:cNvPr id="11" name="Shape 9"/>
          <p:cNvSpPr/>
          <p:nvPr/>
        </p:nvSpPr>
        <p:spPr>
          <a:xfrm>
            <a:off x="320040" y="2322576"/>
            <a:ext cx="8503920" cy="82296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12" name="Shape 10"/>
          <p:cNvSpPr/>
          <p:nvPr/>
        </p:nvSpPr>
        <p:spPr>
          <a:xfrm>
            <a:off x="320040" y="2322576"/>
            <a:ext cx="475488" cy="822960"/>
          </a:xfrm>
          <a:prstGeom prst="rect">
            <a:avLst/>
          </a:prstGeom>
          <a:solidFill>
            <a:srgbClr val="4A7FA8"/>
          </a:solidFill>
          <a:ln/>
        </p:spPr>
      </p:sp>
      <p:sp>
        <p:nvSpPr>
          <p:cNvPr id="13" name="Text 11"/>
          <p:cNvSpPr/>
          <p:nvPr/>
        </p:nvSpPr>
        <p:spPr>
          <a:xfrm>
            <a:off x="320040" y="2322576"/>
            <a:ext cx="475488" cy="822960"/>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4" name="Text 12"/>
          <p:cNvSpPr/>
          <p:nvPr/>
        </p:nvSpPr>
        <p:spPr>
          <a:xfrm>
            <a:off x="886968" y="2377440"/>
            <a:ext cx="3200400" cy="256032"/>
          </a:xfrm>
          <a:prstGeom prst="rect">
            <a:avLst/>
          </a:prstGeom>
          <a:noFill/>
          <a:ln/>
        </p:spPr>
        <p:txBody>
          <a:bodyPr wrap="square" lIns="0" tIns="0" rIns="0" bIns="0" rtlCol="0" anchor="ctr"/>
          <a:lstStyle/>
          <a:p>
            <a:pPr indent="0" marL="0">
              <a:buNone/>
            </a:pPr>
            <a:r>
              <a:rPr lang="en-US" sz="1200" b="1" dirty="0">
                <a:solidFill>
                  <a:srgbClr val="4A7FA8"/>
                </a:solidFill>
              </a:rPr>
              <a:t>PR review dimensions</a:t>
            </a:r>
            <a:endParaRPr lang="en-US" sz="1200" dirty="0"/>
          </a:p>
        </p:txBody>
      </p:sp>
      <p:sp>
        <p:nvSpPr>
          <p:cNvPr id="15" name="Text 13"/>
          <p:cNvSpPr/>
          <p:nvPr/>
        </p:nvSpPr>
        <p:spPr>
          <a:xfrm>
            <a:off x="4087368" y="2377440"/>
            <a:ext cx="822960" cy="256032"/>
          </a:xfrm>
          <a:prstGeom prst="rect">
            <a:avLst/>
          </a:prstGeom>
          <a:noFill/>
          <a:ln/>
        </p:spPr>
        <p:txBody>
          <a:bodyPr wrap="square" lIns="0" tIns="0" rIns="0" bIns="0" rtlCol="0" anchor="ctr"/>
          <a:lstStyle/>
          <a:p>
            <a:pPr indent="0" marL="0">
              <a:buNone/>
            </a:pPr>
            <a:r>
              <a:rPr lang="en-US" sz="1050" i="1" dirty="0">
                <a:solidFill>
                  <a:srgbClr val="7A90A8"/>
                </a:solidFill>
              </a:rPr>
              <a:t>(7 min)</a:t>
            </a:r>
            <a:endParaRPr lang="en-US" sz="1050" dirty="0"/>
          </a:p>
        </p:txBody>
      </p:sp>
      <p:sp>
        <p:nvSpPr>
          <p:cNvPr id="16" name="Text 14"/>
          <p:cNvSpPr/>
          <p:nvPr/>
        </p:nvSpPr>
        <p:spPr>
          <a:xfrm>
            <a:off x="886968" y="2688336"/>
            <a:ext cx="7818120" cy="402336"/>
          </a:xfrm>
          <a:prstGeom prst="rect">
            <a:avLst/>
          </a:prstGeom>
          <a:noFill/>
          <a:ln/>
        </p:spPr>
        <p:txBody>
          <a:bodyPr wrap="square" lIns="0" tIns="0" rIns="0" bIns="0" rtlCol="0" anchor="ctr"/>
          <a:lstStyle/>
          <a:p>
            <a:pPr indent="0" marL="0">
              <a:buNone/>
            </a:pPr>
            <a:r>
              <a:rPr lang="en-US" sz="1050" dirty="0">
                <a:solidFill>
                  <a:srgbClr val="7A90A8"/>
                </a:solidFill>
              </a:rPr>
              <a:t>For the last AI-generated PR your team reviewed: apply all six dimensions. Which dimensions had issues? Which were strong? What would the evaluator need to check to surface the issues automatically?</a:t>
            </a:r>
            <a:endParaRPr lang="en-US" sz="1050" dirty="0"/>
          </a:p>
        </p:txBody>
      </p:sp>
      <p:sp>
        <p:nvSpPr>
          <p:cNvPr id="17" name="Shape 15"/>
          <p:cNvSpPr/>
          <p:nvPr/>
        </p:nvSpPr>
        <p:spPr>
          <a:xfrm>
            <a:off x="320040" y="3255264"/>
            <a:ext cx="8503920" cy="82296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18" name="Shape 16"/>
          <p:cNvSpPr/>
          <p:nvPr/>
        </p:nvSpPr>
        <p:spPr>
          <a:xfrm>
            <a:off x="320040" y="3255264"/>
            <a:ext cx="475488" cy="822960"/>
          </a:xfrm>
          <a:prstGeom prst="rect">
            <a:avLst/>
          </a:prstGeom>
          <a:solidFill>
            <a:srgbClr val="4A7FA8"/>
          </a:solidFill>
          <a:ln/>
        </p:spPr>
      </p:sp>
      <p:sp>
        <p:nvSpPr>
          <p:cNvPr id="19" name="Text 17"/>
          <p:cNvSpPr/>
          <p:nvPr/>
        </p:nvSpPr>
        <p:spPr>
          <a:xfrm>
            <a:off x="320040" y="3255264"/>
            <a:ext cx="475488" cy="822960"/>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20" name="Text 18"/>
          <p:cNvSpPr/>
          <p:nvPr/>
        </p:nvSpPr>
        <p:spPr>
          <a:xfrm>
            <a:off x="886968" y="3310128"/>
            <a:ext cx="3200400" cy="256032"/>
          </a:xfrm>
          <a:prstGeom prst="rect">
            <a:avLst/>
          </a:prstGeom>
          <a:noFill/>
          <a:ln/>
        </p:spPr>
        <p:txBody>
          <a:bodyPr wrap="square" lIns="0" tIns="0" rIns="0" bIns="0" rtlCol="0" anchor="ctr"/>
          <a:lstStyle/>
          <a:p>
            <a:pPr indent="0" marL="0">
              <a:buNone/>
            </a:pPr>
            <a:r>
              <a:rPr lang="en-US" sz="1200" b="1" dirty="0">
                <a:solidFill>
                  <a:srgbClr val="4A7FA8"/>
                </a:solidFill>
              </a:rPr>
              <a:t>ADR backlog</a:t>
            </a:r>
            <a:endParaRPr lang="en-US" sz="1200" dirty="0"/>
          </a:p>
        </p:txBody>
      </p:sp>
      <p:sp>
        <p:nvSpPr>
          <p:cNvPr id="21" name="Text 19"/>
          <p:cNvSpPr/>
          <p:nvPr/>
        </p:nvSpPr>
        <p:spPr>
          <a:xfrm>
            <a:off x="4087368" y="3310128"/>
            <a:ext cx="822960" cy="256032"/>
          </a:xfrm>
          <a:prstGeom prst="rect">
            <a:avLst/>
          </a:prstGeom>
          <a:noFill/>
          <a:ln/>
        </p:spPr>
        <p:txBody>
          <a:bodyPr wrap="square" lIns="0" tIns="0" rIns="0" bIns="0" rtlCol="0" anchor="ctr"/>
          <a:lstStyle/>
          <a:p>
            <a:pPr indent="0" marL="0">
              <a:buNone/>
            </a:pPr>
            <a:r>
              <a:rPr lang="en-US" sz="1050" i="1" dirty="0">
                <a:solidFill>
                  <a:srgbClr val="7A90A8"/>
                </a:solidFill>
              </a:rPr>
              <a:t>(8 min)</a:t>
            </a:r>
            <a:endParaRPr lang="en-US" sz="1050" dirty="0"/>
          </a:p>
        </p:txBody>
      </p:sp>
      <p:sp>
        <p:nvSpPr>
          <p:cNvPr id="22" name="Text 20"/>
          <p:cNvSpPr/>
          <p:nvPr/>
        </p:nvSpPr>
        <p:spPr>
          <a:xfrm>
            <a:off x="886968" y="3621024"/>
            <a:ext cx="7818120" cy="402336"/>
          </a:xfrm>
          <a:prstGeom prst="rect">
            <a:avLst/>
          </a:prstGeom>
          <a:noFill/>
          <a:ln/>
        </p:spPr>
        <p:txBody>
          <a:bodyPr wrap="square" lIns="0" tIns="0" rIns="0" bIns="0" rtlCol="0" anchor="ctr"/>
          <a:lstStyle/>
          <a:p>
            <a:pPr indent="0" marL="0">
              <a:buNone/>
            </a:pPr>
            <a:r>
              <a:rPr lang="en-US" sz="1050" dirty="0">
                <a:solidFill>
                  <a:srgbClr val="7A90A8"/>
                </a:solidFill>
              </a:rPr>
              <a:t>Identify the three most important architectural decisions your team has made in the last year that do not have an ADR. Draft the header and context section for one of them.</a:t>
            </a:r>
            <a:endParaRPr lang="en-US" sz="1050" dirty="0"/>
          </a:p>
        </p:txBody>
      </p:sp>
      <p:sp>
        <p:nvSpPr>
          <p:cNvPr id="23" name="Shape 21"/>
          <p:cNvSpPr/>
          <p:nvPr/>
        </p:nvSpPr>
        <p:spPr>
          <a:xfrm>
            <a:off x="320040" y="4187952"/>
            <a:ext cx="8503920" cy="822960"/>
          </a:xfrm>
          <a:prstGeom prst="rect">
            <a:avLst/>
          </a:prstGeom>
          <a:solidFill>
            <a:srgbClr val="F3F6F9"/>
          </a:solidFill>
          <a:ln/>
          <a:effectLst>
            <a:outerShdw sx="100000" sy="100000" kx="0" ky="0" algn="bl" rotWithShape="0" blurRad="101600" dist="38100" dir="8100000">
              <a:srgbClr val="000000">
                <a:alpha val="13000"/>
              </a:srgbClr>
            </a:outerShdw>
          </a:effectLst>
        </p:spPr>
      </p:sp>
      <p:sp>
        <p:nvSpPr>
          <p:cNvPr id="24" name="Shape 22"/>
          <p:cNvSpPr/>
          <p:nvPr/>
        </p:nvSpPr>
        <p:spPr>
          <a:xfrm>
            <a:off x="320040" y="4187952"/>
            <a:ext cx="475488" cy="822960"/>
          </a:xfrm>
          <a:prstGeom prst="rect">
            <a:avLst/>
          </a:prstGeom>
          <a:solidFill>
            <a:srgbClr val="4A7FA8"/>
          </a:solidFill>
          <a:ln/>
        </p:spPr>
      </p:sp>
      <p:sp>
        <p:nvSpPr>
          <p:cNvPr id="25" name="Text 23"/>
          <p:cNvSpPr/>
          <p:nvPr/>
        </p:nvSpPr>
        <p:spPr>
          <a:xfrm>
            <a:off x="320040" y="4187952"/>
            <a:ext cx="475488" cy="822960"/>
          </a:xfrm>
          <a:prstGeom prst="rect">
            <a:avLst/>
          </a:prstGeom>
          <a:noFill/>
          <a:ln/>
        </p:spPr>
        <p:txBody>
          <a:bodyPr wrap="square" lIns="0" tIns="0" rIns="0" bIns="0" rtlCol="0" anchor="ctr"/>
          <a:lstStyle/>
          <a:p>
            <a:pPr algn="ctr" indent="0" marL="0">
              <a:buNone/>
            </a:pPr>
            <a:r>
              <a:rPr lang="en-US" sz="2200" b="1" dirty="0">
                <a:solidFill>
                  <a:srgbClr val="FFFFFF"/>
                </a:solidFill>
              </a:rPr>
              <a:t>4</a:t>
            </a:r>
            <a:endParaRPr lang="en-US" sz="2200" dirty="0"/>
          </a:p>
        </p:txBody>
      </p:sp>
      <p:sp>
        <p:nvSpPr>
          <p:cNvPr id="26" name="Text 24"/>
          <p:cNvSpPr/>
          <p:nvPr/>
        </p:nvSpPr>
        <p:spPr>
          <a:xfrm>
            <a:off x="886968" y="4242816"/>
            <a:ext cx="3200400" cy="256032"/>
          </a:xfrm>
          <a:prstGeom prst="rect">
            <a:avLst/>
          </a:prstGeom>
          <a:noFill/>
          <a:ln/>
        </p:spPr>
        <p:txBody>
          <a:bodyPr wrap="square" lIns="0" tIns="0" rIns="0" bIns="0" rtlCol="0" anchor="ctr"/>
          <a:lstStyle/>
          <a:p>
            <a:pPr indent="0" marL="0">
              <a:buNone/>
            </a:pPr>
            <a:r>
              <a:rPr lang="en-US" sz="1200" b="1" dirty="0">
                <a:solidFill>
                  <a:srgbClr val="4A7FA8"/>
                </a:solidFill>
              </a:rPr>
              <a:t>Improvement loop design</a:t>
            </a:r>
            <a:endParaRPr lang="en-US" sz="1200" dirty="0"/>
          </a:p>
        </p:txBody>
      </p:sp>
      <p:sp>
        <p:nvSpPr>
          <p:cNvPr id="27" name="Text 25"/>
          <p:cNvSpPr/>
          <p:nvPr/>
        </p:nvSpPr>
        <p:spPr>
          <a:xfrm>
            <a:off x="4087368" y="4242816"/>
            <a:ext cx="822960" cy="256032"/>
          </a:xfrm>
          <a:prstGeom prst="rect">
            <a:avLst/>
          </a:prstGeom>
          <a:noFill/>
          <a:ln/>
        </p:spPr>
        <p:txBody>
          <a:bodyPr wrap="square" lIns="0" tIns="0" rIns="0" bIns="0" rtlCol="0" anchor="ctr"/>
          <a:lstStyle/>
          <a:p>
            <a:pPr indent="0" marL="0">
              <a:buNone/>
            </a:pPr>
            <a:r>
              <a:rPr lang="en-US" sz="1050" i="1" dirty="0">
                <a:solidFill>
                  <a:srgbClr val="7A90A8"/>
                </a:solidFill>
              </a:rPr>
              <a:t>(7 min)</a:t>
            </a:r>
            <a:endParaRPr lang="en-US" sz="1050" dirty="0"/>
          </a:p>
        </p:txBody>
      </p:sp>
      <p:sp>
        <p:nvSpPr>
          <p:cNvPr id="28" name="Text 26"/>
          <p:cNvSpPr/>
          <p:nvPr/>
        </p:nvSpPr>
        <p:spPr>
          <a:xfrm>
            <a:off x="886968" y="4553712"/>
            <a:ext cx="7818120" cy="402336"/>
          </a:xfrm>
          <a:prstGeom prst="rect">
            <a:avLst/>
          </a:prstGeom>
          <a:noFill/>
          <a:ln/>
        </p:spPr>
        <p:txBody>
          <a:bodyPr wrap="square" lIns="0" tIns="0" rIns="0" bIns="0" rtlCol="0" anchor="ctr"/>
          <a:lstStyle/>
          <a:p>
            <a:pPr indent="0" marL="0">
              <a:buNone/>
            </a:pPr>
            <a:r>
              <a:rPr lang="en-US" sz="1050" dirty="0">
                <a:solidFill>
                  <a:srgbClr val="7A90A8"/>
                </a:solidFill>
              </a:rPr>
              <a:t>Define your team’s improvement loop: What metrics do you collect? When do you review? Who makes changes to the rules file? What would trigger an out-of-cycle review?</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C3557"/>
        </a:solidFill>
      </p:bgPr>
    </p:bg>
    <p:spTree>
      <p:nvGrpSpPr>
        <p:cNvPr id="1" name=""/>
        <p:cNvGrpSpPr/>
        <p:nvPr/>
      </p:nvGrpSpPr>
      <p:grpSpPr>
        <a:xfrm>
          <a:off x="0" y="0"/>
          <a:ext cx="0" cy="0"/>
          <a:chOff x="0" y="0"/>
          <a:chExt cx="0" cy="0"/>
        </a:xfrm>
      </p:grpSpPr>
      <p:sp>
        <p:nvSpPr>
          <p:cNvPr id="2" name="Shape 0"/>
          <p:cNvSpPr/>
          <p:nvPr/>
        </p:nvSpPr>
        <p:spPr>
          <a:xfrm>
            <a:off x="8979408" y="0"/>
            <a:ext cx="164592" cy="5143500"/>
          </a:xfrm>
          <a:prstGeom prst="rect">
            <a:avLst/>
          </a:prstGeom>
          <a:solidFill>
            <a:srgbClr val="3A7DC9"/>
          </a:solidFill>
          <a:ln/>
        </p:spPr>
      </p:sp>
      <p:sp>
        <p:nvSpPr>
          <p:cNvPr id="3" name="Text 1"/>
          <p:cNvSpPr/>
          <p:nvPr/>
        </p:nvSpPr>
        <p:spPr>
          <a:xfrm>
            <a:off x="365760" y="201168"/>
            <a:ext cx="8229600" cy="411480"/>
          </a:xfrm>
          <a:prstGeom prst="rect">
            <a:avLst/>
          </a:prstGeom>
          <a:noFill/>
          <a:ln/>
        </p:spPr>
        <p:txBody>
          <a:bodyPr wrap="square" lIns="0" tIns="0" rIns="0" bIns="0" rtlCol="0" anchor="ctr"/>
          <a:lstStyle/>
          <a:p>
            <a:pPr indent="0" marL="0">
              <a:buNone/>
            </a:pPr>
            <a:r>
              <a:rPr lang="en-US" sz="1300" b="1" spc="300" kern="0" dirty="0">
                <a:solidFill>
                  <a:srgbClr val="5B8DB8"/>
                </a:solidFill>
              </a:rPr>
              <a:t>DISCUSSION + MODULE SUMMARY</a:t>
            </a:r>
            <a:endParaRPr lang="en-US" sz="1300" dirty="0"/>
          </a:p>
        </p:txBody>
      </p:sp>
      <p:sp>
        <p:nvSpPr>
          <p:cNvPr id="4" name="Shape 2"/>
          <p:cNvSpPr/>
          <p:nvPr/>
        </p:nvSpPr>
        <p:spPr>
          <a:xfrm>
            <a:off x="320040" y="749808"/>
            <a:ext cx="5029200" cy="3493008"/>
          </a:xfrm>
          <a:prstGeom prst="rect">
            <a:avLst/>
          </a:prstGeom>
          <a:solidFill>
            <a:srgbClr val="2E5073">
              <a:alpha val="80000"/>
            </a:srgbClr>
          </a:solidFill>
          <a:ln/>
          <a:effectLst>
            <a:outerShdw sx="100000" sy="100000" kx="0" ky="0" algn="bl" rotWithShape="0" blurRad="101600" dist="38100" dir="8100000">
              <a:srgbClr val="000000">
                <a:alpha val="13000"/>
              </a:srgbClr>
            </a:outerShdw>
          </a:effectLst>
        </p:spPr>
      </p:sp>
      <p:sp>
        <p:nvSpPr>
          <p:cNvPr id="5" name="Shape 3"/>
          <p:cNvSpPr/>
          <p:nvPr/>
        </p:nvSpPr>
        <p:spPr>
          <a:xfrm>
            <a:off x="320040" y="749808"/>
            <a:ext cx="5029200" cy="438912"/>
          </a:xfrm>
          <a:prstGeom prst="rect">
            <a:avLst/>
          </a:prstGeom>
          <a:solidFill>
            <a:srgbClr val="5B8DB8">
              <a:alpha val="85000"/>
            </a:srgbClr>
          </a:solidFill>
          <a:ln/>
        </p:spPr>
      </p:sp>
      <p:sp>
        <p:nvSpPr>
          <p:cNvPr id="6" name="Text 4"/>
          <p:cNvSpPr/>
          <p:nvPr/>
        </p:nvSpPr>
        <p:spPr>
          <a:xfrm>
            <a:off x="320040" y="749808"/>
            <a:ext cx="5029200" cy="438912"/>
          </a:xfrm>
          <a:prstGeom prst="rect">
            <a:avLst/>
          </a:prstGeom>
          <a:noFill/>
          <a:ln/>
        </p:spPr>
        <p:txBody>
          <a:bodyPr wrap="square" lIns="0" tIns="0" rIns="0" bIns="0" rtlCol="0" anchor="ctr"/>
          <a:lstStyle/>
          <a:p>
            <a:pPr algn="ctr" indent="0" marL="0">
              <a:buNone/>
            </a:pPr>
            <a:r>
              <a:rPr lang="en-US" sz="1100" b="1" spc="200" kern="0" dirty="0">
                <a:solidFill>
                  <a:srgbClr val="FFFFFF"/>
                </a:solidFill>
              </a:rPr>
              <a:t>DISCUSSION QUESTIONS</a:t>
            </a:r>
            <a:endParaRPr lang="en-US" sz="1100" dirty="0"/>
          </a:p>
        </p:txBody>
      </p:sp>
      <p:sp>
        <p:nvSpPr>
          <p:cNvPr id="7" name="Text 5"/>
          <p:cNvSpPr/>
          <p:nvPr/>
        </p:nvSpPr>
        <p:spPr>
          <a:xfrm>
            <a:off x="457200" y="1280160"/>
            <a:ext cx="4663440" cy="2834640"/>
          </a:xfrm>
          <a:prstGeom prst="rect">
            <a:avLst/>
          </a:prstGeom>
          <a:noFill/>
          <a:ln/>
        </p:spPr>
        <p:txBody>
          <a:bodyPr wrap="square" lIns="0" tIns="0" rIns="0" bIns="0" rtlCol="0" anchor="ctr"/>
          <a:lstStyle/>
          <a:p>
            <a:pPr indent="0" marL="0">
              <a:buNone/>
            </a:pPr>
            <a:r>
              <a:rPr lang="en-US" sz="1150" dirty="0">
                <a:solidFill>
                  <a:srgbClr val="D4E4F0"/>
                </a:solidFill>
              </a:rPr>
              <a:t>Q1.  You discover your evaluator has been passing code that violates a standard you changed 3 months ago. How did this happen, and what improvement loop change would prevent it?</a:t>
            </a:r>
            <a:endParaRPr lang="en-US" sz="1150" dirty="0"/>
          </a:p>
          <a:p>
            <a:pPr indent="0" marL="0">
              <a:buNone/>
            </a:pPr>
            <a:endParaRPr lang="en-US" sz="1150" dirty="0"/>
          </a:p>
          <a:p>
            <a:pPr indent="0" marL="0">
              <a:buNone/>
            </a:pPr>
            <a:r>
              <a:rPr lang="en-US" sz="1150" dirty="0">
                <a:solidFill>
                  <a:srgbClr val="D4E4F0"/>
                </a:solidFill>
              </a:rPr>
              <a:t>Q2.  A developer pushes back: “The HITL tier for schema migrations requires approval but it’s slowing us down.” Walk through the right way to evaluate and potentially change that tier.</a:t>
            </a:r>
            <a:endParaRPr lang="en-US" sz="1150" dirty="0"/>
          </a:p>
          <a:p>
            <a:pPr indent="0" marL="0">
              <a:buNone/>
            </a:pPr>
            <a:endParaRPr lang="en-US" sz="1150" dirty="0"/>
          </a:p>
          <a:p>
            <a:pPr indent="0" marL="0">
              <a:buNone/>
            </a:pPr>
            <a:r>
              <a:rPr lang="en-US" sz="1150" dirty="0">
                <a:solidFill>
                  <a:srgbClr val="D4E4F0"/>
                </a:solidFill>
              </a:rPr>
              <a:t>Q3.  Your team has 47 architectural decisions recorded in Slack over the past year and zero ADRs. What is your plan?</a:t>
            </a:r>
            <a:endParaRPr lang="en-US" sz="1150" dirty="0"/>
          </a:p>
          <a:p>
            <a:pPr indent="0" marL="0">
              <a:buNone/>
            </a:pPr>
            <a:endParaRPr lang="en-US" sz="1150" dirty="0"/>
          </a:p>
          <a:p>
            <a:pPr indent="0" marL="0">
              <a:buNone/>
            </a:pPr>
            <a:r>
              <a:rPr lang="en-US" sz="1150" dirty="0">
                <a:solidFill>
                  <a:srgbClr val="D4E4F0"/>
                </a:solidFill>
              </a:rPr>
              <a:t>Q4.  Your evaluator pass rate is 58% (target 85%). What does this tell you, and what are the first three things you investigate?</a:t>
            </a:r>
            <a:endParaRPr lang="en-US" sz="1150" dirty="0"/>
          </a:p>
        </p:txBody>
      </p:sp>
      <p:sp>
        <p:nvSpPr>
          <p:cNvPr id="8" name="Shape 6"/>
          <p:cNvSpPr/>
          <p:nvPr/>
        </p:nvSpPr>
        <p:spPr>
          <a:xfrm>
            <a:off x="5532120" y="749808"/>
            <a:ext cx="3291840" cy="3493008"/>
          </a:xfrm>
          <a:prstGeom prst="rect">
            <a:avLst/>
          </a:prstGeom>
          <a:solidFill>
            <a:srgbClr val="2E5073">
              <a:alpha val="80000"/>
            </a:srgbClr>
          </a:solidFill>
          <a:ln/>
          <a:effectLst>
            <a:outerShdw sx="100000" sy="100000" kx="0" ky="0" algn="bl" rotWithShape="0" blurRad="101600" dist="38100" dir="8100000">
              <a:srgbClr val="000000">
                <a:alpha val="13000"/>
              </a:srgbClr>
            </a:outerShdw>
          </a:effectLst>
        </p:spPr>
      </p:sp>
      <p:sp>
        <p:nvSpPr>
          <p:cNvPr id="9" name="Shape 7"/>
          <p:cNvSpPr/>
          <p:nvPr/>
        </p:nvSpPr>
        <p:spPr>
          <a:xfrm>
            <a:off x="5532120" y="749808"/>
            <a:ext cx="3291840" cy="438912"/>
          </a:xfrm>
          <a:prstGeom prst="rect">
            <a:avLst/>
          </a:prstGeom>
          <a:solidFill>
            <a:srgbClr val="3A7DC9">
              <a:alpha val="90000"/>
            </a:srgbClr>
          </a:solidFill>
          <a:ln/>
        </p:spPr>
      </p:sp>
      <p:sp>
        <p:nvSpPr>
          <p:cNvPr id="10" name="Text 8"/>
          <p:cNvSpPr/>
          <p:nvPr/>
        </p:nvSpPr>
        <p:spPr>
          <a:xfrm>
            <a:off x="5532120" y="749808"/>
            <a:ext cx="3291840" cy="438912"/>
          </a:xfrm>
          <a:prstGeom prst="rect">
            <a:avLst/>
          </a:prstGeom>
          <a:noFill/>
          <a:ln/>
        </p:spPr>
        <p:txBody>
          <a:bodyPr wrap="square" lIns="0" tIns="0" rIns="0" bIns="0" rtlCol="0" anchor="ctr"/>
          <a:lstStyle/>
          <a:p>
            <a:pPr algn="ctr" indent="0" marL="0">
              <a:buNone/>
            </a:pPr>
            <a:r>
              <a:rPr lang="en-US" sz="1100" b="1" spc="200" kern="0" dirty="0">
                <a:solidFill>
                  <a:srgbClr val="FFFFFF"/>
                </a:solidFill>
              </a:rPr>
              <a:t>KEY TAKEAWAYS</a:t>
            </a:r>
            <a:endParaRPr lang="en-US" sz="1100" dirty="0"/>
          </a:p>
        </p:txBody>
      </p:sp>
      <p:sp>
        <p:nvSpPr>
          <p:cNvPr id="11" name="Text 9"/>
          <p:cNvSpPr/>
          <p:nvPr/>
        </p:nvSpPr>
        <p:spPr>
          <a:xfrm>
            <a:off x="5669280" y="1280160"/>
            <a:ext cx="3063240" cy="2834640"/>
          </a:xfrm>
          <a:prstGeom prst="rect">
            <a:avLst/>
          </a:prstGeom>
          <a:noFill/>
          <a:ln/>
        </p:spPr>
        <p:txBody>
          <a:bodyPr wrap="square" lIns="0" tIns="0" rIns="0" bIns="0" rtlCol="0" anchor="ctr"/>
          <a:lstStyle/>
          <a:p>
            <a:pPr indent="0" marL="0">
              <a:buNone/>
            </a:pPr>
            <a:r>
              <a:rPr lang="en-US" sz="1100" dirty="0">
                <a:solidFill>
                  <a:srgbClr val="D4E4F0"/>
                </a:solidFill>
              </a:rPr>
              <a:t>· Automated review drifts without improvement loops</a:t>
            </a:r>
            <a:endParaRPr lang="en-US" sz="1100" dirty="0"/>
          </a:p>
          <a:p>
            <a:pPr indent="0" marL="0">
              <a:buNone/>
            </a:pPr>
            <a:endParaRPr lang="en-US" sz="1100" dirty="0"/>
          </a:p>
          <a:p>
            <a:pPr indent="0" marL="0">
              <a:buNone/>
            </a:pPr>
            <a:r>
              <a:rPr lang="en-US" sz="1100" dirty="0">
                <a:solidFill>
                  <a:srgbClr val="D4E4F0"/>
                </a:solidFill>
              </a:rPr>
              <a:t>· HITL tiers match oversight level to decision risk</a:t>
            </a:r>
            <a:endParaRPr lang="en-US" sz="1100" dirty="0"/>
          </a:p>
          <a:p>
            <a:pPr indent="0" marL="0">
              <a:buNone/>
            </a:pPr>
            <a:endParaRPr lang="en-US" sz="1100" dirty="0"/>
          </a:p>
          <a:p>
            <a:pPr indent="0" marL="0">
              <a:buNone/>
            </a:pPr>
            <a:r>
              <a:rPr lang="en-US" sz="1100" dirty="0">
                <a:solidFill>
                  <a:srgbClr val="D4E4F0"/>
                </a:solidFill>
              </a:rPr>
              <a:t>· AI PRs need 6 dimensions — scope, intent, AC, APIs, debt, behaviour</a:t>
            </a:r>
            <a:endParaRPr lang="en-US" sz="1100" dirty="0"/>
          </a:p>
          <a:p>
            <a:pPr indent="0" marL="0">
              <a:buNone/>
            </a:pPr>
            <a:endParaRPr lang="en-US" sz="1100" dirty="0"/>
          </a:p>
          <a:p>
            <a:pPr indent="0" marL="0">
              <a:buNone/>
            </a:pPr>
            <a:r>
              <a:rPr lang="en-US" sz="1100" dirty="0">
                <a:solidFill>
                  <a:srgbClr val="D4E4F0"/>
                </a:solidFill>
              </a:rPr>
              <a:t>· ADRs are agent context, not documentation — keep them in git</a:t>
            </a:r>
            <a:endParaRPr lang="en-US" sz="1100" dirty="0"/>
          </a:p>
          <a:p>
            <a:pPr indent="0" marL="0">
              <a:buNone/>
            </a:pPr>
            <a:endParaRPr lang="en-US" sz="1100" dirty="0"/>
          </a:p>
          <a:p>
            <a:pPr indent="0" marL="0">
              <a:buNone/>
            </a:pPr>
            <a:r>
              <a:rPr lang="en-US" sz="1100" dirty="0">
                <a:solidFill>
                  <a:srgbClr val="D4E4F0"/>
                </a:solidFill>
              </a:rPr>
              <a:t>· Improvement loop: Deploy → Observe → Review → Improve → Repeat</a:t>
            </a:r>
            <a:endParaRPr lang="en-US" sz="1100" dirty="0"/>
          </a:p>
          <a:p>
            <a:pPr indent="0" marL="0">
              <a:buNone/>
            </a:pPr>
            <a:endParaRPr lang="en-US" sz="1100" dirty="0"/>
          </a:p>
          <a:p>
            <a:pPr indent="0" marL="0">
              <a:buNone/>
            </a:pPr>
            <a:r>
              <a:rPr lang="en-US" sz="1100" dirty="0">
                <a:solidFill>
                  <a:srgbClr val="D4E4F0"/>
                </a:solidFill>
              </a:rPr>
              <a:t>· SLOs for dev workflow trigger improvement, not incident response</a:t>
            </a:r>
            <a:endParaRPr lang="en-US" sz="1100" dirty="0"/>
          </a:p>
          <a:p>
            <a:pPr indent="0" marL="0">
              <a:buNone/>
            </a:pPr>
            <a:endParaRPr lang="en-US" sz="1100" dirty="0"/>
          </a:p>
          <a:p>
            <a:pPr indent="0" marL="0">
              <a:buNone/>
            </a:pPr>
            <a:r>
              <a:rPr lang="en-US" sz="1100" dirty="0">
                <a:solidFill>
                  <a:srgbClr val="D4E4F0"/>
                </a:solidFill>
              </a:rPr>
              <a:t>· Rules file and evaluator criteria are team policy — govern them</a:t>
            </a:r>
            <a:endParaRPr lang="en-US" sz="1100" dirty="0"/>
          </a:p>
        </p:txBody>
      </p:sp>
      <p:sp>
        <p:nvSpPr>
          <p:cNvPr id="12" name="Shape 10"/>
          <p:cNvSpPr/>
          <p:nvPr/>
        </p:nvSpPr>
        <p:spPr>
          <a:xfrm>
            <a:off x="320040" y="4343400"/>
            <a:ext cx="8503920" cy="566928"/>
          </a:xfrm>
          <a:prstGeom prst="rect">
            <a:avLst/>
          </a:prstGeom>
          <a:solidFill>
            <a:srgbClr val="3A7DC9">
              <a:alpha val="82000"/>
            </a:srgbClr>
          </a:solidFill>
          <a:ln/>
        </p:spPr>
      </p:sp>
      <p:sp>
        <p:nvSpPr>
          <p:cNvPr id="13" name="Text 11"/>
          <p:cNvSpPr/>
          <p:nvPr/>
        </p:nvSpPr>
        <p:spPr>
          <a:xfrm>
            <a:off x="320040" y="4343400"/>
            <a:ext cx="8503920" cy="566928"/>
          </a:xfrm>
          <a:prstGeom prst="rect">
            <a:avLst/>
          </a:prstGeom>
          <a:noFill/>
          <a:ln/>
        </p:spPr>
        <p:txBody>
          <a:bodyPr wrap="square" lIns="0" tIns="0" rIns="0" bIns="0" rtlCol="0" anchor="ctr"/>
          <a:lstStyle/>
          <a:p>
            <a:pPr algn="ctr" indent="0" marL="0">
              <a:buNone/>
            </a:pPr>
            <a:r>
              <a:rPr lang="en-US" sz="1150" b="1" dirty="0">
                <a:solidFill>
                  <a:srgbClr val="FFFFFF"/>
                </a:solidFill>
              </a:rPr>
              <a:t>NEXT  ·  Module 09: Observability  —  Structured logs, custom metrics, distributed traces, events, and health endpoints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8: Review Hygiene &amp; Continuous Improvement</dc:title>
  <dc:subject>PptxGenJS Presentation</dc:subject>
  <dc:creator>PptxGenJS</dc:creator>
  <cp:lastModifiedBy>PptxGenJS</cp:lastModifiedBy>
  <cp:revision>1</cp:revision>
  <dcterms:created xsi:type="dcterms:W3CDTF">2026-04-07T23:58:11Z</dcterms:created>
  <dcterms:modified xsi:type="dcterms:W3CDTF">2026-04-07T23:58:11Z</dcterms:modified>
</cp:coreProperties>
</file>